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Problem and objectives" id="{c5dc5161-e096-5030-24a3-7136b2c1c611}">
          <p14:sldIdLst>
            <p14:sldId id="256"/>
            <p14:sldId id="257"/>
            <p14:sldId id="258"/>
          </p14:sldIdLst>
        </p14:section>
        <p14:section name="2. Intended system" id="{7f50c1fb-814b-a7ce-ed18-aa9c32c4c0b3}">
          <p14:sldIdLst>
            <p14:sldId id="259"/>
          </p14:sldIdLst>
        </p14:section>
        <p14:section name="3. Starting point and approach" id="{5786cdad-cd24-16d0-8519-faa13f24cd8b}">
          <p14:sldIdLst>
            <p14:sldId id="260"/>
          </p14:sldIdLst>
        </p14:section>
        <p14:section name="4. Phase 1: intent capture" id="{d84da51e-b8b4-38b7-e5c7-9bf83dff48a2}">
          <p14:sldIdLst>
            <p14:sldId id="261"/>
          </p14:sldIdLst>
        </p14:section>
        <p14:section name="5. Phase 2: map and frames" id="{ce8893fe-216a-a87f-2101-18c4b7684897}">
          <p14:sldIdLst>
            <p14:sldId id="262"/>
            <p14:sldId id="263"/>
          </p14:sldIdLst>
        </p14:section>
        <p14:section name="6. Phases 2 and 3: memory graph and search" id="{c99ec2b1-6a14-8d6a-beca-3672fadcc4de}">
          <p14:sldIdLst>
            <p14:sldId id="264"/>
            <p14:sldId id="265"/>
            <p14:sldId id="266"/>
          </p14:sldIdLst>
        </p14:section>
        <p14:section name="7. Phases 4 and 5: cross-camera match and grasp" id="{27d66c4e-7a38-fcb3-74c4-154db0a80551}">
          <p14:sldIdLst>
            <p14:sldId id="267"/>
            <p14:sldId id="268"/>
            <p14:sldId id="269"/>
          </p14:sldIdLst>
        </p14:section>
        <p14:section name="8. Full flow, links still to join, schedule" id="{06edf2dd-ff1a-9b3e-4b41-39950e6f7348}">
          <p14:sldIdLst>
            <p14:sldId id="270"/>
            <p14:sldId id="271"/>
          </p14:sldIdLst>
        </p14:section>
        <p14:section name="9. Budget, risks, next steps" id="{f962571b-e373-a382-6c70-e142d1f1d532}">
          <p14:sldIdLst>
            <p14:sldId id="272"/>
            <p14:sldId id="273"/>
          </p14:sldIdLst>
        </p14:section>
        <p14:section name="Appendix (backup for questions)" id="{8a4715d9-10c0-9107-4eb8-04b07acf34a6}">
          <p14:sldIdLst>
            <p14:sldId id="274"/>
            <p14:sldId id="275"/>
            <p14:sldId id="276"/>
            <p14:sldId id="277"/>
            <p14:sldId id="278"/>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5"/>
          <c:w val="0.86"/>
          <c:h val="0.8"/>
        </c:manualLayout>
      </c:layout>
      <c:scatterChart>
        <c:scatterStyle val="lineMarker"/>
        <c:varyColors val="0"/>
        <c:ser>
          <c:idx val="0"/>
          <c:order val="0"/>
          <c:tx>
            <c:strRef>
              <c:f>Sheet1!$B$1</c:f>
              <c:strCache>
                <c:ptCount val="1"/>
                <c:pt idx="0">
                  <c:v>Duplicates, drive 1</c:v>
                </c:pt>
              </c:strCache>
            </c:strRef>
          </c:tx>
          <c:spPr>
            <a:solidFill>
              <a:srgbClr val="1F3B73"/>
            </a:solidFill>
            <a:ln w="28575" cap="flat">
              <a:solidFill>
                <a:srgbClr val="1F3B73"/>
              </a:solidFill>
              <a:prstDash val="solid"/>
              <a:round/>
            </a:ln>
            <a:effectLst/>
          </c:spPr>
          <c:marker>
            <c:symbol val="circle"/>
            <c:size val="8"/>
            <c:spPr>
              <a:solidFill>
                <a:srgbClr val="1F3B73"/>
              </a:solidFill>
              <a:ln w="9525" cap="flat">
                <a:solidFill>
                  <a:srgbClr val="1F3B73"/>
                </a:solidFill>
                <a:prstDash val="solid"/>
                <a:round/>
              </a:ln>
              <a:effectLst/>
            </c:spPr>
          </c:marker>
          <c:xVal>
            <c:numRef>
              <c:f>Sheet1!$A$2:$A$13</c:f>
              <c:numCache>
                <c:formatCode>General</c:formatCode>
                <c:ptCount val="12"/>
                <c:pt idx="0">
                  <c:v>1</c:v>
                </c:pt>
                <c:pt idx="1">
                  <c:v>2.5</c:v>
                </c:pt>
                <c:pt idx="2">
                  <c:v>5</c:v>
                </c:pt>
                <c:pt idx="3">
                  <c:v>7.5</c:v>
                </c:pt>
                <c:pt idx="4">
                  <c:v>10</c:v>
                </c:pt>
                <c:pt idx="5">
                  <c:v>15</c:v>
                </c:pt>
                <c:pt idx="6">
                  <c:v>20</c:v>
                </c:pt>
                <c:pt idx="7">
                  <c:v>2.5</c:v>
                </c:pt>
                <c:pt idx="8">
                  <c:v>6</c:v>
                </c:pt>
                <c:pt idx="9">
                  <c:v>10</c:v>
                </c:pt>
                <c:pt idx="10">
                  <c:v>12</c:v>
                </c:pt>
                <c:pt idx="11">
                  <c:v>15</c:v>
                </c:pt>
              </c:numCache>
            </c:numRef>
          </c:xVal>
          <c:yVal>
            <c:numRef>
              <c:f>Sheet1!$B$2:$B$13</c:f>
              <c:numCache>
                <c:formatCode>General</c:formatCode>
                <c:ptCount val="12"/>
                <c:pt idx="0">
                  <c:v>31</c:v>
                </c:pt>
                <c:pt idx="1">
                  <c:v>8</c:v>
                </c:pt>
                <c:pt idx="2">
                  <c:v>4</c:v>
                </c:pt>
                <c:pt idx="3">
                  <c:v>4</c:v>
                </c:pt>
                <c:pt idx="4">
                  <c:v>3</c:v>
                </c:pt>
                <c:pt idx="5">
                  <c:v>3</c:v>
                </c:pt>
                <c:pt idx="6">
                  <c:v>2</c:v>
                </c:pt>
                <c:pt idx="7">
                  <c:v/>
                </c:pt>
                <c:pt idx="8">
                  <c:v/>
                </c:pt>
                <c:pt idx="9">
                  <c:v/>
                </c:pt>
                <c:pt idx="10">
                  <c:v/>
                </c:pt>
                <c:pt idx="11">
                  <c:v/>
                </c:pt>
              </c:numCache>
            </c:numRef>
          </c:yVal>
          <c:smooth val="0"/>
        </c:ser>
        <c:ser>
          <c:idx val="1"/>
          <c:order val="1"/>
          <c:tx>
            <c:strRef>
              <c:f>Sheet1!$C$1</c:f>
              <c:strCache>
                <c:ptCount val="1"/>
                <c:pt idx="0">
                  <c:v>False merges, drive 1</c:v>
                </c:pt>
              </c:strCache>
            </c:strRef>
          </c:tx>
          <c:spPr>
            <a:solidFill>
              <a:srgbClr val="A9B4C6"/>
            </a:solidFill>
            <a:ln w="28575" cap="flat">
              <a:solidFill>
                <a:srgbClr val="A9B4C6"/>
              </a:solidFill>
              <a:prstDash val="solid"/>
              <a:round/>
            </a:ln>
            <a:effectLst/>
          </c:spPr>
          <c:marker>
            <c:symbol val="circle"/>
            <c:size val="8"/>
            <c:spPr>
              <a:solidFill>
                <a:srgbClr val="A9B4C6"/>
              </a:solidFill>
              <a:ln w="9525" cap="flat">
                <a:solidFill>
                  <a:srgbClr val="A9B4C6"/>
                </a:solidFill>
                <a:prstDash val="solid"/>
                <a:round/>
              </a:ln>
              <a:effectLst/>
            </c:spPr>
          </c:marker>
          <c:xVal>
            <c:numRef>
              <c:f>Sheet1!$A$2:$A$13</c:f>
              <c:numCache>
                <c:formatCode>General</c:formatCode>
                <c:ptCount val="12"/>
                <c:pt idx="0">
                  <c:v>1</c:v>
                </c:pt>
                <c:pt idx="1">
                  <c:v>2.5</c:v>
                </c:pt>
                <c:pt idx="2">
                  <c:v>5</c:v>
                </c:pt>
                <c:pt idx="3">
                  <c:v>7.5</c:v>
                </c:pt>
                <c:pt idx="4">
                  <c:v>10</c:v>
                </c:pt>
                <c:pt idx="5">
                  <c:v>15</c:v>
                </c:pt>
                <c:pt idx="6">
                  <c:v>20</c:v>
                </c:pt>
                <c:pt idx="7">
                  <c:v>2.5</c:v>
                </c:pt>
                <c:pt idx="8">
                  <c:v>6</c:v>
                </c:pt>
                <c:pt idx="9">
                  <c:v>10</c:v>
                </c:pt>
                <c:pt idx="10">
                  <c:v>12</c:v>
                </c:pt>
                <c:pt idx="11">
                  <c:v>15</c:v>
                </c:pt>
              </c:numCache>
            </c:numRef>
          </c:xVal>
          <c:yVal>
            <c:numRef>
              <c:f>Sheet1!$C$2:$C$13</c:f>
              <c:numCache>
                <c:formatCode>General</c:formatCode>
                <c:ptCount val="12"/>
                <c:pt idx="0">
                  <c:v>1</c:v>
                </c:pt>
                <c:pt idx="1">
                  <c:v>0</c:v>
                </c:pt>
                <c:pt idx="2">
                  <c:v>0</c:v>
                </c:pt>
                <c:pt idx="3">
                  <c:v>0</c:v>
                </c:pt>
                <c:pt idx="4">
                  <c:v>0</c:v>
                </c:pt>
                <c:pt idx="5">
                  <c:v>0</c:v>
                </c:pt>
                <c:pt idx="6">
                  <c:v>0</c:v>
                </c:pt>
                <c:pt idx="7">
                  <c:v/>
                </c:pt>
                <c:pt idx="8">
                  <c:v/>
                </c:pt>
                <c:pt idx="9">
                  <c:v/>
                </c:pt>
                <c:pt idx="10">
                  <c:v/>
                </c:pt>
                <c:pt idx="11">
                  <c:v/>
                </c:pt>
              </c:numCache>
            </c:numRef>
          </c:yVal>
          <c:smooth val="0"/>
        </c:ser>
        <c:ser>
          <c:idx val="2"/>
          <c:order val="2"/>
          <c:tx>
            <c:strRef>
              <c:f>Sheet1!$D$1</c:f>
              <c:strCache>
                <c:ptCount val="1"/>
                <c:pt idx="0">
                  <c:v>Duplicates, drive 2 (run at 2.5, 10, 15 cm only)</c:v>
                </c:pt>
              </c:strCache>
            </c:strRef>
          </c:tx>
          <c:spPr>
            <a:solidFill>
              <a:srgbClr val="2B6CB0"/>
            </a:solidFill>
            <a:ln w="28575" cap="flat">
              <a:solidFill>
                <a:srgbClr val="2B6CB0"/>
              </a:solidFill>
              <a:prstDash val="solid"/>
              <a:round/>
            </a:ln>
            <a:effectLst/>
          </c:spPr>
          <c:marker>
            <c:symbol val="circle"/>
            <c:size val="8"/>
            <c:spPr>
              <a:solidFill>
                <a:srgbClr val="2B6CB0"/>
              </a:solidFill>
              <a:ln w="9525" cap="flat">
                <a:solidFill>
                  <a:srgbClr val="2B6CB0"/>
                </a:solidFill>
                <a:prstDash val="solid"/>
                <a:round/>
              </a:ln>
              <a:effectLst/>
            </c:spPr>
          </c:marker>
          <c:xVal>
            <c:numRef>
              <c:f>Sheet1!$A$2:$A$13</c:f>
              <c:numCache>
                <c:formatCode>General</c:formatCode>
                <c:ptCount val="12"/>
                <c:pt idx="0">
                  <c:v>1</c:v>
                </c:pt>
                <c:pt idx="1">
                  <c:v>2.5</c:v>
                </c:pt>
                <c:pt idx="2">
                  <c:v>5</c:v>
                </c:pt>
                <c:pt idx="3">
                  <c:v>7.5</c:v>
                </c:pt>
                <c:pt idx="4">
                  <c:v>10</c:v>
                </c:pt>
                <c:pt idx="5">
                  <c:v>15</c:v>
                </c:pt>
                <c:pt idx="6">
                  <c:v>20</c:v>
                </c:pt>
                <c:pt idx="7">
                  <c:v>2.5</c:v>
                </c:pt>
                <c:pt idx="8">
                  <c:v>6</c:v>
                </c:pt>
                <c:pt idx="9">
                  <c:v>10</c:v>
                </c:pt>
                <c:pt idx="10">
                  <c:v>12</c:v>
                </c:pt>
                <c:pt idx="11">
                  <c:v>15</c:v>
                </c:pt>
              </c:numCache>
            </c:numRef>
          </c:xVal>
          <c:yVal>
            <c:numRef>
              <c:f>Sheet1!$D$2:$D$13</c:f>
              <c:numCache>
                <c:formatCode>General</c:formatCode>
                <c:ptCount val="12"/>
                <c:pt idx="0">
                  <c:v/>
                </c:pt>
                <c:pt idx="1">
                  <c:v/>
                </c:pt>
                <c:pt idx="2">
                  <c:v/>
                </c:pt>
                <c:pt idx="3">
                  <c:v/>
                </c:pt>
                <c:pt idx="4">
                  <c:v/>
                </c:pt>
                <c:pt idx="5">
                  <c:v/>
                </c:pt>
                <c:pt idx="6">
                  <c:v/>
                </c:pt>
                <c:pt idx="7">
                  <c:v>2</c:v>
                </c:pt>
                <c:pt idx="8">
                  <c:v/>
                </c:pt>
                <c:pt idx="9">
                  <c:v>1</c:v>
                </c:pt>
                <c:pt idx="10">
                  <c:v/>
                </c:pt>
                <c:pt idx="11">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1"/>
          <c:min val="0"/>
        </c:scaling>
        <c:delete val="0"/>
        <c:axPos val="b"/>
        <c:title>
          <c:tx>
            <c:rich>
              <a:bodyPr/>
              <a:lstStyle/>
              <a:p>
                <a:pPr>
                  <a:defRPr sz="1200" b="0" i="0" u="none" strike="noStrike">
                    <a:solidFill>
                      <a:srgbClr val="5B6577"/>
                    </a:solidFill>
                    <a:latin typeface="Arial"/>
                  </a:defRPr>
                </a:pPr>
                <a:r>
                  <a:rPr sz="1200" b="0" i="0" u="none" strike="noStrike">
                    <a:solidFill>
                      <a:srgbClr val="5B6577"/>
                    </a:solidFill>
                    <a:latin typeface="Arial"/>
                  </a:rPr>
                  <a:t>Match radius (cm)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majorUnit val="5"/>
      </c:valAx>
      <c:valAx>
        <c:axId val="2094734552"/>
        <c:scaling>
          <c:orientation val="minMax"/>
          <c:max val="32"/>
          <c:min val="0"/>
        </c:scaling>
        <c:delete val="0"/>
        <c:axPos val="l"/>
        <c:majorGridlines>
          <c:spPr>
            <a:ln w="6350" cap="flat">
              <a:solidFill>
                <a:srgbClr val="E3E7EE"/>
              </a:solidFill>
              <a:prstDash val="solid"/>
              <a:round/>
            </a:ln>
          </c:spPr>
        </c:majorGridlines>
        <c:title>
          <c:tx>
            <c:rich>
              <a:bodyPr/>
              <a:lstStyle/>
              <a:p>
                <a:pPr>
                  <a:defRPr sz="1200" b="0" i="0" u="none" strike="noStrike">
                    <a:solidFill>
                      <a:srgbClr val="5B6577"/>
                    </a:solidFill>
                    <a:latin typeface="Arial"/>
                  </a:defRPr>
                </a:pPr>
                <a:r>
                  <a:rPr sz="1200" b="0" i="0" u="none" strike="noStrike">
                    <a:solidFill>
                      <a:srgbClr val="5B6577"/>
                    </a:solidFill>
                    <a:latin typeface="Arial"/>
                  </a:rPr>
                  <a:t>Count</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7"/>
                </a:solidFill>
                <a:latin typeface="+mn-lt"/>
              </a:defRPr>
            </a:pPr>
            <a:endParaRPr lang="en-US"/>
          </a:p>
        </c:txPr>
        <c:crossAx val="2094734554"/>
        <c:crosses val="autoZero"/>
        <c:crossBetween val="midCat"/>
        <c:majorUnit val="8"/>
      </c:valAx>
      <c:spPr>
        <a:noFill/>
        <a:ln>
          <a:noFill/>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0:20    ELAPSED AT END OF SLIDE: 0:20 of 20:00
SCRIPT (approved, from INTERIM_PRESENTATION_SLIDE_CONTENT_2026-10.md)
Good afternoon. We are Dion, Sherman and Zongzhe. Our project is a mobile robot that fetches the specific object a person looked at and named, even when the robot cannot see that object at the start.
TRANSITION
Here is the situation we want the robot to handle.
TEAM REVIEW BEFORE THE TALK (not shown on the slide)
[ARTEFACT NEEDED: one photo of the full robot with the glasses beside it (any member, take at the lab)] Note: the approved title says "Continuous Pre-Alignment", a term the report never uses. Keep the title. Dion explains it if asked in Q&amp;A.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0:50    ELAPSED AT END OF SLIDE: 1:10 of 20:00
SCRIPT (approved, from INTERIM_PRESENTATION_SLIDE_CONTENT_2026-10.md)
Picture a user wearing Meta's Aria glasses. They look at a box on a table and say 'pick up that box'. The robot is somewhere else in the room. It has never seen the user's view.
These three images show why that is hard. On the left is what the glasses see: the box from a metre or two away, front on. In the middle, the robot's base camera, at knee height. On the right, the wrist camera on the arm, looking down from twenty centimetres. Same object, but the images have almost nothing in common. Yet the robot has to find, and pick up, exactly the box the user looked at.
TRANSITION
Two published systems each solve half of this.
TEAM REVIEW BEFORE THE TALK (not shown on the slide)
[ARTEFACT NEEDED: a base-camera frame from knee height. The memory graph answer key has no box, so a frame of the box may not exist. Use a frame from Zongzhe's mg_handdriven1_survey_every_100th_frame_2026-10-21.jpg or Sherman's nav_camera_frames_along_t35f_run1_2026-10-21.jpg, captioned "the lab from the base camera", or take one frame of the box with the D455 at the lab (Sherman or Zongzhe)]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1:20    ELAPSED AT END OF SLIDE: 2:30 of 20:00
SCRIPT (approved, from INTERIM_PRESENTATION_SLIDE_CONTENT_2026-10.md)
Our objective is a mobile manipulator that takes what the user says and where they look, explores a room it cannot see at the start, finds that object, drives to it and grasps it.
Two published systems each solve half of this. FAM-HRI uses the same Aria glasses: speech gives the object word, gaze picks which object, and an arm grasps it. But it assumes the object is already in front of the arm. We take its user side: speech, gaze and the grasp.
HiCo-Nav is a robot that explores an unseen room and builds a memory graph of every object it sees, each with a 3D position and an image feature. But you query it with a sentence, so it finds a class, any box, not the one you looked at. We take its pose estimation, its memory graph, its sentence reasoning and its exploration. We leave out its own motion planner and send goals to Nav2 instead. Its smarter way of choosing where to explore next is optional.
What we add is the join. The robot compares each object it finds with the one the user looked at, drives to the match, and checks it with the wrist camera before grasping.
TRANSITION
Here is the full behaviour we are building towards.
TEAM REVIEW BEFORE THE TALK (not shown on the slide)
[VERIFY: FAM-HRI's full title and author list (D§1.1 flags it unverified), in case it goes on the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Zongzhe    SLOT: 1:15    ELAPSED AT END OF SLIDE: 3:50 of 20:00
SCRIPT (approved, from INTERIM_PRESENTATION_SLIDE_CONTENT_2026-10.md)
The finished system works in five phases. First, the user speaks and looks. Speech gives us the word, gaze tells us which object, and we cut an image crop of it and turn it into a CLIP feature. Second, the robot explores. It maps the room and builds a memory of the objects it sees, each with a 3D position and an image feature. It looks for the user first, because the object is somewhere the user can see. Third, it compares what it sees with the user's target. A good match tells it to stop exploring. Fourth, it drives close and the camera on the arm confirms that this is the object the user meant. If not, it goes back to exploring. Fifth, it grasps.
Exploration is the core of the search. HiCo-Nav also has a smarter way to choose where to explore next. That part is optional and the first thing we cut if time runs short. Bringing the object back to the user is out of scope.
The badges show where each phase stands seven weeks in. The next eleven minutes go through them in order.
TRANSITION
Before the results, a word on where we started and how we 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Sherman    SLOT: 0:45    ELAPSED AT END OF SLIDE: 4:40 of 20:00
SCRIPT (approved, from INTERIM_PRESENTATION_SLIDE_CONTENT_2026-10.md)
We did not start from a working system. The inherited code had no tests and no CI, and none of it ran from a fresh copy. One program homed the real arm within seconds, with no prompt. Navigation ran only from another user's workspace, and our copy did not build. There was no memory graph.
So we built foundations first. Dion took the glasses and the arm, I took the base and mapping, and Zongzhe the memory graph. A channel contract says who owns every message and frame, and a seven-level test bench runs on every pull request. We measure a baseline before replacing anything, and on the real robot we move one step at a time, with two people present.
TRANSITION
Phase one: turning a sentence and a glance into a target.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1:20    ELAPSED AT END OF SLIDE: 6:05 of 20:00
SCRIPT (approved, from INTERIM_PRESENTATION_SLIDE_CONTENT_2026-10.md)
The user says 'find the box'. A speech detector waits for the sentence to finish, Whisper turns it into text, and a small language model pulls out the object word. Before this, the old pipeline produced thirty-one messages per phrase. Now it produces one.
Gaze runs at the same time. We keep the last twenty seconds of glasses images and gaze points, so we can go back to the moment the user was speaking. SAM 3, a segmentation model you prompt with a word, finds every box in that one frame. Then gaze votes. Each gaze sample in a one-second window votes for the mask it lands on, and the winner needs half the votes. We crop that mask with a small margin. That crop is what we send to the robot.
On a recording at 1.4 to 2.4 metres, this picked the right box in 60 of 61 frames. On a full replay, all four spoken words produced a crop.
The limit is gaze accuracy. The eye model is off by about five and a half degrees, roughly 15 centimetres at 1.5 metres. Here, at 1.5 metres, it landed on a stack of mats that SAM 3 also called a box. Keep that case in mind. It comes back on slide 12.
TRANSITION
That crop now has to be found by a robot that has never seen this view. Sherman will show how the robot knows where it is.
TEAM REVIEW BEFORE THE TALK (not shown on the slide)
[ARTEFACT NEEDED: aria_gaze_pick_vs_distance_2026-10-20.jpg from docs/dion_docs/local/report_media/ (Dion)]
[VERIFY: whether T2.21 (word timestamps from Whisper, PR #91) has merged by 28 Oct. If yes, the script can say the word is stamped with the time it was spoken. If not, keep as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Sherman    SLOT: 1:35    ELAPSED AT END OF SLIDE: 7:45 of 20:00
SCRIPT (approved, from INTERIM_PRESENTATION_SLIDE_CONTENT_2026-10.md)
Before the robot can remember where objects are, it needs to know where it is. We use FAST-LIVO2, the method the HiCo-Nav paper uses, from the University of Hong Kong. It fuses the LiDAR, its motion sensor and the colour camera into one pose, and paints a coloured 3D map.
Why 3D? 2D SLAM knows only where the base is on the floor and which way it faces. The memory graph places each object in 3D from the camera's pose, so an unmeasured tilt moves objects by centimetres. Nav2 still drives on a 2D grid built from this pose.
FAST-LIVO2 is published for ROS 1. We run a community ROS 2 port, and getting it to work was most of the effort. The strip along the bottom shows the steps. I proved it on the authors' own recording first, then on our sensors with every message checked. I found three defects that fail silently: no crash, just a wrong map. Each was found by reading the source and confirmed against a control run.
The result: I pushed the base by hand around a 26-metre loop. The path returns to its start within 12 millimetres, and the mid-route error is within about 7 centimetres, the limit of our reference. The pose now feeds Nav2's frame tree. Nav2 driving the base is the next test.
TRANSITION
A map is only useful to the arm and the memory if every camera's position on the robot is known. That is a calibration question, and there are several of them.
TEAM REVIEW BEFORE THE TALK (not shown on the slide)
[VERIFY: the clean renders are in Sherman's gitignored docs/sherman_docs/local/report_media/, so the links above work on his machine only. Sherman copies them to whoever builds the slides]
[VERIFY: the venue can play video. Fall back to the GIF or the iso still]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Sherman    SLOT: 1:10    ELAPSED AT END OF SLIDE: 8:55 of 20:00
SCRIPT (approved, from INTERIM_PRESENTATION_SLIDE_CONTENT_2026-10.md)
There are four places where we need to know how one part of the robot sits relative to another.
The arm on the base is measured. We set the transform from the mount drawings and checked it on the robot. The base's own origin, on the floor under the drive axle, matches the vendor's manual.
The base camera relative to the LiDAR is measured but not calibrated. I designed and fitted the mount, measured to the camera's mounting hole, and took the rest from Intel's published camera dimensions. It sits flush on vertical aluminium extrusions, so it points straight by construction. What is left is a calibration against the LiDAR itself, because one degree of error moves a point by about seven pixels. The rig for that is planned.
The wrist camera relative to the arm is calibrated, so a grasp it sees becomes an arm goal.
The last one is different in kind. To use gaze to separate two identical objects, the robot needs the user's gaze ray in its own frame, which means locating the glasses relative to the robot. That is planned for January.
None of these blocks today's results, but each one blocks a specific later step.
TRANSITION
With poses and camera images from that drive, Zongzhe builds the robot's memory of the room.
TEAM REVIEW BEFORE THE TALK (not shown on the slide)
[ARTEFACT NEEDED: nav_lidar_on_camera_overlay_stationary02_t0s_2026-10-19.png (Sherman)]
[VERIFY: optional before the talk, a phone inclinometer on the camera top would turn "straight by construction" into a measured pitch and roll (Sherman)]
[TEAM INPUT REQUIRED: one phrase on how the wrist camera was calibrated (method, residual), in case an examiner asks. Dion confirmed on 2026-10-24 that it is calibrated]
[VERIFY: who presents the glasses-to-robot row. It is Dion's task (T8.8). Sherman can present it as written, or Dion can add one sentence in his later block]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Zongzhe    SLOT: 1:20    ELAPSED AT END OF SLIDE: 10:20 of 20:00
SCRIPT (approved, from INTERIM_PRESENTATION_SLIDE_CONTENT_2026-10.md)
The memory graph is HiCo-Nav's idea. As the robot moves, it keeps a photo now and then, finds the objects in it, and stores each object with its position in 3D and a CLIP image feature. CLIP is a model that turns an image into a vector, so that similar-looking things get similar vectors. The photos are kept too, linked to the objects they show. That link is the 'graph'.
HiCo-Nav published code, but with no licence, so I read it and wrote a fresh implementation as fourteen separate stages, each with its own tests. Reading it also turned up nine problems, such as a language-model call with no timeout, which we fixed or avoided.
Here is the graph built from Sherman's hand-pushed drive. Two choices keep it fast. A photo is kept only after the robot moves a metre or turns 45 degrees, so 29 of 3,536 frames go to segmentation, which saves over 99 % of that time. And all thirty object classes go through SAM 3 in one batch, 5.7 times faster than one at a time.
It is built offline from a recording. Building it live while the robot explores is next (T7.2, T7.5).
TRANSITION
The hardest part of building it is deciding when two sightings are the same object.
TEAM REVIEW BEFORE THE TALK (not shown on the slide)
[ARTEFACT NEEDED: Rerun 3D screenshot or mg_graph_3d_flythrough video (video is a stub, recordable any time from the .rrd), and mg_frame700_masks_and_3d_objects_2026-10-21.png, from docs/zongzhe_docs/local/report_media/ (Zongzhe)]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Zongzhe    SLOT: 1:00    ELAPSED AT END OF SLIDE: 11:20 of 20:00
SCRIPT (approved, from INTERIM_PRESENTATION_SLIDE_CONTENT_2026-10.md)
The robot sees the same chair from many places. Each sighting must merge into one object, and two chairs side by side must stay two.
To measure that, I made an answer key by hand: sixteen real objects marked on the LiDAR map, without using any of the code being tested. Then I swept the settings.
The lever is the match radius, how close two sightings' points must be. With our sparse LiDAR depth, two views of one object land 4 to 9 centimetres apart, so upstream's 2.5 centimetres split objects. At 10 centimetres duplicates fall from 8 to 3 with no false merges. On a second drive, 2 to 1. At 15, a chair merges into the desk next to it, so we chose 10.
Why not just merge things that look alike? Because look-alikes are exactly the problem. CLIP scores two chairs of the same model at 0.81 to 0.85, close to the same chair at 0.93. Merging on appearance removes every duplicate by merging nearly everything. That is also why the class alone cannot find the user's object.
TRANSITION
Once the objects are in the graph, the robot has to find the right one from a sentence.
TEAM REVIEW BEFORE THE TALK (not shown on the slide)
[ARTEFACT NEEDED: the line chart, built from the table above (slide session can draw it), optional mg_ground_truth_12_objects_on_lidar_map_2026-10-21.png (Zongzhe)]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Zongzhe    SLOT: 0:50    ELAPSED AT END OF SLIDE: 12:10 of 20:00
SCRIPT (approved, from INTERIM_PRESENTATION_SLIDE_CONTENT_2026-10.md)
To search the graph, the robot first turns the sentence into classes. A small language model, running locally, returns the target class and some related ones. 'Find the chair' gives chair, plus table and desk, because chairs are usually near them. The 1.5 billion parameter model got 20 of 22 test instructions right and answers in about a third of a second.
Then every object is scored by comparing its stored image feature with the sentence, using CLIP again. Target classes rank first, related ones after. Each hit comes with a 3D position and the best photo of it, and a wrong hit can be rejected so the robot tries the next one.
The ranking has been tested on stand-in data and a few photos. Running the full query on the recorded drive, checked against the answer key, is the next milestone, in the next two weeks.
Today the query is a sentence. In the full system, the robot matches each object against the gaze crop from slide 6, and a good match tells it to stop exploring and go to the user's chair, not just any chair. Dion now picks up the object at close range.
TRANSITION
(Handover) "Thanks, Zongzhe. When the robot reaches the object, it has to confirm, with the camera on its wrist, that this is the one the user looked at.
TEAM REVIEW BEFORE THE TALK (not shown on the slide)
[VERIFY: the "related: table, desk" example. Zongzhe to replace it with the model's actual output for "find the chair" from check_reasoning.json]
[ARTEFACT NEEDED: the 22-instruction right/wrong grid from local/t6.7/out/check_reasoning.json (Zongzhe)]
[AFTER T6.8: if the acceptance run happens before 28 Oct, replace the status line with its result]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1:35    ELAPSED AT END OF SLIDE: 13:50 of 20:00
SCRIPT (approved, from INTERIM_PRESENTATION_SLIDE_CONTENT_2026-10.md)
This is the central perception problem. We have the glasses crop from slide 6, and the wrist camera sees several objects. Which one is it?
The obvious approach is keypoint matching: find distinctive points in both images and pair them. We measured that first. It ranked the box first in none of 15 pairs. The viewpoints differ too much. So we compared whole-object features, and CLIP ranked the right box first in all 25.
This week we put it where it matters, inside the grasp client. The arm now goes for the box you looked at, not the box SAM 3 is most confident about. On a scene with two cardboard boxes, the old pick took the wrong box in all 114 frames. With the glasses crop, 266 of 268 targets were the right box. With three boxes, 334 of 334. If nothing matches well enough, the arm waits.
The two misses are instructive. They came at 1.5 metres, where gaze landed on the mat. The crop was wrong before the matcher ever saw it. So the next step is to refuse weak gaze picks at the glasses.
The real limit is identical objects: two boxes of the same colour, 6 of 12. Appearance cannot separate them. That needs the gaze ray in the robot's frame, the glasses calibration from slide 8.
All of this is on replayed recordings. The real arm run comes next.
TRANSITION
Once the target mask is chosen, the arm has to pick it up.
TEAM REVIEW BEFORE THE TALK (not shown on the slide)
[VERIFY: CR§8.2 also lists "two similar cardboard boxes 148 of 180" from T8.5 (matcher on display). The T8.9a cardboard scene gives 266 of 268. The counts differ in what they count (T8.9a counts only published targets, refusals excluded) and possibly in the recording. The slide uses only the T8.9a figure. Dion to confirm before anyone quotes both]
[ARTEFACT NEEDED: lightglue_baseline_wrong_matches_2026-10-19.jpg and clip_glasses_vs_wrist_crops_2026-10-20.jpg (Dion). The two bar charts can be drawn from the tables above]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1:10    ELAPSED AT END OF SLIDE: 15:00 of 20:00
SCRIPT (approved, from INTERIM_PRESENTATION_SLIDE_CONTENT_2026-10.md)
Grasping is a state machine. The arm only accepts a target after a grasp request, and only when idle. It then steps the wrist camera towards the target mask, two centimetres at a time, re-checking at each step, until it is 21 centimetres away. This is a simple form of visual servoing: small corrections absorb calibration and depth errors. Then it grasps, lifts, returns home, and holds the object until the user says 'release'.
Our first real grasp was on 13 October. Started from a recorded spoken command, the arm made 5 of 8 grasps. Both failures at 54.5 centimetres were out of reach, so within reach it was 5 of 6.
Safety came first. The arm's hardware stop is rejected by its controller, so we wrote a software stop. On the real arm it cancels motion within a millisecond. Every motion test still has two people and a hand on the power button.
These grasps used a simple grasping method, one blind step and close. Next we will look at the learned grasp model we used to propose more complicated grasps.
TRANSITION
The learned grasp model, AnyGrasp, is where the current blocker sits.
TEAM REVIEW BEFORE THE TALK (not shown on the slide)
[ARTEFACT NEEDED: phone video of the real grasp, grasp_real_arm_&lt;date&gt;.mp4. Dion has it, not yet copied into local/report_media/ (Dion)]
[VERIFY: whether any grasp has now run with the live glasses instead of a WAV file. If yes, update the conditions line]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Dion    SLOT: 1:00    ELAPSED AT END OF SLIDE: 16:00 of 20:00
SCRIPT (approved, from INTERIM_PRESENTATION_SLIDE_CONTENT_2026-10.md)
AnyGrasp is a learned model that looks at a point cloud and proposes grasps: where to put the gripper and at what angle. At the ideal spot it worked twice in three tries. Anywhere else it failed.
We traced why. The arm runs AnyGrasp when the camera is 21 centimetres from the box, and from there it sees mostly one face. AnyGrasp's most confident grasps go across the 75-millimetre face, but our gripper opens to 71. Our own fit check should catch that, but it measures width from the points it can see, so a grasp on an edge looks narrow enough and passes. On replay every one of 369 grasps passed it. The grasp we want, from the top across 60 millimetres, is proposed in most frames, but scores 0.25, under our floor.
So the problem is not the model. It is where we ask it. The cheapest fix is to run AnyGrasp once from further back, 40 to 50 centimetres, with the whole box in view, then make one planned move. The second is to fuse several views into one cloud, which is built and needs a retest. This decides when M1 closes.
TRANSITION
(Handover) "Sherman will now step back from the parts and show what is connected today.
TEAM REVIEW BEFORE THE TALK (not shown on the slide)
[ARTEFACT NEEDED: fit_check_edge_grasp_75mm_face_measured_56mm_passes_wrongly.png, optional anygrasp_8_best_grasps_angles_2026-10-20.png (Dion)]
[VERIFY: if the new SDK licence (T1.45) or the fusion retest (T1.47) has a result before 28 Oct, add one line. Otherwise keep as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Sherman    SLOT: 1:05    ELAPSED AT END OF SLIDE: 17:10 of 20:00
SCRIPT (approved, from INTERIM_PRESENTATION_SLIDE_CONTENT_2026-10.md)
Here is the full flow from slide 4 again, with each part we have just shown placed where it sits.
Built and connected today: a recorded voice command starts a real grasp on the real arm, and since this week the glasses crop also chooses which object the arm goes for, on replayed recordings. My map feeds the navigation frame tree, and the memory graph is built from my recorded drive.
Two links are still to join. The robot has to explore with a live memory graph, match what it sees against the gaze target, and turn a match into a navigation goal. Nav2 has to drive the base, which I start right after this presentation.
So there is no end-to-end run yet. That matches the plan: the first closed-loop run is milestone M4, in January. Here is how we stand against that schedule.
TRANSITION
Straight into slide 16, same presenter.
TEAM REVIEW BEFORE THE TALK (not shown on the slide)
[VERIFY: CR§1 says M4 is "scheduled 28 Dec 2026 to 17 Jan 2027 (PP §5.1)" but CR§0.2 and §0.6 forecast it 11 to 31 Jan 2027, re-estimated 24 Oct. This slide uses "January 2027", which fits both. Use the CR§0.6 dates on slide 16. The project plan also disagrees with itself: PROJECT_PLAN.md:414 forecasts 11 to 31 Jan, its §6.6 heading still says 28 Dec to 17 Jan]
[ARTEFACT NEEDED: the final slide 15 diagram, drawn from the idea above (any member)]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Sherman    SLOT: 1:10    ELAPSED AT END OF SLIDE: 18:20 of 20:00
SCRIPT (approved, from INTERIM_PRESENTATION_SLIDE_CONTENT_2026-10.md)
This chart shows every milestone by week. Each one has a written test. For example, M2 is done when, with two boxes on the table, the arm picks the one you looked at three times out of four. Solid bars are work done so far, light bars are our forecast, and the grey bands are recess, exams and the winter break, when we are not working.
Our September plan expected, at this point, only the build milestone finished and the arm and base under way. We have that. The build milestone closed in week two. The arm picks up a box on the simple path. My map and localisation are done.
Three milestones started well ahead of their windows: voice and gaze to the arm, the memory graph, and the gaze-instance work. The memory graph should finish a week early.
Two things are behind, and both are mine: calibrating the base camera, because the rig is not built yet, and the test drives, because bring-up has taken twice my estimates. They slip one to two weeks into January. M8 and the final dates do not move.
The weeks after the break carry most of the integration: closed loop in January, the robot exploring in February, and the end-to-end trials in March.
TRANSITION
(Handover) "Zongzhe will cover what the plan costs and what could go wrong.
TEAM REVIEW BEFORE THE TALK (not shown on the slide)
[VERIFY: M1's forecast (8 Nov) depends on the AnyGrasp licence reply expected around 26 Oct. Update if it has changed]
[VERIFY: an examiner may ask for the original September plan. It is in git at 1cde0ec:docs/PROJECT_PLAN.md §5.3. Keep it as appendix slide A7]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Zongzhe    SLOT: 0:45    ELAPSED AT END OF SLIDE: 19:10 of 20:00
SCRIPT (approved, from INTERIM_PRESENTATION_SLIDE_CONTENT_2026-10.md)
Our budget is small and approved: a thousand Singapore dollars for a GPU and five hundred for API credits for AI services, both for compute. The reason is concrete. Everything runs on one 16 gigabyte GPU in the lab, shared by the three of us and by the CI runner. Segmentation, grasping, CLIP, speech and two language models all need it, and the memory graph's segmentation alone peaks at over 10 gigabytes. We have never run them all at once.
The main risks are about schedule and shared hardware. If time runs short, we have a cut list fixed in advance, and the paper's smarter exploration order goes first. The grasp model's licence is tied to a machine ID, and a new one is requested. The lab machine is shared and has hung twice. And neither the arm nor the base has a working hardware stop, so every motion test has two people and a hand on the power button.
TRANSITION
To close, what happens next and what we want you to remember.
TEAM REVIEW BEFORE THE TALK (not shown on the slide)
Note: currency confirmed SGD by Dion. The API credits are for AI services in general. The team explains the detail if asked. [TEAM INPUT REQUIRED: whether the GPU has been bought yet and any spend to date, in case an examiner asks]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Zongzhe    SLOT: 0:50    ELAPSED AT END OF SLIDE: 20:00 of 20:00
SCRIPT (approved, from INTERIM_PRESENTATION_SLIDE_CONTENT_2026-10.md)
In the next two weeks, before exams, we close four specific gaps. The glasses learn to refuse a weak gaze pick, and the gaze-matched grasp runs on the real arm. The new AnyGrasp version and the fused views are tested, then a twelve-trial validation closes the grasp milestone. Sherman starts driving the base with Nav2. And I run the full memory graph query on the recorded drive, checked against the answer key.
After the break, the pieces join: the two-box gaze test on the real arm, the camera calibrations, the first closed-loop run in January, and the robot exploring on its own in February, with a gaze match telling it when to stop. In March we run the end-to-end trials.
Three things to take away. The hard part of this problem is keeping the object's identity across very different viewpoints. Every subsystem now has measured results on real hardware or real data. And the remaining links are scheduled, with a cut list fixed in advance. Thank you. We are happy to take questions.
TRANSITION
Into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Backup slides for questions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exactly is connected?" Only links that exist in code. Grey rows exist in code but have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 grasp poses reach the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"Why 0.56? Is CLIP cosine a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"Why not just lower the score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 you know the map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fails today?" Most are links the plan schedules for later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could break when the parts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has gone wrong on hardware 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does this compare with your original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"Isn’t identical-object picking niche?"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will you measure the final system?" Today every measurement is per stage, none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 you know a milestone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rtlCol="0"/>
          <a:lstStyle>
            <a:lvl1pPr algn="l" indent="0" marL="0">
              <a:buNone/>
              <a:defRPr lang="en-US" sz="2400" b="1" dirty="0">
                <a:solidFill>
                  <a:srgbClr val="1B2333"/>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rtlCol="0"/>
          <a:lstStyle>
            <a:lvl1pPr algn="l" indent="0" marL="0">
              <a:buNone/>
              <a:defRPr lang="en-US" sz="2200" b="1" dirty="0">
                <a:solidFill>
                  <a:srgbClr val="1B2333"/>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669280" cy="6858000"/>
          </a:xfrm>
          <a:prstGeom prst="rect">
            <a:avLst/>
          </a:prstGeom>
          <a:solidFill>
            <a:srgbClr val="F7F8FA"/>
          </a:solidFill>
          <a:ln w="15875">
            <a:solidFill>
              <a:srgbClr val="9AA3B2"/>
            </a:solidFill>
            <a:prstDash val="dash"/>
          </a:ln>
        </p:spPr>
      </p:sp>
      <p:sp>
        <p:nvSpPr>
          <p:cNvPr id="3" name="Text 1"/>
          <p:cNvSpPr txBox="1"/>
          <p:nvPr/>
        </p:nvSpPr>
        <p:spPr>
          <a:xfrm>
            <a:off x="137160" y="91440"/>
            <a:ext cx="5394960" cy="6675120"/>
          </a:xfrm>
          <a:prstGeom prst="rect">
            <a:avLst/>
          </a:prstGeom>
          <a:noFill/>
          <a:ln/>
        </p:spPr>
        <p:txBody>
          <a:bodyPr wrap="square" lIns="0" tIns="0" rIns="0" bIns="0" rtlCol="0" anchor="ctr"/>
          <a:lstStyle/>
          <a:p>
            <a:pPr algn="ctr" indent="0" marL="0">
              <a:buNone/>
            </a:pPr>
            <a:r>
              <a:rPr lang="en-US" sz="1600" b="1" dirty="0">
                <a:solidFill>
                  <a:srgbClr val="5B6577"/>
                </a:solidFill>
                <a:latin typeface="Calibri" pitchFamily="34" charset="0"/>
                <a:ea typeface="Calibri" pitchFamily="34" charset="-122"/>
                <a:cs typeface="Calibri" pitchFamily="34" charset="-120"/>
              </a:rPr>
              <a:t>[INSERT PHOTO: full robot with the Aria glasses beside it]</a:t>
            </a:r>
            <a:endParaRPr lang="en-US" sz="1800" dirty="0"/>
          </a:p>
          <a:p>
            <a:pPr algn="ctr" indent="0" marL="0">
              <a:buNone/>
            </a:pPr>
            <a:r>
              <a:rPr lang="en-US" sz="1200" dirty="0">
                <a:solidFill>
                  <a:srgbClr val="8A93A3"/>
                </a:solidFill>
                <a:latin typeface="Calibri" pitchFamily="34" charset="0"/>
                <a:ea typeface="Calibri" pitchFamily="34" charset="-122"/>
                <a:cs typeface="Calibri" pitchFamily="34" charset="-120"/>
              </a:rPr>
              <a:t>RealMan RM65 arm on the Hexman ECHO-PLUS base, Livox LiDAR and front D455 visible. Half-bleed, crop to fill</a:t>
            </a:r>
            <a:endParaRPr lang="en-US" sz="1800" dirty="0"/>
          </a:p>
          <a:p>
            <a:pPr algn="ctr" indent="0" marL="0">
              <a:buNone/>
            </a:pPr>
            <a:r>
              <a:rPr lang="en-US" sz="1200" dirty="0">
                <a:solidFill>
                  <a:srgbClr val="8A93A3"/>
                </a:solidFill>
                <a:latin typeface="Calibri" pitchFamily="34" charset="0"/>
                <a:ea typeface="Calibri" pitchFamily="34" charset="-122"/>
                <a:cs typeface="Calibri" pitchFamily="34" charset="-120"/>
              </a:rPr>
              <a:t>Owner: any member, take at the lab</a:t>
            </a:r>
            <a:endParaRPr lang="en-US" sz="1800" dirty="0"/>
          </a:p>
        </p:txBody>
      </p:sp>
      <p:sp>
        <p:nvSpPr>
          <p:cNvPr id="4" name="Shape 2"/>
          <p:cNvSpPr/>
          <p:nvPr/>
        </p:nvSpPr>
        <p:spPr>
          <a:xfrm>
            <a:off x="5669280" y="0"/>
            <a:ext cx="6522415" cy="6858000"/>
          </a:xfrm>
          <a:prstGeom prst="rect">
            <a:avLst/>
          </a:prstGeom>
          <a:solidFill>
            <a:srgbClr val="1F3B73"/>
          </a:solidFill>
          <a:ln/>
        </p:spPr>
      </p:sp>
      <p:sp>
        <p:nvSpPr>
          <p:cNvPr id="5" name="Text 3"/>
          <p:cNvSpPr txBox="1"/>
          <p:nvPr/>
        </p:nvSpPr>
        <p:spPr>
          <a:xfrm>
            <a:off x="6217920" y="1234440"/>
            <a:ext cx="5486400" cy="2331720"/>
          </a:xfrm>
          <a:prstGeom prst="rect">
            <a:avLst/>
          </a:prstGeom>
          <a:noFill/>
          <a:ln/>
        </p:spPr>
        <p:txBody>
          <a:bodyPr wrap="square" lIns="0" tIns="0" rIns="0" bIns="0" rtlCol="0" anchor="b"/>
          <a:lstStyle/>
          <a:p>
            <a:pPr indent="0" marL="0">
              <a:buNone/>
            </a:pPr>
            <a:r>
              <a:rPr lang="en-US" sz="3200" b="1" dirty="0">
                <a:solidFill>
                  <a:srgbClr val="FFFFFF"/>
                </a:solidFill>
                <a:latin typeface="Calibri" pitchFamily="34" charset="0"/>
                <a:ea typeface="Calibri" pitchFamily="34" charset="-122"/>
                <a:cs typeface="Calibri" pitchFamily="34" charset="-120"/>
              </a:rPr>
              <a:t>High-Readiness Mobile Manipulation via Gaze-Speech Interaction and Continuous Pre-Alignment</a:t>
            </a:r>
            <a:endParaRPr lang="en-US" sz="3200" dirty="0"/>
          </a:p>
        </p:txBody>
      </p:sp>
      <p:sp>
        <p:nvSpPr>
          <p:cNvPr id="6" name="Text 4"/>
          <p:cNvSpPr txBox="1"/>
          <p:nvPr/>
        </p:nvSpPr>
        <p:spPr>
          <a:xfrm>
            <a:off x="6217920" y="3749040"/>
            <a:ext cx="5486400" cy="457200"/>
          </a:xfrm>
          <a:prstGeom prst="rect">
            <a:avLst/>
          </a:prstGeom>
          <a:noFill/>
          <a:ln/>
        </p:spPr>
        <p:txBody>
          <a:bodyPr wrap="square" lIns="0" tIns="0" rIns="0" bIns="0" rtlCol="0" anchor="t"/>
          <a:lstStyle/>
          <a:p>
            <a:pPr indent="0" marL="0">
              <a:buNone/>
            </a:pPr>
            <a:r>
              <a:rPr lang="en-US" sz="2000" i="1" dirty="0">
                <a:solidFill>
                  <a:srgbClr val="D6DEEC"/>
                </a:solidFill>
                <a:latin typeface="Calibri" pitchFamily="34" charset="0"/>
                <a:ea typeface="Calibri" pitchFamily="34" charset="-122"/>
                <a:cs typeface="Calibri" pitchFamily="34" charset="-120"/>
              </a:rPr>
              <a:t>Look at it, name it, and the robot fetches that one</a:t>
            </a:r>
            <a:endParaRPr lang="en-US" sz="2000" dirty="0"/>
          </a:p>
        </p:txBody>
      </p:sp>
      <p:sp>
        <p:nvSpPr>
          <p:cNvPr id="7" name="Text 5"/>
          <p:cNvSpPr txBox="1"/>
          <p:nvPr/>
        </p:nvSpPr>
        <p:spPr>
          <a:xfrm>
            <a:off x="6217920" y="4754880"/>
            <a:ext cx="5486400" cy="109728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Dion, Sherman, Zongzhe</a:t>
            </a:r>
            <a:endParaRPr lang="en-US" sz="1800" dirty="0"/>
          </a:p>
          <a:p>
            <a:pPr indent="0" marL="0">
              <a:spcAft>
                <a:spcPts val="400"/>
              </a:spcAft>
              <a:buNone/>
            </a:pPr>
            <a:r>
              <a:rPr lang="en-US" sz="1600" dirty="0">
                <a:solidFill>
                  <a:srgbClr val="D6DEEC"/>
                </a:solidFill>
                <a:latin typeface="Calibri" pitchFamily="34" charset="0"/>
                <a:ea typeface="Calibri" pitchFamily="34" charset="-122"/>
                <a:cs typeface="Calibri" pitchFamily="34" charset="-120"/>
              </a:rPr>
              <a:t>Supervisors: Prof Yuan Shenghai, Prof Xie Lihua</a:t>
            </a:r>
            <a:endParaRPr lang="en-US" sz="1800" dirty="0"/>
          </a:p>
          <a:p>
            <a:pPr indent="0" marL="0">
              <a:spcAft>
                <a:spcPts val="400"/>
              </a:spcAft>
              <a:buNone/>
            </a:pPr>
            <a:r>
              <a:rPr lang="en-US" sz="1600" dirty="0">
                <a:solidFill>
                  <a:srgbClr val="D6DEEC"/>
                </a:solidFill>
                <a:latin typeface="Calibri" pitchFamily="34" charset="0"/>
                <a:ea typeface="Calibri" pitchFamily="34" charset="-122"/>
                <a:cs typeface="Calibri" pitchFamily="34" charset="-120"/>
              </a:rPr>
              <a:t>Interim assessment, 28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The user can see the object. The robot sees neither the user nor the object</a:t>
            </a:r>
            <a:endParaRPr lang="en-US" sz="2400" dirty="0"/>
          </a:p>
        </p:txBody>
      </p:sp>
      <p:pic>
        <p:nvPicPr>
          <p:cNvPr id="3" name="Image 0" descr="User's glasses view of the box">    </p:cNvPr>
          <p:cNvPicPr>
            <a:picLocks noChangeAspect="1"/>
          </p:cNvPicPr>
          <p:nvPr/>
        </p:nvPicPr>
        <p:blipFill>
          <a:blip r:embed="rId1"/>
          <a:stretch>
            <a:fillRect/>
          </a:stretch>
        </p:blipFill>
        <p:spPr>
          <a:xfrm>
            <a:off x="772668" y="1463040"/>
            <a:ext cx="2926080" cy="2926080"/>
          </a:xfrm>
          <a:prstGeom prst="rect">
            <a:avLst/>
          </a:prstGeom>
        </p:spPr>
      </p:pic>
      <p:sp>
        <p:nvSpPr>
          <p:cNvPr id="4" name="Shape 1"/>
          <p:cNvSpPr/>
          <p:nvPr/>
        </p:nvSpPr>
        <p:spPr>
          <a:xfrm>
            <a:off x="772668" y="1463040"/>
            <a:ext cx="2926080" cy="2926080"/>
          </a:xfrm>
          <a:prstGeom prst="rect">
            <a:avLst/>
          </a:prstGeom>
          <a:ln w="9525">
            <a:solidFill>
              <a:srgbClr val="CDD3DD"/>
            </a:solidFill>
            <a:prstDash val="solid"/>
          </a:ln>
        </p:spPr>
      </p:sp>
      <p:sp>
        <p:nvSpPr>
          <p:cNvPr id="5" name="Text 2"/>
          <p:cNvSpPr txBox="1"/>
          <p:nvPr/>
        </p:nvSpPr>
        <p:spPr>
          <a:xfrm>
            <a:off x="772668" y="4498848"/>
            <a:ext cx="2926080" cy="594360"/>
          </a:xfrm>
          <a:prstGeom prst="rect">
            <a:avLst/>
          </a:prstGeom>
          <a:noFill/>
          <a:ln/>
        </p:spPr>
        <p:txBody>
          <a:bodyPr wrap="square" lIns="0" tIns="0" rIns="0" bIns="0" rtlCol="0" anchor="t"/>
          <a:lstStyle/>
          <a:p>
            <a:pPr algn="ctr" indent="0" marL="0">
              <a:buNone/>
            </a:pPr>
            <a:r>
              <a:rPr lang="en-US" sz="1800" b="1" dirty="0">
                <a:solidFill>
                  <a:srgbClr val="1B2333"/>
                </a:solidFill>
                <a:latin typeface="Calibri" pitchFamily="34" charset="0"/>
                <a:ea typeface="Calibri" pitchFamily="34" charset="-122"/>
                <a:cs typeface="Calibri" pitchFamily="34" charset="-120"/>
              </a:rPr>
              <a:t>User's glasses</a:t>
            </a:r>
            <a:endParaRPr lang="en-US" sz="1800" dirty="0"/>
          </a:p>
          <a:p>
            <a:pPr algn="ctr" indent="0" marL="0">
              <a:buNone/>
            </a:pPr>
            <a:r>
              <a:rPr lang="en-US" sz="1600" dirty="0">
                <a:solidFill>
                  <a:srgbClr val="5B6577"/>
                </a:solidFill>
                <a:latin typeface="Calibri" pitchFamily="34" charset="0"/>
                <a:ea typeface="Calibri" pitchFamily="34" charset="-122"/>
                <a:cs typeface="Calibri" pitchFamily="34" charset="-120"/>
              </a:rPr>
              <a:t>1 to 3 m away, front on</a:t>
            </a:r>
            <a:endParaRPr lang="en-US" sz="1800" dirty="0"/>
          </a:p>
        </p:txBody>
      </p:sp>
      <p:sp>
        <p:nvSpPr>
          <p:cNvPr id="6" name="Shape 3"/>
          <p:cNvSpPr/>
          <p:nvPr/>
        </p:nvSpPr>
        <p:spPr>
          <a:xfrm>
            <a:off x="4530852" y="1463040"/>
            <a:ext cx="2926080" cy="2926080"/>
          </a:xfrm>
          <a:prstGeom prst="rect">
            <a:avLst/>
          </a:prstGeom>
          <a:solidFill>
            <a:srgbClr val="F7F8FA"/>
          </a:solidFill>
          <a:ln w="15875">
            <a:solidFill>
              <a:srgbClr val="9AA3B2"/>
            </a:solidFill>
            <a:prstDash val="dash"/>
          </a:ln>
        </p:spPr>
      </p:sp>
      <p:sp>
        <p:nvSpPr>
          <p:cNvPr id="7" name="Text 4"/>
          <p:cNvSpPr txBox="1"/>
          <p:nvPr/>
        </p:nvSpPr>
        <p:spPr>
          <a:xfrm>
            <a:off x="4668012" y="1554480"/>
            <a:ext cx="2651760" cy="2743200"/>
          </a:xfrm>
          <a:prstGeom prst="rect">
            <a:avLst/>
          </a:prstGeom>
          <a:noFill/>
          <a:ln/>
        </p:spPr>
        <p:txBody>
          <a:bodyPr wrap="square" lIns="0" tIns="0" rIns="0" bIns="0" rtlCol="0" anchor="ctr"/>
          <a:lstStyle/>
          <a:p>
            <a:pPr algn="ctr" indent="0" marL="0">
              <a:buNone/>
            </a:pPr>
            <a:r>
              <a:rPr lang="en-US" sz="1300" b="1" dirty="0">
                <a:solidFill>
                  <a:srgbClr val="5B6577"/>
                </a:solidFill>
                <a:latin typeface="Calibri" pitchFamily="34" charset="0"/>
                <a:ea typeface="Calibri" pitchFamily="34" charset="-122"/>
                <a:cs typeface="Calibri" pitchFamily="34" charset="-120"/>
              </a:rPr>
              <a:t>[INSERT BASE-CAMERA FRAME FROM KNEE HEIGHT]</a:t>
            </a:r>
            <a:endParaRPr lang="en-US" sz="1800" dirty="0"/>
          </a:p>
          <a:p>
            <a:pPr algn="ctr" indent="0" marL="0">
              <a:buNone/>
            </a:pPr>
            <a:r>
              <a:rPr lang="en-US" sz="1050" dirty="0">
                <a:solidFill>
                  <a:srgbClr val="8A93A3"/>
                </a:solidFill>
                <a:latin typeface="Calibri" pitchFamily="34" charset="0"/>
                <a:ea typeface="Calibri" pitchFamily="34" charset="-122"/>
                <a:cs typeface="Calibri" pitchFamily="34" charset="-120"/>
              </a:rPr>
              <a:t>Ideally the same box seen by the D455. Else a frame from mg_handdriven1_survey_every_100th_frame_2026-10-21.jpg or nav_camera_frames_along_t35f_run1_2026-10-21.jpg, captioned "the lab from the base camera"</a:t>
            </a:r>
            <a:endParaRPr lang="en-US" sz="1800" dirty="0"/>
          </a:p>
          <a:p>
            <a:pPr algn="ctr" indent="0" marL="0">
              <a:buNone/>
            </a:pPr>
            <a:r>
              <a:rPr lang="en-US" sz="1050" dirty="0">
                <a:solidFill>
                  <a:srgbClr val="8A93A3"/>
                </a:solidFill>
                <a:latin typeface="Calibri" pitchFamily="34" charset="0"/>
                <a:ea typeface="Calibri" pitchFamily="34" charset="-122"/>
                <a:cs typeface="Calibri" pitchFamily="34" charset="-120"/>
              </a:rPr>
              <a:t>Owner: Sherman or Zongzhe</a:t>
            </a:r>
            <a:endParaRPr lang="en-US" sz="1800" dirty="0"/>
          </a:p>
        </p:txBody>
      </p:sp>
      <p:sp>
        <p:nvSpPr>
          <p:cNvPr id="8" name="Text 5"/>
          <p:cNvSpPr txBox="1"/>
          <p:nvPr/>
        </p:nvSpPr>
        <p:spPr>
          <a:xfrm>
            <a:off x="4530852" y="4498848"/>
            <a:ext cx="2926080" cy="594360"/>
          </a:xfrm>
          <a:prstGeom prst="rect">
            <a:avLst/>
          </a:prstGeom>
          <a:noFill/>
          <a:ln/>
        </p:spPr>
        <p:txBody>
          <a:bodyPr wrap="square" lIns="0" tIns="0" rIns="0" bIns="0" rtlCol="0" anchor="t"/>
          <a:lstStyle/>
          <a:p>
            <a:pPr algn="ctr" indent="0" marL="0">
              <a:buNone/>
            </a:pPr>
            <a:r>
              <a:rPr lang="en-US" sz="1800" b="1" dirty="0">
                <a:solidFill>
                  <a:srgbClr val="1B2333"/>
                </a:solidFill>
                <a:latin typeface="Calibri" pitchFamily="34" charset="0"/>
                <a:ea typeface="Calibri" pitchFamily="34" charset="-122"/>
                <a:cs typeface="Calibri" pitchFamily="34" charset="-120"/>
              </a:rPr>
              <a:t>Robot base camera</a:t>
            </a:r>
            <a:endParaRPr lang="en-US" sz="1800" dirty="0"/>
          </a:p>
          <a:p>
            <a:pPr algn="ctr" indent="0" marL="0">
              <a:buNone/>
            </a:pPr>
            <a:r>
              <a:rPr lang="en-US" sz="1600" dirty="0">
                <a:solidFill>
                  <a:srgbClr val="5B6577"/>
                </a:solidFill>
                <a:latin typeface="Calibri" pitchFamily="34" charset="0"/>
                <a:ea typeface="Calibri" pitchFamily="34" charset="-122"/>
                <a:cs typeface="Calibri" pitchFamily="34" charset="-120"/>
              </a:rPr>
              <a:t>knee height</a:t>
            </a:r>
            <a:endParaRPr lang="en-US" sz="1800" dirty="0"/>
          </a:p>
        </p:txBody>
      </p:sp>
      <p:pic>
        <p:nvPicPr>
          <p:cNvPr id="9" name="Image 1" descr="Robot wrist camera view of the box">    </p:cNvPr>
          <p:cNvPicPr>
            <a:picLocks noChangeAspect="1"/>
          </p:cNvPicPr>
          <p:nvPr/>
        </p:nvPicPr>
        <p:blipFill>
          <a:blip r:embed="rId2"/>
          <a:stretch>
            <a:fillRect/>
          </a:stretch>
        </p:blipFill>
        <p:spPr>
          <a:xfrm>
            <a:off x="8289036" y="1463040"/>
            <a:ext cx="2926080" cy="2926080"/>
          </a:xfrm>
          <a:prstGeom prst="rect">
            <a:avLst/>
          </a:prstGeom>
        </p:spPr>
      </p:pic>
      <p:sp>
        <p:nvSpPr>
          <p:cNvPr id="10" name="Shape 6"/>
          <p:cNvSpPr/>
          <p:nvPr/>
        </p:nvSpPr>
        <p:spPr>
          <a:xfrm>
            <a:off x="8289036" y="1463040"/>
            <a:ext cx="2926080" cy="2926080"/>
          </a:xfrm>
          <a:prstGeom prst="rect">
            <a:avLst/>
          </a:prstGeom>
          <a:ln w="9525">
            <a:solidFill>
              <a:srgbClr val="CDD3DD"/>
            </a:solidFill>
            <a:prstDash val="solid"/>
          </a:ln>
        </p:spPr>
      </p:sp>
      <p:sp>
        <p:nvSpPr>
          <p:cNvPr id="11" name="Text 7"/>
          <p:cNvSpPr txBox="1"/>
          <p:nvPr/>
        </p:nvSpPr>
        <p:spPr>
          <a:xfrm>
            <a:off x="8289036" y="4498848"/>
            <a:ext cx="2926080" cy="594360"/>
          </a:xfrm>
          <a:prstGeom prst="rect">
            <a:avLst/>
          </a:prstGeom>
          <a:noFill/>
          <a:ln/>
        </p:spPr>
        <p:txBody>
          <a:bodyPr wrap="square" lIns="0" tIns="0" rIns="0" bIns="0" rtlCol="0" anchor="t"/>
          <a:lstStyle/>
          <a:p>
            <a:pPr algn="ctr" indent="0" marL="0">
              <a:buNone/>
            </a:pPr>
            <a:r>
              <a:rPr lang="en-US" sz="1800" b="1" dirty="0">
                <a:solidFill>
                  <a:srgbClr val="1B2333"/>
                </a:solidFill>
                <a:latin typeface="Calibri" pitchFamily="34" charset="0"/>
                <a:ea typeface="Calibri" pitchFamily="34" charset="-122"/>
                <a:cs typeface="Calibri" pitchFamily="34" charset="-120"/>
              </a:rPr>
              <a:t>Robot wrist camera</a:t>
            </a:r>
            <a:endParaRPr lang="en-US" sz="1800" dirty="0"/>
          </a:p>
          <a:p>
            <a:pPr algn="ctr" indent="0" marL="0">
              <a:buNone/>
            </a:pPr>
            <a:r>
              <a:rPr lang="en-US" sz="1600" dirty="0">
                <a:solidFill>
                  <a:srgbClr val="5B6577"/>
                </a:solidFill>
                <a:latin typeface="Calibri" pitchFamily="34" charset="0"/>
                <a:ea typeface="Calibri" pitchFamily="34" charset="-122"/>
                <a:cs typeface="Calibri" pitchFamily="34" charset="-120"/>
              </a:rPr>
              <a:t>0.2 to 0.5 m, from above</a:t>
            </a:r>
            <a:endParaRPr lang="en-US" sz="1800" dirty="0"/>
          </a:p>
        </p:txBody>
      </p:sp>
      <p:sp>
        <p:nvSpPr>
          <p:cNvPr id="12" name="Shape 8"/>
          <p:cNvSpPr/>
          <p:nvPr/>
        </p:nvSpPr>
        <p:spPr>
          <a:xfrm>
            <a:off x="457200" y="5257800"/>
            <a:ext cx="11274552" cy="502920"/>
          </a:xfrm>
          <a:prstGeom prst="rect">
            <a:avLst/>
          </a:prstGeom>
          <a:solidFill>
            <a:srgbClr val="E6ECF6"/>
          </a:solidFill>
          <a:ln/>
        </p:spPr>
      </p:sp>
      <p:sp>
        <p:nvSpPr>
          <p:cNvPr id="13" name="Text 9"/>
          <p:cNvSpPr txBox="1"/>
          <p:nvPr/>
        </p:nvSpPr>
        <p:spPr>
          <a:xfrm>
            <a:off x="457200" y="5257800"/>
            <a:ext cx="11274552" cy="502920"/>
          </a:xfrm>
          <a:prstGeom prst="rect">
            <a:avLst/>
          </a:prstGeom>
          <a:noFill/>
          <a:ln/>
        </p:spPr>
        <p:txBody>
          <a:bodyPr wrap="square" lIns="0" tIns="0" rIns="0" bIns="0" rtlCol="0" anchor="ctr"/>
          <a:lstStyle/>
          <a:p>
            <a:pPr algn="ctr" indent="0" marL="0">
              <a:buNone/>
            </a:pPr>
            <a:r>
              <a:rPr lang="en-US" sz="2000" b="1" dirty="0">
                <a:solidFill>
                  <a:srgbClr val="1F3B73"/>
                </a:solidFill>
                <a:latin typeface="Calibri" pitchFamily="34" charset="0"/>
                <a:ea typeface="Calibri" pitchFamily="34" charset="-122"/>
                <a:cs typeface="Calibri" pitchFamily="34" charset="-120"/>
              </a:rPr>
              <a:t>Same object, three viewpoints, almost nothing in common pixel for pixel</a:t>
            </a:r>
            <a:endParaRPr lang="en-US" sz="2000" dirty="0"/>
          </a:p>
        </p:txBody>
      </p:sp>
      <p:sp>
        <p:nvSpPr>
          <p:cNvPr id="14" name="Text 10"/>
          <p:cNvSpPr txBox="1"/>
          <p:nvPr/>
        </p:nvSpPr>
        <p:spPr>
          <a:xfrm>
            <a:off x="457200" y="5870448"/>
            <a:ext cx="11274552" cy="457200"/>
          </a:xfrm>
          <a:prstGeom prst="rect">
            <a:avLst/>
          </a:prstGeom>
          <a:noFill/>
          <a:ln/>
        </p:spPr>
        <p:txBody>
          <a:bodyPr wrap="square" lIns="0" tIns="0" rIns="0" bIns="0" rtlCol="0" anchor="t"/>
          <a:lstStyle/>
          <a:p>
            <a:pPr indent="0" marL="0">
              <a:buNone/>
            </a:pPr>
            <a:r>
              <a:rPr lang="en-US" sz="1600" b="1" dirty="0">
                <a:solidFill>
                  <a:srgbClr val="1B2333"/>
                </a:solidFill>
                <a:latin typeface="Calibri" pitchFamily="34" charset="0"/>
                <a:ea typeface="Calibri" pitchFamily="34" charset="-122"/>
                <a:cs typeface="Calibri" pitchFamily="34" charset="-120"/>
              </a:rPr>
              <a:t>Why it matters: </a:t>
            </a:r>
            <a:pPr indent="0" marL="0">
              <a:buNone/>
            </a:pPr>
            <a:r>
              <a:rPr lang="en-US" sz="1600" dirty="0">
                <a:solidFill>
                  <a:srgbClr val="1B2333"/>
                </a:solidFill>
                <a:latin typeface="Calibri" pitchFamily="34" charset="0"/>
                <a:ea typeface="Calibri" pitchFamily="34" charset="-122"/>
                <a:cs typeface="Calibri" pitchFamily="34" charset="-120"/>
              </a:rPr>
              <a:t>assistive use, where a user can look but cannot easily point or speak, in a scene full of similar mugs, pill bottles and cans</a:t>
            </a:r>
            <a:endParaRPr lang="en-US" sz="1600" dirty="0"/>
          </a:p>
        </p:txBody>
      </p:sp>
      <p:sp>
        <p:nvSpPr>
          <p:cNvPr id="15" name="Text 11"/>
          <p:cNvSpPr txBox="1"/>
          <p:nvPr/>
        </p:nvSpPr>
        <p:spPr>
          <a:xfrm>
            <a:off x="6217920" y="6473952"/>
            <a:ext cx="4937760" cy="228600"/>
          </a:xfrm>
          <a:prstGeom prst="rect">
            <a:avLst/>
          </a:prstGeom>
          <a:noFill/>
          <a:ln/>
        </p:spPr>
        <p:txBody>
          <a:bodyPr wrap="square" lIns="0" tIns="0" rIns="0" bIns="0" rtlCol="0" anchor="t"/>
          <a:lstStyle/>
          <a:p>
            <a:pPr algn="r" indent="0" marL="0">
              <a:buNone/>
            </a:pPr>
            <a:r>
              <a:rPr lang="en-US" sz="1000" dirty="0">
                <a:solidFill>
                  <a:srgbClr val="8A93A3"/>
                </a:solidFill>
                <a:latin typeface="Calibri" pitchFamily="34" charset="0"/>
                <a:ea typeface="Calibri" pitchFamily="34" charset="-122"/>
                <a:cs typeface="Calibri" pitchFamily="34" charset="-120"/>
              </a:rPr>
              <a:t>Glasses and wrist crops: clip_glasses_vs_wrist_crops_2026-10-20.jpg (T8.7 pairs)</a:t>
            </a:r>
            <a:endParaRPr lang="en-US" sz="1000" dirty="0"/>
          </a:p>
        </p:txBody>
      </p:sp>
      <p:sp>
        <p:nvSpPr>
          <p:cNvPr id="16" name="Text 12"/>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Dion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Objective: join FAM-HRI's gaze and speech with HiCo-Nav's exploration and memory</a:t>
            </a:r>
            <a:endParaRPr lang="en-US" sz="2400" dirty="0"/>
          </a:p>
        </p:txBody>
      </p:sp>
      <p:sp>
        <p:nvSpPr>
          <p:cNvPr id="3" name="Text 1"/>
          <p:cNvSpPr txBox="1"/>
          <p:nvPr/>
        </p:nvSpPr>
        <p:spPr>
          <a:xfrm>
            <a:off x="457200" y="1371600"/>
            <a:ext cx="11274552" cy="640080"/>
          </a:xfrm>
          <a:prstGeom prst="rect">
            <a:avLst/>
          </a:prstGeom>
          <a:noFill/>
          <a:ln/>
        </p:spPr>
        <p:txBody>
          <a:bodyPr wrap="square" lIns="0" tIns="0" rIns="0" bIns="0" rtlCol="0" anchor="t"/>
          <a:lstStyle/>
          <a:p>
            <a:pPr indent="0" marL="0">
              <a:buNone/>
            </a:pPr>
            <a:r>
              <a:rPr lang="en-US" sz="1800" b="1" dirty="0">
                <a:solidFill>
                  <a:srgbClr val="1F3B73"/>
                </a:solidFill>
                <a:latin typeface="Calibri" pitchFamily="34" charset="0"/>
                <a:ea typeface="Calibri" pitchFamily="34" charset="-122"/>
                <a:cs typeface="Calibri" pitchFamily="34" charset="-120"/>
              </a:rPr>
              <a:t>Main objective: </a:t>
            </a:r>
            <a:pPr indent="0" marL="0">
              <a:buNone/>
            </a:pPr>
            <a:r>
              <a:rPr lang="en-US" sz="1800" dirty="0">
                <a:solidFill>
                  <a:srgbClr val="1B2333"/>
                </a:solidFill>
                <a:latin typeface="Calibri" pitchFamily="34" charset="0"/>
                <a:ea typeface="Calibri" pitchFamily="34" charset="-122"/>
                <a:cs typeface="Calibri" pitchFamily="34" charset="-120"/>
              </a:rPr>
              <a:t>a mobile manipulator that takes a spoken command and the user’s gaze, explores a room it cannot see at the start, finds the object the user looked at, drives to it and grasps it</a:t>
            </a:r>
            <a:endParaRPr lang="en-US" sz="1800" dirty="0"/>
          </a:p>
        </p:txBody>
      </p:sp>
      <p:sp>
        <p:nvSpPr>
          <p:cNvPr id="4" name="Shape 2"/>
          <p:cNvSpPr/>
          <p:nvPr/>
        </p:nvSpPr>
        <p:spPr>
          <a:xfrm>
            <a:off x="457200" y="2084832"/>
            <a:ext cx="5394960" cy="3401568"/>
          </a:xfrm>
          <a:prstGeom prst="rect">
            <a:avLst/>
          </a:prstGeom>
          <a:solidFill>
            <a:srgbClr val="FFFFFF"/>
          </a:solidFill>
          <a:ln w="12700">
            <a:solidFill>
              <a:srgbClr val="CDD3DD"/>
            </a:solidFill>
            <a:prstDash val="solid"/>
          </a:ln>
        </p:spPr>
      </p:sp>
      <p:sp>
        <p:nvSpPr>
          <p:cNvPr id="5" name="Text 3"/>
          <p:cNvSpPr txBox="1"/>
          <p:nvPr/>
        </p:nvSpPr>
        <p:spPr>
          <a:xfrm>
            <a:off x="658368" y="2194560"/>
            <a:ext cx="4992624" cy="384048"/>
          </a:xfrm>
          <a:prstGeom prst="rect">
            <a:avLst/>
          </a:prstGeom>
          <a:noFill/>
          <a:ln/>
        </p:spPr>
        <p:txBody>
          <a:bodyPr wrap="square" lIns="0" tIns="0" rIns="0" bIns="0" rtlCol="0" anchor="ctr"/>
          <a:lstStyle/>
          <a:p>
            <a:pPr indent="0" marL="0">
              <a:buNone/>
            </a:pPr>
            <a:r>
              <a:rPr lang="en-US" sz="2200" b="1" dirty="0">
                <a:solidFill>
                  <a:srgbClr val="1B2333"/>
                </a:solidFill>
                <a:latin typeface="Calibri" pitchFamily="34" charset="0"/>
                <a:ea typeface="Calibri" pitchFamily="34" charset="-122"/>
                <a:cs typeface="Calibri" pitchFamily="34" charset="-120"/>
              </a:rPr>
              <a:t>FAM-HRI  </a:t>
            </a:r>
            <a:pPr indent="0" marL="0">
              <a:buNone/>
            </a:pPr>
            <a:r>
              <a:rPr lang="en-US" sz="1400" dirty="0">
                <a:solidFill>
                  <a:srgbClr val="5B6577"/>
                </a:solidFill>
                <a:latin typeface="Calibri" pitchFamily="34" charset="0"/>
                <a:ea typeface="Calibri" pitchFamily="34" charset="-122"/>
                <a:cs typeface="Calibri" pitchFamily="34" charset="-120"/>
              </a:rPr>
              <a:t>Lai et al., 2025</a:t>
            </a:r>
            <a:endParaRPr lang="en-US" sz="1800" dirty="0"/>
          </a:p>
        </p:txBody>
      </p:sp>
      <p:sp>
        <p:nvSpPr>
          <p:cNvPr id="6" name="Text 4"/>
          <p:cNvSpPr txBox="1"/>
          <p:nvPr/>
        </p:nvSpPr>
        <p:spPr>
          <a:xfrm>
            <a:off x="658368" y="2615184"/>
            <a:ext cx="4992624" cy="228600"/>
          </a:xfrm>
          <a:prstGeom prst="rect">
            <a:avLst/>
          </a:prstGeom>
          <a:noFill/>
          <a:ln/>
        </p:spPr>
        <p:txBody>
          <a:bodyPr wrap="square" lIns="0" tIns="0" rIns="0" bIns="0" rtlCol="0" anchor="t"/>
          <a:lstStyle/>
          <a:p>
            <a:pPr indent="0" marL="0">
              <a:buNone/>
            </a:pPr>
            <a:r>
              <a:rPr lang="en-US" sz="1300" b="1" dirty="0">
                <a:solidFill>
                  <a:srgbClr val="5B6577"/>
                </a:solidFill>
                <a:latin typeface="Calibri" pitchFamily="34" charset="0"/>
                <a:ea typeface="Calibri" pitchFamily="34" charset="-122"/>
                <a:cs typeface="Calibri" pitchFamily="34" charset="-120"/>
              </a:rPr>
              <a:t>What it does</a:t>
            </a:r>
            <a:endParaRPr lang="en-US" sz="1300" dirty="0"/>
          </a:p>
        </p:txBody>
      </p:sp>
      <p:sp>
        <p:nvSpPr>
          <p:cNvPr id="7" name="Text 5"/>
          <p:cNvSpPr txBox="1"/>
          <p:nvPr/>
        </p:nvSpPr>
        <p:spPr>
          <a:xfrm>
            <a:off x="658368" y="2834640"/>
            <a:ext cx="4992624" cy="502920"/>
          </a:xfrm>
          <a:prstGeom prst="rect">
            <a:avLst/>
          </a:prstGeom>
          <a:noFill/>
          <a:ln/>
        </p:spPr>
        <p:txBody>
          <a:bodyPr wrap="square" lIns="0" tIns="0" rIns="0" bIns="0" rtlCol="0" anchor="t"/>
          <a:lstStyle/>
          <a:p>
            <a:pPr indent="0" marL="0">
              <a:buNone/>
            </a:pPr>
            <a:r>
              <a:rPr lang="en-US" sz="1600" dirty="0">
                <a:solidFill>
                  <a:srgbClr val="1B2333"/>
                </a:solidFill>
                <a:latin typeface="Calibri" pitchFamily="34" charset="0"/>
                <a:ea typeface="Calibri" pitchFamily="34" charset="-122"/>
                <a:cs typeface="Calibri" pitchFamily="34" charset="-120"/>
              </a:rPr>
              <a:t>Meta Aria glasses: gaze and speech tell a robot arm which object to pick</a:t>
            </a:r>
            <a:endParaRPr lang="en-US" sz="1600" dirty="0"/>
          </a:p>
        </p:txBody>
      </p:sp>
      <p:sp>
        <p:nvSpPr>
          <p:cNvPr id="8" name="Text 6"/>
          <p:cNvSpPr txBox="1"/>
          <p:nvPr/>
        </p:nvSpPr>
        <p:spPr>
          <a:xfrm>
            <a:off x="658368" y="3383280"/>
            <a:ext cx="4992624" cy="228600"/>
          </a:xfrm>
          <a:prstGeom prst="rect">
            <a:avLst/>
          </a:prstGeom>
          <a:noFill/>
          <a:ln/>
        </p:spPr>
        <p:txBody>
          <a:bodyPr wrap="square" lIns="0" tIns="0" rIns="0" bIns="0" rtlCol="0" anchor="t"/>
          <a:lstStyle/>
          <a:p>
            <a:pPr indent="0" marL="0">
              <a:buNone/>
            </a:pPr>
            <a:r>
              <a:rPr lang="en-US" sz="1300" b="1" dirty="0">
                <a:solidFill>
                  <a:srgbClr val="1F3B73"/>
                </a:solidFill>
                <a:latin typeface="Calibri" pitchFamily="34" charset="0"/>
                <a:ea typeface="Calibri" pitchFamily="34" charset="-122"/>
                <a:cs typeface="Calibri" pitchFamily="34" charset="-120"/>
              </a:rPr>
              <a:t>What we take</a:t>
            </a:r>
            <a:endParaRPr lang="en-US" sz="1300" dirty="0"/>
          </a:p>
        </p:txBody>
      </p:sp>
      <p:sp>
        <p:nvSpPr>
          <p:cNvPr id="9" name="Shape 7"/>
          <p:cNvSpPr/>
          <p:nvPr/>
        </p:nvSpPr>
        <p:spPr>
          <a:xfrm>
            <a:off x="658368" y="3611880"/>
            <a:ext cx="4992624" cy="768096"/>
          </a:xfrm>
          <a:prstGeom prst="rect">
            <a:avLst/>
          </a:prstGeom>
          <a:solidFill>
            <a:srgbClr val="E6ECF6"/>
          </a:solidFill>
          <a:ln/>
        </p:spPr>
      </p:sp>
      <p:sp>
        <p:nvSpPr>
          <p:cNvPr id="10" name="Text 8"/>
          <p:cNvSpPr txBox="1"/>
          <p:nvPr/>
        </p:nvSpPr>
        <p:spPr>
          <a:xfrm>
            <a:off x="768096" y="3611880"/>
            <a:ext cx="4773168" cy="768096"/>
          </a:xfrm>
          <a:prstGeom prst="rect">
            <a:avLst/>
          </a:prstGeom>
          <a:noFill/>
          <a:ln/>
        </p:spPr>
        <p:txBody>
          <a:bodyPr wrap="square" lIns="0" tIns="0" rIns="0" bIns="0" rtlCol="0" anchor="ctr"/>
          <a:lstStyle/>
          <a:p>
            <a:pPr indent="0" marL="0">
              <a:buNone/>
            </a:pPr>
            <a:r>
              <a:rPr lang="en-US" sz="1600" dirty="0">
                <a:solidFill>
                  <a:srgbClr val="1B2333"/>
                </a:solidFill>
                <a:latin typeface="Calibri" pitchFamily="34" charset="0"/>
                <a:ea typeface="Calibri" pitchFamily="34" charset="-122"/>
                <a:cs typeface="Calibri" pitchFamily="34" charset="-120"/>
              </a:rPr>
              <a:t>Speech to an object word, gaze to pick the object, the arm grasp</a:t>
            </a:r>
            <a:endParaRPr lang="en-US" sz="1600" dirty="0"/>
          </a:p>
        </p:txBody>
      </p:sp>
      <p:sp>
        <p:nvSpPr>
          <p:cNvPr id="11" name="Text 9"/>
          <p:cNvSpPr txBox="1"/>
          <p:nvPr/>
        </p:nvSpPr>
        <p:spPr>
          <a:xfrm>
            <a:off x="658368" y="4873752"/>
            <a:ext cx="4992624" cy="228600"/>
          </a:xfrm>
          <a:prstGeom prst="rect">
            <a:avLst/>
          </a:prstGeom>
          <a:noFill/>
          <a:ln/>
        </p:spPr>
        <p:txBody>
          <a:bodyPr wrap="square" lIns="0" tIns="0" rIns="0" bIns="0" rtlCol="0" anchor="t"/>
          <a:lstStyle/>
          <a:p>
            <a:pPr indent="0" marL="0">
              <a:buNone/>
            </a:pPr>
            <a:r>
              <a:rPr lang="en-US" sz="1300" b="1" dirty="0">
                <a:solidFill>
                  <a:srgbClr val="B3392F"/>
                </a:solidFill>
                <a:latin typeface="Calibri" pitchFamily="34" charset="0"/>
                <a:ea typeface="Calibri" pitchFamily="34" charset="-122"/>
                <a:cs typeface="Calibri" pitchFamily="34" charset="-120"/>
              </a:rPr>
              <a:t>What it cannot do for us</a:t>
            </a:r>
            <a:endParaRPr lang="en-US" sz="1300" dirty="0"/>
          </a:p>
        </p:txBody>
      </p:sp>
      <p:sp>
        <p:nvSpPr>
          <p:cNvPr id="12" name="Text 10"/>
          <p:cNvSpPr txBox="1"/>
          <p:nvPr/>
        </p:nvSpPr>
        <p:spPr>
          <a:xfrm>
            <a:off x="658368" y="5102352"/>
            <a:ext cx="4992624" cy="292608"/>
          </a:xfrm>
          <a:prstGeom prst="rect">
            <a:avLst/>
          </a:prstGeom>
          <a:noFill/>
          <a:ln/>
        </p:spPr>
        <p:txBody>
          <a:bodyPr wrap="square" lIns="0" tIns="0" rIns="0" bIns="0" rtlCol="0" anchor="ctr"/>
          <a:lstStyle/>
          <a:p>
            <a:pPr indent="0" marL="0">
              <a:buNone/>
            </a:pPr>
            <a:r>
              <a:rPr lang="en-US" sz="1650" b="1" dirty="0">
                <a:solidFill>
                  <a:srgbClr val="1B2333"/>
                </a:solidFill>
                <a:latin typeface="Calibri" pitchFamily="34" charset="0"/>
                <a:ea typeface="Calibri" pitchFamily="34" charset="-122"/>
                <a:cs typeface="Calibri" pitchFamily="34" charset="-120"/>
              </a:rPr>
              <a:t>The object must already be in front of the arm</a:t>
            </a:r>
            <a:endParaRPr lang="en-US" sz="1650" dirty="0"/>
          </a:p>
        </p:txBody>
      </p:sp>
      <p:sp>
        <p:nvSpPr>
          <p:cNvPr id="13" name="Shape 11"/>
          <p:cNvSpPr/>
          <p:nvPr/>
        </p:nvSpPr>
        <p:spPr>
          <a:xfrm>
            <a:off x="6336792" y="2084832"/>
            <a:ext cx="5394960" cy="3401568"/>
          </a:xfrm>
          <a:prstGeom prst="rect">
            <a:avLst/>
          </a:prstGeom>
          <a:solidFill>
            <a:srgbClr val="FFFFFF"/>
          </a:solidFill>
          <a:ln w="12700">
            <a:solidFill>
              <a:srgbClr val="CDD3DD"/>
            </a:solidFill>
            <a:prstDash val="solid"/>
          </a:ln>
        </p:spPr>
      </p:sp>
      <p:sp>
        <p:nvSpPr>
          <p:cNvPr id="14" name="Text 12"/>
          <p:cNvSpPr txBox="1"/>
          <p:nvPr/>
        </p:nvSpPr>
        <p:spPr>
          <a:xfrm>
            <a:off x="6537960" y="2194560"/>
            <a:ext cx="4992624" cy="384048"/>
          </a:xfrm>
          <a:prstGeom prst="rect">
            <a:avLst/>
          </a:prstGeom>
          <a:noFill/>
          <a:ln/>
        </p:spPr>
        <p:txBody>
          <a:bodyPr wrap="square" lIns="0" tIns="0" rIns="0" bIns="0" rtlCol="0" anchor="ctr"/>
          <a:lstStyle/>
          <a:p>
            <a:pPr indent="0" marL="0">
              <a:buNone/>
            </a:pPr>
            <a:r>
              <a:rPr lang="en-US" sz="2200" b="1" dirty="0">
                <a:solidFill>
                  <a:srgbClr val="1B2333"/>
                </a:solidFill>
                <a:latin typeface="Calibri" pitchFamily="34" charset="0"/>
                <a:ea typeface="Calibri" pitchFamily="34" charset="-122"/>
                <a:cs typeface="Calibri" pitchFamily="34" charset="-120"/>
              </a:rPr>
              <a:t>HiCo-Nav  </a:t>
            </a:r>
            <a:pPr indent="0" marL="0">
              <a:buNone/>
            </a:pPr>
            <a:r>
              <a:rPr lang="en-US" sz="1400" dirty="0">
                <a:solidFill>
                  <a:srgbClr val="5B6577"/>
                </a:solidFill>
                <a:latin typeface="Calibri" pitchFamily="34" charset="0"/>
                <a:ea typeface="Calibri" pitchFamily="34" charset="-122"/>
                <a:cs typeface="Calibri" pitchFamily="34" charset="-120"/>
              </a:rPr>
              <a:t>Xu et al., ICRA 2026</a:t>
            </a:r>
            <a:endParaRPr lang="en-US" sz="1800" dirty="0"/>
          </a:p>
        </p:txBody>
      </p:sp>
      <p:sp>
        <p:nvSpPr>
          <p:cNvPr id="15" name="Text 13"/>
          <p:cNvSpPr txBox="1"/>
          <p:nvPr/>
        </p:nvSpPr>
        <p:spPr>
          <a:xfrm>
            <a:off x="6537960" y="2615184"/>
            <a:ext cx="4992624" cy="228600"/>
          </a:xfrm>
          <a:prstGeom prst="rect">
            <a:avLst/>
          </a:prstGeom>
          <a:noFill/>
          <a:ln/>
        </p:spPr>
        <p:txBody>
          <a:bodyPr wrap="square" lIns="0" tIns="0" rIns="0" bIns="0" rtlCol="0" anchor="t"/>
          <a:lstStyle/>
          <a:p>
            <a:pPr indent="0" marL="0">
              <a:buNone/>
            </a:pPr>
            <a:r>
              <a:rPr lang="en-US" sz="1300" b="1" dirty="0">
                <a:solidFill>
                  <a:srgbClr val="5B6577"/>
                </a:solidFill>
                <a:latin typeface="Calibri" pitchFamily="34" charset="0"/>
                <a:ea typeface="Calibri" pitchFamily="34" charset="-122"/>
                <a:cs typeface="Calibri" pitchFamily="34" charset="-120"/>
              </a:rPr>
              <a:t>What it does</a:t>
            </a:r>
            <a:endParaRPr lang="en-US" sz="1300" dirty="0"/>
          </a:p>
        </p:txBody>
      </p:sp>
      <p:sp>
        <p:nvSpPr>
          <p:cNvPr id="16" name="Text 14"/>
          <p:cNvSpPr txBox="1"/>
          <p:nvPr/>
        </p:nvSpPr>
        <p:spPr>
          <a:xfrm>
            <a:off x="6537960" y="2834640"/>
            <a:ext cx="4992624" cy="502920"/>
          </a:xfrm>
          <a:prstGeom prst="rect">
            <a:avLst/>
          </a:prstGeom>
          <a:noFill/>
          <a:ln/>
        </p:spPr>
        <p:txBody>
          <a:bodyPr wrap="square" lIns="0" tIns="0" rIns="0" bIns="0" rtlCol="0" anchor="t"/>
          <a:lstStyle/>
          <a:p>
            <a:pPr indent="0" marL="0">
              <a:buNone/>
            </a:pPr>
            <a:r>
              <a:rPr lang="en-US" sz="1600" dirty="0">
                <a:solidFill>
                  <a:srgbClr val="1B2333"/>
                </a:solidFill>
                <a:latin typeface="Calibri" pitchFamily="34" charset="0"/>
                <a:ea typeface="Calibri" pitchFamily="34" charset="-122"/>
                <a:cs typeface="Calibri" pitchFamily="34" charset="-120"/>
              </a:rPr>
              <a:t>A robot explores an unseen room, builds a memory graph of every object it sees, and answers language queries</a:t>
            </a:r>
            <a:endParaRPr lang="en-US" sz="1600" dirty="0"/>
          </a:p>
        </p:txBody>
      </p:sp>
      <p:sp>
        <p:nvSpPr>
          <p:cNvPr id="17" name="Text 15"/>
          <p:cNvSpPr txBox="1"/>
          <p:nvPr/>
        </p:nvSpPr>
        <p:spPr>
          <a:xfrm>
            <a:off x="6537960" y="3383280"/>
            <a:ext cx="4992624" cy="228600"/>
          </a:xfrm>
          <a:prstGeom prst="rect">
            <a:avLst/>
          </a:prstGeom>
          <a:noFill/>
          <a:ln/>
        </p:spPr>
        <p:txBody>
          <a:bodyPr wrap="square" lIns="0" tIns="0" rIns="0" bIns="0" rtlCol="0" anchor="t"/>
          <a:lstStyle/>
          <a:p>
            <a:pPr indent="0" marL="0">
              <a:buNone/>
            </a:pPr>
            <a:r>
              <a:rPr lang="en-US" sz="1300" b="1" dirty="0">
                <a:solidFill>
                  <a:srgbClr val="1F3B73"/>
                </a:solidFill>
                <a:latin typeface="Calibri" pitchFamily="34" charset="0"/>
                <a:ea typeface="Calibri" pitchFamily="34" charset="-122"/>
                <a:cs typeface="Calibri" pitchFamily="34" charset="-120"/>
              </a:rPr>
              <a:t>What we take</a:t>
            </a:r>
            <a:endParaRPr lang="en-US" sz="1300" dirty="0"/>
          </a:p>
        </p:txBody>
      </p:sp>
      <p:sp>
        <p:nvSpPr>
          <p:cNvPr id="18" name="Shape 16"/>
          <p:cNvSpPr/>
          <p:nvPr/>
        </p:nvSpPr>
        <p:spPr>
          <a:xfrm>
            <a:off x="6537960" y="3611880"/>
            <a:ext cx="4992624" cy="768096"/>
          </a:xfrm>
          <a:prstGeom prst="rect">
            <a:avLst/>
          </a:prstGeom>
          <a:solidFill>
            <a:srgbClr val="E6ECF6"/>
          </a:solidFill>
          <a:ln/>
        </p:spPr>
      </p:sp>
      <p:sp>
        <p:nvSpPr>
          <p:cNvPr id="19" name="Text 17"/>
          <p:cNvSpPr txBox="1"/>
          <p:nvPr/>
        </p:nvSpPr>
        <p:spPr>
          <a:xfrm>
            <a:off x="6647688" y="3611880"/>
            <a:ext cx="4773168" cy="768096"/>
          </a:xfrm>
          <a:prstGeom prst="rect">
            <a:avLst/>
          </a:prstGeom>
          <a:noFill/>
          <a:ln/>
        </p:spPr>
        <p:txBody>
          <a:bodyPr wrap="square" lIns="0" tIns="0" rIns="0" bIns="0" rtlCol="0" anchor="ctr"/>
          <a:lstStyle/>
          <a:p>
            <a:pPr indent="0" marL="0">
              <a:buNone/>
            </a:pPr>
            <a:r>
              <a:rPr lang="en-US" sz="1600" dirty="0">
                <a:solidFill>
                  <a:srgbClr val="1B2333"/>
                </a:solidFill>
                <a:latin typeface="Calibri" pitchFamily="34" charset="0"/>
                <a:ea typeface="Calibri" pitchFamily="34" charset="-122"/>
                <a:cs typeface="Calibri" pitchFamily="34" charset="-120"/>
              </a:rPr>
              <a:t>3D pose from FAST-LIVO2, the memory graph (3D position and CLIP image feature per object), sentence to object classes, exploration</a:t>
            </a:r>
            <a:endParaRPr lang="en-US" sz="1600" dirty="0"/>
          </a:p>
        </p:txBody>
      </p:sp>
      <p:sp>
        <p:nvSpPr>
          <p:cNvPr id="20" name="Text 18"/>
          <p:cNvSpPr txBox="1"/>
          <p:nvPr/>
        </p:nvSpPr>
        <p:spPr>
          <a:xfrm>
            <a:off x="6537960" y="4416552"/>
            <a:ext cx="4992624" cy="438912"/>
          </a:xfrm>
          <a:prstGeom prst="rect">
            <a:avLst/>
          </a:prstGeom>
          <a:noFill/>
          <a:ln/>
        </p:spPr>
        <p:txBody>
          <a:bodyPr wrap="square" lIns="0" tIns="0" rIns="0" bIns="0" rtlCol="0" anchor="t"/>
          <a:lstStyle/>
          <a:p>
            <a:pPr indent="0" marL="0">
              <a:buNone/>
            </a:pPr>
            <a:r>
              <a:rPr lang="en-US" sz="1350" i="1" dirty="0">
                <a:solidFill>
                  <a:srgbClr val="8A93A3"/>
                </a:solidFill>
                <a:latin typeface="Calibri" pitchFamily="34" charset="0"/>
                <a:ea typeface="Calibri" pitchFamily="34" charset="-122"/>
                <a:cs typeface="Calibri" pitchFamily="34" charset="-120"/>
              </a:rPr>
              <a:t>Not taken: its own motion planner (we send goals to Nav2). Its smarter exploration order is optional (M9)</a:t>
            </a:r>
            <a:endParaRPr lang="en-US" sz="1350" dirty="0"/>
          </a:p>
        </p:txBody>
      </p:sp>
      <p:sp>
        <p:nvSpPr>
          <p:cNvPr id="21" name="Text 19"/>
          <p:cNvSpPr txBox="1"/>
          <p:nvPr/>
        </p:nvSpPr>
        <p:spPr>
          <a:xfrm>
            <a:off x="6537960" y="4873752"/>
            <a:ext cx="4992624" cy="228600"/>
          </a:xfrm>
          <a:prstGeom prst="rect">
            <a:avLst/>
          </a:prstGeom>
          <a:noFill/>
          <a:ln/>
        </p:spPr>
        <p:txBody>
          <a:bodyPr wrap="square" lIns="0" tIns="0" rIns="0" bIns="0" rtlCol="0" anchor="t"/>
          <a:lstStyle/>
          <a:p>
            <a:pPr indent="0" marL="0">
              <a:buNone/>
            </a:pPr>
            <a:r>
              <a:rPr lang="en-US" sz="1300" b="1" dirty="0">
                <a:solidFill>
                  <a:srgbClr val="B3392F"/>
                </a:solidFill>
                <a:latin typeface="Calibri" pitchFamily="34" charset="0"/>
                <a:ea typeface="Calibri" pitchFamily="34" charset="-122"/>
                <a:cs typeface="Calibri" pitchFamily="34" charset="-120"/>
              </a:rPr>
              <a:t>What it cannot do for us</a:t>
            </a:r>
            <a:endParaRPr lang="en-US" sz="1300" dirty="0"/>
          </a:p>
        </p:txBody>
      </p:sp>
      <p:sp>
        <p:nvSpPr>
          <p:cNvPr id="22" name="Text 20"/>
          <p:cNvSpPr txBox="1"/>
          <p:nvPr/>
        </p:nvSpPr>
        <p:spPr>
          <a:xfrm>
            <a:off x="6537960" y="5102352"/>
            <a:ext cx="4992624" cy="292608"/>
          </a:xfrm>
          <a:prstGeom prst="rect">
            <a:avLst/>
          </a:prstGeom>
          <a:noFill/>
          <a:ln/>
        </p:spPr>
        <p:txBody>
          <a:bodyPr wrap="square" lIns="0" tIns="0" rIns="0" bIns="0" rtlCol="0" anchor="ctr"/>
          <a:lstStyle/>
          <a:p>
            <a:pPr indent="0" marL="0">
              <a:buNone/>
            </a:pPr>
            <a:r>
              <a:rPr lang="en-US" sz="1650" b="1" dirty="0">
                <a:solidFill>
                  <a:srgbClr val="1B2333"/>
                </a:solidFill>
                <a:latin typeface="Calibri" pitchFamily="34" charset="0"/>
                <a:ea typeface="Calibri" pitchFamily="34" charset="-122"/>
                <a:cs typeface="Calibri" pitchFamily="34" charset="-120"/>
              </a:rPr>
              <a:t>It finds a class ("a box"), not the one you mean</a:t>
            </a:r>
            <a:endParaRPr lang="en-US" sz="1650" dirty="0"/>
          </a:p>
        </p:txBody>
      </p:sp>
      <p:sp>
        <p:nvSpPr>
          <p:cNvPr id="23" name="Shape 21"/>
          <p:cNvSpPr/>
          <p:nvPr/>
        </p:nvSpPr>
        <p:spPr>
          <a:xfrm>
            <a:off x="3154680" y="5486400"/>
            <a:ext cx="0" cy="91440"/>
          </a:xfrm>
          <a:prstGeom prst="line">
            <a:avLst/>
          </a:prstGeom>
          <a:noFill/>
          <a:ln w="25400">
            <a:solidFill>
              <a:srgbClr val="1F3B73"/>
            </a:solidFill>
            <a:prstDash val="solid"/>
            <a:tailEnd type="triangle"/>
          </a:ln>
        </p:spPr>
      </p:sp>
      <p:sp>
        <p:nvSpPr>
          <p:cNvPr id="24" name="Shape 22"/>
          <p:cNvSpPr/>
          <p:nvPr/>
        </p:nvSpPr>
        <p:spPr>
          <a:xfrm>
            <a:off x="9034272" y="5486400"/>
            <a:ext cx="0" cy="91440"/>
          </a:xfrm>
          <a:prstGeom prst="line">
            <a:avLst/>
          </a:prstGeom>
          <a:noFill/>
          <a:ln w="25400">
            <a:solidFill>
              <a:srgbClr val="1F3B73"/>
            </a:solidFill>
            <a:prstDash val="solid"/>
            <a:tailEnd type="triangle"/>
          </a:ln>
        </p:spPr>
      </p:sp>
      <p:sp>
        <p:nvSpPr>
          <p:cNvPr id="25" name="Shape 23"/>
          <p:cNvSpPr/>
          <p:nvPr/>
        </p:nvSpPr>
        <p:spPr>
          <a:xfrm>
            <a:off x="457200" y="5577840"/>
            <a:ext cx="11274552" cy="548640"/>
          </a:xfrm>
          <a:prstGeom prst="rect">
            <a:avLst/>
          </a:prstGeom>
          <a:solidFill>
            <a:srgbClr val="1F3B73"/>
          </a:solidFill>
          <a:ln/>
        </p:spPr>
      </p:sp>
      <p:sp>
        <p:nvSpPr>
          <p:cNvPr id="26" name="Text 24"/>
          <p:cNvSpPr txBox="1"/>
          <p:nvPr/>
        </p:nvSpPr>
        <p:spPr>
          <a:xfrm>
            <a:off x="640080" y="5577840"/>
            <a:ext cx="10908792"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we add to join them: </a:t>
            </a:r>
            <a:pPr indent="0" marL="0">
              <a:buNone/>
            </a:pPr>
            <a:r>
              <a:rPr lang="en-US" sz="1600" dirty="0">
                <a:solidFill>
                  <a:srgbClr val="FFFFFF"/>
                </a:solidFill>
                <a:latin typeface="Calibri" pitchFamily="34" charset="0"/>
                <a:ea typeface="Calibri" pitchFamily="34" charset="-122"/>
                <a:cs typeface="Calibri" pitchFamily="34" charset="-120"/>
              </a:rPr>
              <a:t>the robot compares each object it finds with the object the user looked at, drives to the match, and confirms it with the wrist camera before grasping</a:t>
            </a:r>
            <a:endParaRPr lang="en-US" sz="1600" dirty="0"/>
          </a:p>
        </p:txBody>
      </p:sp>
      <p:sp>
        <p:nvSpPr>
          <p:cNvPr id="27" name="Text 25"/>
          <p:cNvSpPr txBox="1"/>
          <p:nvPr/>
        </p:nvSpPr>
        <p:spPr>
          <a:xfrm>
            <a:off x="457200" y="6199632"/>
            <a:ext cx="7315200" cy="256032"/>
          </a:xfrm>
          <a:prstGeom prst="rect">
            <a:avLst/>
          </a:prstGeom>
          <a:noFill/>
          <a:ln/>
        </p:spPr>
        <p:txBody>
          <a:bodyPr wrap="square" lIns="0" tIns="0" rIns="0" bIns="0" rtlCol="0" anchor="t"/>
          <a:lstStyle/>
          <a:p>
            <a:pPr indent="0" marL="0">
              <a:buNone/>
            </a:pPr>
            <a:r>
              <a:rPr lang="en-US" sz="1500" b="1" dirty="0">
                <a:solidFill>
                  <a:srgbClr val="1B2333"/>
                </a:solidFill>
                <a:latin typeface="Calibri" pitchFamily="34" charset="0"/>
                <a:ea typeface="Calibri" pitchFamily="34" charset="-122"/>
                <a:cs typeface="Calibri" pitchFamily="34" charset="-120"/>
              </a:rPr>
              <a:t>Evaluation: </a:t>
            </a:r>
            <a:pPr indent="0" marL="0">
              <a:buNone/>
            </a:pPr>
            <a:r>
              <a:rPr lang="en-US" sz="1500" dirty="0">
                <a:solidFill>
                  <a:srgbClr val="1B2333"/>
                </a:solidFill>
                <a:latin typeface="Calibri" pitchFamily="34" charset="0"/>
                <a:ea typeface="Calibri" pitchFamily="34" charset="-122"/>
                <a:cs typeface="Calibri" pitchFamily="34" charset="-120"/>
              </a:rPr>
              <a:t>end-to-end trials, success counted per phase</a:t>
            </a:r>
            <a:endParaRPr lang="en-US" sz="1500" dirty="0"/>
          </a:p>
        </p:txBody>
      </p:sp>
      <p:sp>
        <p:nvSpPr>
          <p:cNvPr id="28" name="Text 26"/>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Dion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The target system works in five phases</a:t>
            </a:r>
            <a:endParaRPr lang="en-US" sz="2400" dirty="0"/>
          </a:p>
        </p:txBody>
      </p:sp>
      <p:sp>
        <p:nvSpPr>
          <p:cNvPr id="3" name="Shape 1"/>
          <p:cNvSpPr/>
          <p:nvPr/>
        </p:nvSpPr>
        <p:spPr>
          <a:xfrm>
            <a:off x="457200" y="1417320"/>
            <a:ext cx="2057400" cy="3520440"/>
          </a:xfrm>
          <a:prstGeom prst="rect">
            <a:avLst/>
          </a:prstGeom>
          <a:solidFill>
            <a:srgbClr val="FFFFFF"/>
          </a:solidFill>
          <a:ln w="15875">
            <a:solidFill>
              <a:srgbClr val="1B2333"/>
            </a:solidFill>
            <a:prstDash val="solid"/>
          </a:ln>
        </p:spPr>
      </p:sp>
      <p:sp>
        <p:nvSpPr>
          <p:cNvPr id="4" name="Text 2"/>
          <p:cNvSpPr txBox="1"/>
          <p:nvPr/>
        </p:nvSpPr>
        <p:spPr>
          <a:xfrm>
            <a:off x="585216" y="1527048"/>
            <a:ext cx="1801368" cy="566928"/>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1  </a:t>
            </a:r>
            <a:pPr indent="0" marL="0">
              <a:buNone/>
            </a:pPr>
            <a:r>
              <a:rPr lang="en-US" sz="1700" b="1" dirty="0">
                <a:solidFill>
                  <a:srgbClr val="1B2333"/>
                </a:solidFill>
                <a:latin typeface="Calibri" pitchFamily="34" charset="0"/>
                <a:ea typeface="Calibri" pitchFamily="34" charset="-122"/>
                <a:cs typeface="Calibri" pitchFamily="34" charset="-120"/>
              </a:rPr>
              <a:t>Intent capture</a:t>
            </a:r>
            <a:endParaRPr lang="en-US" sz="1700" dirty="0"/>
          </a:p>
        </p:txBody>
      </p:sp>
      <p:sp>
        <p:nvSpPr>
          <p:cNvPr id="5" name="Text 3"/>
          <p:cNvSpPr txBox="1"/>
          <p:nvPr/>
        </p:nvSpPr>
        <p:spPr>
          <a:xfrm>
            <a:off x="585216" y="2093976"/>
            <a:ext cx="1801368" cy="123444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Speech gives the word, gaze picks the object, crop it</a:t>
            </a:r>
            <a:endParaRPr lang="en-US" sz="1350" dirty="0"/>
          </a:p>
        </p:txBody>
      </p:sp>
      <p:sp>
        <p:nvSpPr>
          <p:cNvPr id="6" name="Shape 4"/>
          <p:cNvSpPr/>
          <p:nvPr/>
        </p:nvSpPr>
        <p:spPr>
          <a:xfrm>
            <a:off x="566928" y="4370832"/>
            <a:ext cx="1837944" cy="457200"/>
          </a:xfrm>
          <a:prstGeom prst="rect">
            <a:avLst/>
          </a:prstGeom>
          <a:solidFill>
            <a:srgbClr val="E3F1E8"/>
          </a:solidFill>
          <a:ln w="12700">
            <a:solidFill>
              <a:srgbClr val="2E7D4F"/>
            </a:solidFill>
            <a:prstDash val="solid"/>
          </a:ln>
        </p:spPr>
      </p:sp>
      <p:sp>
        <p:nvSpPr>
          <p:cNvPr id="7" name="Text 5"/>
          <p:cNvSpPr txBox="1"/>
          <p:nvPr/>
        </p:nvSpPr>
        <p:spPr>
          <a:xfrm>
            <a:off x="640080" y="4370832"/>
            <a:ext cx="1691640" cy="457200"/>
          </a:xfrm>
          <a:prstGeom prst="rect">
            <a:avLst/>
          </a:prstGeom>
          <a:noFill/>
          <a:ln/>
        </p:spPr>
        <p:txBody>
          <a:bodyPr wrap="square" lIns="0" tIns="0" rIns="0" bIns="0" rtlCol="0" anchor="ctr"/>
          <a:lstStyle/>
          <a:p>
            <a:pPr indent="0" marL="0">
              <a:buNone/>
            </a:pPr>
            <a:r>
              <a:rPr lang="en-US" sz="1200" dirty="0">
                <a:solidFill>
                  <a:srgbClr val="1F5C39"/>
                </a:solidFill>
                <a:latin typeface="Calibri" pitchFamily="34" charset="0"/>
                <a:ea typeface="Calibri" pitchFamily="34" charset="-122"/>
                <a:cs typeface="Calibri" pitchFamily="34" charset="-120"/>
              </a:rPr>
              <a:t>Tested on replay</a:t>
            </a:r>
            <a:endParaRPr lang="en-US" sz="1200" dirty="0"/>
          </a:p>
        </p:txBody>
      </p:sp>
      <p:sp>
        <p:nvSpPr>
          <p:cNvPr id="8" name="Text 6"/>
          <p:cNvSpPr txBox="1"/>
          <p:nvPr/>
        </p:nvSpPr>
        <p:spPr>
          <a:xfrm>
            <a:off x="457200" y="4992624"/>
            <a:ext cx="2057400" cy="256032"/>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Dion</a:t>
            </a:r>
            <a:endParaRPr lang="en-US" sz="1300" dirty="0"/>
          </a:p>
        </p:txBody>
      </p:sp>
      <p:sp>
        <p:nvSpPr>
          <p:cNvPr id="9" name="Shape 7"/>
          <p:cNvSpPr/>
          <p:nvPr/>
        </p:nvSpPr>
        <p:spPr>
          <a:xfrm>
            <a:off x="2542032" y="2286000"/>
            <a:ext cx="192024" cy="0"/>
          </a:xfrm>
          <a:prstGeom prst="line">
            <a:avLst/>
          </a:prstGeom>
          <a:noFill/>
          <a:ln w="22225">
            <a:solidFill>
              <a:srgbClr val="1B2333"/>
            </a:solidFill>
            <a:prstDash val="solid"/>
            <a:tailEnd type="triangle"/>
          </a:ln>
        </p:spPr>
      </p:sp>
      <p:sp>
        <p:nvSpPr>
          <p:cNvPr id="10" name="Shape 8"/>
          <p:cNvSpPr/>
          <p:nvPr/>
        </p:nvSpPr>
        <p:spPr>
          <a:xfrm>
            <a:off x="2761488" y="1417320"/>
            <a:ext cx="2057400" cy="3520440"/>
          </a:xfrm>
          <a:prstGeom prst="rect">
            <a:avLst/>
          </a:prstGeom>
          <a:solidFill>
            <a:srgbClr val="FFFFFF"/>
          </a:solidFill>
          <a:ln w="15875">
            <a:solidFill>
              <a:srgbClr val="1B2333"/>
            </a:solidFill>
            <a:prstDash val="solid"/>
          </a:ln>
        </p:spPr>
      </p:sp>
      <p:sp>
        <p:nvSpPr>
          <p:cNvPr id="11" name="Text 9"/>
          <p:cNvSpPr txBox="1"/>
          <p:nvPr/>
        </p:nvSpPr>
        <p:spPr>
          <a:xfrm>
            <a:off x="2889504" y="1527048"/>
            <a:ext cx="1801368" cy="566928"/>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2  </a:t>
            </a:r>
            <a:pPr indent="0" marL="0">
              <a:buNone/>
            </a:pPr>
            <a:r>
              <a:rPr lang="en-US" sz="1700" b="1" dirty="0">
                <a:solidFill>
                  <a:srgbClr val="1B2333"/>
                </a:solidFill>
                <a:latin typeface="Calibri" pitchFamily="34" charset="0"/>
                <a:ea typeface="Calibri" pitchFamily="34" charset="-122"/>
                <a:cs typeface="Calibri" pitchFamily="34" charset="-120"/>
              </a:rPr>
              <a:t>Explore and find the user</a:t>
            </a:r>
            <a:endParaRPr lang="en-US" sz="1700" dirty="0"/>
          </a:p>
        </p:txBody>
      </p:sp>
      <p:sp>
        <p:nvSpPr>
          <p:cNvPr id="12" name="Text 10"/>
          <p:cNvSpPr txBox="1"/>
          <p:nvPr/>
        </p:nvSpPr>
        <p:spPr>
          <a:xfrm>
            <a:off x="2889504" y="2093976"/>
            <a:ext cx="1801368" cy="123444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Explores, maps the room and remembers objects with 3D position and image feature. Looks for the user first</a:t>
            </a:r>
            <a:endParaRPr lang="en-US" sz="1350" dirty="0"/>
          </a:p>
        </p:txBody>
      </p:sp>
      <p:sp>
        <p:nvSpPr>
          <p:cNvPr id="13" name="Shape 11"/>
          <p:cNvSpPr/>
          <p:nvPr/>
        </p:nvSpPr>
        <p:spPr>
          <a:xfrm>
            <a:off x="2871216" y="3328416"/>
            <a:ext cx="1837944" cy="457200"/>
          </a:xfrm>
          <a:prstGeom prst="rect">
            <a:avLst/>
          </a:prstGeom>
          <a:solidFill>
            <a:srgbClr val="E3F1E8"/>
          </a:solidFill>
          <a:ln w="12700">
            <a:solidFill>
              <a:srgbClr val="2E7D4F"/>
            </a:solidFill>
            <a:prstDash val="solid"/>
          </a:ln>
        </p:spPr>
      </p:sp>
      <p:sp>
        <p:nvSpPr>
          <p:cNvPr id="14" name="Text 12"/>
          <p:cNvSpPr txBox="1"/>
          <p:nvPr/>
        </p:nvSpPr>
        <p:spPr>
          <a:xfrm>
            <a:off x="2944368" y="3328416"/>
            <a:ext cx="1691640" cy="457200"/>
          </a:xfrm>
          <a:prstGeom prst="rect">
            <a:avLst/>
          </a:prstGeom>
          <a:noFill/>
          <a:ln/>
        </p:spPr>
        <p:txBody>
          <a:bodyPr wrap="square" lIns="0" tIns="0" rIns="0" bIns="0" rtlCol="0" anchor="ctr"/>
          <a:lstStyle/>
          <a:p>
            <a:pPr indent="0" marL="0">
              <a:buNone/>
            </a:pPr>
            <a:r>
              <a:rPr lang="en-US" sz="1200" dirty="0">
                <a:solidFill>
                  <a:srgbClr val="1F5C39"/>
                </a:solidFill>
                <a:latin typeface="Calibri" pitchFamily="34" charset="0"/>
                <a:ea typeface="Calibri" pitchFamily="34" charset="-122"/>
                <a:cs typeface="Calibri" pitchFamily="34" charset="-120"/>
              </a:rPr>
              <a:t>Map tested live (pushed by hand)</a:t>
            </a:r>
            <a:endParaRPr lang="en-US" sz="1200" dirty="0"/>
          </a:p>
        </p:txBody>
      </p:sp>
      <p:sp>
        <p:nvSpPr>
          <p:cNvPr id="15" name="Shape 13"/>
          <p:cNvSpPr/>
          <p:nvPr/>
        </p:nvSpPr>
        <p:spPr>
          <a:xfrm>
            <a:off x="2871216" y="3849624"/>
            <a:ext cx="1837944" cy="457200"/>
          </a:xfrm>
          <a:prstGeom prst="rect">
            <a:avLst/>
          </a:prstGeom>
          <a:solidFill>
            <a:srgbClr val="E2ECF7"/>
          </a:solidFill>
          <a:ln w="12700">
            <a:solidFill>
              <a:srgbClr val="2B6CB0"/>
            </a:solidFill>
            <a:prstDash val="solid"/>
          </a:ln>
        </p:spPr>
      </p:sp>
      <p:sp>
        <p:nvSpPr>
          <p:cNvPr id="16" name="Text 14"/>
          <p:cNvSpPr txBox="1"/>
          <p:nvPr/>
        </p:nvSpPr>
        <p:spPr>
          <a:xfrm>
            <a:off x="2944368" y="3849624"/>
            <a:ext cx="1691640" cy="457200"/>
          </a:xfrm>
          <a:prstGeom prst="rect">
            <a:avLst/>
          </a:prstGeom>
          <a:noFill/>
          <a:ln/>
        </p:spPr>
        <p:txBody>
          <a:bodyPr wrap="square" lIns="0" tIns="0" rIns="0" bIns="0" rtlCol="0" anchor="ctr"/>
          <a:lstStyle/>
          <a:p>
            <a:pPr indent="0" marL="0">
              <a:buNone/>
            </a:pPr>
            <a:r>
              <a:rPr lang="en-US" sz="1200" dirty="0">
                <a:solidFill>
                  <a:srgbClr val="1D4E85"/>
                </a:solidFill>
                <a:latin typeface="Calibri" pitchFamily="34" charset="0"/>
                <a:ea typeface="Calibri" pitchFamily="34" charset="-122"/>
                <a:cs typeface="Calibri" pitchFamily="34" charset="-120"/>
              </a:rPr>
              <a:t>Memory graph tested offline</a:t>
            </a:r>
            <a:endParaRPr lang="en-US" sz="1200" dirty="0"/>
          </a:p>
        </p:txBody>
      </p:sp>
      <p:sp>
        <p:nvSpPr>
          <p:cNvPr id="17" name="Shape 15"/>
          <p:cNvSpPr/>
          <p:nvPr/>
        </p:nvSpPr>
        <p:spPr>
          <a:xfrm>
            <a:off x="2871216" y="4370832"/>
            <a:ext cx="1837944" cy="457200"/>
          </a:xfrm>
          <a:prstGeom prst="rect">
            <a:avLst/>
          </a:prstGeom>
          <a:solidFill>
            <a:srgbClr val="FFFFFF"/>
          </a:solidFill>
          <a:ln w="12700">
            <a:solidFill>
              <a:srgbClr val="8A93A3"/>
            </a:solidFill>
            <a:prstDash val="solid"/>
          </a:ln>
        </p:spPr>
      </p:sp>
      <p:sp>
        <p:nvSpPr>
          <p:cNvPr id="18" name="Text 16"/>
          <p:cNvSpPr txBox="1"/>
          <p:nvPr/>
        </p:nvSpPr>
        <p:spPr>
          <a:xfrm>
            <a:off x="2944368" y="4370832"/>
            <a:ext cx="1691640" cy="457200"/>
          </a:xfrm>
          <a:prstGeom prst="rect">
            <a:avLst/>
          </a:prstGeom>
          <a:noFill/>
          <a:ln/>
        </p:spPr>
        <p:txBody>
          <a:bodyPr wrap="square" lIns="0" tIns="0" rIns="0" bIns="0" rtlCol="0" anchor="ctr"/>
          <a:lstStyle/>
          <a:p>
            <a:pPr indent="0" marL="0">
              <a:buNone/>
            </a:pPr>
            <a:r>
              <a:rPr lang="en-US" sz="1200" dirty="0">
                <a:solidFill>
                  <a:srgbClr val="4B5363"/>
                </a:solidFill>
                <a:latin typeface="Calibri" pitchFamily="34" charset="0"/>
                <a:ea typeface="Calibri" pitchFamily="34" charset="-122"/>
                <a:cs typeface="Calibri" pitchFamily="34" charset="-120"/>
              </a:rPr>
              <a:t>Exploration and finding the user planned</a:t>
            </a:r>
            <a:endParaRPr lang="en-US" sz="1200" dirty="0"/>
          </a:p>
        </p:txBody>
      </p:sp>
      <p:sp>
        <p:nvSpPr>
          <p:cNvPr id="19" name="Text 17"/>
          <p:cNvSpPr txBox="1"/>
          <p:nvPr/>
        </p:nvSpPr>
        <p:spPr>
          <a:xfrm>
            <a:off x="2761488" y="4992624"/>
            <a:ext cx="2057400" cy="256032"/>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Sherman, Zongzhe, Dion</a:t>
            </a:r>
            <a:endParaRPr lang="en-US" sz="1300" dirty="0"/>
          </a:p>
        </p:txBody>
      </p:sp>
      <p:sp>
        <p:nvSpPr>
          <p:cNvPr id="20" name="Shape 18"/>
          <p:cNvSpPr/>
          <p:nvPr/>
        </p:nvSpPr>
        <p:spPr>
          <a:xfrm>
            <a:off x="4846320" y="2286000"/>
            <a:ext cx="192024" cy="0"/>
          </a:xfrm>
          <a:prstGeom prst="line">
            <a:avLst/>
          </a:prstGeom>
          <a:noFill/>
          <a:ln w="22225">
            <a:solidFill>
              <a:srgbClr val="1B2333"/>
            </a:solidFill>
            <a:prstDash val="solid"/>
            <a:tailEnd type="triangle"/>
          </a:ln>
        </p:spPr>
      </p:sp>
      <p:sp>
        <p:nvSpPr>
          <p:cNvPr id="21" name="Shape 19"/>
          <p:cNvSpPr/>
          <p:nvPr/>
        </p:nvSpPr>
        <p:spPr>
          <a:xfrm>
            <a:off x="5065776" y="1417320"/>
            <a:ext cx="2057400" cy="3520440"/>
          </a:xfrm>
          <a:prstGeom prst="rect">
            <a:avLst/>
          </a:prstGeom>
          <a:solidFill>
            <a:srgbClr val="FFFFFF"/>
          </a:solidFill>
          <a:ln w="15875">
            <a:solidFill>
              <a:srgbClr val="1B2333"/>
            </a:solidFill>
            <a:prstDash val="solid"/>
          </a:ln>
        </p:spPr>
      </p:sp>
      <p:sp>
        <p:nvSpPr>
          <p:cNvPr id="22" name="Text 20"/>
          <p:cNvSpPr txBox="1"/>
          <p:nvPr/>
        </p:nvSpPr>
        <p:spPr>
          <a:xfrm>
            <a:off x="5193792" y="1527048"/>
            <a:ext cx="1801368" cy="566928"/>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3  </a:t>
            </a:r>
            <a:pPr indent="0" marL="0">
              <a:buNone/>
            </a:pPr>
            <a:r>
              <a:rPr lang="en-US" sz="1700" b="1" dirty="0">
                <a:solidFill>
                  <a:srgbClr val="1B2333"/>
                </a:solidFill>
                <a:latin typeface="Calibri" pitchFamily="34" charset="0"/>
                <a:ea typeface="Calibri" pitchFamily="34" charset="-122"/>
                <a:cs typeface="Calibri" pitchFamily="34" charset="-120"/>
              </a:rPr>
              <a:t>Search</a:t>
            </a:r>
            <a:endParaRPr lang="en-US" sz="1700" dirty="0"/>
          </a:p>
        </p:txBody>
      </p:sp>
      <p:sp>
        <p:nvSpPr>
          <p:cNvPr id="23" name="Text 21"/>
          <p:cNvSpPr txBox="1"/>
          <p:nvPr/>
        </p:nvSpPr>
        <p:spPr>
          <a:xfrm>
            <a:off x="5193792" y="2093976"/>
            <a:ext cx="1801368" cy="123444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Compare each object with the gaze target. A match ends exploration</a:t>
            </a:r>
            <a:endParaRPr lang="en-US" sz="1350" dirty="0"/>
          </a:p>
        </p:txBody>
      </p:sp>
      <p:sp>
        <p:nvSpPr>
          <p:cNvPr id="24" name="Shape 22"/>
          <p:cNvSpPr/>
          <p:nvPr/>
        </p:nvSpPr>
        <p:spPr>
          <a:xfrm>
            <a:off x="5175504" y="3849624"/>
            <a:ext cx="1837944" cy="457200"/>
          </a:xfrm>
          <a:prstGeom prst="rect">
            <a:avLst/>
          </a:prstGeom>
          <a:solidFill>
            <a:srgbClr val="FBF1DC"/>
          </a:solidFill>
          <a:ln w="12700">
            <a:solidFill>
              <a:srgbClr val="B7791F"/>
            </a:solidFill>
            <a:prstDash val="solid"/>
          </a:ln>
        </p:spPr>
      </p:sp>
      <p:sp>
        <p:nvSpPr>
          <p:cNvPr id="25" name="Text 23"/>
          <p:cNvSpPr txBox="1"/>
          <p:nvPr/>
        </p:nvSpPr>
        <p:spPr>
          <a:xfrm>
            <a:off x="5248656" y="3849624"/>
            <a:ext cx="1691640" cy="457200"/>
          </a:xfrm>
          <a:prstGeom prst="rect">
            <a:avLst/>
          </a:prstGeom>
          <a:noFill/>
          <a:ln/>
        </p:spPr>
        <p:txBody>
          <a:bodyPr wrap="square" lIns="0" tIns="0" rIns="0" bIns="0" rtlCol="0" anchor="ctr"/>
          <a:lstStyle/>
          <a:p>
            <a:pPr indent="0" marL="0">
              <a:buNone/>
            </a:pPr>
            <a:r>
              <a:rPr lang="en-US" sz="1200" dirty="0">
                <a:solidFill>
                  <a:srgbClr val="7A4E0B"/>
                </a:solidFill>
                <a:latin typeface="Calibri" pitchFamily="34" charset="0"/>
                <a:ea typeface="Calibri" pitchFamily="34" charset="-122"/>
                <a:cs typeface="Calibri" pitchFamily="34" charset="-120"/>
              </a:rPr>
              <a:t>Graph search built for sentences</a:t>
            </a:r>
            <a:endParaRPr lang="en-US" sz="1200" dirty="0"/>
          </a:p>
        </p:txBody>
      </p:sp>
      <p:sp>
        <p:nvSpPr>
          <p:cNvPr id="26" name="Shape 24"/>
          <p:cNvSpPr/>
          <p:nvPr/>
        </p:nvSpPr>
        <p:spPr>
          <a:xfrm>
            <a:off x="5175504" y="4370832"/>
            <a:ext cx="1837944" cy="457200"/>
          </a:xfrm>
          <a:prstGeom prst="rect">
            <a:avLst/>
          </a:prstGeom>
          <a:solidFill>
            <a:srgbClr val="FFFFFF"/>
          </a:solidFill>
          <a:ln w="12700">
            <a:solidFill>
              <a:srgbClr val="8A93A3"/>
            </a:solidFill>
            <a:prstDash val="solid"/>
          </a:ln>
        </p:spPr>
      </p:sp>
      <p:sp>
        <p:nvSpPr>
          <p:cNvPr id="27" name="Text 25"/>
          <p:cNvSpPr txBox="1"/>
          <p:nvPr/>
        </p:nvSpPr>
        <p:spPr>
          <a:xfrm>
            <a:off x="5248656" y="4370832"/>
            <a:ext cx="1691640" cy="457200"/>
          </a:xfrm>
          <a:prstGeom prst="rect">
            <a:avLst/>
          </a:prstGeom>
          <a:noFill/>
          <a:ln/>
        </p:spPr>
        <p:txBody>
          <a:bodyPr wrap="square" lIns="0" tIns="0" rIns="0" bIns="0" rtlCol="0" anchor="ctr"/>
          <a:lstStyle/>
          <a:p>
            <a:pPr indent="0" marL="0">
              <a:buNone/>
            </a:pPr>
            <a:r>
              <a:rPr lang="en-US" sz="1200" dirty="0">
                <a:solidFill>
                  <a:srgbClr val="4B5363"/>
                </a:solidFill>
                <a:latin typeface="Calibri" pitchFamily="34" charset="0"/>
                <a:ea typeface="Calibri" pitchFamily="34" charset="-122"/>
                <a:cs typeface="Calibri" pitchFamily="34" charset="-120"/>
              </a:rPr>
              <a:t>Gaze match planned (T8.2)</a:t>
            </a:r>
            <a:endParaRPr lang="en-US" sz="1200" dirty="0"/>
          </a:p>
        </p:txBody>
      </p:sp>
      <p:sp>
        <p:nvSpPr>
          <p:cNvPr id="28" name="Text 26"/>
          <p:cNvSpPr txBox="1"/>
          <p:nvPr/>
        </p:nvSpPr>
        <p:spPr>
          <a:xfrm>
            <a:off x="5065776" y="4992624"/>
            <a:ext cx="2057400" cy="256032"/>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Zongzhe, Dion</a:t>
            </a:r>
            <a:endParaRPr lang="en-US" sz="1300" dirty="0"/>
          </a:p>
        </p:txBody>
      </p:sp>
      <p:sp>
        <p:nvSpPr>
          <p:cNvPr id="29" name="Shape 27"/>
          <p:cNvSpPr/>
          <p:nvPr/>
        </p:nvSpPr>
        <p:spPr>
          <a:xfrm>
            <a:off x="7150608" y="2286000"/>
            <a:ext cx="192024" cy="0"/>
          </a:xfrm>
          <a:prstGeom prst="line">
            <a:avLst/>
          </a:prstGeom>
          <a:noFill/>
          <a:ln w="22225">
            <a:solidFill>
              <a:srgbClr val="1B2333"/>
            </a:solidFill>
            <a:prstDash val="solid"/>
            <a:tailEnd type="triangle"/>
          </a:ln>
        </p:spPr>
      </p:sp>
      <p:sp>
        <p:nvSpPr>
          <p:cNvPr id="30" name="Shape 28"/>
          <p:cNvSpPr/>
          <p:nvPr/>
        </p:nvSpPr>
        <p:spPr>
          <a:xfrm>
            <a:off x="7370064" y="1417320"/>
            <a:ext cx="2057400" cy="3520440"/>
          </a:xfrm>
          <a:prstGeom prst="rect">
            <a:avLst/>
          </a:prstGeom>
          <a:solidFill>
            <a:srgbClr val="FFFFFF"/>
          </a:solidFill>
          <a:ln w="15875">
            <a:solidFill>
              <a:srgbClr val="1B2333"/>
            </a:solidFill>
            <a:prstDash val="solid"/>
          </a:ln>
        </p:spPr>
      </p:sp>
      <p:sp>
        <p:nvSpPr>
          <p:cNvPr id="31" name="Text 29"/>
          <p:cNvSpPr txBox="1"/>
          <p:nvPr/>
        </p:nvSpPr>
        <p:spPr>
          <a:xfrm>
            <a:off x="7498080" y="1527048"/>
            <a:ext cx="1801368" cy="566928"/>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4  </a:t>
            </a:r>
            <a:pPr indent="0" marL="0">
              <a:buNone/>
            </a:pPr>
            <a:r>
              <a:rPr lang="en-US" sz="1700" b="1" dirty="0">
                <a:solidFill>
                  <a:srgbClr val="1B2333"/>
                </a:solidFill>
                <a:latin typeface="Calibri" pitchFamily="34" charset="0"/>
                <a:ea typeface="Calibri" pitchFamily="34" charset="-122"/>
                <a:cs typeface="Calibri" pitchFamily="34" charset="-120"/>
              </a:rPr>
              <a:t>Approach and confirm</a:t>
            </a:r>
            <a:endParaRPr lang="en-US" sz="1700" dirty="0"/>
          </a:p>
        </p:txBody>
      </p:sp>
      <p:sp>
        <p:nvSpPr>
          <p:cNvPr id="32" name="Text 30"/>
          <p:cNvSpPr txBox="1"/>
          <p:nvPr/>
        </p:nvSpPr>
        <p:spPr>
          <a:xfrm>
            <a:off x="7498080" y="2093976"/>
            <a:ext cx="1801368" cy="123444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Drive to the object. The wrist camera confirms it is the same one</a:t>
            </a:r>
            <a:endParaRPr lang="en-US" sz="1350" dirty="0"/>
          </a:p>
        </p:txBody>
      </p:sp>
      <p:sp>
        <p:nvSpPr>
          <p:cNvPr id="33" name="Shape 31"/>
          <p:cNvSpPr/>
          <p:nvPr/>
        </p:nvSpPr>
        <p:spPr>
          <a:xfrm>
            <a:off x="7479792" y="3849624"/>
            <a:ext cx="1837944" cy="457200"/>
          </a:xfrm>
          <a:prstGeom prst="rect">
            <a:avLst/>
          </a:prstGeom>
          <a:solidFill>
            <a:srgbClr val="E3F1E8"/>
          </a:solidFill>
          <a:ln w="12700">
            <a:solidFill>
              <a:srgbClr val="2E7D4F"/>
            </a:solidFill>
            <a:prstDash val="solid"/>
          </a:ln>
        </p:spPr>
      </p:sp>
      <p:sp>
        <p:nvSpPr>
          <p:cNvPr id="34" name="Text 32"/>
          <p:cNvSpPr txBox="1"/>
          <p:nvPr/>
        </p:nvSpPr>
        <p:spPr>
          <a:xfrm>
            <a:off x="7552944" y="3849624"/>
            <a:ext cx="1691640" cy="457200"/>
          </a:xfrm>
          <a:prstGeom prst="rect">
            <a:avLst/>
          </a:prstGeom>
          <a:noFill/>
          <a:ln/>
        </p:spPr>
        <p:txBody>
          <a:bodyPr wrap="square" lIns="0" tIns="0" rIns="0" bIns="0" rtlCol="0" anchor="ctr"/>
          <a:lstStyle/>
          <a:p>
            <a:pPr indent="0" marL="0">
              <a:buNone/>
            </a:pPr>
            <a:r>
              <a:rPr lang="en-US" sz="1200" dirty="0">
                <a:solidFill>
                  <a:srgbClr val="1F5C39"/>
                </a:solidFill>
                <a:latin typeface="Calibri" pitchFamily="34" charset="0"/>
                <a:ea typeface="Calibri" pitchFamily="34" charset="-122"/>
                <a:cs typeface="Calibri" pitchFamily="34" charset="-120"/>
              </a:rPr>
              <a:t>Confirm tested on replay, now steers the grasp</a:t>
            </a:r>
            <a:endParaRPr lang="en-US" sz="1200" dirty="0"/>
          </a:p>
        </p:txBody>
      </p:sp>
      <p:sp>
        <p:nvSpPr>
          <p:cNvPr id="35" name="Shape 33"/>
          <p:cNvSpPr/>
          <p:nvPr/>
        </p:nvSpPr>
        <p:spPr>
          <a:xfrm>
            <a:off x="7479792" y="4370832"/>
            <a:ext cx="1837944" cy="457200"/>
          </a:xfrm>
          <a:prstGeom prst="rect">
            <a:avLst/>
          </a:prstGeom>
          <a:solidFill>
            <a:srgbClr val="FFFFFF"/>
          </a:solidFill>
          <a:ln w="12700">
            <a:solidFill>
              <a:srgbClr val="8A93A3"/>
            </a:solidFill>
            <a:prstDash val="solid"/>
          </a:ln>
        </p:spPr>
      </p:sp>
      <p:sp>
        <p:nvSpPr>
          <p:cNvPr id="36" name="Text 34"/>
          <p:cNvSpPr txBox="1"/>
          <p:nvPr/>
        </p:nvSpPr>
        <p:spPr>
          <a:xfrm>
            <a:off x="7552944" y="4370832"/>
            <a:ext cx="1691640" cy="457200"/>
          </a:xfrm>
          <a:prstGeom prst="rect">
            <a:avLst/>
          </a:prstGeom>
          <a:noFill/>
          <a:ln/>
        </p:spPr>
        <p:txBody>
          <a:bodyPr wrap="square" lIns="0" tIns="0" rIns="0" bIns="0" rtlCol="0" anchor="ctr"/>
          <a:lstStyle/>
          <a:p>
            <a:pPr indent="0" marL="0">
              <a:buNone/>
            </a:pPr>
            <a:r>
              <a:rPr lang="en-US" sz="1200" dirty="0">
                <a:solidFill>
                  <a:srgbClr val="4B5363"/>
                </a:solidFill>
                <a:latin typeface="Calibri" pitchFamily="34" charset="0"/>
                <a:ea typeface="Calibri" pitchFamily="34" charset="-122"/>
                <a:cs typeface="Calibri" pitchFamily="34" charset="-120"/>
              </a:rPr>
              <a:t>Driving planned</a:t>
            </a:r>
            <a:endParaRPr lang="en-US" sz="1200" dirty="0"/>
          </a:p>
        </p:txBody>
      </p:sp>
      <p:sp>
        <p:nvSpPr>
          <p:cNvPr id="37" name="Text 35"/>
          <p:cNvSpPr txBox="1"/>
          <p:nvPr/>
        </p:nvSpPr>
        <p:spPr>
          <a:xfrm>
            <a:off x="7370064" y="4992624"/>
            <a:ext cx="2057400" cy="256032"/>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Dion, Sherman</a:t>
            </a:r>
            <a:endParaRPr lang="en-US" sz="1300" dirty="0"/>
          </a:p>
        </p:txBody>
      </p:sp>
      <p:sp>
        <p:nvSpPr>
          <p:cNvPr id="38" name="Shape 36"/>
          <p:cNvSpPr/>
          <p:nvPr/>
        </p:nvSpPr>
        <p:spPr>
          <a:xfrm>
            <a:off x="9454896" y="2286000"/>
            <a:ext cx="192024" cy="0"/>
          </a:xfrm>
          <a:prstGeom prst="line">
            <a:avLst/>
          </a:prstGeom>
          <a:noFill/>
          <a:ln w="22225">
            <a:solidFill>
              <a:srgbClr val="1B2333"/>
            </a:solidFill>
            <a:prstDash val="solid"/>
            <a:tailEnd type="triangle"/>
          </a:ln>
        </p:spPr>
      </p:sp>
      <p:sp>
        <p:nvSpPr>
          <p:cNvPr id="39" name="Shape 37"/>
          <p:cNvSpPr/>
          <p:nvPr/>
        </p:nvSpPr>
        <p:spPr>
          <a:xfrm>
            <a:off x="9674352" y="1417320"/>
            <a:ext cx="2057400" cy="3520440"/>
          </a:xfrm>
          <a:prstGeom prst="rect">
            <a:avLst/>
          </a:prstGeom>
          <a:solidFill>
            <a:srgbClr val="FFFFFF"/>
          </a:solidFill>
          <a:ln w="15875">
            <a:solidFill>
              <a:srgbClr val="1B2333"/>
            </a:solidFill>
            <a:prstDash val="solid"/>
          </a:ln>
        </p:spPr>
      </p:sp>
      <p:sp>
        <p:nvSpPr>
          <p:cNvPr id="40" name="Text 38"/>
          <p:cNvSpPr txBox="1"/>
          <p:nvPr/>
        </p:nvSpPr>
        <p:spPr>
          <a:xfrm>
            <a:off x="9802368" y="1527048"/>
            <a:ext cx="1801368" cy="566928"/>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5  </a:t>
            </a:r>
            <a:pPr indent="0" marL="0">
              <a:buNone/>
            </a:pPr>
            <a:r>
              <a:rPr lang="en-US" sz="1700" b="1" dirty="0">
                <a:solidFill>
                  <a:srgbClr val="1B2333"/>
                </a:solidFill>
                <a:latin typeface="Calibri" pitchFamily="34" charset="0"/>
                <a:ea typeface="Calibri" pitchFamily="34" charset="-122"/>
                <a:cs typeface="Calibri" pitchFamily="34" charset="-120"/>
              </a:rPr>
              <a:t>Grasp</a:t>
            </a:r>
            <a:endParaRPr lang="en-US" sz="1700" dirty="0"/>
          </a:p>
        </p:txBody>
      </p:sp>
      <p:sp>
        <p:nvSpPr>
          <p:cNvPr id="41" name="Text 39"/>
          <p:cNvSpPr txBox="1"/>
          <p:nvPr/>
        </p:nvSpPr>
        <p:spPr>
          <a:xfrm>
            <a:off x="9802368" y="2093976"/>
            <a:ext cx="1801368" cy="123444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Grasp candidates on the wrist point cloud, plan, execute</a:t>
            </a:r>
            <a:endParaRPr lang="en-US" sz="1350" dirty="0"/>
          </a:p>
        </p:txBody>
      </p:sp>
      <p:sp>
        <p:nvSpPr>
          <p:cNvPr id="42" name="Shape 40"/>
          <p:cNvSpPr/>
          <p:nvPr/>
        </p:nvSpPr>
        <p:spPr>
          <a:xfrm>
            <a:off x="9784080" y="4370832"/>
            <a:ext cx="1837944" cy="457200"/>
          </a:xfrm>
          <a:prstGeom prst="rect">
            <a:avLst/>
          </a:prstGeom>
          <a:solidFill>
            <a:srgbClr val="E3F1E8"/>
          </a:solidFill>
          <a:ln w="12700">
            <a:solidFill>
              <a:srgbClr val="2E7D4F"/>
            </a:solidFill>
            <a:prstDash val="solid"/>
          </a:ln>
        </p:spPr>
      </p:sp>
      <p:sp>
        <p:nvSpPr>
          <p:cNvPr id="43" name="Text 41"/>
          <p:cNvSpPr txBox="1"/>
          <p:nvPr/>
        </p:nvSpPr>
        <p:spPr>
          <a:xfrm>
            <a:off x="9857232" y="4370832"/>
            <a:ext cx="1691640" cy="457200"/>
          </a:xfrm>
          <a:prstGeom prst="rect">
            <a:avLst/>
          </a:prstGeom>
          <a:noFill/>
          <a:ln/>
        </p:spPr>
        <p:txBody>
          <a:bodyPr wrap="square" lIns="0" tIns="0" rIns="0" bIns="0" rtlCol="0" anchor="ctr"/>
          <a:lstStyle/>
          <a:p>
            <a:pPr indent="0" marL="0">
              <a:buNone/>
            </a:pPr>
            <a:r>
              <a:rPr lang="en-US" sz="1200" dirty="0">
                <a:solidFill>
                  <a:srgbClr val="1F5C39"/>
                </a:solidFill>
                <a:latin typeface="Calibri" pitchFamily="34" charset="0"/>
                <a:ea typeface="Calibri" pitchFamily="34" charset="-122"/>
                <a:cs typeface="Calibri" pitchFamily="34" charset="-120"/>
              </a:rPr>
              <a:t>Tested on the real arm</a:t>
            </a:r>
            <a:endParaRPr lang="en-US" sz="1200" dirty="0"/>
          </a:p>
        </p:txBody>
      </p:sp>
      <p:sp>
        <p:nvSpPr>
          <p:cNvPr id="44" name="Text 42"/>
          <p:cNvSpPr txBox="1"/>
          <p:nvPr/>
        </p:nvSpPr>
        <p:spPr>
          <a:xfrm>
            <a:off x="9674352" y="4992624"/>
            <a:ext cx="2057400" cy="256032"/>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Dion</a:t>
            </a:r>
            <a:endParaRPr lang="en-US" sz="1300" dirty="0"/>
          </a:p>
        </p:txBody>
      </p:sp>
      <p:sp>
        <p:nvSpPr>
          <p:cNvPr id="45" name="Shape 43"/>
          <p:cNvSpPr/>
          <p:nvPr/>
        </p:nvSpPr>
        <p:spPr>
          <a:xfrm>
            <a:off x="457200" y="5303520"/>
            <a:ext cx="182880" cy="155448"/>
          </a:xfrm>
          <a:prstGeom prst="rect">
            <a:avLst/>
          </a:prstGeom>
          <a:solidFill>
            <a:srgbClr val="E3F1E8"/>
          </a:solidFill>
          <a:ln w="12700">
            <a:solidFill>
              <a:srgbClr val="2E7D4F"/>
            </a:solidFill>
            <a:prstDash val="solid"/>
          </a:ln>
        </p:spPr>
      </p:sp>
      <p:sp>
        <p:nvSpPr>
          <p:cNvPr id="46" name="Text 44"/>
          <p:cNvSpPr txBox="1"/>
          <p:nvPr/>
        </p:nvSpPr>
        <p:spPr>
          <a:xfrm>
            <a:off x="694944" y="5266944"/>
            <a:ext cx="580461" cy="22860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Tested</a:t>
            </a:r>
            <a:endParaRPr lang="en-US" sz="1100" dirty="0"/>
          </a:p>
        </p:txBody>
      </p:sp>
      <p:sp>
        <p:nvSpPr>
          <p:cNvPr id="47" name="Shape 45"/>
          <p:cNvSpPr/>
          <p:nvPr/>
        </p:nvSpPr>
        <p:spPr>
          <a:xfrm>
            <a:off x="1412565" y="5303520"/>
            <a:ext cx="182880" cy="155448"/>
          </a:xfrm>
          <a:prstGeom prst="rect">
            <a:avLst/>
          </a:prstGeom>
          <a:solidFill>
            <a:srgbClr val="FBF1DC"/>
          </a:solidFill>
          <a:ln w="12700">
            <a:solidFill>
              <a:srgbClr val="B7791F"/>
            </a:solidFill>
            <a:prstDash val="solid"/>
          </a:ln>
        </p:spPr>
      </p:sp>
      <p:sp>
        <p:nvSpPr>
          <p:cNvPr id="48" name="Text 46"/>
          <p:cNvSpPr txBox="1"/>
          <p:nvPr/>
        </p:nvSpPr>
        <p:spPr>
          <a:xfrm>
            <a:off x="1650309" y="5266944"/>
            <a:ext cx="1678838" cy="22860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Built, not validated</a:t>
            </a:r>
            <a:endParaRPr lang="en-US" sz="1100" dirty="0"/>
          </a:p>
        </p:txBody>
      </p:sp>
      <p:sp>
        <p:nvSpPr>
          <p:cNvPr id="49" name="Shape 47"/>
          <p:cNvSpPr/>
          <p:nvPr/>
        </p:nvSpPr>
        <p:spPr>
          <a:xfrm>
            <a:off x="3466308" y="5303520"/>
            <a:ext cx="182880" cy="155448"/>
          </a:xfrm>
          <a:prstGeom prst="rect">
            <a:avLst/>
          </a:prstGeom>
          <a:solidFill>
            <a:srgbClr val="E2ECF7"/>
          </a:solidFill>
          <a:ln w="12700">
            <a:solidFill>
              <a:srgbClr val="2B6CB0"/>
            </a:solidFill>
            <a:prstDash val="solid"/>
          </a:ln>
        </p:spPr>
      </p:sp>
      <p:sp>
        <p:nvSpPr>
          <p:cNvPr id="50" name="Text 48"/>
          <p:cNvSpPr txBox="1"/>
          <p:nvPr/>
        </p:nvSpPr>
        <p:spPr>
          <a:xfrm>
            <a:off x="3704052" y="5266944"/>
            <a:ext cx="1835749" cy="22860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Isolated (works alone)</a:t>
            </a:r>
            <a:endParaRPr lang="en-US" sz="1100" dirty="0"/>
          </a:p>
        </p:txBody>
      </p:sp>
      <p:sp>
        <p:nvSpPr>
          <p:cNvPr id="51" name="Shape 49"/>
          <p:cNvSpPr/>
          <p:nvPr/>
        </p:nvSpPr>
        <p:spPr>
          <a:xfrm>
            <a:off x="5676961" y="5303520"/>
            <a:ext cx="182880" cy="155448"/>
          </a:xfrm>
          <a:prstGeom prst="rect">
            <a:avLst/>
          </a:prstGeom>
          <a:solidFill>
            <a:srgbClr val="FFFFFF"/>
          </a:solidFill>
          <a:ln w="12700">
            <a:solidFill>
              <a:srgbClr val="8A93A3"/>
            </a:solidFill>
            <a:prstDash val="solid"/>
          </a:ln>
        </p:spPr>
      </p:sp>
      <p:sp>
        <p:nvSpPr>
          <p:cNvPr id="52" name="Text 50"/>
          <p:cNvSpPr txBox="1"/>
          <p:nvPr/>
        </p:nvSpPr>
        <p:spPr>
          <a:xfrm>
            <a:off x="5914705" y="5266944"/>
            <a:ext cx="658917" cy="228600"/>
          </a:xfrm>
          <a:prstGeom prst="rect">
            <a:avLst/>
          </a:prstGeom>
          <a:noFill/>
          <a:ln/>
        </p:spPr>
        <p:txBody>
          <a:bodyPr wrap="square" lIns="0" tIns="0" rIns="0" bIns="0" rtlCol="0" anchor="ctr"/>
          <a:lstStyle/>
          <a:p>
            <a:pPr indent="0" marL="0">
              <a:buNone/>
            </a:pPr>
            <a:r>
              <a:rPr lang="en-US" sz="1100" dirty="0">
                <a:solidFill>
                  <a:srgbClr val="5B6577"/>
                </a:solidFill>
                <a:latin typeface="Calibri" pitchFamily="34" charset="0"/>
                <a:ea typeface="Calibri" pitchFamily="34" charset="-122"/>
                <a:cs typeface="Calibri" pitchFamily="34" charset="-120"/>
              </a:rPr>
              <a:t>Planned</a:t>
            </a:r>
            <a:endParaRPr lang="en-US" sz="1100" dirty="0"/>
          </a:p>
        </p:txBody>
      </p:sp>
      <p:sp>
        <p:nvSpPr>
          <p:cNvPr id="53" name="Text 51"/>
          <p:cNvSpPr txBox="1"/>
          <p:nvPr/>
        </p:nvSpPr>
        <p:spPr>
          <a:xfrm>
            <a:off x="8988552" y="5266944"/>
            <a:ext cx="2743200" cy="228600"/>
          </a:xfrm>
          <a:prstGeom prst="rect">
            <a:avLst/>
          </a:prstGeom>
          <a:noFill/>
          <a:ln/>
        </p:spPr>
        <p:txBody>
          <a:bodyPr wrap="square" lIns="0" tIns="0" rIns="0" bIns="0" rtlCol="0" anchor="ctr"/>
          <a:lstStyle/>
          <a:p>
            <a:pPr algn="r" indent="0" marL="0">
              <a:buNone/>
            </a:pPr>
            <a:r>
              <a:rPr lang="en-US" sz="1100" dirty="0">
                <a:solidFill>
                  <a:srgbClr val="8A93A3"/>
                </a:solidFill>
                <a:latin typeface="Calibri" pitchFamily="34" charset="0"/>
                <a:ea typeface="Calibri" pitchFamily="34" charset="-122"/>
                <a:cs typeface="Calibri" pitchFamily="34" charset="-120"/>
              </a:rPr>
              <a:t>Owner under each phase</a:t>
            </a:r>
            <a:endParaRPr lang="en-US" sz="1100" dirty="0"/>
          </a:p>
        </p:txBody>
      </p:sp>
      <p:sp>
        <p:nvSpPr>
          <p:cNvPr id="54" name="Shape 52"/>
          <p:cNvSpPr/>
          <p:nvPr/>
        </p:nvSpPr>
        <p:spPr>
          <a:xfrm>
            <a:off x="457200" y="5559552"/>
            <a:ext cx="11274552" cy="841248"/>
          </a:xfrm>
          <a:prstGeom prst="rect">
            <a:avLst/>
          </a:prstGeom>
          <a:solidFill>
            <a:srgbClr val="F2F4F8"/>
          </a:solidFill>
          <a:ln/>
        </p:spPr>
      </p:sp>
      <p:sp>
        <p:nvSpPr>
          <p:cNvPr id="55" name="Text 53"/>
          <p:cNvSpPr txBox="1"/>
          <p:nvPr/>
        </p:nvSpPr>
        <p:spPr>
          <a:xfrm>
            <a:off x="621792" y="5632704"/>
            <a:ext cx="1828800" cy="274320"/>
          </a:xfrm>
          <a:prstGeom prst="rect">
            <a:avLst/>
          </a:prstGeom>
          <a:noFill/>
          <a:ln/>
        </p:spPr>
        <p:txBody>
          <a:bodyPr wrap="square" lIns="0" tIns="0" rIns="0" bIns="0" rtlCol="0" anchor="t"/>
          <a:lstStyle/>
          <a:p>
            <a:pPr indent="0" marL="0">
              <a:buNone/>
            </a:pPr>
            <a:r>
              <a:rPr lang="en-US" sz="1400" b="1" dirty="0">
                <a:solidFill>
                  <a:srgbClr val="1F3B73"/>
                </a:solidFill>
                <a:latin typeface="Calibri" pitchFamily="34" charset="0"/>
                <a:ea typeface="Calibri" pitchFamily="34" charset="-122"/>
                <a:cs typeface="Calibri" pitchFamily="34" charset="-120"/>
              </a:rPr>
              <a:t>Scope decisions</a:t>
            </a:r>
            <a:endParaRPr lang="en-US" sz="1400" dirty="0"/>
          </a:p>
        </p:txBody>
      </p:sp>
      <p:sp>
        <p:nvSpPr>
          <p:cNvPr id="56" name="Text 54"/>
          <p:cNvSpPr txBox="1"/>
          <p:nvPr/>
        </p:nvSpPr>
        <p:spPr>
          <a:xfrm>
            <a:off x="621792" y="5888736"/>
            <a:ext cx="4023360" cy="493776"/>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Exploration is the core of the search. The paper’s smarter exploration order (M9) is cut first if time runs short</a:t>
            </a:r>
            <a:endParaRPr lang="en-US" sz="1250" dirty="0"/>
          </a:p>
        </p:txBody>
      </p:sp>
      <p:sp>
        <p:nvSpPr>
          <p:cNvPr id="57" name="Text 55"/>
          <p:cNvSpPr txBox="1"/>
          <p:nvPr/>
        </p:nvSpPr>
        <p:spPr>
          <a:xfrm>
            <a:off x="4873752" y="5888736"/>
            <a:ext cx="2834640" cy="493776"/>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Finding the user speeds up exploration: the object is somewhere the user can see</a:t>
            </a:r>
            <a:endParaRPr lang="en-US" sz="1250" dirty="0"/>
          </a:p>
        </p:txBody>
      </p:sp>
      <p:sp>
        <p:nvSpPr>
          <p:cNvPr id="58" name="Text 56"/>
          <p:cNvSpPr txBox="1"/>
          <p:nvPr/>
        </p:nvSpPr>
        <p:spPr>
          <a:xfrm>
            <a:off x="7936992" y="5888736"/>
            <a:ext cx="1691640" cy="493776"/>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Out of scope: bringing the object back to the user</a:t>
            </a:r>
            <a:endParaRPr lang="en-US" sz="1250" dirty="0"/>
          </a:p>
        </p:txBody>
      </p:sp>
      <p:sp>
        <p:nvSpPr>
          <p:cNvPr id="59" name="Text 57"/>
          <p:cNvSpPr txBox="1"/>
          <p:nvPr/>
        </p:nvSpPr>
        <p:spPr>
          <a:xfrm>
            <a:off x="9857232" y="5888736"/>
            <a:ext cx="1828800" cy="493776"/>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Final demonstration target: </a:t>
            </a:r>
            <a:pPr indent="0" marL="0">
              <a:buNone/>
            </a:pPr>
            <a:r>
              <a:rPr lang="en-US" sz="1250" b="1" dirty="0">
                <a:solidFill>
                  <a:srgbClr val="1B2333"/>
                </a:solidFill>
                <a:latin typeface="Calibri" pitchFamily="34" charset="0"/>
                <a:ea typeface="Calibri" pitchFamily="34" charset="-122"/>
                <a:cs typeface="Calibri" pitchFamily="34" charset="-120"/>
              </a:rPr>
              <a:t>March 2027 (M10)</a:t>
            </a:r>
            <a:endParaRPr lang="en-US" sz="1250" dirty="0"/>
          </a:p>
        </p:txBody>
      </p:sp>
      <p:sp>
        <p:nvSpPr>
          <p:cNvPr id="60" name="Text 58"/>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Zongzhe</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We inherited code that did not run, so we built a test bench and a contract first</a:t>
            </a:r>
            <a:endParaRPr lang="en-US" sz="2400" dirty="0"/>
          </a:p>
        </p:txBody>
      </p:sp>
      <p:sp>
        <p:nvSpPr>
          <p:cNvPr id="3" name="Shape 1"/>
          <p:cNvSpPr/>
          <p:nvPr/>
        </p:nvSpPr>
        <p:spPr>
          <a:xfrm>
            <a:off x="457200" y="1463040"/>
            <a:ext cx="4069080" cy="4389120"/>
          </a:xfrm>
          <a:prstGeom prst="rect">
            <a:avLst/>
          </a:prstGeom>
          <a:solidFill>
            <a:srgbClr val="FFFFFF"/>
          </a:solidFill>
          <a:ln w="22225">
            <a:solidFill>
              <a:srgbClr val="B3392F"/>
            </a:solidFill>
            <a:prstDash val="solid"/>
          </a:ln>
        </p:spPr>
      </p:sp>
      <p:sp>
        <p:nvSpPr>
          <p:cNvPr id="4" name="Text 2"/>
          <p:cNvSpPr txBox="1"/>
          <p:nvPr/>
        </p:nvSpPr>
        <p:spPr>
          <a:xfrm>
            <a:off x="640080" y="1572768"/>
            <a:ext cx="3749040" cy="365760"/>
          </a:xfrm>
          <a:prstGeom prst="rect">
            <a:avLst/>
          </a:prstGeom>
          <a:noFill/>
          <a:ln/>
        </p:spPr>
        <p:txBody>
          <a:bodyPr wrap="square" lIns="0" tIns="0" rIns="0" bIns="0" rtlCol="0" anchor="t"/>
          <a:lstStyle/>
          <a:p>
            <a:pPr indent="0" marL="0">
              <a:buNone/>
            </a:pPr>
            <a:r>
              <a:rPr lang="en-US" sz="1800" b="1" dirty="0">
                <a:solidFill>
                  <a:srgbClr val="B3392F"/>
                </a:solidFill>
                <a:latin typeface="Calibri" pitchFamily="34" charset="0"/>
                <a:ea typeface="Calibri" pitchFamily="34" charset="-122"/>
                <a:cs typeface="Calibri" pitchFamily="34" charset="-120"/>
              </a:rPr>
              <a:t>September 2026 starting point</a:t>
            </a:r>
            <a:endParaRPr lang="en-US" sz="1800" dirty="0"/>
          </a:p>
        </p:txBody>
      </p:sp>
      <p:sp>
        <p:nvSpPr>
          <p:cNvPr id="5" name="Text 3"/>
          <p:cNvSpPr txBox="1"/>
          <p:nvPr/>
        </p:nvSpPr>
        <p:spPr>
          <a:xfrm>
            <a:off x="640080" y="2057400"/>
            <a:ext cx="3703320" cy="36576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B2333"/>
                </a:solidFill>
                <a:latin typeface="Calibri" pitchFamily="34" charset="0"/>
                <a:ea typeface="Calibri" pitchFamily="34" charset="-122"/>
                <a:cs typeface="Calibri" pitchFamily="34" charset="-120"/>
              </a:rPr>
              <a:t>A year of code from an earlier team. No tests, no CI</a:t>
            </a:r>
            <a:endParaRPr lang="en-US" sz="1800" dirty="0"/>
          </a:p>
          <a:p>
            <a:pPr marL="342900" indent="-342900">
              <a:spcAft>
                <a:spcPts val="1200"/>
              </a:spcAft>
              <a:buSzPct val="100000"/>
              <a:buChar char="•"/>
            </a:pPr>
            <a:r>
              <a:rPr lang="en-US" sz="1800" dirty="0">
                <a:solidFill>
                  <a:srgbClr val="1B2333"/>
                </a:solidFill>
                <a:latin typeface="Calibri" pitchFamily="34" charset="0"/>
                <a:ea typeface="Calibri" pitchFamily="34" charset="-122"/>
                <a:cs typeface="Calibri" pitchFamily="34" charset="-120"/>
              </a:rPr>
              <a:t>One program moved the real arm within seconds of starting, unprompted</a:t>
            </a:r>
            <a:endParaRPr lang="en-US" sz="1800" dirty="0"/>
          </a:p>
          <a:p>
            <a:pPr marL="342900" indent="-342900">
              <a:spcAft>
                <a:spcPts val="1200"/>
              </a:spcAft>
              <a:buSzPct val="100000"/>
              <a:buChar char="•"/>
            </a:pPr>
            <a:r>
              <a:rPr lang="en-US" sz="1800" dirty="0">
                <a:solidFill>
                  <a:srgbClr val="1B2333"/>
                </a:solidFill>
                <a:latin typeface="Calibri" pitchFamily="34" charset="0"/>
                <a:ea typeface="Calibri" pitchFamily="34" charset="-122"/>
                <a:cs typeface="Calibri" pitchFamily="34" charset="-120"/>
              </a:rPr>
              <a:t>The AnyGrasp path was unreachable</a:t>
            </a:r>
            <a:endParaRPr lang="en-US" sz="1800" dirty="0"/>
          </a:p>
          <a:p>
            <a:pPr marL="342900" indent="-342900">
              <a:spcAft>
                <a:spcPts val="1200"/>
              </a:spcAft>
              <a:buSzPct val="100000"/>
              <a:buChar char="•"/>
            </a:pPr>
            <a:r>
              <a:rPr lang="en-US" sz="1800" dirty="0">
                <a:solidFill>
                  <a:srgbClr val="1B2333"/>
                </a:solidFill>
                <a:latin typeface="Calibri" pitchFamily="34" charset="0"/>
                <a:ea typeface="Calibri" pitchFamily="34" charset="-122"/>
                <a:cs typeface="Calibri" pitchFamily="34" charset="-120"/>
              </a:rPr>
              <a:t>Navigation ran only from another user’s private workspace, and the repo copy did not build</a:t>
            </a:r>
            <a:endParaRPr lang="en-US" sz="1800" dirty="0"/>
          </a:p>
          <a:p>
            <a:pPr marL="342900" indent="-342900">
              <a:spcAft>
                <a:spcPts val="1200"/>
              </a:spcAft>
              <a:buSzPct val="100000"/>
              <a:buChar char="•"/>
            </a:pPr>
            <a:r>
              <a:rPr lang="en-US" sz="1800" dirty="0">
                <a:solidFill>
                  <a:srgbClr val="1B2333"/>
                </a:solidFill>
                <a:latin typeface="Calibri" pitchFamily="34" charset="0"/>
                <a:ea typeface="Calibri" pitchFamily="34" charset="-122"/>
                <a:cs typeface="Calibri" pitchFamily="34" charset="-120"/>
              </a:rPr>
              <a:t>No memory graph code</a:t>
            </a:r>
            <a:endParaRPr lang="en-US" sz="1800" dirty="0"/>
          </a:p>
        </p:txBody>
      </p:sp>
      <p:sp>
        <p:nvSpPr>
          <p:cNvPr id="6" name="Shape 4"/>
          <p:cNvSpPr/>
          <p:nvPr/>
        </p:nvSpPr>
        <p:spPr>
          <a:xfrm>
            <a:off x="4846320" y="1463040"/>
            <a:ext cx="2185416" cy="3017520"/>
          </a:xfrm>
          <a:prstGeom prst="rect">
            <a:avLst/>
          </a:prstGeom>
          <a:solidFill>
            <a:srgbClr val="F2F4F8"/>
          </a:solidFill>
          <a:ln/>
        </p:spPr>
      </p:sp>
      <p:sp>
        <p:nvSpPr>
          <p:cNvPr id="7" name="Text 5"/>
          <p:cNvSpPr txBox="1"/>
          <p:nvPr/>
        </p:nvSpPr>
        <p:spPr>
          <a:xfrm>
            <a:off x="4983480" y="1554480"/>
            <a:ext cx="1911096" cy="365760"/>
          </a:xfrm>
          <a:prstGeom prst="rect">
            <a:avLst/>
          </a:prstGeom>
          <a:noFill/>
          <a:ln/>
        </p:spPr>
        <p:txBody>
          <a:bodyPr wrap="square" lIns="0" tIns="0" rIns="0" bIns="0" rtlCol="0" anchor="t"/>
          <a:lstStyle/>
          <a:p>
            <a:pPr indent="0" marL="0">
              <a:buNone/>
            </a:pPr>
            <a:r>
              <a:rPr lang="en-US" sz="1900" b="1" dirty="0">
                <a:solidFill>
                  <a:srgbClr val="1F3B73"/>
                </a:solidFill>
                <a:latin typeface="Calibri" pitchFamily="34" charset="0"/>
                <a:ea typeface="Calibri" pitchFamily="34" charset="-122"/>
                <a:cs typeface="Calibri" pitchFamily="34" charset="-120"/>
              </a:rPr>
              <a:t>Dion</a:t>
            </a:r>
            <a:endParaRPr lang="en-US" sz="1900" dirty="0"/>
          </a:p>
        </p:txBody>
      </p:sp>
      <p:sp>
        <p:nvSpPr>
          <p:cNvPr id="8" name="Text 6"/>
          <p:cNvSpPr txBox="1"/>
          <p:nvPr/>
        </p:nvSpPr>
        <p:spPr>
          <a:xfrm>
            <a:off x="4983480" y="1938528"/>
            <a:ext cx="1911096" cy="914400"/>
          </a:xfrm>
          <a:prstGeom prst="rect">
            <a:avLst/>
          </a:prstGeom>
          <a:noFill/>
          <a:ln/>
        </p:spPr>
        <p:txBody>
          <a:bodyPr wrap="square" lIns="0" tIns="0" rIns="0" bIns="0" rtlCol="0" anchor="t"/>
          <a:lstStyle/>
          <a:p>
            <a:pPr indent="0" marL="0">
              <a:buNone/>
            </a:pPr>
            <a:r>
              <a:rPr lang="en-US" sz="1450" dirty="0">
                <a:solidFill>
                  <a:srgbClr val="1B2333"/>
                </a:solidFill>
                <a:latin typeface="Calibri" pitchFamily="34" charset="0"/>
                <a:ea typeface="Calibri" pitchFamily="34" charset="-122"/>
                <a:cs typeface="Calibri" pitchFamily="34" charset="-120"/>
              </a:rPr>
              <a:t>Glasses, cross-camera matching, arm and grasp, test bench and CI</a:t>
            </a:r>
            <a:endParaRPr lang="en-US" sz="1450" dirty="0"/>
          </a:p>
        </p:txBody>
      </p:sp>
      <p:sp>
        <p:nvSpPr>
          <p:cNvPr id="9" name="Text 7"/>
          <p:cNvSpPr txBox="1"/>
          <p:nvPr/>
        </p:nvSpPr>
        <p:spPr>
          <a:xfrm>
            <a:off x="4983480" y="2926080"/>
            <a:ext cx="1911096" cy="731520"/>
          </a:xfrm>
          <a:prstGeom prst="rect">
            <a:avLst/>
          </a:prstGeom>
          <a:noFill/>
          <a:ln/>
        </p:spPr>
        <p:txBody>
          <a:bodyPr wrap="square" lIns="0" tIns="0" rIns="0" bIns="0" rtlCol="0" anchor="t"/>
          <a:lstStyle/>
          <a:p>
            <a:pPr indent="0" marL="0">
              <a:buNone/>
            </a:pPr>
            <a:r>
              <a:rPr lang="en-US" sz="1200" b="1" dirty="0">
                <a:solidFill>
                  <a:srgbClr val="5B6577"/>
                </a:solidFill>
                <a:latin typeface="Calibri" pitchFamily="34" charset="0"/>
                <a:ea typeface="Calibri" pitchFamily="34" charset="-122"/>
                <a:cs typeface="Calibri" pitchFamily="34" charset="-120"/>
              </a:rPr>
              <a:t>Builds on</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Aria SDK, SAM 3, AnyGrasp, MoveIt 2</a:t>
            </a:r>
            <a:endParaRPr lang="en-US" sz="1800" dirty="0"/>
          </a:p>
        </p:txBody>
      </p:sp>
      <p:sp>
        <p:nvSpPr>
          <p:cNvPr id="10" name="Text 8"/>
          <p:cNvSpPr txBox="1"/>
          <p:nvPr/>
        </p:nvSpPr>
        <p:spPr>
          <a:xfrm>
            <a:off x="4983480" y="3730752"/>
            <a:ext cx="1911096" cy="640080"/>
          </a:xfrm>
          <a:prstGeom prst="rect">
            <a:avLst/>
          </a:prstGeom>
          <a:noFill/>
          <a:ln/>
        </p:spPr>
        <p:txBody>
          <a:bodyPr wrap="square" lIns="0" tIns="0" rIns="0" bIns="0" rtlCol="0" anchor="t"/>
          <a:lstStyle/>
          <a:p>
            <a:pPr indent="0" marL="0">
              <a:buNone/>
            </a:pPr>
            <a:r>
              <a:rPr lang="en-US" sz="1200" b="1" dirty="0">
                <a:solidFill>
                  <a:srgbClr val="5B6577"/>
                </a:solidFill>
                <a:latin typeface="Calibri" pitchFamily="34" charset="0"/>
                <a:ea typeface="Calibri" pitchFamily="34" charset="-122"/>
                <a:cs typeface="Calibri" pitchFamily="34" charset="-120"/>
              </a:rPr>
              <a:t>Leads</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M1, M2, M4, M7, M8</a:t>
            </a:r>
            <a:endParaRPr lang="en-US" sz="1800" dirty="0"/>
          </a:p>
        </p:txBody>
      </p:sp>
      <p:sp>
        <p:nvSpPr>
          <p:cNvPr id="11" name="Shape 9"/>
          <p:cNvSpPr/>
          <p:nvPr/>
        </p:nvSpPr>
        <p:spPr>
          <a:xfrm>
            <a:off x="7150608" y="1463040"/>
            <a:ext cx="2185416" cy="3017520"/>
          </a:xfrm>
          <a:prstGeom prst="rect">
            <a:avLst/>
          </a:prstGeom>
          <a:solidFill>
            <a:srgbClr val="F2F4F8"/>
          </a:solidFill>
          <a:ln/>
        </p:spPr>
      </p:sp>
      <p:sp>
        <p:nvSpPr>
          <p:cNvPr id="12" name="Text 10"/>
          <p:cNvSpPr txBox="1"/>
          <p:nvPr/>
        </p:nvSpPr>
        <p:spPr>
          <a:xfrm>
            <a:off x="7287768" y="1554480"/>
            <a:ext cx="1911096" cy="365760"/>
          </a:xfrm>
          <a:prstGeom prst="rect">
            <a:avLst/>
          </a:prstGeom>
          <a:noFill/>
          <a:ln/>
        </p:spPr>
        <p:txBody>
          <a:bodyPr wrap="square" lIns="0" tIns="0" rIns="0" bIns="0" rtlCol="0" anchor="t"/>
          <a:lstStyle/>
          <a:p>
            <a:pPr indent="0" marL="0">
              <a:buNone/>
            </a:pPr>
            <a:r>
              <a:rPr lang="en-US" sz="1900" b="1" dirty="0">
                <a:solidFill>
                  <a:srgbClr val="1F3B73"/>
                </a:solidFill>
                <a:latin typeface="Calibri" pitchFamily="34" charset="0"/>
                <a:ea typeface="Calibri" pitchFamily="34" charset="-122"/>
                <a:cs typeface="Calibri" pitchFamily="34" charset="-120"/>
              </a:rPr>
              <a:t>Sherman</a:t>
            </a:r>
            <a:endParaRPr lang="en-US" sz="1900" dirty="0"/>
          </a:p>
        </p:txBody>
      </p:sp>
      <p:sp>
        <p:nvSpPr>
          <p:cNvPr id="13" name="Text 11"/>
          <p:cNvSpPr txBox="1"/>
          <p:nvPr/>
        </p:nvSpPr>
        <p:spPr>
          <a:xfrm>
            <a:off x="7287768" y="1938528"/>
            <a:ext cx="1911096" cy="914400"/>
          </a:xfrm>
          <a:prstGeom prst="rect">
            <a:avLst/>
          </a:prstGeom>
          <a:noFill/>
          <a:ln/>
        </p:spPr>
        <p:txBody>
          <a:bodyPr wrap="square" lIns="0" tIns="0" rIns="0" bIns="0" rtlCol="0" anchor="t"/>
          <a:lstStyle/>
          <a:p>
            <a:pPr indent="0" marL="0">
              <a:buNone/>
            </a:pPr>
            <a:r>
              <a:rPr lang="en-US" sz="1450" dirty="0">
                <a:solidFill>
                  <a:srgbClr val="1B2333"/>
                </a:solidFill>
                <a:latin typeface="Calibri" pitchFamily="34" charset="0"/>
                <a:ea typeface="Calibri" pitchFamily="34" charset="-122"/>
                <a:cs typeface="Calibri" pitchFamily="34" charset="-120"/>
              </a:rPr>
              <a:t>Mobile base, LiDAR, camera mount, mapping and localisation</a:t>
            </a:r>
            <a:endParaRPr lang="en-US" sz="1450" dirty="0"/>
          </a:p>
        </p:txBody>
      </p:sp>
      <p:sp>
        <p:nvSpPr>
          <p:cNvPr id="14" name="Text 12"/>
          <p:cNvSpPr txBox="1"/>
          <p:nvPr/>
        </p:nvSpPr>
        <p:spPr>
          <a:xfrm>
            <a:off x="7287768" y="2926080"/>
            <a:ext cx="1911096" cy="731520"/>
          </a:xfrm>
          <a:prstGeom prst="rect">
            <a:avLst/>
          </a:prstGeom>
          <a:noFill/>
          <a:ln/>
        </p:spPr>
        <p:txBody>
          <a:bodyPr wrap="square" lIns="0" tIns="0" rIns="0" bIns="0" rtlCol="0" anchor="t"/>
          <a:lstStyle/>
          <a:p>
            <a:pPr indent="0" marL="0">
              <a:buNone/>
            </a:pPr>
            <a:r>
              <a:rPr lang="en-US" sz="1200" b="1" dirty="0">
                <a:solidFill>
                  <a:srgbClr val="5B6577"/>
                </a:solidFill>
                <a:latin typeface="Calibri" pitchFamily="34" charset="0"/>
                <a:ea typeface="Calibri" pitchFamily="34" charset="-122"/>
                <a:cs typeface="Calibri" pitchFamily="34" charset="-120"/>
              </a:rPr>
              <a:t>Builds on</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FAST-LIVO2, Nav2, SLAM Toolbox</a:t>
            </a:r>
            <a:endParaRPr lang="en-US" sz="1800" dirty="0"/>
          </a:p>
        </p:txBody>
      </p:sp>
      <p:sp>
        <p:nvSpPr>
          <p:cNvPr id="15" name="Text 13"/>
          <p:cNvSpPr txBox="1"/>
          <p:nvPr/>
        </p:nvSpPr>
        <p:spPr>
          <a:xfrm>
            <a:off x="7287768" y="3730752"/>
            <a:ext cx="1911096" cy="640080"/>
          </a:xfrm>
          <a:prstGeom prst="rect">
            <a:avLst/>
          </a:prstGeom>
          <a:noFill/>
          <a:ln/>
        </p:spPr>
        <p:txBody>
          <a:bodyPr wrap="square" lIns="0" tIns="0" rIns="0" bIns="0" rtlCol="0" anchor="t"/>
          <a:lstStyle/>
          <a:p>
            <a:pPr indent="0" marL="0">
              <a:buNone/>
            </a:pPr>
            <a:r>
              <a:rPr lang="en-US" sz="1200" b="1" dirty="0">
                <a:solidFill>
                  <a:srgbClr val="5B6577"/>
                </a:solidFill>
                <a:latin typeface="Calibri" pitchFamily="34" charset="0"/>
                <a:ea typeface="Calibri" pitchFamily="34" charset="-122"/>
                <a:cs typeface="Calibri" pitchFamily="34" charset="-120"/>
              </a:rPr>
              <a:t>Leads</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M3, M5 (mount)</a:t>
            </a:r>
            <a:endParaRPr lang="en-US" sz="1800" dirty="0"/>
          </a:p>
        </p:txBody>
      </p:sp>
      <p:sp>
        <p:nvSpPr>
          <p:cNvPr id="16" name="Shape 14"/>
          <p:cNvSpPr/>
          <p:nvPr/>
        </p:nvSpPr>
        <p:spPr>
          <a:xfrm>
            <a:off x="9454896" y="1463040"/>
            <a:ext cx="2185416" cy="3017520"/>
          </a:xfrm>
          <a:prstGeom prst="rect">
            <a:avLst/>
          </a:prstGeom>
          <a:solidFill>
            <a:srgbClr val="F2F4F8"/>
          </a:solidFill>
          <a:ln/>
        </p:spPr>
      </p:sp>
      <p:sp>
        <p:nvSpPr>
          <p:cNvPr id="17" name="Text 15"/>
          <p:cNvSpPr txBox="1"/>
          <p:nvPr/>
        </p:nvSpPr>
        <p:spPr>
          <a:xfrm>
            <a:off x="9592056" y="1554480"/>
            <a:ext cx="1911096" cy="365760"/>
          </a:xfrm>
          <a:prstGeom prst="rect">
            <a:avLst/>
          </a:prstGeom>
          <a:noFill/>
          <a:ln/>
        </p:spPr>
        <p:txBody>
          <a:bodyPr wrap="square" lIns="0" tIns="0" rIns="0" bIns="0" rtlCol="0" anchor="t"/>
          <a:lstStyle/>
          <a:p>
            <a:pPr indent="0" marL="0">
              <a:buNone/>
            </a:pPr>
            <a:r>
              <a:rPr lang="en-US" sz="1900" b="1" dirty="0">
                <a:solidFill>
                  <a:srgbClr val="1F3B73"/>
                </a:solidFill>
                <a:latin typeface="Calibri" pitchFamily="34" charset="0"/>
                <a:ea typeface="Calibri" pitchFamily="34" charset="-122"/>
                <a:cs typeface="Calibri" pitchFamily="34" charset="-120"/>
              </a:rPr>
              <a:t>Zongzhe</a:t>
            </a:r>
            <a:endParaRPr lang="en-US" sz="1900" dirty="0"/>
          </a:p>
        </p:txBody>
      </p:sp>
      <p:sp>
        <p:nvSpPr>
          <p:cNvPr id="18" name="Text 16"/>
          <p:cNvSpPr txBox="1"/>
          <p:nvPr/>
        </p:nvSpPr>
        <p:spPr>
          <a:xfrm>
            <a:off x="9592056" y="1938528"/>
            <a:ext cx="1911096" cy="914400"/>
          </a:xfrm>
          <a:prstGeom prst="rect">
            <a:avLst/>
          </a:prstGeom>
          <a:noFill/>
          <a:ln/>
        </p:spPr>
        <p:txBody>
          <a:bodyPr wrap="square" lIns="0" tIns="0" rIns="0" bIns="0" rtlCol="0" anchor="t"/>
          <a:lstStyle/>
          <a:p>
            <a:pPr indent="0" marL="0">
              <a:buNone/>
            </a:pPr>
            <a:r>
              <a:rPr lang="en-US" sz="1450" dirty="0">
                <a:solidFill>
                  <a:srgbClr val="1B2333"/>
                </a:solidFill>
                <a:latin typeface="Calibri" pitchFamily="34" charset="0"/>
                <a:ea typeface="Calibri" pitchFamily="34" charset="-122"/>
                <a:cs typeface="Calibri" pitchFamily="34" charset="-120"/>
              </a:rPr>
              <a:t>Memory graph, sentence reasoning, navigation goal nodes</a:t>
            </a:r>
            <a:endParaRPr lang="en-US" sz="1450" dirty="0"/>
          </a:p>
        </p:txBody>
      </p:sp>
      <p:sp>
        <p:nvSpPr>
          <p:cNvPr id="19" name="Text 17"/>
          <p:cNvSpPr txBox="1"/>
          <p:nvPr/>
        </p:nvSpPr>
        <p:spPr>
          <a:xfrm>
            <a:off x="9592056" y="2926080"/>
            <a:ext cx="1911096" cy="731520"/>
          </a:xfrm>
          <a:prstGeom prst="rect">
            <a:avLst/>
          </a:prstGeom>
          <a:noFill/>
          <a:ln/>
        </p:spPr>
        <p:txBody>
          <a:bodyPr wrap="square" lIns="0" tIns="0" rIns="0" bIns="0" rtlCol="0" anchor="t"/>
          <a:lstStyle/>
          <a:p>
            <a:pPr indent="0" marL="0">
              <a:buNone/>
            </a:pPr>
            <a:r>
              <a:rPr lang="en-US" sz="1200" b="1" dirty="0">
                <a:solidFill>
                  <a:srgbClr val="5B6577"/>
                </a:solidFill>
                <a:latin typeface="Calibri" pitchFamily="34" charset="0"/>
                <a:ea typeface="Calibri" pitchFamily="34" charset="-122"/>
                <a:cs typeface="Calibri" pitchFamily="34" charset="-120"/>
              </a:rPr>
              <a:t>Builds on</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HiCo-Nav method, open_clip, Qwen2.5</a:t>
            </a:r>
            <a:endParaRPr lang="en-US" sz="1800" dirty="0"/>
          </a:p>
        </p:txBody>
      </p:sp>
      <p:sp>
        <p:nvSpPr>
          <p:cNvPr id="20" name="Text 18"/>
          <p:cNvSpPr txBox="1"/>
          <p:nvPr/>
        </p:nvSpPr>
        <p:spPr>
          <a:xfrm>
            <a:off x="9592056" y="3730752"/>
            <a:ext cx="1911096" cy="640080"/>
          </a:xfrm>
          <a:prstGeom prst="rect">
            <a:avLst/>
          </a:prstGeom>
          <a:noFill/>
          <a:ln/>
        </p:spPr>
        <p:txBody>
          <a:bodyPr wrap="square" lIns="0" tIns="0" rIns="0" bIns="0" rtlCol="0" anchor="t"/>
          <a:lstStyle/>
          <a:p>
            <a:pPr indent="0" marL="0">
              <a:buNone/>
            </a:pPr>
            <a:r>
              <a:rPr lang="en-US" sz="1200" b="1" dirty="0">
                <a:solidFill>
                  <a:srgbClr val="5B6577"/>
                </a:solidFill>
                <a:latin typeface="Calibri" pitchFamily="34" charset="0"/>
                <a:ea typeface="Calibri" pitchFamily="34" charset="-122"/>
                <a:cs typeface="Calibri" pitchFamily="34" charset="-120"/>
              </a:rPr>
              <a:t>Leads</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M0, M6, M9</a:t>
            </a:r>
            <a:endParaRPr lang="en-US" sz="1800" dirty="0"/>
          </a:p>
        </p:txBody>
      </p:sp>
      <p:sp>
        <p:nvSpPr>
          <p:cNvPr id="21" name="Shape 19"/>
          <p:cNvSpPr/>
          <p:nvPr/>
        </p:nvSpPr>
        <p:spPr>
          <a:xfrm>
            <a:off x="4846320" y="4590288"/>
            <a:ext cx="6793992" cy="749808"/>
          </a:xfrm>
          <a:prstGeom prst="rect">
            <a:avLst/>
          </a:prstGeom>
          <a:solidFill>
            <a:srgbClr val="1F3B73"/>
          </a:solidFill>
          <a:ln/>
        </p:spPr>
      </p:sp>
      <p:sp>
        <p:nvSpPr>
          <p:cNvPr id="22" name="Text 20"/>
          <p:cNvSpPr txBox="1"/>
          <p:nvPr/>
        </p:nvSpPr>
        <p:spPr>
          <a:xfrm>
            <a:off x="5010912" y="4590288"/>
            <a:ext cx="6464808" cy="7498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Shared base: </a:t>
            </a:r>
            <a:pPr indent="0" marL="0">
              <a:buNone/>
            </a:pPr>
            <a:r>
              <a:rPr lang="en-US" sz="1450" dirty="0">
                <a:solidFill>
                  <a:srgbClr val="FFFFFF"/>
                </a:solidFill>
                <a:latin typeface="Calibri" pitchFamily="34" charset="0"/>
                <a:ea typeface="Calibri" pitchFamily="34" charset="-122"/>
                <a:cs typeface="Calibri" pitchFamily="34" charset="-120"/>
              </a:rPr>
              <a:t>channel contract naming the owner of every topic and frame + 7-level test bench (L0 static checks to L6 real robot) + CI on every PR, plus a GPU runner on the lab machine</a:t>
            </a:r>
            <a:endParaRPr lang="en-US" sz="1450" dirty="0"/>
          </a:p>
        </p:txBody>
      </p:sp>
      <p:sp>
        <p:nvSpPr>
          <p:cNvPr id="23" name="Text 21"/>
          <p:cNvSpPr txBox="1"/>
          <p:nvPr/>
        </p:nvSpPr>
        <p:spPr>
          <a:xfrm>
            <a:off x="4846320" y="5486400"/>
            <a:ext cx="3246120" cy="777240"/>
          </a:xfrm>
          <a:prstGeom prst="rect">
            <a:avLst/>
          </a:prstGeom>
          <a:noFill/>
          <a:ln/>
        </p:spPr>
        <p:txBody>
          <a:bodyPr wrap="square" lIns="0" tIns="0" rIns="0" bIns="0" rtlCol="0" anchor="t"/>
          <a:lstStyle/>
          <a:p>
            <a:pPr indent="0" marL="0">
              <a:buNone/>
            </a:pPr>
            <a:r>
              <a:rPr lang="en-US" sz="1450" b="1" dirty="0">
                <a:solidFill>
                  <a:srgbClr val="1B2333"/>
                </a:solidFill>
                <a:latin typeface="Calibri" pitchFamily="34" charset="0"/>
                <a:ea typeface="Calibri" pitchFamily="34" charset="-122"/>
                <a:cs typeface="Calibri" pitchFamily="34" charset="-120"/>
              </a:rPr>
              <a:t>Baseline first, then replace: </a:t>
            </a:r>
            <a:pPr indent="0" marL="0">
              <a:buNone/>
            </a:pPr>
            <a:r>
              <a:rPr lang="en-US" sz="1450" dirty="0">
                <a:solidFill>
                  <a:srgbClr val="1B2333"/>
                </a:solidFill>
                <a:latin typeface="Calibri" pitchFamily="34" charset="0"/>
                <a:ea typeface="Calibri" pitchFamily="34" charset="-122"/>
                <a:cs typeface="Calibri" pitchFamily="34" charset="-120"/>
              </a:rPr>
              <a:t>keypoint matching measured before CLIP replaced it</a:t>
            </a:r>
            <a:endParaRPr lang="en-US" sz="1450" dirty="0"/>
          </a:p>
        </p:txBody>
      </p:sp>
      <p:sp>
        <p:nvSpPr>
          <p:cNvPr id="24" name="Text 22"/>
          <p:cNvSpPr txBox="1"/>
          <p:nvPr/>
        </p:nvSpPr>
        <p:spPr>
          <a:xfrm>
            <a:off x="8321040" y="5486400"/>
            <a:ext cx="3291840" cy="777240"/>
          </a:xfrm>
          <a:prstGeom prst="rect">
            <a:avLst/>
          </a:prstGeom>
          <a:noFill/>
          <a:ln/>
        </p:spPr>
        <p:txBody>
          <a:bodyPr wrap="square" lIns="0" tIns="0" rIns="0" bIns="0" rtlCol="0" anchor="t"/>
          <a:lstStyle/>
          <a:p>
            <a:pPr indent="0" marL="0">
              <a:buNone/>
            </a:pPr>
            <a:r>
              <a:rPr lang="en-US" sz="1450" b="1" dirty="0">
                <a:solidFill>
                  <a:srgbClr val="1B2333"/>
                </a:solidFill>
                <a:latin typeface="Calibri" pitchFamily="34" charset="0"/>
                <a:ea typeface="Calibri" pitchFamily="34" charset="-122"/>
                <a:cs typeface="Calibri" pitchFamily="34" charset="-120"/>
              </a:rPr>
              <a:t>Hardware one step at a time: </a:t>
            </a:r>
            <a:pPr indent="0" marL="0">
              <a:buNone/>
            </a:pPr>
            <a:r>
              <a:rPr lang="en-US" sz="1450" dirty="0">
                <a:solidFill>
                  <a:srgbClr val="1B2333"/>
                </a:solidFill>
                <a:latin typeface="Calibri" pitchFamily="34" charset="0"/>
                <a:ea typeface="Calibri" pitchFamily="34" charset="-122"/>
                <a:cs typeface="Calibri" pitchFamily="34" charset="-120"/>
              </a:rPr>
              <a:t>written pass rule, saved log, two people present</a:t>
            </a:r>
            <a:endParaRPr lang="en-US" sz="1450" dirty="0"/>
          </a:p>
        </p:txBody>
      </p:sp>
      <p:sp>
        <p:nvSpPr>
          <p:cNvPr id="25" name="Text 23"/>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Sherman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1F3B73"/>
          </a:solidFill>
          <a:ln w="9525">
            <a:solidFill>
              <a:srgbClr val="1F3B73"/>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F2F4F8"/>
          </a:solidFill>
          <a:ln w="9525">
            <a:solidFill>
              <a:srgbClr val="CDD3DD"/>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Speech gives the word, gaze picks the object</a:t>
            </a:r>
            <a:endParaRPr lang="en-US" sz="2400" dirty="0"/>
          </a:p>
        </p:txBody>
      </p:sp>
      <p:sp>
        <p:nvSpPr>
          <p:cNvPr id="13" name="Shape 11"/>
          <p:cNvSpPr/>
          <p:nvPr/>
        </p:nvSpPr>
        <p:spPr>
          <a:xfrm>
            <a:off x="457200" y="1371600"/>
            <a:ext cx="2651760" cy="1371600"/>
          </a:xfrm>
          <a:prstGeom prst="rect">
            <a:avLst/>
          </a:prstGeom>
          <a:solidFill>
            <a:srgbClr val="F2F4F8"/>
          </a:solidFill>
          <a:ln/>
        </p:spPr>
      </p:sp>
      <p:sp>
        <p:nvSpPr>
          <p:cNvPr id="14" name="Text 12"/>
          <p:cNvSpPr txBox="1"/>
          <p:nvPr/>
        </p:nvSpPr>
        <p:spPr>
          <a:xfrm>
            <a:off x="566928" y="1444752"/>
            <a:ext cx="2432304" cy="292608"/>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1  </a:t>
            </a:r>
            <a:pPr indent="0" marL="0">
              <a:buNone/>
            </a:pPr>
            <a:r>
              <a:rPr lang="en-US" sz="1600" b="1" dirty="0">
                <a:solidFill>
                  <a:srgbClr val="1B2333"/>
                </a:solidFill>
                <a:latin typeface="Calibri" pitchFamily="34" charset="0"/>
                <a:ea typeface="Calibri" pitchFamily="34" charset="-122"/>
                <a:cs typeface="Calibri" pitchFamily="34" charset="-120"/>
              </a:rPr>
              <a:t>Voice</a:t>
            </a:r>
            <a:endParaRPr lang="en-US" sz="1600" dirty="0"/>
          </a:p>
        </p:txBody>
      </p:sp>
      <p:sp>
        <p:nvSpPr>
          <p:cNvPr id="15" name="Text 13"/>
          <p:cNvSpPr txBox="1"/>
          <p:nvPr/>
        </p:nvSpPr>
        <p:spPr>
          <a:xfrm>
            <a:off x="566928" y="1755648"/>
            <a:ext cx="2432304" cy="932688"/>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Speech detector, Whisper, small language model returns one object word ("box"). One message per sentence, down from 31</a:t>
            </a:r>
            <a:endParaRPr lang="en-US" sz="1300" dirty="0"/>
          </a:p>
        </p:txBody>
      </p:sp>
      <p:sp>
        <p:nvSpPr>
          <p:cNvPr id="16" name="Shape 14"/>
          <p:cNvSpPr/>
          <p:nvPr/>
        </p:nvSpPr>
        <p:spPr>
          <a:xfrm>
            <a:off x="3127248" y="2057400"/>
            <a:ext cx="185623" cy="0"/>
          </a:xfrm>
          <a:prstGeom prst="line">
            <a:avLst/>
          </a:prstGeom>
          <a:noFill/>
          <a:ln w="19050">
            <a:solidFill>
              <a:srgbClr val="1B2333"/>
            </a:solidFill>
            <a:prstDash val="solid"/>
            <a:tailEnd type="triangle"/>
          </a:ln>
        </p:spPr>
      </p:sp>
      <p:sp>
        <p:nvSpPr>
          <p:cNvPr id="17" name="Shape 15"/>
          <p:cNvSpPr/>
          <p:nvPr/>
        </p:nvSpPr>
        <p:spPr>
          <a:xfrm>
            <a:off x="3331159" y="1371600"/>
            <a:ext cx="2651760" cy="1371600"/>
          </a:xfrm>
          <a:prstGeom prst="rect">
            <a:avLst/>
          </a:prstGeom>
          <a:solidFill>
            <a:srgbClr val="F2F4F8"/>
          </a:solidFill>
          <a:ln/>
        </p:spPr>
      </p:sp>
      <p:sp>
        <p:nvSpPr>
          <p:cNvPr id="18" name="Text 16"/>
          <p:cNvSpPr txBox="1"/>
          <p:nvPr/>
        </p:nvSpPr>
        <p:spPr>
          <a:xfrm>
            <a:off x="3440887" y="1444752"/>
            <a:ext cx="2432304" cy="292608"/>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2  </a:t>
            </a:r>
            <a:pPr indent="0" marL="0">
              <a:buNone/>
            </a:pPr>
            <a:r>
              <a:rPr lang="en-US" sz="1600" b="1" dirty="0">
                <a:solidFill>
                  <a:srgbClr val="1B2333"/>
                </a:solidFill>
                <a:latin typeface="Calibri" pitchFamily="34" charset="0"/>
                <a:ea typeface="Calibri" pitchFamily="34" charset="-122"/>
                <a:cs typeface="Calibri" pitchFamily="34" charset="-120"/>
              </a:rPr>
              <a:t>Pick the moment</a:t>
            </a:r>
            <a:endParaRPr lang="en-US" sz="1600" dirty="0"/>
          </a:p>
        </p:txBody>
      </p:sp>
      <p:sp>
        <p:nvSpPr>
          <p:cNvPr id="19" name="Text 17"/>
          <p:cNvSpPr txBox="1"/>
          <p:nvPr/>
        </p:nvSpPr>
        <p:spPr>
          <a:xfrm>
            <a:off x="3440887" y="1755648"/>
            <a:ext cx="2432304" cy="932688"/>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The glasses frame from when you spoke (gaze window of 1.0 s)</a:t>
            </a:r>
            <a:endParaRPr lang="en-US" sz="1300" dirty="0"/>
          </a:p>
        </p:txBody>
      </p:sp>
      <p:sp>
        <p:nvSpPr>
          <p:cNvPr id="20" name="Shape 18"/>
          <p:cNvSpPr/>
          <p:nvPr/>
        </p:nvSpPr>
        <p:spPr>
          <a:xfrm>
            <a:off x="6001207" y="2057400"/>
            <a:ext cx="185623" cy="0"/>
          </a:xfrm>
          <a:prstGeom prst="line">
            <a:avLst/>
          </a:prstGeom>
          <a:noFill/>
          <a:ln w="19050">
            <a:solidFill>
              <a:srgbClr val="1B2333"/>
            </a:solidFill>
            <a:prstDash val="solid"/>
            <a:tailEnd type="triangle"/>
          </a:ln>
        </p:spPr>
      </p:sp>
      <p:sp>
        <p:nvSpPr>
          <p:cNvPr id="21" name="Shape 19"/>
          <p:cNvSpPr/>
          <p:nvPr/>
        </p:nvSpPr>
        <p:spPr>
          <a:xfrm>
            <a:off x="6205118" y="1371600"/>
            <a:ext cx="2651760" cy="1371600"/>
          </a:xfrm>
          <a:prstGeom prst="rect">
            <a:avLst/>
          </a:prstGeom>
          <a:solidFill>
            <a:srgbClr val="F2F4F8"/>
          </a:solidFill>
          <a:ln/>
        </p:spPr>
      </p:sp>
      <p:sp>
        <p:nvSpPr>
          <p:cNvPr id="22" name="Text 20"/>
          <p:cNvSpPr txBox="1"/>
          <p:nvPr/>
        </p:nvSpPr>
        <p:spPr>
          <a:xfrm>
            <a:off x="6314846" y="1444752"/>
            <a:ext cx="2432304" cy="292608"/>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3  </a:t>
            </a:r>
            <a:pPr indent="0" marL="0">
              <a:buNone/>
            </a:pPr>
            <a:r>
              <a:rPr lang="en-US" sz="1600" b="1" dirty="0">
                <a:solidFill>
                  <a:srgbClr val="1B2333"/>
                </a:solidFill>
                <a:latin typeface="Calibri" pitchFamily="34" charset="0"/>
                <a:ea typeface="Calibri" pitchFamily="34" charset="-122"/>
                <a:cs typeface="Calibri" pitchFamily="34" charset="-120"/>
              </a:rPr>
              <a:t>Segment</a:t>
            </a:r>
            <a:endParaRPr lang="en-US" sz="1600" dirty="0"/>
          </a:p>
        </p:txBody>
      </p:sp>
      <p:sp>
        <p:nvSpPr>
          <p:cNvPr id="23" name="Text 21"/>
          <p:cNvSpPr txBox="1"/>
          <p:nvPr/>
        </p:nvSpPr>
        <p:spPr>
          <a:xfrm>
            <a:off x="6314846" y="1755648"/>
            <a:ext cx="2432304" cy="932688"/>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SAM 3 finds every "box" in that frame</a:t>
            </a:r>
            <a:endParaRPr lang="en-US" sz="1300" dirty="0"/>
          </a:p>
        </p:txBody>
      </p:sp>
      <p:sp>
        <p:nvSpPr>
          <p:cNvPr id="24" name="Shape 22"/>
          <p:cNvSpPr/>
          <p:nvPr/>
        </p:nvSpPr>
        <p:spPr>
          <a:xfrm>
            <a:off x="8875166" y="2057400"/>
            <a:ext cx="185623" cy="0"/>
          </a:xfrm>
          <a:prstGeom prst="line">
            <a:avLst/>
          </a:prstGeom>
          <a:noFill/>
          <a:ln w="19050">
            <a:solidFill>
              <a:srgbClr val="1B2333"/>
            </a:solidFill>
            <a:prstDash val="solid"/>
            <a:tailEnd type="triangle"/>
          </a:ln>
        </p:spPr>
      </p:sp>
      <p:sp>
        <p:nvSpPr>
          <p:cNvPr id="25" name="Shape 23"/>
          <p:cNvSpPr/>
          <p:nvPr/>
        </p:nvSpPr>
        <p:spPr>
          <a:xfrm>
            <a:off x="9079078" y="1371600"/>
            <a:ext cx="2651760" cy="1371600"/>
          </a:xfrm>
          <a:prstGeom prst="rect">
            <a:avLst/>
          </a:prstGeom>
          <a:solidFill>
            <a:srgbClr val="E6ECF6"/>
          </a:solidFill>
          <a:ln/>
        </p:spPr>
      </p:sp>
      <p:sp>
        <p:nvSpPr>
          <p:cNvPr id="26" name="Text 24"/>
          <p:cNvSpPr txBox="1"/>
          <p:nvPr/>
        </p:nvSpPr>
        <p:spPr>
          <a:xfrm>
            <a:off x="9188806" y="1444752"/>
            <a:ext cx="2432304" cy="292608"/>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4  </a:t>
            </a:r>
            <a:pPr indent="0" marL="0">
              <a:buNone/>
            </a:pPr>
            <a:r>
              <a:rPr lang="en-US" sz="1600" b="1" dirty="0">
                <a:solidFill>
                  <a:srgbClr val="1B2333"/>
                </a:solidFill>
                <a:latin typeface="Calibri" pitchFamily="34" charset="0"/>
                <a:ea typeface="Calibri" pitchFamily="34" charset="-122"/>
                <a:cs typeface="Calibri" pitchFamily="34" charset="-120"/>
              </a:rPr>
              <a:t>Gaze vote</a:t>
            </a:r>
            <a:endParaRPr lang="en-US" sz="1600" dirty="0"/>
          </a:p>
        </p:txBody>
      </p:sp>
      <p:sp>
        <p:nvSpPr>
          <p:cNvPr id="27" name="Text 25"/>
          <p:cNvSpPr txBox="1"/>
          <p:nvPr/>
        </p:nvSpPr>
        <p:spPr>
          <a:xfrm>
            <a:off x="9188806" y="1755648"/>
            <a:ext cx="2432304" cy="932688"/>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Each gaze sample votes for the mask under it. Winner needs half the votes. Crop its box plus 20 px: the reference crop goes to the robot</a:t>
            </a:r>
            <a:endParaRPr lang="en-US" sz="1300" dirty="0"/>
          </a:p>
        </p:txBody>
      </p:sp>
      <p:pic>
        <p:nvPicPr>
          <p:cNvPr id="28" name="Image 0" descr="Glasses frame at 1 m, gaze on the box">    </p:cNvPr>
          <p:cNvPicPr>
            <a:picLocks noChangeAspect="1"/>
          </p:cNvPicPr>
          <p:nvPr/>
        </p:nvPicPr>
        <p:blipFill>
          <a:blip r:embed="rId1"/>
          <a:stretch>
            <a:fillRect/>
          </a:stretch>
        </p:blipFill>
        <p:spPr>
          <a:xfrm>
            <a:off x="457200" y="2880360"/>
            <a:ext cx="2834640" cy="2592927"/>
          </a:xfrm>
          <a:prstGeom prst="rect">
            <a:avLst/>
          </a:prstGeom>
        </p:spPr>
      </p:pic>
      <p:pic>
        <p:nvPicPr>
          <p:cNvPr id="29" name="Image 1" descr="Glasses frame at 1.5 m, gaze on the mats">    </p:cNvPr>
          <p:cNvPicPr>
            <a:picLocks noChangeAspect="1"/>
          </p:cNvPicPr>
          <p:nvPr/>
        </p:nvPicPr>
        <p:blipFill>
          <a:blip r:embed="rId2"/>
          <a:stretch>
            <a:fillRect/>
          </a:stretch>
        </p:blipFill>
        <p:spPr>
          <a:xfrm>
            <a:off x="3429000" y="2880360"/>
            <a:ext cx="2834640" cy="2592927"/>
          </a:xfrm>
          <a:prstGeom prst="rect">
            <a:avLst/>
          </a:prstGeom>
        </p:spPr>
      </p:pic>
      <p:sp>
        <p:nvSpPr>
          <p:cNvPr id="30" name="Shape 26"/>
          <p:cNvSpPr/>
          <p:nvPr/>
        </p:nvSpPr>
        <p:spPr>
          <a:xfrm>
            <a:off x="3429000" y="2880360"/>
            <a:ext cx="2834640" cy="2592927"/>
          </a:xfrm>
          <a:prstGeom prst="rect">
            <a:avLst/>
          </a:prstGeom>
          <a:ln w="25400">
            <a:solidFill>
              <a:srgbClr val="B3392F"/>
            </a:solidFill>
            <a:prstDash val="solid"/>
          </a:ln>
        </p:spPr>
      </p:sp>
      <p:sp>
        <p:nvSpPr>
          <p:cNvPr id="31" name="Text 27"/>
          <p:cNvSpPr txBox="1"/>
          <p:nvPr/>
        </p:nvSpPr>
        <p:spPr>
          <a:xfrm>
            <a:off x="457200" y="5528151"/>
            <a:ext cx="2834640" cy="274320"/>
          </a:xfrm>
          <a:prstGeom prst="rect">
            <a:avLst/>
          </a:prstGeom>
          <a:noFill/>
          <a:ln/>
        </p:spPr>
        <p:txBody>
          <a:bodyPr wrap="square" lIns="0" tIns="0" rIns="0" bIns="0" rtlCol="0" anchor="t"/>
          <a:lstStyle/>
          <a:p>
            <a:pPr indent="0" marL="0">
              <a:buNone/>
            </a:pPr>
            <a:r>
              <a:rPr lang="en-US" sz="1300" b="1" dirty="0">
                <a:solidFill>
                  <a:srgbClr val="1F5C39"/>
                </a:solidFill>
                <a:latin typeface="Calibri" pitchFamily="34" charset="0"/>
                <a:ea typeface="Calibri" pitchFamily="34" charset="-122"/>
                <a:cs typeface="Calibri" pitchFamily="34" charset="-120"/>
              </a:rPr>
              <a:t>1.0 m: </a:t>
            </a:r>
            <a:pPr indent="0" marL="0">
              <a:buNone/>
            </a:pPr>
            <a:r>
              <a:rPr lang="en-US" sz="1300" dirty="0">
                <a:solidFill>
                  <a:srgbClr val="1F5C39"/>
                </a:solidFill>
                <a:latin typeface="Calibri" pitchFamily="34" charset="0"/>
                <a:ea typeface="Calibri" pitchFamily="34" charset="-122"/>
                <a:cs typeface="Calibri" pitchFamily="34" charset="-120"/>
              </a:rPr>
              <a:t>gaze on the box, box picked</a:t>
            </a:r>
            <a:endParaRPr lang="en-US" sz="1300" dirty="0"/>
          </a:p>
        </p:txBody>
      </p:sp>
      <p:sp>
        <p:nvSpPr>
          <p:cNvPr id="32" name="Text 28"/>
          <p:cNvSpPr txBox="1"/>
          <p:nvPr/>
        </p:nvSpPr>
        <p:spPr>
          <a:xfrm>
            <a:off x="3429000" y="5528151"/>
            <a:ext cx="2834640" cy="274320"/>
          </a:xfrm>
          <a:prstGeom prst="rect">
            <a:avLst/>
          </a:prstGeom>
          <a:noFill/>
          <a:ln/>
        </p:spPr>
        <p:txBody>
          <a:bodyPr wrap="square" lIns="0" tIns="0" rIns="0" bIns="0" rtlCol="0" anchor="t"/>
          <a:lstStyle/>
          <a:p>
            <a:pPr indent="0" marL="0">
              <a:buNone/>
            </a:pPr>
            <a:r>
              <a:rPr lang="en-US" sz="1300" b="1" dirty="0">
                <a:solidFill>
                  <a:srgbClr val="B3392F"/>
                </a:solidFill>
                <a:latin typeface="Calibri" pitchFamily="34" charset="0"/>
                <a:ea typeface="Calibri" pitchFamily="34" charset="-122"/>
                <a:cs typeface="Calibri" pitchFamily="34" charset="-120"/>
              </a:rPr>
              <a:t>1.5 m: </a:t>
            </a:r>
            <a:pPr indent="0" marL="0">
              <a:buNone/>
            </a:pPr>
            <a:r>
              <a:rPr lang="en-US" sz="1300" dirty="0">
                <a:solidFill>
                  <a:srgbClr val="B3392F"/>
                </a:solidFill>
                <a:latin typeface="Calibri" pitchFamily="34" charset="0"/>
                <a:ea typeface="Calibri" pitchFamily="34" charset="-122"/>
                <a:cs typeface="Calibri" pitchFamily="34" charset="-120"/>
              </a:rPr>
              <a:t>gaze landed on the mats</a:t>
            </a:r>
            <a:endParaRPr lang="en-US" sz="1300" dirty="0"/>
          </a:p>
        </p:txBody>
      </p:sp>
      <p:sp>
        <p:nvSpPr>
          <p:cNvPr id="33" name="Shape 29"/>
          <p:cNvSpPr/>
          <p:nvPr/>
        </p:nvSpPr>
        <p:spPr>
          <a:xfrm>
            <a:off x="4526280" y="4906359"/>
            <a:ext cx="1645920" cy="438912"/>
          </a:xfrm>
          <a:prstGeom prst="rect">
            <a:avLst/>
          </a:prstGeom>
          <a:solidFill>
            <a:srgbClr val="FFFFFF"/>
          </a:solidFill>
          <a:ln w="12700">
            <a:solidFill>
              <a:srgbClr val="B3392F"/>
            </a:solidFill>
            <a:prstDash val="solid"/>
          </a:ln>
        </p:spPr>
      </p:sp>
      <p:sp>
        <p:nvSpPr>
          <p:cNvPr id="34" name="Text 30"/>
          <p:cNvSpPr txBox="1"/>
          <p:nvPr/>
        </p:nvSpPr>
        <p:spPr>
          <a:xfrm>
            <a:off x="4526280" y="4906359"/>
            <a:ext cx="1645920" cy="438912"/>
          </a:xfrm>
          <a:prstGeom prst="rect">
            <a:avLst/>
          </a:prstGeom>
          <a:noFill/>
          <a:ln/>
        </p:spPr>
        <p:txBody>
          <a:bodyPr wrap="square" lIns="0" tIns="0" rIns="0" bIns="0" rtlCol="0" anchor="ctr"/>
          <a:lstStyle/>
          <a:p>
            <a:pPr algn="ctr" indent="0" marL="0">
              <a:buNone/>
            </a:pPr>
            <a:r>
              <a:rPr lang="en-US" sz="1200" b="1" dirty="0">
                <a:solidFill>
                  <a:srgbClr val="B3392F"/>
                </a:solidFill>
                <a:latin typeface="Calibri" pitchFamily="34" charset="0"/>
                <a:ea typeface="Calibri" pitchFamily="34" charset="-122"/>
                <a:cs typeface="Calibri" pitchFamily="34" charset="-120"/>
              </a:rPr>
              <a:t>gaze landed on the mats</a:t>
            </a:r>
            <a:endParaRPr lang="en-US" sz="1200" dirty="0"/>
          </a:p>
        </p:txBody>
      </p:sp>
      <p:sp>
        <p:nvSpPr>
          <p:cNvPr id="35" name="Shape 31"/>
          <p:cNvSpPr/>
          <p:nvPr/>
        </p:nvSpPr>
        <p:spPr>
          <a:xfrm flipH="1" flipV="1">
            <a:off x="5022799" y="4223791"/>
            <a:ext cx="326441" cy="682568"/>
          </a:xfrm>
          <a:prstGeom prst="line">
            <a:avLst/>
          </a:prstGeom>
          <a:noFill/>
          <a:ln w="19050">
            <a:solidFill>
              <a:srgbClr val="B3392F"/>
            </a:solidFill>
            <a:prstDash val="solid"/>
            <a:tailEnd type="triangle"/>
          </a:ln>
        </p:spPr>
      </p:sp>
      <p:sp>
        <p:nvSpPr>
          <p:cNvPr id="36" name="Text 32"/>
          <p:cNvSpPr txBox="1"/>
          <p:nvPr/>
        </p:nvSpPr>
        <p:spPr>
          <a:xfrm>
            <a:off x="457200" y="5802471"/>
            <a:ext cx="580644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Blue ring: gaze. Box outline: masks SAM 3 found. Frames from aria_gaze_pick_vs_distance_2026-10-20.jpg</a:t>
            </a:r>
            <a:endParaRPr lang="en-US" sz="1000" dirty="0"/>
          </a:p>
        </p:txBody>
      </p:sp>
      <p:sp>
        <p:nvSpPr>
          <p:cNvPr id="37" name="Text 33"/>
          <p:cNvSpPr txBox="1"/>
          <p:nvPr/>
        </p:nvSpPr>
        <p:spPr>
          <a:xfrm>
            <a:off x="6629400" y="2880360"/>
            <a:ext cx="2459736" cy="1417320"/>
          </a:xfrm>
          <a:prstGeom prst="rect">
            <a:avLst/>
          </a:prstGeom>
          <a:noFill/>
          <a:ln/>
        </p:spPr>
        <p:txBody>
          <a:bodyPr wrap="square" lIns="0" tIns="0" rIns="0" bIns="0" rtlCol="0" anchor="t"/>
          <a:lstStyle/>
          <a:p>
            <a:pPr indent="0" marL="0">
              <a:buNone/>
            </a:pPr>
            <a:r>
              <a:rPr lang="en-US" sz="4000" b="1" dirty="0">
                <a:solidFill>
                  <a:srgbClr val="1F3B73"/>
                </a:solidFill>
                <a:latin typeface="Calibri" pitchFamily="34" charset="0"/>
                <a:ea typeface="Calibri" pitchFamily="34" charset="-122"/>
                <a:cs typeface="Calibri" pitchFamily="34" charset="-120"/>
              </a:rPr>
              <a:t>60 of 61</a:t>
            </a:r>
            <a:endParaRPr lang="en-US" sz="1800" dirty="0"/>
          </a:p>
          <a:p>
            <a:pPr indent="0" marL="0">
              <a:buNone/>
            </a:pPr>
            <a:r>
              <a:rPr lang="en-US" sz="1700" b="1" dirty="0">
                <a:solidFill>
                  <a:srgbClr val="1B2333"/>
                </a:solidFill>
                <a:latin typeface="Calibri" pitchFamily="34" charset="0"/>
                <a:ea typeface="Calibri" pitchFamily="34" charset="-122"/>
                <a:cs typeface="Calibri" pitchFamily="34" charset="-120"/>
              </a:rPr>
              <a:t>frames, right box</a:t>
            </a:r>
            <a:endParaRPr lang="en-US" sz="1800" dirty="0"/>
          </a:p>
          <a:p>
            <a:pPr indent="0" marL="0">
              <a:buNone/>
            </a:pPr>
            <a:r>
              <a:rPr lang="en-US" sz="1400" dirty="0">
                <a:solidFill>
                  <a:srgbClr val="5B6577"/>
                </a:solidFill>
                <a:latin typeface="Calibri" pitchFamily="34" charset="0"/>
                <a:ea typeface="Calibri" pitchFamily="34" charset="-122"/>
                <a:cs typeface="Calibri" pitchFamily="34" charset="-120"/>
              </a:rPr>
              <a:t>recording, 1.4 to 2.4 m, steady stare</a:t>
            </a:r>
            <a:endParaRPr lang="en-US" sz="1800" dirty="0"/>
          </a:p>
        </p:txBody>
      </p:sp>
      <p:sp>
        <p:nvSpPr>
          <p:cNvPr id="38" name="Text 34"/>
          <p:cNvSpPr txBox="1"/>
          <p:nvPr/>
        </p:nvSpPr>
        <p:spPr>
          <a:xfrm>
            <a:off x="9272016" y="2880360"/>
            <a:ext cx="2459736" cy="1417320"/>
          </a:xfrm>
          <a:prstGeom prst="rect">
            <a:avLst/>
          </a:prstGeom>
          <a:noFill/>
          <a:ln/>
        </p:spPr>
        <p:txBody>
          <a:bodyPr wrap="square" lIns="0" tIns="0" rIns="0" bIns="0" rtlCol="0" anchor="t"/>
          <a:lstStyle/>
          <a:p>
            <a:pPr indent="0" marL="0">
              <a:buNone/>
            </a:pPr>
            <a:r>
              <a:rPr lang="en-US" sz="4000" b="1" dirty="0">
                <a:solidFill>
                  <a:srgbClr val="1F3B73"/>
                </a:solidFill>
                <a:latin typeface="Calibri" pitchFamily="34" charset="0"/>
                <a:ea typeface="Calibri" pitchFamily="34" charset="-122"/>
                <a:cs typeface="Calibri" pitchFamily="34" charset="-120"/>
              </a:rPr>
              <a:t>4 of 4</a:t>
            </a:r>
            <a:endParaRPr lang="en-US" sz="1800" dirty="0"/>
          </a:p>
          <a:p>
            <a:pPr indent="0" marL="0">
              <a:buNone/>
            </a:pPr>
            <a:r>
              <a:rPr lang="en-US" sz="1700" b="1" dirty="0">
                <a:solidFill>
                  <a:srgbClr val="1B2333"/>
                </a:solidFill>
                <a:latin typeface="Calibri" pitchFamily="34" charset="0"/>
                <a:ea typeface="Calibri" pitchFamily="34" charset="-122"/>
                <a:cs typeface="Calibri" pitchFamily="34" charset="-120"/>
              </a:rPr>
              <a:t>spoken words produced a reference crop</a:t>
            </a:r>
            <a:endParaRPr lang="en-US" sz="1800" dirty="0"/>
          </a:p>
          <a:p>
            <a:pPr indent="0" marL="0">
              <a:buNone/>
            </a:pPr>
            <a:r>
              <a:rPr lang="en-US" sz="1400" dirty="0">
                <a:solidFill>
                  <a:srgbClr val="5B6577"/>
                </a:solidFill>
                <a:latin typeface="Calibri" pitchFamily="34" charset="0"/>
                <a:ea typeface="Calibri" pitchFamily="34" charset="-122"/>
                <a:cs typeface="Calibri" pitchFamily="34" charset="-120"/>
              </a:rPr>
              <a:t>full chain on replay</a:t>
            </a:r>
            <a:endParaRPr lang="en-US" sz="1800" dirty="0"/>
          </a:p>
        </p:txBody>
      </p:sp>
      <p:sp>
        <p:nvSpPr>
          <p:cNvPr id="39" name="Text 35"/>
          <p:cNvSpPr txBox="1"/>
          <p:nvPr/>
        </p:nvSpPr>
        <p:spPr>
          <a:xfrm>
            <a:off x="6629400" y="4343400"/>
            <a:ext cx="5102352" cy="292608"/>
          </a:xfrm>
          <a:prstGeom prst="rect">
            <a:avLst/>
          </a:prstGeom>
          <a:noFill/>
          <a:ln/>
        </p:spPr>
        <p:txBody>
          <a:bodyPr wrap="square" lIns="0" tIns="0" rIns="0" bIns="0" rtlCol="0" anchor="t"/>
          <a:lstStyle/>
          <a:p>
            <a:pPr indent="0" marL="0">
              <a:buNone/>
            </a:pPr>
            <a:r>
              <a:rPr lang="en-US" sz="1500" dirty="0">
                <a:solidFill>
                  <a:srgbClr val="1B2333"/>
                </a:solidFill>
                <a:latin typeface="Calibri" pitchFamily="34" charset="0"/>
                <a:ea typeface="Calibri" pitchFamily="34" charset="-122"/>
                <a:cs typeface="Calibri" pitchFamily="34" charset="-120"/>
              </a:rPr>
              <a:t>Word ready about 1.1 s after speech ends</a:t>
            </a:r>
            <a:endParaRPr lang="en-US" sz="1500" dirty="0"/>
          </a:p>
        </p:txBody>
      </p:sp>
      <p:sp>
        <p:nvSpPr>
          <p:cNvPr id="40" name="Shape 36"/>
          <p:cNvSpPr/>
          <p:nvPr/>
        </p:nvSpPr>
        <p:spPr>
          <a:xfrm>
            <a:off x="6629400" y="4727448"/>
            <a:ext cx="5102352" cy="868680"/>
          </a:xfrm>
          <a:prstGeom prst="rect">
            <a:avLst/>
          </a:prstGeom>
          <a:solidFill>
            <a:srgbClr val="FDF4E3"/>
          </a:solidFill>
          <a:ln w="12700">
            <a:solidFill>
              <a:srgbClr val="B7791F"/>
            </a:solidFill>
            <a:prstDash val="solid"/>
          </a:ln>
        </p:spPr>
      </p:sp>
      <p:sp>
        <p:nvSpPr>
          <p:cNvPr id="41" name="Text 37"/>
          <p:cNvSpPr txBox="1"/>
          <p:nvPr/>
        </p:nvSpPr>
        <p:spPr>
          <a:xfrm>
            <a:off x="6766560" y="4727448"/>
            <a:ext cx="4828032" cy="868680"/>
          </a:xfrm>
          <a:prstGeom prst="rect">
            <a:avLst/>
          </a:prstGeom>
          <a:noFill/>
          <a:ln/>
        </p:spPr>
        <p:txBody>
          <a:bodyPr wrap="square" lIns="0" tIns="0" rIns="0" bIns="0" rtlCol="0" anchor="ctr"/>
          <a:lstStyle/>
          <a:p>
            <a:pPr indent="0" marL="0">
              <a:buNone/>
            </a:pPr>
            <a:r>
              <a:rPr lang="en-US" sz="1450" b="1" dirty="0">
                <a:solidFill>
                  <a:srgbClr val="7A4E0B"/>
                </a:solidFill>
                <a:latin typeface="Calibri" pitchFamily="34" charset="0"/>
                <a:ea typeface="Calibri" pitchFamily="34" charset="-122"/>
                <a:cs typeface="Calibri" pitchFamily="34" charset="-120"/>
              </a:rPr>
              <a:t>Limit: </a:t>
            </a:r>
            <a:pPr indent="0" marL="0">
              <a:buNone/>
            </a:pPr>
            <a:r>
              <a:rPr lang="en-US" sz="1450" dirty="0">
                <a:solidFill>
                  <a:srgbClr val="1B2333"/>
                </a:solidFill>
                <a:latin typeface="Calibri" pitchFamily="34" charset="0"/>
                <a:ea typeface="Calibri" pitchFamily="34" charset="-122"/>
                <a:cs typeface="Calibri" pitchFamily="34" charset="-120"/>
              </a:rPr>
              <a:t>gaze is off by about 5.6 degrees (60 px at 1.4 m), about 15 cm at 1.5 m. At 1.5 m it landed on a stack of mats</a:t>
            </a:r>
            <a:endParaRPr lang="en-US" sz="1450" dirty="0"/>
          </a:p>
        </p:txBody>
      </p:sp>
      <p:sp>
        <p:nvSpPr>
          <p:cNvPr id="42" name="Shape 38"/>
          <p:cNvSpPr/>
          <p:nvPr/>
        </p:nvSpPr>
        <p:spPr>
          <a:xfrm>
            <a:off x="6629400" y="5788152"/>
            <a:ext cx="1188720" cy="310896"/>
          </a:xfrm>
          <a:prstGeom prst="rect">
            <a:avLst/>
          </a:prstGeom>
          <a:solidFill>
            <a:srgbClr val="E3F1E8"/>
          </a:solidFill>
          <a:ln w="12700">
            <a:solidFill>
              <a:srgbClr val="2E7D4F"/>
            </a:solidFill>
            <a:prstDash val="solid"/>
          </a:ln>
        </p:spPr>
      </p:sp>
      <p:sp>
        <p:nvSpPr>
          <p:cNvPr id="43" name="Text 39"/>
          <p:cNvSpPr txBox="1"/>
          <p:nvPr/>
        </p:nvSpPr>
        <p:spPr>
          <a:xfrm>
            <a:off x="6702552" y="5788152"/>
            <a:ext cx="1042416" cy="310896"/>
          </a:xfrm>
          <a:prstGeom prst="rect">
            <a:avLst/>
          </a:prstGeom>
          <a:noFill/>
          <a:ln/>
        </p:spPr>
        <p:txBody>
          <a:bodyPr wrap="square" lIns="0" tIns="0" rIns="0" bIns="0" rtlCol="0" anchor="ctr"/>
          <a:lstStyle/>
          <a:p>
            <a:pPr indent="0" marL="0">
              <a:buNone/>
            </a:pPr>
            <a:r>
              <a:rPr lang="en-US" sz="1200" b="1" dirty="0">
                <a:solidFill>
                  <a:srgbClr val="1F5C39"/>
                </a:solidFill>
                <a:latin typeface="Calibri" pitchFamily="34" charset="0"/>
                <a:ea typeface="Calibri" pitchFamily="34" charset="-122"/>
                <a:cs typeface="Calibri" pitchFamily="34" charset="-120"/>
              </a:rPr>
              <a:t>Tested</a:t>
            </a:r>
            <a:endParaRPr lang="en-US" sz="1200" dirty="0"/>
          </a:p>
        </p:txBody>
      </p:sp>
      <p:sp>
        <p:nvSpPr>
          <p:cNvPr id="44" name="Text 40"/>
          <p:cNvSpPr txBox="1"/>
          <p:nvPr/>
        </p:nvSpPr>
        <p:spPr>
          <a:xfrm>
            <a:off x="7909560" y="5715000"/>
            <a:ext cx="3822192" cy="457200"/>
          </a:xfrm>
          <a:prstGeom prst="rect">
            <a:avLst/>
          </a:prstGeom>
          <a:noFill/>
          <a:ln/>
        </p:spPr>
        <p:txBody>
          <a:bodyPr wrap="square" lIns="0" tIns="0" rIns="0" bIns="0" rtlCol="0" anchor="ctr"/>
          <a:lstStyle/>
          <a:p>
            <a:pPr indent="0" marL="0">
              <a:buNone/>
            </a:pPr>
            <a:r>
              <a:rPr lang="en-US" sz="1300" dirty="0">
                <a:solidFill>
                  <a:srgbClr val="5B6577"/>
                </a:solidFill>
                <a:latin typeface="Calibri" pitchFamily="34" charset="0"/>
                <a:ea typeface="Calibri" pitchFamily="34" charset="-122"/>
                <a:cs typeface="Calibri" pitchFamily="34" charset="-120"/>
              </a:rPr>
              <a:t>on recordings and replay. Live glasses stream still throttled on the lab machine</a:t>
            </a:r>
            <a:endParaRPr lang="en-US" sz="1300" dirty="0"/>
          </a:p>
        </p:txBody>
      </p:sp>
      <p:sp>
        <p:nvSpPr>
          <p:cNvPr id="45" name="Text 41"/>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Dion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1F3B73"/>
          </a:solidFill>
          <a:ln w="9525">
            <a:solidFill>
              <a:srgbClr val="1F3B73"/>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The base builds a coloured 3D map that closes within 12 mm over a 26 m loop</a:t>
            </a:r>
            <a:endParaRPr lang="en-US" sz="2400" dirty="0"/>
          </a:p>
        </p:txBody>
      </p:sp>
      <p:sp>
        <p:nvSpPr>
          <p:cNvPr id="13" name="Shape 11"/>
          <p:cNvSpPr/>
          <p:nvPr/>
        </p:nvSpPr>
        <p:spPr>
          <a:xfrm>
            <a:off x="457200" y="1444752"/>
            <a:ext cx="4663440" cy="2971800"/>
          </a:xfrm>
          <a:prstGeom prst="rect">
            <a:avLst/>
          </a:prstGeom>
          <a:solidFill>
            <a:srgbClr val="F7F8FA"/>
          </a:solidFill>
          <a:ln w="15875">
            <a:solidFill>
              <a:srgbClr val="9AA3B2"/>
            </a:solidFill>
            <a:prstDash val="dash"/>
          </a:ln>
        </p:spPr>
      </p:sp>
      <p:sp>
        <p:nvSpPr>
          <p:cNvPr id="14" name="Text 12"/>
          <p:cNvSpPr txBox="1"/>
          <p:nvPr/>
        </p:nvSpPr>
        <p:spPr>
          <a:xfrm>
            <a:off x="594360" y="1536192"/>
            <a:ext cx="4389120" cy="2788920"/>
          </a:xfrm>
          <a:prstGeom prst="rect">
            <a:avLst/>
          </a:prstGeom>
          <a:noFill/>
          <a:ln/>
        </p:spPr>
        <p:txBody>
          <a:bodyPr wrap="square" lIns="0" tIns="0" rIns="0" bIns="0" rtlCol="0" anchor="ctr"/>
          <a:lstStyle/>
          <a:p>
            <a:pPr algn="ctr" indent="0" marL="0">
              <a:buNone/>
            </a:pPr>
            <a:r>
              <a:rPr lang="en-US" sz="1400" b="1" dirty="0">
                <a:solidFill>
                  <a:srgbClr val="5B6577"/>
                </a:solidFill>
                <a:latin typeface="Calibri" pitchFamily="34" charset="0"/>
                <a:ea typeface="Calibri" pitchFamily="34" charset="-122"/>
                <a:cs typeface="Calibri" pitchFamily="34" charset="-120"/>
              </a:rPr>
              <a:t>[INSERT MAP BUILD-UP ANIMATION]</a:t>
            </a:r>
            <a:endParaRPr lang="en-US" sz="1800" dirty="0"/>
          </a:p>
          <a:p>
            <a:pPr algn="ctr" indent="0" marL="0">
              <a:buNone/>
            </a:pPr>
            <a:r>
              <a:rPr lang="en-US" sz="1050" dirty="0">
                <a:solidFill>
                  <a:srgbClr val="8A93A3"/>
                </a:solidFill>
                <a:latin typeface="Calibri" pitchFamily="34" charset="0"/>
                <a:ea typeface="Calibri" pitchFamily="34" charset="-122"/>
                <a:cs typeface="Calibri" pitchFamily="34" charset="-120"/>
              </a:rPr>
              <a:t>nav_fastlivo_map_buildup_clean_handdriven1_2026-10-24.gif (10 s, about 12x). Alt: ..._map_orbit_clean_... .gif. Still fallback: ..._map_iso_clean_... .png. Orange line = path, green dot = start, white square = end</a:t>
            </a:r>
            <a:endParaRPr lang="en-US" sz="1800" dirty="0"/>
          </a:p>
          <a:p>
            <a:pPr algn="ctr" indent="0" marL="0">
              <a:buNone/>
            </a:pPr>
            <a:r>
              <a:rPr lang="en-US" sz="1050" dirty="0">
                <a:solidFill>
                  <a:srgbClr val="8A93A3"/>
                </a:solidFill>
                <a:latin typeface="Calibri" pitchFamily="34" charset="0"/>
                <a:ea typeface="Calibri" pitchFamily="34" charset="-122"/>
                <a:cs typeface="Calibri" pitchFamily="34" charset="-120"/>
              </a:rPr>
              <a:t>Owner: Sherman</a:t>
            </a:r>
            <a:endParaRPr lang="en-US" sz="1800" dirty="0"/>
          </a:p>
        </p:txBody>
      </p:sp>
      <p:sp>
        <p:nvSpPr>
          <p:cNvPr id="15" name="Shape 13"/>
          <p:cNvSpPr/>
          <p:nvPr/>
        </p:nvSpPr>
        <p:spPr>
          <a:xfrm>
            <a:off x="5257800" y="1444752"/>
            <a:ext cx="1737360" cy="1737360"/>
          </a:xfrm>
          <a:prstGeom prst="rect">
            <a:avLst/>
          </a:prstGeom>
          <a:solidFill>
            <a:srgbClr val="F7F8FA"/>
          </a:solidFill>
          <a:ln w="15875">
            <a:solidFill>
              <a:srgbClr val="9AA3B2"/>
            </a:solidFill>
            <a:prstDash val="dash"/>
          </a:ln>
        </p:spPr>
      </p:sp>
      <p:sp>
        <p:nvSpPr>
          <p:cNvPr id="16" name="Text 14"/>
          <p:cNvSpPr txBox="1"/>
          <p:nvPr/>
        </p:nvSpPr>
        <p:spPr>
          <a:xfrm>
            <a:off x="5394960" y="1536192"/>
            <a:ext cx="1463040" cy="1554480"/>
          </a:xfrm>
          <a:prstGeom prst="rect">
            <a:avLst/>
          </a:prstGeom>
          <a:noFill/>
          <a:ln/>
        </p:spPr>
        <p:txBody>
          <a:bodyPr wrap="square" lIns="0" tIns="0" rIns="0" bIns="0" rtlCol="0" anchor="ctr"/>
          <a:lstStyle/>
          <a:p>
            <a:pPr algn="ctr" indent="0" marL="0">
              <a:buNone/>
            </a:pPr>
            <a:r>
              <a:rPr lang="en-US" sz="1100" b="1" dirty="0">
                <a:solidFill>
                  <a:srgbClr val="5B6577"/>
                </a:solidFill>
                <a:latin typeface="Calibri" pitchFamily="34" charset="0"/>
                <a:ea typeface="Calibri" pitchFamily="34" charset="-122"/>
                <a:cs typeface="Calibri" pitchFamily="34" charset="-120"/>
              </a:rPr>
              <a:t>[INSERT CLOSURE ZOOM]</a:t>
            </a:r>
            <a:endParaRPr lang="en-US" sz="1800" dirty="0"/>
          </a:p>
          <a:p>
            <a:pPr algn="ctr" indent="0" marL="0">
              <a:buNone/>
            </a:pPr>
            <a:r>
              <a:rPr lang="en-US" sz="900" dirty="0">
                <a:solidFill>
                  <a:srgbClr val="8A93A3"/>
                </a:solidFill>
                <a:latin typeface="Calibri" pitchFamily="34" charset="0"/>
                <a:ea typeface="Calibri" pitchFamily="34" charset="-122"/>
                <a:cs typeface="Calibri" pitchFamily="34" charset="-120"/>
              </a:rPr>
              <a:t>nav_fastlivo_path_closure_zoom_clean_handdriven1_2026-10-24.png</a:t>
            </a:r>
            <a:endParaRPr lang="en-US" sz="1800" dirty="0"/>
          </a:p>
          <a:p>
            <a:pPr algn="ctr" indent="0" marL="0">
              <a:buNone/>
            </a:pPr>
            <a:r>
              <a:rPr lang="en-US" sz="900" dirty="0">
                <a:solidFill>
                  <a:srgbClr val="8A93A3"/>
                </a:solidFill>
                <a:latin typeface="Calibri" pitchFamily="34" charset="0"/>
                <a:ea typeface="Calibri" pitchFamily="34" charset="-122"/>
                <a:cs typeface="Calibri" pitchFamily="34" charset="-120"/>
              </a:rPr>
              <a:t>Owner: Sherman</a:t>
            </a:r>
            <a:endParaRPr lang="en-US" sz="1800" dirty="0"/>
          </a:p>
        </p:txBody>
      </p:sp>
      <p:sp>
        <p:nvSpPr>
          <p:cNvPr id="17" name="Text 15"/>
          <p:cNvSpPr txBox="1"/>
          <p:nvPr/>
        </p:nvSpPr>
        <p:spPr>
          <a:xfrm>
            <a:off x="5257800" y="3218688"/>
            <a:ext cx="1737360" cy="45720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10 cm zoom, bar = 2 cm, start to end 12 mm</a:t>
            </a:r>
            <a:endParaRPr lang="en-US" sz="1100" dirty="0"/>
          </a:p>
        </p:txBody>
      </p:sp>
      <p:sp>
        <p:nvSpPr>
          <p:cNvPr id="18" name="Text 16"/>
          <p:cNvSpPr txBox="1"/>
          <p:nvPr/>
        </p:nvSpPr>
        <p:spPr>
          <a:xfrm>
            <a:off x="457200" y="4526280"/>
            <a:ext cx="3246120" cy="1051560"/>
          </a:xfrm>
          <a:prstGeom prst="rect">
            <a:avLst/>
          </a:prstGeom>
          <a:noFill/>
          <a:ln/>
        </p:spPr>
        <p:txBody>
          <a:bodyPr wrap="square" lIns="0" tIns="0" rIns="0" bIns="0" rtlCol="0" anchor="t"/>
          <a:lstStyle/>
          <a:p>
            <a:pPr indent="0" marL="0">
              <a:buNone/>
            </a:pPr>
            <a:r>
              <a:rPr lang="en-US" sz="1250" b="1" dirty="0">
                <a:solidFill>
                  <a:srgbClr val="1B2333"/>
                </a:solidFill>
                <a:latin typeface="Calibri" pitchFamily="34" charset="0"/>
                <a:ea typeface="Calibri" pitchFamily="34" charset="-122"/>
                <a:cs typeface="Calibri" pitchFamily="34" charset="-120"/>
              </a:rPr>
              <a:t>What it is: </a:t>
            </a:r>
            <a:pPr indent="0" marL="0">
              <a:buNone/>
            </a:pPr>
            <a:r>
              <a:rPr lang="en-US" sz="1250" dirty="0">
                <a:solidFill>
                  <a:srgbClr val="1B2333"/>
                </a:solidFill>
                <a:latin typeface="Calibri" pitchFamily="34" charset="0"/>
                <a:ea typeface="Calibri" pitchFamily="34" charset="-122"/>
                <a:cs typeface="Calibri" pitchFamily="34" charset="-120"/>
              </a:rPr>
              <a:t>FAST-LIVO2 fuses the Livox MID-360 LiDAR, its IMU and the base D455 colour camera into a pose and a coloured map. The HiCo-Nav paper uses it for its camera poses, with the same LiDAR</a:t>
            </a:r>
            <a:endParaRPr lang="en-US" sz="1250" dirty="0"/>
          </a:p>
        </p:txBody>
      </p:sp>
      <p:sp>
        <p:nvSpPr>
          <p:cNvPr id="19" name="Text 17"/>
          <p:cNvSpPr txBox="1"/>
          <p:nvPr/>
        </p:nvSpPr>
        <p:spPr>
          <a:xfrm>
            <a:off x="3840480" y="4526280"/>
            <a:ext cx="3154680" cy="1051560"/>
          </a:xfrm>
          <a:prstGeom prst="rect">
            <a:avLst/>
          </a:prstGeom>
          <a:noFill/>
          <a:ln/>
        </p:spPr>
        <p:txBody>
          <a:bodyPr wrap="square" lIns="0" tIns="0" rIns="0" bIns="0" rtlCol="0" anchor="t"/>
          <a:lstStyle/>
          <a:p>
            <a:pPr indent="0" marL="0">
              <a:buNone/>
            </a:pPr>
            <a:r>
              <a:rPr lang="en-US" sz="1250" b="1" dirty="0">
                <a:solidFill>
                  <a:srgbClr val="1B2333"/>
                </a:solidFill>
                <a:latin typeface="Calibri" pitchFamily="34" charset="0"/>
                <a:ea typeface="Calibri" pitchFamily="34" charset="-122"/>
                <a:cs typeface="Calibri" pitchFamily="34" charset="-120"/>
              </a:rPr>
              <a:t>Why 3D, not 2D SLAM: </a:t>
            </a:r>
            <a:pPr indent="0" marL="0">
              <a:buNone/>
            </a:pPr>
            <a:r>
              <a:rPr lang="en-US" sz="1250" dirty="0">
                <a:solidFill>
                  <a:srgbClr val="1B2333"/>
                </a:solidFill>
                <a:latin typeface="Calibri" pitchFamily="34" charset="0"/>
                <a:ea typeface="Calibri" pitchFamily="34" charset="-122"/>
                <a:cs typeface="Calibri" pitchFamily="34" charset="-120"/>
              </a:rPr>
              <a:t>the memory graph places every object in 3D from the camera pose, so it also needs height, pitch and roll (1 degree of pitch moves an object 4 m away by about 7 cm). Nav2 still drives on a 2D grid, fed by this pose</a:t>
            </a:r>
            <a:endParaRPr lang="en-US" sz="1250" dirty="0"/>
          </a:p>
        </p:txBody>
      </p:sp>
      <p:sp>
        <p:nvSpPr>
          <p:cNvPr id="20" name="Shape 18"/>
          <p:cNvSpPr/>
          <p:nvPr/>
        </p:nvSpPr>
        <p:spPr>
          <a:xfrm>
            <a:off x="5257800" y="3721608"/>
            <a:ext cx="841248" cy="548640"/>
          </a:xfrm>
          <a:prstGeom prst="rect">
            <a:avLst/>
          </a:prstGeom>
          <a:solidFill>
            <a:srgbClr val="FFFFFF"/>
          </a:solidFill>
          <a:ln w="12700">
            <a:solidFill>
              <a:srgbClr val="8A93A3"/>
            </a:solidFill>
            <a:prstDash val="solid"/>
          </a:ln>
        </p:spPr>
      </p:sp>
      <p:sp>
        <p:nvSpPr>
          <p:cNvPr id="21" name="Text 19"/>
          <p:cNvSpPr txBox="1"/>
          <p:nvPr/>
        </p:nvSpPr>
        <p:spPr>
          <a:xfrm>
            <a:off x="5257800" y="3721608"/>
            <a:ext cx="841248" cy="548640"/>
          </a:xfrm>
          <a:prstGeom prst="rect">
            <a:avLst/>
          </a:prstGeom>
          <a:noFill/>
          <a:ln/>
        </p:spPr>
        <p:txBody>
          <a:bodyPr wrap="square" lIns="0" tIns="0" rIns="0" bIns="0" rtlCol="0" anchor="ctr"/>
          <a:lstStyle/>
          <a:p>
            <a:pPr algn="ctr" indent="0" marL="0">
              <a:buNone/>
            </a:pPr>
            <a:r>
              <a:rPr lang="en-US" sz="1000" b="1" dirty="0">
                <a:solidFill>
                  <a:srgbClr val="5B6577"/>
                </a:solidFill>
                <a:latin typeface="Calibri" pitchFamily="34" charset="0"/>
                <a:ea typeface="Calibri" pitchFamily="34" charset="-122"/>
                <a:cs typeface="Calibri" pitchFamily="34" charset="-120"/>
              </a:rPr>
              <a:t>2D</a:t>
            </a:r>
            <a:endParaRPr lang="en-US" sz="1000" dirty="0"/>
          </a:p>
          <a:p>
            <a:pPr algn="ctr" indent="0" marL="0">
              <a:buNone/>
            </a:pPr>
            <a:r>
              <a:rPr lang="en-US" sz="1000" dirty="0">
                <a:solidFill>
                  <a:srgbClr val="5B6577"/>
                </a:solidFill>
                <a:latin typeface="Calibri" pitchFamily="34" charset="0"/>
                <a:ea typeface="Calibri" pitchFamily="34" charset="-122"/>
                <a:cs typeface="Calibri" pitchFamily="34" charset="-120"/>
              </a:rPr>
              <a:t>x, y, heading</a:t>
            </a:r>
            <a:endParaRPr lang="en-US" sz="1000" dirty="0"/>
          </a:p>
        </p:txBody>
      </p:sp>
      <p:sp>
        <p:nvSpPr>
          <p:cNvPr id="22" name="Shape 20"/>
          <p:cNvSpPr/>
          <p:nvPr/>
        </p:nvSpPr>
        <p:spPr>
          <a:xfrm>
            <a:off x="6153912" y="3721608"/>
            <a:ext cx="841248" cy="548640"/>
          </a:xfrm>
          <a:prstGeom prst="rect">
            <a:avLst/>
          </a:prstGeom>
          <a:solidFill>
            <a:srgbClr val="E6ECF6"/>
          </a:solidFill>
          <a:ln w="12700">
            <a:solidFill>
              <a:srgbClr val="1F3B73"/>
            </a:solidFill>
            <a:prstDash val="solid"/>
          </a:ln>
        </p:spPr>
      </p:sp>
      <p:sp>
        <p:nvSpPr>
          <p:cNvPr id="23" name="Text 21"/>
          <p:cNvSpPr txBox="1"/>
          <p:nvPr/>
        </p:nvSpPr>
        <p:spPr>
          <a:xfrm>
            <a:off x="6153912" y="3721608"/>
            <a:ext cx="841248" cy="548640"/>
          </a:xfrm>
          <a:prstGeom prst="rect">
            <a:avLst/>
          </a:prstGeom>
          <a:noFill/>
          <a:ln/>
        </p:spPr>
        <p:txBody>
          <a:bodyPr wrap="square" lIns="0" tIns="0" rIns="0" bIns="0" rtlCol="0" anchor="ctr"/>
          <a:lstStyle/>
          <a:p>
            <a:pPr algn="ctr" indent="0" marL="0">
              <a:buNone/>
            </a:pPr>
            <a:r>
              <a:rPr lang="en-US" sz="1000" b="1" dirty="0">
                <a:solidFill>
                  <a:srgbClr val="1F3B73"/>
                </a:solidFill>
                <a:latin typeface="Calibri" pitchFamily="34" charset="0"/>
                <a:ea typeface="Calibri" pitchFamily="34" charset="-122"/>
                <a:cs typeface="Calibri" pitchFamily="34" charset="-120"/>
              </a:rPr>
              <a:t>3D</a:t>
            </a:r>
            <a:endParaRPr lang="en-US" sz="1000" dirty="0"/>
          </a:p>
          <a:p>
            <a:pPr algn="ctr" indent="0" marL="0">
              <a:buNone/>
            </a:pPr>
            <a:r>
              <a:rPr lang="en-US" sz="1000" dirty="0">
                <a:solidFill>
                  <a:srgbClr val="1F3B73"/>
                </a:solidFill>
                <a:latin typeface="Calibri" pitchFamily="34" charset="0"/>
                <a:ea typeface="Calibri" pitchFamily="34" charset="-122"/>
                <a:cs typeface="Calibri" pitchFamily="34" charset="-120"/>
              </a:rPr>
              <a:t>full pose</a:t>
            </a:r>
            <a:endParaRPr lang="en-US" sz="1000" dirty="0"/>
          </a:p>
        </p:txBody>
      </p:sp>
      <p:sp>
        <p:nvSpPr>
          <p:cNvPr id="24" name="Text 22"/>
          <p:cNvSpPr txBox="1"/>
          <p:nvPr/>
        </p:nvSpPr>
        <p:spPr>
          <a:xfrm>
            <a:off x="7315200" y="1444752"/>
            <a:ext cx="4416552" cy="256032"/>
          </a:xfrm>
          <a:prstGeom prst="rect">
            <a:avLst/>
          </a:prstGeom>
          <a:noFill/>
          <a:ln/>
        </p:spPr>
        <p:txBody>
          <a:bodyPr wrap="square" lIns="0" tIns="0" rIns="0" bIns="0" rtlCol="0" anchor="t"/>
          <a:lstStyle/>
          <a:p>
            <a:pPr indent="0" marL="0">
              <a:buNone/>
            </a:pPr>
            <a:r>
              <a:rPr lang="en-US" sz="1250" i="1" dirty="0">
                <a:solidFill>
                  <a:srgbClr val="5B6577"/>
                </a:solidFill>
                <a:latin typeface="Calibri" pitchFamily="34" charset="0"/>
                <a:ea typeface="Calibri" pitchFamily="34" charset="-122"/>
                <a:cs typeface="Calibri" pitchFamily="34" charset="-120"/>
              </a:rPr>
              <a:t>Hand-pushed loop, recording handdriven1, 20 Oct</a:t>
            </a:r>
            <a:endParaRPr lang="en-US" sz="1250" dirty="0"/>
          </a:p>
        </p:txBody>
      </p:sp>
      <p:sp>
        <p:nvSpPr>
          <p:cNvPr id="25" name="Text 23"/>
          <p:cNvSpPr txBox="1"/>
          <p:nvPr/>
        </p:nvSpPr>
        <p:spPr>
          <a:xfrm>
            <a:off x="7315200" y="1755648"/>
            <a:ext cx="1783080" cy="777240"/>
          </a:xfrm>
          <a:prstGeom prst="rect">
            <a:avLst/>
          </a:prstGeom>
          <a:noFill/>
          <a:ln/>
        </p:spPr>
        <p:txBody>
          <a:bodyPr wrap="square" lIns="0" tIns="0" rIns="0" bIns="0" rtlCol="0" anchor="ctr"/>
          <a:lstStyle/>
          <a:p>
            <a:pPr indent="0" marL="0">
              <a:buNone/>
            </a:pPr>
            <a:r>
              <a:rPr lang="en-US" sz="2800" b="1" dirty="0">
                <a:solidFill>
                  <a:srgbClr val="1F3B73"/>
                </a:solidFill>
                <a:latin typeface="Calibri" pitchFamily="34" charset="0"/>
                <a:ea typeface="Calibri" pitchFamily="34" charset="-122"/>
                <a:cs typeface="Calibri" pitchFamily="34" charset="-120"/>
              </a:rPr>
              <a:t>12 mm</a:t>
            </a:r>
            <a:endParaRPr lang="en-US" sz="2800" dirty="0"/>
          </a:p>
        </p:txBody>
      </p:sp>
      <p:sp>
        <p:nvSpPr>
          <p:cNvPr id="26" name="Text 24"/>
          <p:cNvSpPr txBox="1"/>
          <p:nvPr/>
        </p:nvSpPr>
        <p:spPr>
          <a:xfrm>
            <a:off x="9144000" y="1755648"/>
            <a:ext cx="2587752" cy="77724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26.05 m loop, back to start within 12 mm</a:t>
            </a:r>
            <a:endParaRPr lang="en-US" sz="1300" dirty="0"/>
          </a:p>
          <a:p>
            <a:pPr indent="0" marL="0">
              <a:buNone/>
            </a:pPr>
            <a:r>
              <a:rPr lang="en-US" sz="1300" dirty="0">
                <a:solidFill>
                  <a:srgbClr val="5B6577"/>
                </a:solidFill>
                <a:latin typeface="Calibri" pitchFamily="34" charset="0"/>
                <a:ea typeface="Calibri" pitchFamily="34" charset="-122"/>
                <a:cs typeface="Calibri" pitchFamily="34" charset="-120"/>
              </a:rPr>
              <a:t>4 mm LiDAR-only, 7 mm odometry error, 0.03 %</a:t>
            </a:r>
            <a:endParaRPr lang="en-US" sz="1300" dirty="0"/>
          </a:p>
        </p:txBody>
      </p:sp>
      <p:sp>
        <p:nvSpPr>
          <p:cNvPr id="27" name="Text 25"/>
          <p:cNvSpPr txBox="1"/>
          <p:nvPr/>
        </p:nvSpPr>
        <p:spPr>
          <a:xfrm>
            <a:off x="7315200" y="2651760"/>
            <a:ext cx="1783080" cy="777240"/>
          </a:xfrm>
          <a:prstGeom prst="rect">
            <a:avLst/>
          </a:prstGeom>
          <a:noFill/>
          <a:ln/>
        </p:spPr>
        <p:txBody>
          <a:bodyPr wrap="square" lIns="0" tIns="0" rIns="0" bIns="0" rtlCol="0" anchor="ctr"/>
          <a:lstStyle/>
          <a:p>
            <a:pPr indent="0" marL="0">
              <a:buNone/>
            </a:pPr>
            <a:r>
              <a:rPr lang="en-US" sz="2800" b="1" dirty="0">
                <a:solidFill>
                  <a:srgbClr val="1F3B73"/>
                </a:solidFill>
                <a:latin typeface="Calibri" pitchFamily="34" charset="0"/>
                <a:ea typeface="Calibri" pitchFamily="34" charset="-122"/>
                <a:cs typeface="Calibri" pitchFamily="34" charset="-120"/>
              </a:rPr>
              <a:t>6.7 cm</a:t>
            </a:r>
            <a:endParaRPr lang="en-US" sz="2800" dirty="0"/>
          </a:p>
        </p:txBody>
      </p:sp>
      <p:sp>
        <p:nvSpPr>
          <p:cNvPr id="28" name="Text 26"/>
          <p:cNvSpPr txBox="1"/>
          <p:nvPr/>
        </p:nvSpPr>
        <p:spPr>
          <a:xfrm>
            <a:off x="9144000" y="2651760"/>
            <a:ext cx="2587752" cy="77724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mid-route error at most</a:t>
            </a:r>
            <a:endParaRPr lang="en-US" sz="1300" dirty="0"/>
          </a:p>
          <a:p>
            <a:pPr indent="0" marL="0">
              <a:buNone/>
            </a:pPr>
            <a:r>
              <a:rPr lang="en-US" sz="1300" dirty="0">
                <a:solidFill>
                  <a:srgbClr val="5B6577"/>
                </a:solidFill>
                <a:latin typeface="Calibri" pitchFamily="34" charset="0"/>
                <a:ea typeface="Calibri" pitchFamily="34" charset="-122"/>
                <a:cs typeface="Calibri" pitchFamily="34" charset="-120"/>
              </a:rPr>
              <a:t>at the floor of our reference (about 7 cm)</a:t>
            </a:r>
            <a:endParaRPr lang="en-US" sz="1300" dirty="0"/>
          </a:p>
        </p:txBody>
      </p:sp>
      <p:sp>
        <p:nvSpPr>
          <p:cNvPr id="29" name="Text 27"/>
          <p:cNvSpPr txBox="1"/>
          <p:nvPr/>
        </p:nvSpPr>
        <p:spPr>
          <a:xfrm>
            <a:off x="7315200" y="3547872"/>
            <a:ext cx="1783080" cy="777240"/>
          </a:xfrm>
          <a:prstGeom prst="rect">
            <a:avLst/>
          </a:prstGeom>
          <a:noFill/>
          <a:ln/>
        </p:spPr>
        <p:txBody>
          <a:bodyPr wrap="square" lIns="0" tIns="0" rIns="0" bIns="0" rtlCol="0" anchor="ctr"/>
          <a:lstStyle/>
          <a:p>
            <a:pPr indent="0" marL="0">
              <a:buNone/>
            </a:pPr>
            <a:r>
              <a:rPr lang="en-US" sz="2800" b="1" dirty="0">
                <a:solidFill>
                  <a:srgbClr val="1F3B73"/>
                </a:solidFill>
                <a:latin typeface="Calibri" pitchFamily="34" charset="0"/>
                <a:ea typeface="Calibri" pitchFamily="34" charset="-122"/>
                <a:cs typeface="Calibri" pitchFamily="34" charset="-120"/>
              </a:rPr>
              <a:t>11 to 14 ms</a:t>
            </a:r>
            <a:endParaRPr lang="en-US" sz="2800" dirty="0"/>
          </a:p>
        </p:txBody>
      </p:sp>
      <p:sp>
        <p:nvSpPr>
          <p:cNvPr id="30" name="Text 28"/>
          <p:cNvSpPr txBox="1"/>
          <p:nvPr/>
        </p:nvSpPr>
        <p:spPr>
          <a:xfrm>
            <a:off x="9144000" y="3547872"/>
            <a:ext cx="2587752" cy="77724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per frame on the CPU</a:t>
            </a:r>
            <a:endParaRPr lang="en-US" sz="1300" dirty="0"/>
          </a:p>
          <a:p>
            <a:pPr indent="0" marL="0">
              <a:buNone/>
            </a:pPr>
            <a:r>
              <a:rPr lang="en-US" sz="1300" dirty="0">
                <a:solidFill>
                  <a:srgbClr val="5B6577"/>
                </a:solidFill>
                <a:latin typeface="Calibri" pitchFamily="34" charset="0"/>
                <a:ea typeface="Calibri" pitchFamily="34" charset="-122"/>
                <a:cs typeface="Calibri" pitchFamily="34" charset="-120"/>
              </a:rPr>
              <a:t>inside the 100 ms scan period</a:t>
            </a:r>
            <a:endParaRPr lang="en-US" sz="1300" dirty="0"/>
          </a:p>
        </p:txBody>
      </p:sp>
      <p:sp>
        <p:nvSpPr>
          <p:cNvPr id="31" name="Shape 29"/>
          <p:cNvSpPr/>
          <p:nvPr/>
        </p:nvSpPr>
        <p:spPr>
          <a:xfrm>
            <a:off x="7315200" y="4526280"/>
            <a:ext cx="4416552" cy="658368"/>
          </a:xfrm>
          <a:prstGeom prst="rect">
            <a:avLst/>
          </a:prstGeom>
          <a:solidFill>
            <a:srgbClr val="FDF4E3"/>
          </a:solidFill>
          <a:ln w="12700">
            <a:solidFill>
              <a:srgbClr val="B7791F"/>
            </a:solidFill>
            <a:prstDash val="solid"/>
          </a:ln>
        </p:spPr>
      </p:sp>
      <p:sp>
        <p:nvSpPr>
          <p:cNvPr id="32" name="Text 30"/>
          <p:cNvSpPr txBox="1"/>
          <p:nvPr/>
        </p:nvSpPr>
        <p:spPr>
          <a:xfrm>
            <a:off x="7452360" y="4526280"/>
            <a:ext cx="4142232" cy="658368"/>
          </a:xfrm>
          <a:prstGeom prst="rect">
            <a:avLst/>
          </a:prstGeom>
          <a:noFill/>
          <a:ln/>
        </p:spPr>
        <p:txBody>
          <a:bodyPr wrap="square" lIns="0" tIns="0" rIns="0" bIns="0" rtlCol="0" anchor="ctr"/>
          <a:lstStyle/>
          <a:p>
            <a:pPr indent="0" marL="0">
              <a:buNone/>
            </a:pPr>
            <a:r>
              <a:rPr lang="en-US" sz="1400" b="1" dirty="0">
                <a:solidFill>
                  <a:srgbClr val="7A4E0B"/>
                </a:solidFill>
                <a:latin typeface="Calibri" pitchFamily="34" charset="0"/>
                <a:ea typeface="Calibri" pitchFamily="34" charset="-122"/>
                <a:cs typeface="Calibri" pitchFamily="34" charset="-120"/>
              </a:rPr>
              <a:t>Limit: </a:t>
            </a:r>
            <a:pPr indent="0" marL="0">
              <a:buNone/>
            </a:pPr>
            <a:r>
              <a:rPr lang="en-US" sz="1400" dirty="0">
                <a:solidFill>
                  <a:srgbClr val="1B2333"/>
                </a:solidFill>
                <a:latin typeface="Calibri" pitchFamily="34" charset="0"/>
                <a:ea typeface="Calibri" pitchFamily="34" charset="-122"/>
                <a:cs typeface="Calibri" pitchFamily="34" charset="-120"/>
              </a:rPr>
              <a:t>pushed by hand, not driven. Nav2 has never driven the base</a:t>
            </a:r>
            <a:endParaRPr lang="en-US" sz="1400" dirty="0"/>
          </a:p>
        </p:txBody>
      </p:sp>
      <p:sp>
        <p:nvSpPr>
          <p:cNvPr id="33" name="Shape 31"/>
          <p:cNvSpPr/>
          <p:nvPr/>
        </p:nvSpPr>
        <p:spPr>
          <a:xfrm>
            <a:off x="457200" y="5687568"/>
            <a:ext cx="1325880" cy="621792"/>
          </a:xfrm>
          <a:prstGeom prst="rect">
            <a:avLst/>
          </a:prstGeom>
          <a:solidFill>
            <a:srgbClr val="1F3B73"/>
          </a:solidFill>
          <a:ln/>
        </p:spPr>
      </p:sp>
      <p:sp>
        <p:nvSpPr>
          <p:cNvPr id="34" name="Text 32"/>
          <p:cNvSpPr txBox="1"/>
          <p:nvPr/>
        </p:nvSpPr>
        <p:spPr>
          <a:xfrm>
            <a:off x="502920" y="5687568"/>
            <a:ext cx="12344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ROS 1 to ROS 2 port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15 to 22 Oct</a:t>
            </a:r>
            <a:endParaRPr lang="en-US" sz="1100" dirty="0"/>
          </a:p>
        </p:txBody>
      </p:sp>
      <p:sp>
        <p:nvSpPr>
          <p:cNvPr id="35" name="Shape 33"/>
          <p:cNvSpPr/>
          <p:nvPr/>
        </p:nvSpPr>
        <p:spPr>
          <a:xfrm>
            <a:off x="1920240" y="5687568"/>
            <a:ext cx="1517904" cy="621792"/>
          </a:xfrm>
          <a:prstGeom prst="rect">
            <a:avLst/>
          </a:prstGeom>
          <a:solidFill>
            <a:srgbClr val="F2F4F8"/>
          </a:solidFill>
          <a:ln/>
        </p:spPr>
      </p:sp>
      <p:sp>
        <p:nvSpPr>
          <p:cNvPr id="36" name="Text 34"/>
          <p:cNvSpPr txBox="1"/>
          <p:nvPr/>
        </p:nvSpPr>
        <p:spPr>
          <a:xfrm>
            <a:off x="1975104" y="5687568"/>
            <a:ext cx="1408176" cy="6217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1 Build</a:t>
            </a:r>
            <a:endParaRPr lang="en-US" sz="1200" dirty="0"/>
          </a:p>
          <a:p>
            <a:pPr algn="ctr" indent="0" marL="0">
              <a:buNone/>
            </a:pPr>
            <a:r>
              <a:rPr lang="en-US" sz="1200" dirty="0">
                <a:solidFill>
                  <a:srgbClr val="5B6577"/>
                </a:solidFill>
                <a:latin typeface="Calibri" pitchFamily="34" charset="0"/>
                <a:ea typeface="Calibri" pitchFamily="34" charset="-122"/>
                <a:cs typeface="Calibri" pitchFamily="34" charset="-120"/>
              </a:rPr>
              <a:t>sealed container</a:t>
            </a:r>
            <a:endParaRPr lang="en-US" sz="1200" dirty="0"/>
          </a:p>
        </p:txBody>
      </p:sp>
      <p:sp>
        <p:nvSpPr>
          <p:cNvPr id="37" name="Shape 35"/>
          <p:cNvSpPr/>
          <p:nvPr/>
        </p:nvSpPr>
        <p:spPr>
          <a:xfrm>
            <a:off x="3447288" y="5998464"/>
            <a:ext cx="91440" cy="0"/>
          </a:xfrm>
          <a:prstGeom prst="line">
            <a:avLst/>
          </a:prstGeom>
          <a:noFill/>
          <a:ln w="12700">
            <a:solidFill>
              <a:srgbClr val="1B2333"/>
            </a:solidFill>
            <a:prstDash val="solid"/>
            <a:tailEnd type="triangle"/>
          </a:ln>
        </p:spPr>
      </p:sp>
      <p:sp>
        <p:nvSpPr>
          <p:cNvPr id="38" name="Shape 36"/>
          <p:cNvSpPr/>
          <p:nvPr/>
        </p:nvSpPr>
        <p:spPr>
          <a:xfrm>
            <a:off x="3547872" y="5687568"/>
            <a:ext cx="1517904" cy="621792"/>
          </a:xfrm>
          <a:prstGeom prst="rect">
            <a:avLst/>
          </a:prstGeom>
          <a:solidFill>
            <a:srgbClr val="F2F4F8"/>
          </a:solidFill>
          <a:ln/>
        </p:spPr>
      </p:sp>
      <p:sp>
        <p:nvSpPr>
          <p:cNvPr id="39" name="Text 37"/>
          <p:cNvSpPr txBox="1"/>
          <p:nvPr/>
        </p:nvSpPr>
        <p:spPr>
          <a:xfrm>
            <a:off x="3602736" y="5687568"/>
            <a:ext cx="1408176" cy="6217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2 Authors’ data</a:t>
            </a:r>
            <a:endParaRPr lang="en-US" sz="1200" dirty="0"/>
          </a:p>
          <a:p>
            <a:pPr algn="ctr" indent="0" marL="0">
              <a:buNone/>
            </a:pPr>
            <a:r>
              <a:rPr lang="en-US" sz="1200" dirty="0">
                <a:solidFill>
                  <a:srgbClr val="5B6577"/>
                </a:solidFill>
                <a:latin typeface="Calibri" pitchFamily="34" charset="0"/>
                <a:ea typeface="Calibri" pitchFamily="34" charset="-122"/>
                <a:cs typeface="Calibri" pitchFamily="34" charset="-120"/>
              </a:rPr>
              <a:t>14,850 / 14,850</a:t>
            </a:r>
            <a:endParaRPr lang="en-US" sz="1200" dirty="0"/>
          </a:p>
        </p:txBody>
      </p:sp>
      <p:sp>
        <p:nvSpPr>
          <p:cNvPr id="40" name="Shape 38"/>
          <p:cNvSpPr/>
          <p:nvPr/>
        </p:nvSpPr>
        <p:spPr>
          <a:xfrm>
            <a:off x="5074920" y="5998464"/>
            <a:ext cx="91440" cy="0"/>
          </a:xfrm>
          <a:prstGeom prst="line">
            <a:avLst/>
          </a:prstGeom>
          <a:noFill/>
          <a:ln w="12700">
            <a:solidFill>
              <a:srgbClr val="1B2333"/>
            </a:solidFill>
            <a:prstDash val="solid"/>
            <a:tailEnd type="triangle"/>
          </a:ln>
        </p:spPr>
      </p:sp>
      <p:sp>
        <p:nvSpPr>
          <p:cNvPr id="41" name="Shape 39"/>
          <p:cNvSpPr/>
          <p:nvPr/>
        </p:nvSpPr>
        <p:spPr>
          <a:xfrm>
            <a:off x="5175504" y="5687568"/>
            <a:ext cx="1517904" cy="621792"/>
          </a:xfrm>
          <a:prstGeom prst="rect">
            <a:avLst/>
          </a:prstGeom>
          <a:solidFill>
            <a:srgbClr val="F2F4F8"/>
          </a:solidFill>
          <a:ln/>
        </p:spPr>
      </p:sp>
      <p:sp>
        <p:nvSpPr>
          <p:cNvPr id="42" name="Text 40"/>
          <p:cNvSpPr txBox="1"/>
          <p:nvPr/>
        </p:nvSpPr>
        <p:spPr>
          <a:xfrm>
            <a:off x="5230368" y="5687568"/>
            <a:ext cx="1408176" cy="6217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3 Our sensors</a:t>
            </a:r>
            <a:endParaRPr lang="en-US" sz="1200" dirty="0"/>
          </a:p>
          <a:p>
            <a:pPr algn="ctr" indent="0" marL="0">
              <a:buNone/>
            </a:pPr>
            <a:r>
              <a:rPr lang="en-US" sz="1200" dirty="0">
                <a:solidFill>
                  <a:srgbClr val="5B6577"/>
                </a:solidFill>
                <a:latin typeface="Calibri" pitchFamily="34" charset="0"/>
                <a:ea typeface="Calibri" pitchFamily="34" charset="-122"/>
                <a:cs typeface="Calibri" pitchFamily="34" charset="-120"/>
              </a:rPr>
              <a:t>every message audited</a:t>
            </a:r>
            <a:endParaRPr lang="en-US" sz="1200" dirty="0"/>
          </a:p>
        </p:txBody>
      </p:sp>
      <p:sp>
        <p:nvSpPr>
          <p:cNvPr id="43" name="Shape 41"/>
          <p:cNvSpPr/>
          <p:nvPr/>
        </p:nvSpPr>
        <p:spPr>
          <a:xfrm>
            <a:off x="6702552" y="5998464"/>
            <a:ext cx="91440" cy="0"/>
          </a:xfrm>
          <a:prstGeom prst="line">
            <a:avLst/>
          </a:prstGeom>
          <a:noFill/>
          <a:ln w="12700">
            <a:solidFill>
              <a:srgbClr val="1B2333"/>
            </a:solidFill>
            <a:prstDash val="solid"/>
            <a:tailEnd type="triangle"/>
          </a:ln>
        </p:spPr>
      </p:sp>
      <p:sp>
        <p:nvSpPr>
          <p:cNvPr id="44" name="Shape 42"/>
          <p:cNvSpPr/>
          <p:nvPr/>
        </p:nvSpPr>
        <p:spPr>
          <a:xfrm>
            <a:off x="6803136" y="5687568"/>
            <a:ext cx="1517904" cy="621792"/>
          </a:xfrm>
          <a:prstGeom prst="rect">
            <a:avLst/>
          </a:prstGeom>
          <a:solidFill>
            <a:srgbClr val="F2F4F8"/>
          </a:solidFill>
          <a:ln/>
        </p:spPr>
      </p:sp>
      <p:sp>
        <p:nvSpPr>
          <p:cNvPr id="45" name="Text 43"/>
          <p:cNvSpPr txBox="1"/>
          <p:nvPr/>
        </p:nvSpPr>
        <p:spPr>
          <a:xfrm>
            <a:off x="6858000" y="5687568"/>
            <a:ext cx="1408176" cy="6217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4 Silent defects</a:t>
            </a:r>
            <a:endParaRPr lang="en-US" sz="1200" dirty="0"/>
          </a:p>
          <a:p>
            <a:pPr algn="ctr" indent="0" marL="0">
              <a:buNone/>
            </a:pPr>
            <a:r>
              <a:rPr lang="en-US" sz="1200" dirty="0">
                <a:solidFill>
                  <a:srgbClr val="5B6577"/>
                </a:solidFill>
                <a:latin typeface="Calibri" pitchFamily="34" charset="0"/>
                <a:ea typeface="Calibri" pitchFamily="34" charset="-122"/>
                <a:cs typeface="Calibri" pitchFamily="34" charset="-120"/>
              </a:rPr>
              <a:t>3 found, fixed</a:t>
            </a:r>
            <a:endParaRPr lang="en-US" sz="1200" dirty="0"/>
          </a:p>
        </p:txBody>
      </p:sp>
      <p:sp>
        <p:nvSpPr>
          <p:cNvPr id="46" name="Shape 44"/>
          <p:cNvSpPr/>
          <p:nvPr/>
        </p:nvSpPr>
        <p:spPr>
          <a:xfrm>
            <a:off x="8330184" y="5998464"/>
            <a:ext cx="91440" cy="0"/>
          </a:xfrm>
          <a:prstGeom prst="line">
            <a:avLst/>
          </a:prstGeom>
          <a:noFill/>
          <a:ln w="12700">
            <a:solidFill>
              <a:srgbClr val="1B2333"/>
            </a:solidFill>
            <a:prstDash val="solid"/>
            <a:tailEnd type="triangle"/>
          </a:ln>
        </p:spPr>
      </p:sp>
      <p:sp>
        <p:nvSpPr>
          <p:cNvPr id="47" name="Shape 45"/>
          <p:cNvSpPr/>
          <p:nvPr/>
        </p:nvSpPr>
        <p:spPr>
          <a:xfrm>
            <a:off x="8430768" y="5687568"/>
            <a:ext cx="1517904" cy="621792"/>
          </a:xfrm>
          <a:prstGeom prst="rect">
            <a:avLst/>
          </a:prstGeom>
          <a:solidFill>
            <a:srgbClr val="F2F4F8"/>
          </a:solidFill>
          <a:ln/>
        </p:spPr>
      </p:sp>
      <p:sp>
        <p:nvSpPr>
          <p:cNvPr id="48" name="Text 46"/>
          <p:cNvSpPr txBox="1"/>
          <p:nvPr/>
        </p:nvSpPr>
        <p:spPr>
          <a:xfrm>
            <a:off x="8485632" y="5687568"/>
            <a:ext cx="1408176" cy="6217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5 Live</a:t>
            </a:r>
            <a:endParaRPr lang="en-US" sz="1200" dirty="0"/>
          </a:p>
          <a:p>
            <a:pPr algn="ctr" indent="0" marL="0">
              <a:buNone/>
            </a:pPr>
            <a:r>
              <a:rPr lang="en-US" sz="1200" dirty="0">
                <a:solidFill>
                  <a:srgbClr val="5B6577"/>
                </a:solidFill>
                <a:latin typeface="Calibri" pitchFamily="34" charset="0"/>
                <a:ea typeface="Calibri" pitchFamily="34" charset="-122"/>
                <a:cs typeface="Calibri" pitchFamily="34" charset="-120"/>
              </a:rPr>
              <a:t>26 m loop</a:t>
            </a:r>
            <a:endParaRPr lang="en-US" sz="1200" dirty="0"/>
          </a:p>
        </p:txBody>
      </p:sp>
      <p:sp>
        <p:nvSpPr>
          <p:cNvPr id="49" name="Shape 47"/>
          <p:cNvSpPr/>
          <p:nvPr/>
        </p:nvSpPr>
        <p:spPr>
          <a:xfrm>
            <a:off x="9957816" y="5998464"/>
            <a:ext cx="91440" cy="0"/>
          </a:xfrm>
          <a:prstGeom prst="line">
            <a:avLst/>
          </a:prstGeom>
          <a:noFill/>
          <a:ln w="12700">
            <a:solidFill>
              <a:srgbClr val="1B2333"/>
            </a:solidFill>
            <a:prstDash val="solid"/>
            <a:tailEnd type="triangle"/>
          </a:ln>
        </p:spPr>
      </p:sp>
      <p:sp>
        <p:nvSpPr>
          <p:cNvPr id="50" name="Shape 48"/>
          <p:cNvSpPr/>
          <p:nvPr/>
        </p:nvSpPr>
        <p:spPr>
          <a:xfrm>
            <a:off x="10058400" y="5687568"/>
            <a:ext cx="1517904" cy="621792"/>
          </a:xfrm>
          <a:prstGeom prst="rect">
            <a:avLst/>
          </a:prstGeom>
          <a:solidFill>
            <a:srgbClr val="F2F4F8"/>
          </a:solidFill>
          <a:ln/>
        </p:spPr>
      </p:sp>
      <p:sp>
        <p:nvSpPr>
          <p:cNvPr id="51" name="Text 49"/>
          <p:cNvSpPr txBox="1"/>
          <p:nvPr/>
        </p:nvSpPr>
        <p:spPr>
          <a:xfrm>
            <a:off x="10113264" y="5687568"/>
            <a:ext cx="1408176" cy="6217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6 Hand to Nav2</a:t>
            </a:r>
            <a:endParaRPr lang="en-US" sz="1200" dirty="0"/>
          </a:p>
          <a:p>
            <a:pPr algn="ctr" indent="0" marL="0">
              <a:buNone/>
            </a:pPr>
            <a:r>
              <a:rPr lang="en-US" sz="1200" dirty="0">
                <a:solidFill>
                  <a:srgbClr val="5B6577"/>
                </a:solidFill>
                <a:latin typeface="Calibri" pitchFamily="34" charset="0"/>
                <a:ea typeface="Calibri" pitchFamily="34" charset="-122"/>
                <a:cs typeface="Calibri" pitchFamily="34" charset="-120"/>
              </a:rPr>
              <a:t>tilt under 0.5 deg</a:t>
            </a:r>
            <a:endParaRPr lang="en-US" sz="1200" dirty="0"/>
          </a:p>
        </p:txBody>
      </p:sp>
      <p:sp>
        <p:nvSpPr>
          <p:cNvPr id="52" name="Text 5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Sherman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1F3B73"/>
          </a:solidFill>
          <a:ln w="9525">
            <a:solidFill>
              <a:srgbClr val="1F3B73"/>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10"/>
          <p:cNvSpPr txBox="1"/>
          <p:nvPr/>
        </p:nvSpPr>
        <p:spPr>
          <a:xfrm>
            <a:off x="9601200" y="182880"/>
            <a:ext cx="2377440" cy="274320"/>
          </a:xfrm>
          <a:prstGeom prst="rect">
            <a:avLst/>
          </a:prstGeom>
          <a:noFill/>
          <a:ln/>
        </p:spPr>
        <p:txBody>
          <a:bodyPr wrap="square" lIns="0" tIns="0" rIns="0" bIns="0" rtlCol="0" anchor="ctr"/>
          <a:lstStyle/>
          <a:p>
            <a:pPr indent="0" marL="0">
              <a:buNone/>
            </a:pPr>
            <a:r>
              <a:rPr lang="en-US" sz="1100" i="1" dirty="0">
                <a:solidFill>
                  <a:srgbClr val="5B6577"/>
                </a:solidFill>
                <a:latin typeface="Calibri" pitchFamily="34" charset="0"/>
                <a:ea typeface="Calibri" pitchFamily="34" charset="-122"/>
                <a:cs typeface="Calibri" pitchFamily="34" charset="-120"/>
              </a:rPr>
              <a:t>frames also serve phases 4 and 5</a:t>
            </a:r>
            <a:endParaRPr lang="en-US" sz="1100" dirty="0"/>
          </a:p>
        </p:txBody>
      </p:sp>
      <p:sp>
        <p:nvSpPr>
          <p:cNvPr id="13"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Four camera relationships, four different states of calibration</a:t>
            </a:r>
            <a:endParaRPr lang="en-US" sz="2400" dirty="0"/>
          </a:p>
        </p:txBody>
      </p:sp>
      <p:sp>
        <p:nvSpPr>
          <p:cNvPr id="14" name="Shape 12"/>
          <p:cNvSpPr/>
          <p:nvPr/>
        </p:nvSpPr>
        <p:spPr>
          <a:xfrm>
            <a:off x="457200" y="1444752"/>
            <a:ext cx="1828800" cy="1371600"/>
          </a:xfrm>
          <a:prstGeom prst="rect">
            <a:avLst/>
          </a:prstGeom>
          <a:solidFill>
            <a:srgbClr val="F7F8FA"/>
          </a:solidFill>
          <a:ln w="15875">
            <a:solidFill>
              <a:srgbClr val="9AA3B2"/>
            </a:solidFill>
            <a:prstDash val="dash"/>
          </a:ln>
        </p:spPr>
      </p:sp>
      <p:sp>
        <p:nvSpPr>
          <p:cNvPr id="15" name="Text 13"/>
          <p:cNvSpPr txBox="1"/>
          <p:nvPr/>
        </p:nvSpPr>
        <p:spPr>
          <a:xfrm>
            <a:off x="594360" y="1536192"/>
            <a:ext cx="1554480" cy="1188720"/>
          </a:xfrm>
          <a:prstGeom prst="rect">
            <a:avLst/>
          </a:prstGeom>
          <a:noFill/>
          <a:ln/>
        </p:spPr>
        <p:txBody>
          <a:bodyPr wrap="square" lIns="0" tIns="0" rIns="0" bIns="0" rtlCol="0" anchor="ctr"/>
          <a:lstStyle/>
          <a:p>
            <a:pPr algn="ctr" indent="0" marL="0">
              <a:buNone/>
            </a:pPr>
            <a:r>
              <a:rPr lang="en-US" sz="1050" b="1" dirty="0">
                <a:solidFill>
                  <a:srgbClr val="5B6577"/>
                </a:solidFill>
                <a:latin typeface="Calibri" pitchFamily="34" charset="0"/>
                <a:ea typeface="Calibri" pitchFamily="34" charset="-122"/>
                <a:cs typeface="Calibri" pitchFamily="34" charset="-120"/>
              </a:rPr>
              <a:t>[INSERT LIDAR-ON-CAMERA OVERLAY]</a:t>
            </a:r>
            <a:endParaRPr lang="en-US" sz="1800" dirty="0"/>
          </a:p>
          <a:p>
            <a:pPr algn="ctr" indent="0" marL="0">
              <a:buNone/>
            </a:pPr>
            <a:r>
              <a:rPr lang="en-US" sz="850" dirty="0">
                <a:solidFill>
                  <a:srgbClr val="8A93A3"/>
                </a:solidFill>
                <a:latin typeface="Calibri" pitchFamily="34" charset="0"/>
                <a:ea typeface="Calibri" pitchFamily="34" charset="-122"/>
                <a:cs typeface="Calibri" pitchFamily="34" charset="-120"/>
              </a:rPr>
              <a:t>nav_lidar_on_camera_overlay_stationary02_t0s_2026-10-19.png</a:t>
            </a:r>
            <a:endParaRPr lang="en-US" sz="1800" dirty="0"/>
          </a:p>
          <a:p>
            <a:pPr algn="ctr" indent="0" marL="0">
              <a:buNone/>
            </a:pPr>
            <a:r>
              <a:rPr lang="en-US" sz="850" dirty="0">
                <a:solidFill>
                  <a:srgbClr val="8A93A3"/>
                </a:solidFill>
                <a:latin typeface="Calibri" pitchFamily="34" charset="0"/>
                <a:ea typeface="Calibri" pitchFamily="34" charset="-122"/>
                <a:cs typeface="Calibri" pitchFamily="34" charset="-120"/>
              </a:rPr>
              <a:t>Owner: Sherman</a:t>
            </a:r>
            <a:endParaRPr lang="en-US" sz="1800" dirty="0"/>
          </a:p>
        </p:txBody>
      </p:sp>
      <p:sp>
        <p:nvSpPr>
          <p:cNvPr id="16" name="Text 14"/>
          <p:cNvSpPr txBox="1"/>
          <p:nvPr/>
        </p:nvSpPr>
        <p:spPr>
          <a:xfrm>
            <a:off x="457200" y="2852928"/>
            <a:ext cx="1828800" cy="384048"/>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before calibration: LiDAR points over the camera image</a:t>
            </a:r>
            <a:endParaRPr lang="en-US" sz="1050" dirty="0"/>
          </a:p>
        </p:txBody>
      </p:sp>
      <p:sp>
        <p:nvSpPr>
          <p:cNvPr id="17" name="Shape 15"/>
          <p:cNvSpPr/>
          <p:nvPr/>
        </p:nvSpPr>
        <p:spPr>
          <a:xfrm>
            <a:off x="548640" y="5440680"/>
            <a:ext cx="5715000" cy="0"/>
          </a:xfrm>
          <a:prstGeom prst="line">
            <a:avLst/>
          </a:prstGeom>
          <a:noFill/>
          <a:ln w="12700">
            <a:solidFill>
              <a:srgbClr val="8A93A3"/>
            </a:solidFill>
            <a:prstDash val="solid"/>
          </a:ln>
        </p:spPr>
      </p:sp>
      <p:sp>
        <p:nvSpPr>
          <p:cNvPr id="18" name="Shape 16"/>
          <p:cNvSpPr/>
          <p:nvPr/>
        </p:nvSpPr>
        <p:spPr>
          <a:xfrm>
            <a:off x="1188720" y="4572000"/>
            <a:ext cx="2560320" cy="603504"/>
          </a:xfrm>
          <a:prstGeom prst="rect">
            <a:avLst/>
          </a:prstGeom>
          <a:solidFill>
            <a:srgbClr val="EEF1F5"/>
          </a:solidFill>
          <a:ln w="15875">
            <a:solidFill>
              <a:srgbClr val="5B6577"/>
            </a:solidFill>
            <a:prstDash val="solid"/>
          </a:ln>
        </p:spPr>
      </p:sp>
      <p:sp>
        <p:nvSpPr>
          <p:cNvPr id="19" name="Text 17"/>
          <p:cNvSpPr txBox="1"/>
          <p:nvPr/>
        </p:nvSpPr>
        <p:spPr>
          <a:xfrm>
            <a:off x="1234440" y="4617720"/>
            <a:ext cx="822960" cy="274320"/>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Base</a:t>
            </a:r>
            <a:endParaRPr lang="en-US" sz="1100" dirty="0"/>
          </a:p>
        </p:txBody>
      </p:sp>
      <p:sp>
        <p:nvSpPr>
          <p:cNvPr id="20" name="Shape 18"/>
          <p:cNvSpPr/>
          <p:nvPr/>
        </p:nvSpPr>
        <p:spPr>
          <a:xfrm>
            <a:off x="1371600" y="5120640"/>
            <a:ext cx="329184" cy="329184"/>
          </a:xfrm>
          <a:prstGeom prst="ellipse">
            <a:avLst/>
          </a:prstGeom>
          <a:solidFill>
            <a:srgbClr val="5B6577"/>
          </a:solidFill>
          <a:ln w="12700">
            <a:solidFill>
              <a:srgbClr val="5B6577"/>
            </a:solidFill>
            <a:prstDash val="solid"/>
          </a:ln>
        </p:spPr>
      </p:sp>
      <p:sp>
        <p:nvSpPr>
          <p:cNvPr id="21" name="Shape 19"/>
          <p:cNvSpPr/>
          <p:nvPr/>
        </p:nvSpPr>
        <p:spPr>
          <a:xfrm>
            <a:off x="3200400" y="5120640"/>
            <a:ext cx="329184" cy="329184"/>
          </a:xfrm>
          <a:prstGeom prst="ellipse">
            <a:avLst/>
          </a:prstGeom>
          <a:solidFill>
            <a:srgbClr val="5B6577"/>
          </a:solidFill>
          <a:ln w="12700">
            <a:solidFill>
              <a:srgbClr val="5B6577"/>
            </a:solidFill>
            <a:prstDash val="solid"/>
          </a:ln>
        </p:spPr>
      </p:sp>
      <p:sp>
        <p:nvSpPr>
          <p:cNvPr id="22" name="Shape 20"/>
          <p:cNvSpPr/>
          <p:nvPr/>
        </p:nvSpPr>
        <p:spPr>
          <a:xfrm>
            <a:off x="1737360" y="3429000"/>
            <a:ext cx="64008" cy="1143000"/>
          </a:xfrm>
          <a:prstGeom prst="rect">
            <a:avLst/>
          </a:prstGeom>
          <a:solidFill>
            <a:srgbClr val="B8C0CC"/>
          </a:solidFill>
          <a:ln/>
        </p:spPr>
      </p:sp>
      <p:sp>
        <p:nvSpPr>
          <p:cNvPr id="23" name="Shape 21"/>
          <p:cNvSpPr/>
          <p:nvPr/>
        </p:nvSpPr>
        <p:spPr>
          <a:xfrm>
            <a:off x="3200400" y="3429000"/>
            <a:ext cx="64008" cy="1143000"/>
          </a:xfrm>
          <a:prstGeom prst="rect">
            <a:avLst/>
          </a:prstGeom>
          <a:solidFill>
            <a:srgbClr val="B8C0CC"/>
          </a:solidFill>
          <a:ln/>
        </p:spPr>
      </p:sp>
      <p:sp>
        <p:nvSpPr>
          <p:cNvPr id="24" name="Shape 22"/>
          <p:cNvSpPr/>
          <p:nvPr/>
        </p:nvSpPr>
        <p:spPr>
          <a:xfrm>
            <a:off x="1737360" y="3364992"/>
            <a:ext cx="1600200" cy="82296"/>
          </a:xfrm>
          <a:prstGeom prst="rect">
            <a:avLst/>
          </a:prstGeom>
          <a:solidFill>
            <a:srgbClr val="B8C0CC"/>
          </a:solidFill>
          <a:ln/>
        </p:spPr>
      </p:sp>
      <p:sp>
        <p:nvSpPr>
          <p:cNvPr id="25" name="Shape 23"/>
          <p:cNvSpPr/>
          <p:nvPr/>
        </p:nvSpPr>
        <p:spPr>
          <a:xfrm>
            <a:off x="3291840" y="3246120"/>
            <a:ext cx="384048" cy="182880"/>
          </a:xfrm>
          <a:prstGeom prst="rect">
            <a:avLst/>
          </a:prstGeom>
          <a:solidFill>
            <a:srgbClr val="1B2333"/>
          </a:solidFill>
          <a:ln/>
        </p:spPr>
      </p:sp>
      <p:sp>
        <p:nvSpPr>
          <p:cNvPr id="26" name="Text 24"/>
          <p:cNvSpPr txBox="1"/>
          <p:nvPr/>
        </p:nvSpPr>
        <p:spPr>
          <a:xfrm>
            <a:off x="3721608" y="3200400"/>
            <a:ext cx="548640" cy="256032"/>
          </a:xfrm>
          <a:prstGeom prst="rect">
            <a:avLst/>
          </a:prstGeom>
          <a:noFill/>
          <a:ln/>
        </p:spPr>
        <p:txBody>
          <a:bodyPr wrap="square" lIns="0" tIns="0" rIns="0" bIns="0" rtlCol="0" anchor="t"/>
          <a:lstStyle/>
          <a:p>
            <a:pPr indent="0" marL="0">
              <a:buNone/>
            </a:pPr>
            <a:r>
              <a:rPr lang="en-US" sz="1100" b="1" dirty="0">
                <a:solidFill>
                  <a:srgbClr val="1B2333"/>
                </a:solidFill>
                <a:latin typeface="Calibri" pitchFamily="34" charset="0"/>
                <a:ea typeface="Calibri" pitchFamily="34" charset="-122"/>
                <a:cs typeface="Calibri" pitchFamily="34" charset="-120"/>
              </a:rPr>
              <a:t>D455</a:t>
            </a:r>
            <a:endParaRPr lang="en-US" sz="1100" dirty="0"/>
          </a:p>
        </p:txBody>
      </p:sp>
      <p:sp>
        <p:nvSpPr>
          <p:cNvPr id="27" name="Shape 25"/>
          <p:cNvSpPr/>
          <p:nvPr/>
        </p:nvSpPr>
        <p:spPr>
          <a:xfrm>
            <a:off x="2788920" y="4224528"/>
            <a:ext cx="457200" cy="347472"/>
          </a:xfrm>
          <a:prstGeom prst="rect">
            <a:avLst/>
          </a:prstGeom>
          <a:solidFill>
            <a:srgbClr val="1B2333"/>
          </a:solidFill>
          <a:ln/>
        </p:spPr>
      </p:sp>
      <p:sp>
        <p:nvSpPr>
          <p:cNvPr id="28" name="Text 26"/>
          <p:cNvSpPr txBox="1"/>
          <p:nvPr/>
        </p:nvSpPr>
        <p:spPr>
          <a:xfrm>
            <a:off x="2148840" y="4224528"/>
            <a:ext cx="621792" cy="329184"/>
          </a:xfrm>
          <a:prstGeom prst="rect">
            <a:avLst/>
          </a:prstGeom>
          <a:noFill/>
          <a:ln/>
        </p:spPr>
        <p:txBody>
          <a:bodyPr wrap="square" lIns="0" tIns="0" rIns="0" bIns="0" rtlCol="0" anchor="ctr"/>
          <a:lstStyle/>
          <a:p>
            <a:pPr algn="r" indent="0" marL="0">
              <a:buNone/>
            </a:pPr>
            <a:r>
              <a:rPr lang="en-US" sz="1100" b="1" dirty="0">
                <a:solidFill>
                  <a:srgbClr val="1B2333"/>
                </a:solidFill>
                <a:latin typeface="Calibri" pitchFamily="34" charset="0"/>
                <a:ea typeface="Calibri" pitchFamily="34" charset="-122"/>
                <a:cs typeface="Calibri" pitchFamily="34" charset="-120"/>
              </a:rPr>
              <a:t>LiDAR</a:t>
            </a:r>
            <a:endParaRPr lang="en-US" sz="1100" dirty="0"/>
          </a:p>
        </p:txBody>
      </p:sp>
      <p:sp>
        <p:nvSpPr>
          <p:cNvPr id="29" name="Shape 27"/>
          <p:cNvSpPr/>
          <p:nvPr/>
        </p:nvSpPr>
        <p:spPr>
          <a:xfrm flipV="1">
            <a:off x="2514600" y="2331720"/>
            <a:ext cx="0" cy="1033272"/>
          </a:xfrm>
          <a:prstGeom prst="line">
            <a:avLst/>
          </a:prstGeom>
          <a:noFill/>
          <a:ln w="114300">
            <a:solidFill>
              <a:srgbClr val="A8B1BF"/>
            </a:solidFill>
            <a:prstDash val="solid"/>
          </a:ln>
        </p:spPr>
      </p:sp>
      <p:sp>
        <p:nvSpPr>
          <p:cNvPr id="30" name="Shape 28"/>
          <p:cNvSpPr/>
          <p:nvPr/>
        </p:nvSpPr>
        <p:spPr>
          <a:xfrm flipV="1">
            <a:off x="2514600" y="1920240"/>
            <a:ext cx="1417320" cy="411480"/>
          </a:xfrm>
          <a:prstGeom prst="line">
            <a:avLst/>
          </a:prstGeom>
          <a:noFill/>
          <a:ln w="114300">
            <a:solidFill>
              <a:srgbClr val="A8B1BF"/>
            </a:solidFill>
            <a:prstDash val="solid"/>
          </a:ln>
        </p:spPr>
      </p:sp>
      <p:sp>
        <p:nvSpPr>
          <p:cNvPr id="31" name="Shape 29"/>
          <p:cNvSpPr/>
          <p:nvPr/>
        </p:nvSpPr>
        <p:spPr>
          <a:xfrm>
            <a:off x="3931920" y="1920240"/>
            <a:ext cx="594360" cy="411480"/>
          </a:xfrm>
          <a:prstGeom prst="line">
            <a:avLst/>
          </a:prstGeom>
          <a:noFill/>
          <a:ln w="88900">
            <a:solidFill>
              <a:srgbClr val="A8B1BF"/>
            </a:solidFill>
            <a:prstDash val="solid"/>
          </a:ln>
        </p:spPr>
      </p:sp>
      <p:sp>
        <p:nvSpPr>
          <p:cNvPr id="32" name="Shape 30"/>
          <p:cNvSpPr/>
          <p:nvPr/>
        </p:nvSpPr>
        <p:spPr>
          <a:xfrm>
            <a:off x="2377440" y="3200400"/>
            <a:ext cx="274320" cy="182880"/>
          </a:xfrm>
          <a:prstGeom prst="rect">
            <a:avLst/>
          </a:prstGeom>
          <a:solidFill>
            <a:srgbClr val="5B6577"/>
          </a:solidFill>
          <a:ln/>
        </p:spPr>
      </p:sp>
      <p:sp>
        <p:nvSpPr>
          <p:cNvPr id="33" name="Text 31"/>
          <p:cNvSpPr txBox="1"/>
          <p:nvPr/>
        </p:nvSpPr>
        <p:spPr>
          <a:xfrm>
            <a:off x="2633472" y="2560320"/>
            <a:ext cx="548640" cy="256032"/>
          </a:xfrm>
          <a:prstGeom prst="rect">
            <a:avLst/>
          </a:prstGeom>
          <a:noFill/>
          <a:ln/>
        </p:spPr>
        <p:txBody>
          <a:bodyPr wrap="square" lIns="0" tIns="0" rIns="0" bIns="0" rtlCol="0" anchor="t"/>
          <a:lstStyle/>
          <a:p>
            <a:pPr indent="0" marL="0">
              <a:buNone/>
            </a:pPr>
            <a:r>
              <a:rPr lang="en-US" sz="1100" b="1" dirty="0">
                <a:solidFill>
                  <a:srgbClr val="5B6577"/>
                </a:solidFill>
                <a:latin typeface="Calibri" pitchFamily="34" charset="0"/>
                <a:ea typeface="Calibri" pitchFamily="34" charset="-122"/>
                <a:cs typeface="Calibri" pitchFamily="34" charset="-120"/>
              </a:rPr>
              <a:t>Arm</a:t>
            </a:r>
            <a:endParaRPr lang="en-US" sz="1100" dirty="0"/>
          </a:p>
        </p:txBody>
      </p:sp>
      <p:sp>
        <p:nvSpPr>
          <p:cNvPr id="34" name="Shape 32"/>
          <p:cNvSpPr/>
          <p:nvPr/>
        </p:nvSpPr>
        <p:spPr>
          <a:xfrm>
            <a:off x="4526280" y="2267712"/>
            <a:ext cx="310896" cy="146304"/>
          </a:xfrm>
          <a:prstGeom prst="rect">
            <a:avLst/>
          </a:prstGeom>
          <a:solidFill>
            <a:srgbClr val="1B2333"/>
          </a:solidFill>
          <a:ln/>
        </p:spPr>
      </p:sp>
      <p:sp>
        <p:nvSpPr>
          <p:cNvPr id="35" name="Shape 33"/>
          <p:cNvSpPr/>
          <p:nvPr/>
        </p:nvSpPr>
        <p:spPr>
          <a:xfrm>
            <a:off x="4617720" y="2414016"/>
            <a:ext cx="0" cy="256032"/>
          </a:xfrm>
          <a:prstGeom prst="line">
            <a:avLst/>
          </a:prstGeom>
          <a:noFill/>
          <a:ln w="31750">
            <a:solidFill>
              <a:srgbClr val="5B6577"/>
            </a:solidFill>
            <a:prstDash val="solid"/>
          </a:ln>
        </p:spPr>
      </p:sp>
      <p:sp>
        <p:nvSpPr>
          <p:cNvPr id="36" name="Shape 34"/>
          <p:cNvSpPr/>
          <p:nvPr/>
        </p:nvSpPr>
        <p:spPr>
          <a:xfrm>
            <a:off x="4754880" y="2414016"/>
            <a:ext cx="0" cy="256032"/>
          </a:xfrm>
          <a:prstGeom prst="line">
            <a:avLst/>
          </a:prstGeom>
          <a:noFill/>
          <a:ln w="31750">
            <a:solidFill>
              <a:srgbClr val="5B6577"/>
            </a:solidFill>
            <a:prstDash val="solid"/>
          </a:ln>
        </p:spPr>
      </p:sp>
      <p:sp>
        <p:nvSpPr>
          <p:cNvPr id="37" name="Text 35"/>
          <p:cNvSpPr txBox="1"/>
          <p:nvPr/>
        </p:nvSpPr>
        <p:spPr>
          <a:xfrm>
            <a:off x="4892040" y="2176272"/>
            <a:ext cx="1005840" cy="256032"/>
          </a:xfrm>
          <a:prstGeom prst="rect">
            <a:avLst/>
          </a:prstGeom>
          <a:noFill/>
          <a:ln/>
        </p:spPr>
        <p:txBody>
          <a:bodyPr wrap="square" lIns="0" tIns="0" rIns="0" bIns="0" rtlCol="0" anchor="t"/>
          <a:lstStyle/>
          <a:p>
            <a:pPr indent="0" marL="0">
              <a:buNone/>
            </a:pPr>
            <a:r>
              <a:rPr lang="en-US" sz="1100" b="1" dirty="0">
                <a:solidFill>
                  <a:srgbClr val="1B2333"/>
                </a:solidFill>
                <a:latin typeface="Calibri" pitchFamily="34" charset="0"/>
                <a:ea typeface="Calibri" pitchFamily="34" charset="-122"/>
                <a:cs typeface="Calibri" pitchFamily="34" charset="-120"/>
              </a:rPr>
              <a:t>Wrist D435i</a:t>
            </a:r>
            <a:endParaRPr lang="en-US" sz="1100" dirty="0"/>
          </a:p>
        </p:txBody>
      </p:sp>
      <p:sp>
        <p:nvSpPr>
          <p:cNvPr id="38" name="Shape 36"/>
          <p:cNvSpPr/>
          <p:nvPr/>
        </p:nvSpPr>
        <p:spPr>
          <a:xfrm>
            <a:off x="5532120" y="1554480"/>
            <a:ext cx="365760" cy="365760"/>
          </a:xfrm>
          <a:prstGeom prst="ellipse">
            <a:avLst/>
          </a:prstGeom>
          <a:solidFill>
            <a:srgbClr val="FFFFFF"/>
          </a:solidFill>
          <a:ln w="19050">
            <a:solidFill>
              <a:srgbClr val="1B2333"/>
            </a:solidFill>
            <a:prstDash val="solid"/>
          </a:ln>
        </p:spPr>
      </p:sp>
      <p:sp>
        <p:nvSpPr>
          <p:cNvPr id="39" name="Shape 37"/>
          <p:cNvSpPr/>
          <p:nvPr/>
        </p:nvSpPr>
        <p:spPr>
          <a:xfrm>
            <a:off x="5495544" y="1664208"/>
            <a:ext cx="438912" cy="82296"/>
          </a:xfrm>
          <a:prstGeom prst="rect">
            <a:avLst/>
          </a:prstGeom>
          <a:solidFill>
            <a:srgbClr val="1B2333"/>
          </a:solidFill>
          <a:ln/>
        </p:spPr>
      </p:sp>
      <p:sp>
        <p:nvSpPr>
          <p:cNvPr id="40" name="Shape 38"/>
          <p:cNvSpPr/>
          <p:nvPr/>
        </p:nvSpPr>
        <p:spPr>
          <a:xfrm>
            <a:off x="5715000" y="1920240"/>
            <a:ext cx="0" cy="1645920"/>
          </a:xfrm>
          <a:prstGeom prst="line">
            <a:avLst/>
          </a:prstGeom>
          <a:noFill/>
          <a:ln w="25400">
            <a:solidFill>
              <a:srgbClr val="1B2333"/>
            </a:solidFill>
            <a:prstDash val="solid"/>
          </a:ln>
        </p:spPr>
      </p:sp>
      <p:sp>
        <p:nvSpPr>
          <p:cNvPr id="41" name="Shape 39"/>
          <p:cNvSpPr/>
          <p:nvPr/>
        </p:nvSpPr>
        <p:spPr>
          <a:xfrm flipH="1">
            <a:off x="5394960" y="2286000"/>
            <a:ext cx="320040" cy="640080"/>
          </a:xfrm>
          <a:prstGeom prst="line">
            <a:avLst/>
          </a:prstGeom>
          <a:noFill/>
          <a:ln w="25400">
            <a:solidFill>
              <a:srgbClr val="1B2333"/>
            </a:solidFill>
            <a:prstDash val="solid"/>
          </a:ln>
        </p:spPr>
      </p:sp>
      <p:sp>
        <p:nvSpPr>
          <p:cNvPr id="42" name="Shape 40"/>
          <p:cNvSpPr/>
          <p:nvPr/>
        </p:nvSpPr>
        <p:spPr>
          <a:xfrm>
            <a:off x="5715000" y="2286000"/>
            <a:ext cx="320040" cy="640080"/>
          </a:xfrm>
          <a:prstGeom prst="line">
            <a:avLst/>
          </a:prstGeom>
          <a:noFill/>
          <a:ln w="25400">
            <a:solidFill>
              <a:srgbClr val="1B2333"/>
            </a:solidFill>
            <a:prstDash val="solid"/>
          </a:ln>
        </p:spPr>
      </p:sp>
      <p:sp>
        <p:nvSpPr>
          <p:cNvPr id="43" name="Shape 41"/>
          <p:cNvSpPr/>
          <p:nvPr/>
        </p:nvSpPr>
        <p:spPr>
          <a:xfrm flipH="1">
            <a:off x="5440680" y="3566160"/>
            <a:ext cx="274320" cy="1874520"/>
          </a:xfrm>
          <a:prstGeom prst="line">
            <a:avLst/>
          </a:prstGeom>
          <a:noFill/>
          <a:ln w="25400">
            <a:solidFill>
              <a:srgbClr val="1B2333"/>
            </a:solidFill>
            <a:prstDash val="solid"/>
          </a:ln>
        </p:spPr>
      </p:sp>
      <p:sp>
        <p:nvSpPr>
          <p:cNvPr id="44" name="Shape 42"/>
          <p:cNvSpPr/>
          <p:nvPr/>
        </p:nvSpPr>
        <p:spPr>
          <a:xfrm>
            <a:off x="5715000" y="3566160"/>
            <a:ext cx="274320" cy="1874520"/>
          </a:xfrm>
          <a:prstGeom prst="line">
            <a:avLst/>
          </a:prstGeom>
          <a:noFill/>
          <a:ln w="25400">
            <a:solidFill>
              <a:srgbClr val="1B2333"/>
            </a:solidFill>
            <a:prstDash val="solid"/>
          </a:ln>
        </p:spPr>
      </p:sp>
      <p:sp>
        <p:nvSpPr>
          <p:cNvPr id="45" name="Text 43"/>
          <p:cNvSpPr txBox="1"/>
          <p:nvPr/>
        </p:nvSpPr>
        <p:spPr>
          <a:xfrm>
            <a:off x="5029200" y="1234440"/>
            <a:ext cx="1371600" cy="274320"/>
          </a:xfrm>
          <a:prstGeom prst="rect">
            <a:avLst/>
          </a:prstGeom>
          <a:noFill/>
          <a:ln/>
        </p:spPr>
        <p:txBody>
          <a:bodyPr wrap="square" lIns="0" tIns="0" rIns="0" bIns="0" rtlCol="0" anchor="t"/>
          <a:lstStyle/>
          <a:p>
            <a:pPr algn="ctr" indent="0" marL="0">
              <a:buNone/>
            </a:pPr>
            <a:r>
              <a:rPr lang="en-US" sz="1100" b="1" dirty="0">
                <a:solidFill>
                  <a:srgbClr val="1B2333"/>
                </a:solidFill>
                <a:latin typeface="Calibri" pitchFamily="34" charset="0"/>
                <a:ea typeface="Calibri" pitchFamily="34" charset="-122"/>
                <a:cs typeface="Calibri" pitchFamily="34" charset="-120"/>
              </a:rPr>
              <a:t>User + Aria glasses</a:t>
            </a:r>
            <a:endParaRPr lang="en-US" sz="1100" dirty="0"/>
          </a:p>
        </p:txBody>
      </p:sp>
      <p:sp>
        <p:nvSpPr>
          <p:cNvPr id="46" name="Shape 44"/>
          <p:cNvSpPr/>
          <p:nvPr/>
        </p:nvSpPr>
        <p:spPr>
          <a:xfrm flipV="1">
            <a:off x="2240280" y="3429000"/>
            <a:ext cx="228600" cy="1124712"/>
          </a:xfrm>
          <a:prstGeom prst="line">
            <a:avLst/>
          </a:prstGeom>
          <a:noFill/>
          <a:ln w="38100">
            <a:solidFill>
              <a:srgbClr val="2E7D4F"/>
            </a:solidFill>
            <a:prstDash val="solid"/>
            <a:headEnd type="triangle"/>
            <a:tailEnd type="triangle"/>
          </a:ln>
        </p:spPr>
      </p:sp>
      <p:sp>
        <p:nvSpPr>
          <p:cNvPr id="47" name="Shape 45"/>
          <p:cNvSpPr/>
          <p:nvPr/>
        </p:nvSpPr>
        <p:spPr>
          <a:xfrm>
            <a:off x="1965960" y="3794760"/>
            <a:ext cx="292608" cy="292608"/>
          </a:xfrm>
          <a:prstGeom prst="ellipse">
            <a:avLst/>
          </a:prstGeom>
          <a:solidFill>
            <a:srgbClr val="2E7D4F"/>
          </a:solidFill>
          <a:ln w="12700">
            <a:solidFill>
              <a:srgbClr val="2E7D4F"/>
            </a:solidFill>
            <a:prstDash val="solid"/>
          </a:ln>
        </p:spPr>
      </p:sp>
      <p:sp>
        <p:nvSpPr>
          <p:cNvPr id="48" name="Text 46"/>
          <p:cNvSpPr txBox="1"/>
          <p:nvPr/>
        </p:nvSpPr>
        <p:spPr>
          <a:xfrm>
            <a:off x="1965960" y="37947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9" name="Shape 47"/>
          <p:cNvSpPr/>
          <p:nvPr/>
        </p:nvSpPr>
        <p:spPr>
          <a:xfrm flipH="1">
            <a:off x="3108960" y="3474720"/>
            <a:ext cx="384048" cy="731520"/>
          </a:xfrm>
          <a:prstGeom prst="line">
            <a:avLst/>
          </a:prstGeom>
          <a:noFill/>
          <a:ln w="38100">
            <a:solidFill>
              <a:srgbClr val="B7791F"/>
            </a:solidFill>
            <a:prstDash val="solid"/>
            <a:headEnd type="triangle"/>
            <a:tailEnd type="triangle"/>
          </a:ln>
        </p:spPr>
      </p:sp>
      <p:sp>
        <p:nvSpPr>
          <p:cNvPr id="50" name="Shape 48"/>
          <p:cNvSpPr/>
          <p:nvPr/>
        </p:nvSpPr>
        <p:spPr>
          <a:xfrm>
            <a:off x="3520440" y="3749040"/>
            <a:ext cx="292608" cy="292608"/>
          </a:xfrm>
          <a:prstGeom prst="ellipse">
            <a:avLst/>
          </a:prstGeom>
          <a:solidFill>
            <a:srgbClr val="B7791F"/>
          </a:solidFill>
          <a:ln w="12700">
            <a:solidFill>
              <a:srgbClr val="B7791F"/>
            </a:solidFill>
            <a:prstDash val="solid"/>
          </a:ln>
        </p:spPr>
      </p:sp>
      <p:sp>
        <p:nvSpPr>
          <p:cNvPr id="51" name="Text 49"/>
          <p:cNvSpPr txBox="1"/>
          <p:nvPr/>
        </p:nvSpPr>
        <p:spPr>
          <a:xfrm>
            <a:off x="3520440" y="374904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2" name="Shape 50"/>
          <p:cNvSpPr/>
          <p:nvPr/>
        </p:nvSpPr>
        <p:spPr>
          <a:xfrm>
            <a:off x="4224528" y="2103120"/>
            <a:ext cx="320040" cy="182880"/>
          </a:xfrm>
          <a:prstGeom prst="line">
            <a:avLst/>
          </a:prstGeom>
          <a:noFill/>
          <a:ln w="38100">
            <a:solidFill>
              <a:srgbClr val="2E7D4F"/>
            </a:solidFill>
            <a:prstDash val="solid"/>
            <a:headEnd type="triangle"/>
            <a:tailEnd type="triangle"/>
          </a:ln>
        </p:spPr>
      </p:sp>
      <p:sp>
        <p:nvSpPr>
          <p:cNvPr id="53" name="Shape 51"/>
          <p:cNvSpPr/>
          <p:nvPr/>
        </p:nvSpPr>
        <p:spPr>
          <a:xfrm>
            <a:off x="4114800" y="2395728"/>
            <a:ext cx="292608" cy="292608"/>
          </a:xfrm>
          <a:prstGeom prst="ellipse">
            <a:avLst/>
          </a:prstGeom>
          <a:solidFill>
            <a:srgbClr val="2E7D4F"/>
          </a:solidFill>
          <a:ln w="12700">
            <a:solidFill>
              <a:srgbClr val="2E7D4F"/>
            </a:solidFill>
            <a:prstDash val="solid"/>
          </a:ln>
        </p:spPr>
      </p:sp>
      <p:sp>
        <p:nvSpPr>
          <p:cNvPr id="54" name="Text 52"/>
          <p:cNvSpPr txBox="1"/>
          <p:nvPr/>
        </p:nvSpPr>
        <p:spPr>
          <a:xfrm>
            <a:off x="4114800" y="239572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5" name="Shape 53"/>
          <p:cNvSpPr/>
          <p:nvPr/>
        </p:nvSpPr>
        <p:spPr>
          <a:xfrm flipH="1">
            <a:off x="3794760" y="1783080"/>
            <a:ext cx="1682496" cy="2788920"/>
          </a:xfrm>
          <a:prstGeom prst="line">
            <a:avLst/>
          </a:prstGeom>
          <a:noFill/>
          <a:ln w="28575">
            <a:solidFill>
              <a:srgbClr val="8A93A3"/>
            </a:solidFill>
            <a:prstDash val="dash"/>
            <a:headEnd type="triangle"/>
            <a:tailEnd type="triangle"/>
          </a:ln>
        </p:spPr>
      </p:sp>
      <p:sp>
        <p:nvSpPr>
          <p:cNvPr id="56" name="Shape 54"/>
          <p:cNvSpPr/>
          <p:nvPr/>
        </p:nvSpPr>
        <p:spPr>
          <a:xfrm>
            <a:off x="4572000" y="3310128"/>
            <a:ext cx="292608" cy="292608"/>
          </a:xfrm>
          <a:prstGeom prst="ellipse">
            <a:avLst/>
          </a:prstGeom>
          <a:solidFill>
            <a:srgbClr val="8A93A3"/>
          </a:solidFill>
          <a:ln w="12700">
            <a:solidFill>
              <a:srgbClr val="8A93A3"/>
            </a:solidFill>
            <a:prstDash val="solid"/>
          </a:ln>
        </p:spPr>
      </p:sp>
      <p:sp>
        <p:nvSpPr>
          <p:cNvPr id="57" name="Text 55"/>
          <p:cNvSpPr txBox="1"/>
          <p:nvPr/>
        </p:nvSpPr>
        <p:spPr>
          <a:xfrm>
            <a:off x="4572000" y="331012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8" name="Text 56"/>
          <p:cNvSpPr txBox="1"/>
          <p:nvPr/>
        </p:nvSpPr>
        <p:spPr>
          <a:xfrm>
            <a:off x="457200" y="5486400"/>
            <a:ext cx="27432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Schematic side view, not to scale</a:t>
            </a:r>
            <a:endParaRPr lang="en-US" sz="1000" dirty="0"/>
          </a:p>
        </p:txBody>
      </p:sp>
      <p:sp>
        <p:nvSpPr>
          <p:cNvPr id="59" name="Shape 57"/>
          <p:cNvSpPr/>
          <p:nvPr/>
        </p:nvSpPr>
        <p:spPr>
          <a:xfrm>
            <a:off x="6537960" y="1417320"/>
            <a:ext cx="5193792" cy="1097280"/>
          </a:xfrm>
          <a:prstGeom prst="rect">
            <a:avLst/>
          </a:prstGeom>
          <a:solidFill>
            <a:srgbClr val="FFFFFF"/>
          </a:solidFill>
          <a:ln w="12700">
            <a:solidFill>
              <a:srgbClr val="CDD3DD"/>
            </a:solidFill>
            <a:prstDash val="solid"/>
          </a:ln>
        </p:spPr>
      </p:sp>
      <p:sp>
        <p:nvSpPr>
          <p:cNvPr id="60" name="Shape 58"/>
          <p:cNvSpPr/>
          <p:nvPr/>
        </p:nvSpPr>
        <p:spPr>
          <a:xfrm>
            <a:off x="6647688" y="1508760"/>
            <a:ext cx="274320" cy="274320"/>
          </a:xfrm>
          <a:prstGeom prst="ellipse">
            <a:avLst/>
          </a:prstGeom>
          <a:solidFill>
            <a:srgbClr val="2E7D4F"/>
          </a:solidFill>
          <a:ln w="12700">
            <a:solidFill>
              <a:srgbClr val="2E7D4F"/>
            </a:solidFill>
            <a:prstDash val="solid"/>
          </a:ln>
        </p:spPr>
      </p:sp>
      <p:sp>
        <p:nvSpPr>
          <p:cNvPr id="61" name="Text 59"/>
          <p:cNvSpPr txBox="1"/>
          <p:nvPr/>
        </p:nvSpPr>
        <p:spPr>
          <a:xfrm>
            <a:off x="6647688" y="150876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2" name="Text 60"/>
          <p:cNvSpPr txBox="1"/>
          <p:nvPr/>
        </p:nvSpPr>
        <p:spPr>
          <a:xfrm>
            <a:off x="7013448" y="1490472"/>
            <a:ext cx="2377440" cy="310896"/>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Base to arm</a:t>
            </a:r>
            <a:endParaRPr lang="en-US" sz="1500" dirty="0"/>
          </a:p>
        </p:txBody>
      </p:sp>
      <p:sp>
        <p:nvSpPr>
          <p:cNvPr id="63" name="Shape 61"/>
          <p:cNvSpPr/>
          <p:nvPr/>
        </p:nvSpPr>
        <p:spPr>
          <a:xfrm>
            <a:off x="10744200" y="1508760"/>
            <a:ext cx="896112" cy="274320"/>
          </a:xfrm>
          <a:prstGeom prst="rect">
            <a:avLst/>
          </a:prstGeom>
          <a:solidFill>
            <a:srgbClr val="E3F1E8"/>
          </a:solidFill>
          <a:ln w="12700">
            <a:solidFill>
              <a:srgbClr val="2E7D4F"/>
            </a:solidFill>
            <a:prstDash val="solid"/>
          </a:ln>
        </p:spPr>
      </p:sp>
      <p:sp>
        <p:nvSpPr>
          <p:cNvPr id="64" name="Text 62"/>
          <p:cNvSpPr txBox="1"/>
          <p:nvPr/>
        </p:nvSpPr>
        <p:spPr>
          <a:xfrm>
            <a:off x="10817352" y="1508760"/>
            <a:ext cx="749808" cy="274320"/>
          </a:xfrm>
          <a:prstGeom prst="rect">
            <a:avLst/>
          </a:prstGeom>
          <a:noFill/>
          <a:ln/>
        </p:spPr>
        <p:txBody>
          <a:bodyPr wrap="square" lIns="0" tIns="0" rIns="0" bIns="0" rtlCol="0" anchor="ctr"/>
          <a:lstStyle/>
          <a:p>
            <a:pPr indent="0" marL="0">
              <a:buNone/>
            </a:pPr>
            <a:r>
              <a:rPr lang="en-US" sz="1150" b="1" dirty="0">
                <a:solidFill>
                  <a:srgbClr val="1F5C39"/>
                </a:solidFill>
                <a:latin typeface="Calibri" pitchFamily="34" charset="0"/>
                <a:ea typeface="Calibri" pitchFamily="34" charset="-122"/>
                <a:cs typeface="Calibri" pitchFamily="34" charset="-120"/>
              </a:rPr>
              <a:t>Measured</a:t>
            </a:r>
            <a:endParaRPr lang="en-US" sz="1150" dirty="0"/>
          </a:p>
        </p:txBody>
      </p:sp>
      <p:sp>
        <p:nvSpPr>
          <p:cNvPr id="65" name="Text 63"/>
          <p:cNvSpPr txBox="1"/>
          <p:nvPr/>
        </p:nvSpPr>
        <p:spPr>
          <a:xfrm>
            <a:off x="7013448" y="1819656"/>
            <a:ext cx="4599432" cy="256032"/>
          </a:xfrm>
          <a:prstGeom prst="rect">
            <a:avLst/>
          </a:prstGeom>
          <a:noFill/>
          <a:ln/>
        </p:spPr>
        <p:txBody>
          <a:bodyPr wrap="square" lIns="0" tIns="0" rIns="0" bIns="0" rtlCol="0" anchor="t"/>
          <a:lstStyle/>
          <a:p>
            <a:pPr indent="0" marL="0">
              <a:buNone/>
            </a:pPr>
            <a:r>
              <a:rPr lang="en-US" sz="1250" b="1" dirty="0">
                <a:solidFill>
                  <a:srgbClr val="5B6577"/>
                </a:solidFill>
                <a:latin typeface="Calibri" pitchFamily="34" charset="0"/>
                <a:ea typeface="Calibri" pitchFamily="34" charset="-122"/>
                <a:cs typeface="Calibri" pitchFamily="34" charset="-120"/>
              </a:rPr>
              <a:t>Used for: </a:t>
            </a:r>
            <a:pPr indent="0" marL="0">
              <a:buNone/>
            </a:pPr>
            <a:r>
              <a:rPr lang="en-US" sz="1250" dirty="0">
                <a:solidFill>
                  <a:srgbClr val="5B6577"/>
                </a:solidFill>
                <a:latin typeface="Calibri" pitchFamily="34" charset="0"/>
                <a:ea typeface="Calibri" pitchFamily="34" charset="-122"/>
                <a:cs typeface="Calibri" pitchFamily="34" charset="-120"/>
              </a:rPr>
              <a:t>Arm grasps in the base’s map</a:t>
            </a:r>
            <a:endParaRPr lang="en-US" sz="1250" dirty="0"/>
          </a:p>
        </p:txBody>
      </p:sp>
      <p:sp>
        <p:nvSpPr>
          <p:cNvPr id="66" name="Text 64"/>
          <p:cNvSpPr txBox="1"/>
          <p:nvPr/>
        </p:nvSpPr>
        <p:spPr>
          <a:xfrm>
            <a:off x="7013448" y="2075688"/>
            <a:ext cx="4599432" cy="402336"/>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(0.18, 0, 0.48) m, yaw 180 degrees, matched on the robot. Base origin (floor, under the drive axle) checked against the vendor manual</a:t>
            </a:r>
            <a:endParaRPr lang="en-US" sz="1250" dirty="0"/>
          </a:p>
        </p:txBody>
      </p:sp>
      <p:sp>
        <p:nvSpPr>
          <p:cNvPr id="67" name="Shape 65"/>
          <p:cNvSpPr/>
          <p:nvPr/>
        </p:nvSpPr>
        <p:spPr>
          <a:xfrm>
            <a:off x="6537960" y="2569464"/>
            <a:ext cx="5193792" cy="1664208"/>
          </a:xfrm>
          <a:prstGeom prst="rect">
            <a:avLst/>
          </a:prstGeom>
          <a:solidFill>
            <a:srgbClr val="FFFFFF"/>
          </a:solidFill>
          <a:ln w="12700">
            <a:solidFill>
              <a:srgbClr val="CDD3DD"/>
            </a:solidFill>
            <a:prstDash val="solid"/>
          </a:ln>
        </p:spPr>
      </p:sp>
      <p:sp>
        <p:nvSpPr>
          <p:cNvPr id="68" name="Shape 66"/>
          <p:cNvSpPr/>
          <p:nvPr/>
        </p:nvSpPr>
        <p:spPr>
          <a:xfrm>
            <a:off x="6647688" y="2660904"/>
            <a:ext cx="274320" cy="274320"/>
          </a:xfrm>
          <a:prstGeom prst="ellipse">
            <a:avLst/>
          </a:prstGeom>
          <a:solidFill>
            <a:srgbClr val="B7791F"/>
          </a:solidFill>
          <a:ln w="12700">
            <a:solidFill>
              <a:srgbClr val="B7791F"/>
            </a:solidFill>
            <a:prstDash val="solid"/>
          </a:ln>
        </p:spPr>
      </p:sp>
      <p:sp>
        <p:nvSpPr>
          <p:cNvPr id="69" name="Text 67"/>
          <p:cNvSpPr txBox="1"/>
          <p:nvPr/>
        </p:nvSpPr>
        <p:spPr>
          <a:xfrm>
            <a:off x="6647688" y="266090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70" name="Text 68"/>
          <p:cNvSpPr txBox="1"/>
          <p:nvPr/>
        </p:nvSpPr>
        <p:spPr>
          <a:xfrm>
            <a:off x="7013448" y="2642616"/>
            <a:ext cx="2377440" cy="310896"/>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Base camera to LiDAR</a:t>
            </a:r>
            <a:endParaRPr lang="en-US" sz="1500" dirty="0"/>
          </a:p>
        </p:txBody>
      </p:sp>
      <p:sp>
        <p:nvSpPr>
          <p:cNvPr id="71" name="Shape 69"/>
          <p:cNvSpPr/>
          <p:nvPr/>
        </p:nvSpPr>
        <p:spPr>
          <a:xfrm>
            <a:off x="9034272" y="2660904"/>
            <a:ext cx="2606040" cy="274320"/>
          </a:xfrm>
          <a:prstGeom prst="rect">
            <a:avLst/>
          </a:prstGeom>
          <a:solidFill>
            <a:srgbClr val="FBF1DC"/>
          </a:solidFill>
          <a:ln w="12700">
            <a:solidFill>
              <a:srgbClr val="B7791F"/>
            </a:solidFill>
            <a:prstDash val="solid"/>
          </a:ln>
        </p:spPr>
      </p:sp>
      <p:sp>
        <p:nvSpPr>
          <p:cNvPr id="72" name="Text 70"/>
          <p:cNvSpPr txBox="1"/>
          <p:nvPr/>
        </p:nvSpPr>
        <p:spPr>
          <a:xfrm>
            <a:off x="9107424" y="2660904"/>
            <a:ext cx="2459736" cy="274320"/>
          </a:xfrm>
          <a:prstGeom prst="rect">
            <a:avLst/>
          </a:prstGeom>
          <a:noFill/>
          <a:ln/>
        </p:spPr>
        <p:txBody>
          <a:bodyPr wrap="square" lIns="0" tIns="0" rIns="0" bIns="0" rtlCol="0" anchor="ctr"/>
          <a:lstStyle/>
          <a:p>
            <a:pPr indent="0" marL="0">
              <a:buNone/>
            </a:pPr>
            <a:r>
              <a:rPr lang="en-US" sz="1150" b="1" dirty="0">
                <a:solidFill>
                  <a:srgbClr val="7A4E0B"/>
                </a:solidFill>
                <a:latin typeface="Calibri" pitchFamily="34" charset="0"/>
                <a:ea typeface="Calibri" pitchFamily="34" charset="-122"/>
                <a:cs typeface="Calibri" pitchFamily="34" charset="-120"/>
              </a:rPr>
              <a:t>Mount measured, not calibrated</a:t>
            </a:r>
            <a:endParaRPr lang="en-US" sz="1150" dirty="0"/>
          </a:p>
        </p:txBody>
      </p:sp>
      <p:sp>
        <p:nvSpPr>
          <p:cNvPr id="73" name="Text 71"/>
          <p:cNvSpPr txBox="1"/>
          <p:nvPr/>
        </p:nvSpPr>
        <p:spPr>
          <a:xfrm>
            <a:off x="7013448" y="2971800"/>
            <a:ext cx="4599432" cy="256032"/>
          </a:xfrm>
          <a:prstGeom prst="rect">
            <a:avLst/>
          </a:prstGeom>
          <a:noFill/>
          <a:ln/>
        </p:spPr>
        <p:txBody>
          <a:bodyPr wrap="square" lIns="0" tIns="0" rIns="0" bIns="0" rtlCol="0" anchor="t"/>
          <a:lstStyle/>
          <a:p>
            <a:pPr indent="0" marL="0">
              <a:buNone/>
            </a:pPr>
            <a:r>
              <a:rPr lang="en-US" sz="1250" b="1" dirty="0">
                <a:solidFill>
                  <a:srgbClr val="5B6577"/>
                </a:solidFill>
                <a:latin typeface="Calibri" pitchFamily="34" charset="0"/>
                <a:ea typeface="Calibri" pitchFamily="34" charset="-122"/>
                <a:cs typeface="Calibri" pitchFamily="34" charset="-120"/>
              </a:rPr>
              <a:t>Used for: </a:t>
            </a:r>
            <a:pPr indent="0" marL="0">
              <a:buNone/>
            </a:pPr>
            <a:r>
              <a:rPr lang="en-US" sz="1250" dirty="0">
                <a:solidFill>
                  <a:srgbClr val="5B6577"/>
                </a:solidFill>
                <a:latin typeface="Calibri" pitchFamily="34" charset="0"/>
                <a:ea typeface="Calibri" pitchFamily="34" charset="-122"/>
                <a:cs typeface="Calibri" pitchFamily="34" charset="-120"/>
              </a:rPr>
              <a:t>Object positions and depth in the memory graph</a:t>
            </a:r>
            <a:endParaRPr lang="en-US" sz="1250" dirty="0"/>
          </a:p>
        </p:txBody>
      </p:sp>
      <p:sp>
        <p:nvSpPr>
          <p:cNvPr id="74" name="Text 72"/>
          <p:cNvSpPr txBox="1"/>
          <p:nvPr/>
        </p:nvSpPr>
        <p:spPr>
          <a:xfrm>
            <a:off x="7013448" y="3227832"/>
            <a:ext cx="4599432" cy="969264"/>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Measured to the camera’s mounting hole, Intel’s published dimensions from there. Rotation set by construction (flush on vertical aluminium extrusions), not measured with a tool. Mount values wired and unit-tested (12 software checks). Not yet calibrated to the LiDAR: about 6.7 px of error per degree. Rig planned (T5.5)</a:t>
            </a:r>
            <a:endParaRPr lang="en-US" sz="1250" dirty="0"/>
          </a:p>
        </p:txBody>
      </p:sp>
      <p:sp>
        <p:nvSpPr>
          <p:cNvPr id="75" name="Shape 73"/>
          <p:cNvSpPr/>
          <p:nvPr/>
        </p:nvSpPr>
        <p:spPr>
          <a:xfrm>
            <a:off x="6537960" y="4288536"/>
            <a:ext cx="5193792" cy="676656"/>
          </a:xfrm>
          <a:prstGeom prst="rect">
            <a:avLst/>
          </a:prstGeom>
          <a:solidFill>
            <a:srgbClr val="FFFFFF"/>
          </a:solidFill>
          <a:ln w="12700">
            <a:solidFill>
              <a:srgbClr val="CDD3DD"/>
            </a:solidFill>
            <a:prstDash val="solid"/>
          </a:ln>
        </p:spPr>
      </p:sp>
      <p:sp>
        <p:nvSpPr>
          <p:cNvPr id="76" name="Shape 74"/>
          <p:cNvSpPr/>
          <p:nvPr/>
        </p:nvSpPr>
        <p:spPr>
          <a:xfrm>
            <a:off x="6647688" y="4379976"/>
            <a:ext cx="274320" cy="274320"/>
          </a:xfrm>
          <a:prstGeom prst="ellipse">
            <a:avLst/>
          </a:prstGeom>
          <a:solidFill>
            <a:srgbClr val="2E7D4F"/>
          </a:solidFill>
          <a:ln w="12700">
            <a:solidFill>
              <a:srgbClr val="2E7D4F"/>
            </a:solidFill>
            <a:prstDash val="solid"/>
          </a:ln>
        </p:spPr>
      </p:sp>
      <p:sp>
        <p:nvSpPr>
          <p:cNvPr id="77" name="Text 75"/>
          <p:cNvSpPr txBox="1"/>
          <p:nvPr/>
        </p:nvSpPr>
        <p:spPr>
          <a:xfrm>
            <a:off x="6647688" y="437997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8" name="Text 76"/>
          <p:cNvSpPr txBox="1"/>
          <p:nvPr/>
        </p:nvSpPr>
        <p:spPr>
          <a:xfrm>
            <a:off x="7013448" y="4361688"/>
            <a:ext cx="2377440" cy="310896"/>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Wrist camera to arm</a:t>
            </a:r>
            <a:endParaRPr lang="en-US" sz="1500" dirty="0"/>
          </a:p>
        </p:txBody>
      </p:sp>
      <p:sp>
        <p:nvSpPr>
          <p:cNvPr id="79" name="Shape 77"/>
          <p:cNvSpPr/>
          <p:nvPr/>
        </p:nvSpPr>
        <p:spPr>
          <a:xfrm>
            <a:off x="10588752" y="4379976"/>
            <a:ext cx="1051560" cy="274320"/>
          </a:xfrm>
          <a:prstGeom prst="rect">
            <a:avLst/>
          </a:prstGeom>
          <a:solidFill>
            <a:srgbClr val="E3F1E8"/>
          </a:solidFill>
          <a:ln w="12700">
            <a:solidFill>
              <a:srgbClr val="2E7D4F"/>
            </a:solidFill>
            <a:prstDash val="solid"/>
          </a:ln>
        </p:spPr>
      </p:sp>
      <p:sp>
        <p:nvSpPr>
          <p:cNvPr id="80" name="Text 78"/>
          <p:cNvSpPr txBox="1"/>
          <p:nvPr/>
        </p:nvSpPr>
        <p:spPr>
          <a:xfrm>
            <a:off x="10661904" y="4379976"/>
            <a:ext cx="905256" cy="274320"/>
          </a:xfrm>
          <a:prstGeom prst="rect">
            <a:avLst/>
          </a:prstGeom>
          <a:noFill/>
          <a:ln/>
        </p:spPr>
        <p:txBody>
          <a:bodyPr wrap="square" lIns="0" tIns="0" rIns="0" bIns="0" rtlCol="0" anchor="ctr"/>
          <a:lstStyle/>
          <a:p>
            <a:pPr indent="0" marL="0">
              <a:buNone/>
            </a:pPr>
            <a:r>
              <a:rPr lang="en-US" sz="1150" b="1" dirty="0">
                <a:solidFill>
                  <a:srgbClr val="1F5C39"/>
                </a:solidFill>
                <a:latin typeface="Calibri" pitchFamily="34" charset="0"/>
                <a:ea typeface="Calibri" pitchFamily="34" charset="-122"/>
                <a:cs typeface="Calibri" pitchFamily="34" charset="-120"/>
              </a:rPr>
              <a:t>Calibrated</a:t>
            </a:r>
            <a:endParaRPr lang="en-US" sz="1150" dirty="0"/>
          </a:p>
        </p:txBody>
      </p:sp>
      <p:sp>
        <p:nvSpPr>
          <p:cNvPr id="81" name="Text 79"/>
          <p:cNvSpPr txBox="1"/>
          <p:nvPr/>
        </p:nvSpPr>
        <p:spPr>
          <a:xfrm>
            <a:off x="7013448" y="4690872"/>
            <a:ext cx="4599432" cy="256032"/>
          </a:xfrm>
          <a:prstGeom prst="rect">
            <a:avLst/>
          </a:prstGeom>
          <a:noFill/>
          <a:ln/>
        </p:spPr>
        <p:txBody>
          <a:bodyPr wrap="square" lIns="0" tIns="0" rIns="0" bIns="0" rtlCol="0" anchor="t"/>
          <a:lstStyle/>
          <a:p>
            <a:pPr indent="0" marL="0">
              <a:buNone/>
            </a:pPr>
            <a:r>
              <a:rPr lang="en-US" sz="1250" b="1" dirty="0">
                <a:solidFill>
                  <a:srgbClr val="5B6577"/>
                </a:solidFill>
                <a:latin typeface="Calibri" pitchFamily="34" charset="0"/>
                <a:ea typeface="Calibri" pitchFamily="34" charset="-122"/>
                <a:cs typeface="Calibri" pitchFamily="34" charset="-120"/>
              </a:rPr>
              <a:t>Used for: </a:t>
            </a:r>
            <a:pPr indent="0" marL="0">
              <a:buNone/>
            </a:pPr>
            <a:r>
              <a:rPr lang="en-US" sz="1250" dirty="0">
                <a:solidFill>
                  <a:srgbClr val="5B6577"/>
                </a:solidFill>
                <a:latin typeface="Calibri" pitchFamily="34" charset="0"/>
                <a:ea typeface="Calibri" pitchFamily="34" charset="-122"/>
                <a:cs typeface="Calibri" pitchFamily="34" charset="-120"/>
              </a:rPr>
              <a:t>Turning a grasp seen by the camera into an arm goal</a:t>
            </a:r>
            <a:endParaRPr lang="en-US" sz="1250" dirty="0"/>
          </a:p>
        </p:txBody>
      </p:sp>
      <p:sp>
        <p:nvSpPr>
          <p:cNvPr id="82" name="Shape 80"/>
          <p:cNvSpPr/>
          <p:nvPr/>
        </p:nvSpPr>
        <p:spPr>
          <a:xfrm>
            <a:off x="6537960" y="5020056"/>
            <a:ext cx="5193792" cy="886968"/>
          </a:xfrm>
          <a:prstGeom prst="rect">
            <a:avLst/>
          </a:prstGeom>
          <a:solidFill>
            <a:srgbClr val="FFFFFF"/>
          </a:solidFill>
          <a:ln w="12700">
            <a:solidFill>
              <a:srgbClr val="CDD3DD"/>
            </a:solidFill>
            <a:prstDash val="solid"/>
          </a:ln>
        </p:spPr>
      </p:sp>
      <p:sp>
        <p:nvSpPr>
          <p:cNvPr id="83" name="Shape 81"/>
          <p:cNvSpPr/>
          <p:nvPr/>
        </p:nvSpPr>
        <p:spPr>
          <a:xfrm>
            <a:off x="6647688" y="5111496"/>
            <a:ext cx="274320" cy="274320"/>
          </a:xfrm>
          <a:prstGeom prst="ellipse">
            <a:avLst/>
          </a:prstGeom>
          <a:solidFill>
            <a:srgbClr val="8A93A3"/>
          </a:solidFill>
          <a:ln w="12700">
            <a:solidFill>
              <a:srgbClr val="8A93A3"/>
            </a:solidFill>
            <a:prstDash val="solid"/>
          </a:ln>
        </p:spPr>
      </p:sp>
      <p:sp>
        <p:nvSpPr>
          <p:cNvPr id="84" name="Text 82"/>
          <p:cNvSpPr txBox="1"/>
          <p:nvPr/>
        </p:nvSpPr>
        <p:spPr>
          <a:xfrm>
            <a:off x="6647688" y="51114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85" name="Text 83"/>
          <p:cNvSpPr txBox="1"/>
          <p:nvPr/>
        </p:nvSpPr>
        <p:spPr>
          <a:xfrm>
            <a:off x="7013448" y="5093208"/>
            <a:ext cx="2377440" cy="310896"/>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Glasses to robot</a:t>
            </a:r>
            <a:endParaRPr lang="en-US" sz="1500" dirty="0"/>
          </a:p>
        </p:txBody>
      </p:sp>
      <p:sp>
        <p:nvSpPr>
          <p:cNvPr id="86" name="Shape 84"/>
          <p:cNvSpPr/>
          <p:nvPr/>
        </p:nvSpPr>
        <p:spPr>
          <a:xfrm>
            <a:off x="10277856" y="5111496"/>
            <a:ext cx="1362456" cy="274320"/>
          </a:xfrm>
          <a:prstGeom prst="rect">
            <a:avLst/>
          </a:prstGeom>
          <a:solidFill>
            <a:srgbClr val="FFFFFF"/>
          </a:solidFill>
          <a:ln w="12700">
            <a:solidFill>
              <a:srgbClr val="8A93A3"/>
            </a:solidFill>
            <a:prstDash val="solid"/>
          </a:ln>
        </p:spPr>
      </p:sp>
      <p:sp>
        <p:nvSpPr>
          <p:cNvPr id="87" name="Text 85"/>
          <p:cNvSpPr txBox="1"/>
          <p:nvPr/>
        </p:nvSpPr>
        <p:spPr>
          <a:xfrm>
            <a:off x="10351008" y="5111496"/>
            <a:ext cx="1216152" cy="274320"/>
          </a:xfrm>
          <a:prstGeom prst="rect">
            <a:avLst/>
          </a:prstGeom>
          <a:noFill/>
          <a:ln/>
        </p:spPr>
        <p:txBody>
          <a:bodyPr wrap="square" lIns="0" tIns="0" rIns="0" bIns="0" rtlCol="0" anchor="ctr"/>
          <a:lstStyle/>
          <a:p>
            <a:pPr indent="0" marL="0">
              <a:buNone/>
            </a:pPr>
            <a:r>
              <a:rPr lang="en-US" sz="1150" b="1" dirty="0">
                <a:solidFill>
                  <a:srgbClr val="4B5363"/>
                </a:solidFill>
                <a:latin typeface="Calibri" pitchFamily="34" charset="0"/>
                <a:ea typeface="Calibri" pitchFamily="34" charset="-122"/>
                <a:cs typeface="Calibri" pitchFamily="34" charset="-120"/>
              </a:rPr>
              <a:t>Planned (T8.8)</a:t>
            </a:r>
            <a:endParaRPr lang="en-US" sz="1150" dirty="0"/>
          </a:p>
        </p:txBody>
      </p:sp>
      <p:sp>
        <p:nvSpPr>
          <p:cNvPr id="88" name="Text 86"/>
          <p:cNvSpPr txBox="1"/>
          <p:nvPr/>
        </p:nvSpPr>
        <p:spPr>
          <a:xfrm>
            <a:off x="7013448" y="5422392"/>
            <a:ext cx="4599432" cy="256032"/>
          </a:xfrm>
          <a:prstGeom prst="rect">
            <a:avLst/>
          </a:prstGeom>
          <a:noFill/>
          <a:ln/>
        </p:spPr>
        <p:txBody>
          <a:bodyPr wrap="square" lIns="0" tIns="0" rIns="0" bIns="0" rtlCol="0" anchor="t"/>
          <a:lstStyle/>
          <a:p>
            <a:pPr indent="0" marL="0">
              <a:buNone/>
            </a:pPr>
            <a:r>
              <a:rPr lang="en-US" sz="1250" b="1" dirty="0">
                <a:solidFill>
                  <a:srgbClr val="5B6577"/>
                </a:solidFill>
                <a:latin typeface="Calibri" pitchFamily="34" charset="0"/>
                <a:ea typeface="Calibri" pitchFamily="34" charset="-122"/>
                <a:cs typeface="Calibri" pitchFamily="34" charset="-120"/>
              </a:rPr>
              <a:t>Used for: </a:t>
            </a:r>
            <a:pPr indent="0" marL="0">
              <a:buNone/>
            </a:pPr>
            <a:r>
              <a:rPr lang="en-US" sz="1250" dirty="0">
                <a:solidFill>
                  <a:srgbClr val="5B6577"/>
                </a:solidFill>
                <a:latin typeface="Calibri" pitchFamily="34" charset="0"/>
                <a:ea typeface="Calibri" pitchFamily="34" charset="-122"/>
                <a:cs typeface="Calibri" pitchFamily="34" charset="-120"/>
              </a:rPr>
              <a:t>A gaze ray in the robot’s own 3D frame, for look-alike objects</a:t>
            </a:r>
            <a:endParaRPr lang="en-US" sz="1250" dirty="0"/>
          </a:p>
        </p:txBody>
      </p:sp>
      <p:sp>
        <p:nvSpPr>
          <p:cNvPr id="89" name="Text 87"/>
          <p:cNvSpPr txBox="1"/>
          <p:nvPr/>
        </p:nvSpPr>
        <p:spPr>
          <a:xfrm>
            <a:off x="7013448" y="5678424"/>
            <a:ext cx="4599432" cy="192024"/>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Three methods ranked</a:t>
            </a:r>
            <a:endParaRPr lang="en-US" sz="1250" dirty="0"/>
          </a:p>
        </p:txBody>
      </p:sp>
      <p:sp>
        <p:nvSpPr>
          <p:cNvPr id="90" name="Text 88"/>
          <p:cNvSpPr txBox="1"/>
          <p:nvPr/>
        </p:nvSpPr>
        <p:spPr>
          <a:xfrm>
            <a:off x="457200" y="5742432"/>
            <a:ext cx="5943600" cy="228600"/>
          </a:xfrm>
          <a:prstGeom prst="rect">
            <a:avLst/>
          </a:prstGeom>
          <a:noFill/>
          <a:ln/>
        </p:spPr>
        <p:txBody>
          <a:bodyPr wrap="square" lIns="0" tIns="0" rIns="0" bIns="0" rtlCol="0" anchor="t"/>
          <a:lstStyle/>
          <a:p>
            <a:pPr indent="0" marL="0">
              <a:buNone/>
            </a:pPr>
            <a:r>
              <a:rPr lang="en-US" sz="1100" b="1" dirty="0">
                <a:solidFill>
                  <a:srgbClr val="5B6577"/>
                </a:solidFill>
                <a:latin typeface="Calibri" pitchFamily="34" charset="0"/>
                <a:ea typeface="Calibri" pitchFamily="34" charset="-122"/>
                <a:cs typeface="Calibri" pitchFamily="34" charset="-120"/>
              </a:rPr>
              <a:t>Line key: </a:t>
            </a:r>
            <a:pPr indent="0" marL="0">
              <a:buNone/>
            </a:pPr>
            <a:r>
              <a:rPr lang="en-US" sz="1100" dirty="0">
                <a:solidFill>
                  <a:srgbClr val="5B6577"/>
                </a:solidFill>
                <a:latin typeface="Calibri" pitchFamily="34" charset="0"/>
                <a:ea typeface="Calibri" pitchFamily="34" charset="-122"/>
                <a:cs typeface="Calibri" pitchFamily="34" charset="-120"/>
              </a:rPr>
              <a:t>green, measured or calibrated. Amber, measured, not calibrated. Grey dashed, planned</a:t>
            </a:r>
            <a:endParaRPr lang="en-US" sz="1100" dirty="0"/>
          </a:p>
        </p:txBody>
      </p:sp>
      <p:sp>
        <p:nvSpPr>
          <p:cNvPr id="91" name="Text 89"/>
          <p:cNvSpPr txBox="1"/>
          <p:nvPr/>
        </p:nvSpPr>
        <p:spPr>
          <a:xfrm>
            <a:off x="457200" y="6053328"/>
            <a:ext cx="11274552" cy="347472"/>
          </a:xfrm>
          <a:prstGeom prst="rect">
            <a:avLst/>
          </a:prstGeom>
          <a:noFill/>
          <a:ln/>
        </p:spPr>
        <p:txBody>
          <a:bodyPr wrap="square" lIns="0" tIns="0" rIns="0" bIns="0" rtlCol="0" anchor="t"/>
          <a:lstStyle/>
          <a:p>
            <a:pPr indent="0" marL="0">
              <a:buNone/>
            </a:pPr>
            <a:r>
              <a:rPr lang="en-US" sz="1350" i="1" dirty="0">
                <a:solidFill>
                  <a:srgbClr val="1B2333"/>
                </a:solidFill>
                <a:latin typeface="Calibri" pitchFamily="34" charset="0"/>
                <a:ea typeface="Calibri" pitchFamily="34" charset="-122"/>
                <a:cs typeface="Calibri" pitchFamily="34" charset="-120"/>
              </a:rPr>
              <a:t>Camera calibration (where is one camera relative to another) is a separate problem from the robot’s frame tree (where each part is relative to the base)</a:t>
            </a:r>
            <a:endParaRPr lang="en-US" sz="1350" dirty="0"/>
          </a:p>
        </p:txBody>
      </p:sp>
      <p:sp>
        <p:nvSpPr>
          <p:cNvPr id="92" name="Text 9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Sherman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1F3B73"/>
          </a:solidFill>
          <a:ln w="9525">
            <a:solidFill>
              <a:srgbClr val="1F3B73"/>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The memory graph turns a drive into objects with a position and an image feature</a:t>
            </a:r>
            <a:endParaRPr lang="en-US" sz="2400" dirty="0"/>
          </a:p>
        </p:txBody>
      </p:sp>
      <p:sp>
        <p:nvSpPr>
          <p:cNvPr id="13" name="Text 11"/>
          <p:cNvSpPr txBox="1"/>
          <p:nvPr/>
        </p:nvSpPr>
        <p:spPr>
          <a:xfrm>
            <a:off x="457200" y="1417320"/>
            <a:ext cx="7086600" cy="658368"/>
          </a:xfrm>
          <a:prstGeom prst="rect">
            <a:avLst/>
          </a:prstGeom>
          <a:noFill/>
          <a:ln/>
        </p:spPr>
        <p:txBody>
          <a:bodyPr wrap="square" lIns="0" tIns="0" rIns="0" bIns="0" rtlCol="0" anchor="t"/>
          <a:lstStyle/>
          <a:p>
            <a:pPr indent="0" marL="0">
              <a:spcAft>
                <a:spcPts val="400"/>
              </a:spcAft>
              <a:buNone/>
            </a:pPr>
            <a:r>
              <a:rPr lang="en-US" sz="1600" b="1" dirty="0">
                <a:solidFill>
                  <a:srgbClr val="1F3B73"/>
                </a:solidFill>
                <a:latin typeface="Calibri" pitchFamily="34" charset="0"/>
                <a:ea typeface="Calibri" pitchFamily="34" charset="-122"/>
                <a:cs typeface="Calibri" pitchFamily="34" charset="-120"/>
              </a:rPr>
              <a:t>Objects: </a:t>
            </a:r>
            <a:pPr indent="0" marL="0">
              <a:spcAft>
                <a:spcPts val="400"/>
              </a:spcAft>
              <a:buNone/>
            </a:pPr>
            <a:r>
              <a:rPr lang="en-US" sz="1600" dirty="0">
                <a:solidFill>
                  <a:srgbClr val="1B2333"/>
                </a:solidFill>
                <a:latin typeface="Calibri" pitchFamily="34" charset="0"/>
                <a:ea typeface="Calibri" pitchFamily="34" charset="-122"/>
                <a:cs typeface="Calibri" pitchFamily="34" charset="-120"/>
              </a:rPr>
              <a:t>merged 3D points, a box, an averaged CLIP image feature, a class label</a:t>
            </a:r>
            <a:endParaRPr lang="en-US" sz="1600" dirty="0"/>
          </a:p>
          <a:p>
            <a:pPr indent="0" marL="0">
              <a:spcAft>
                <a:spcPts val="400"/>
              </a:spcAft>
              <a:buNone/>
            </a:pPr>
            <a:r>
              <a:rPr lang="en-US" sz="1600" b="1" dirty="0">
                <a:solidFill>
                  <a:srgbClr val="1F3B73"/>
                </a:solidFill>
                <a:latin typeface="Calibri" pitchFamily="34" charset="0"/>
                <a:ea typeface="Calibri" pitchFamily="34" charset="-122"/>
                <a:cs typeface="Calibri" pitchFamily="34" charset="-120"/>
              </a:rPr>
              <a:t>Anchors: </a:t>
            </a:r>
            <a:pPr indent="0" marL="0">
              <a:spcAft>
                <a:spcPts val="400"/>
              </a:spcAft>
              <a:buNone/>
            </a:pPr>
            <a:r>
              <a:rPr lang="en-US" sz="1600" dirty="0">
                <a:solidFill>
                  <a:srgbClr val="1B2333"/>
                </a:solidFill>
                <a:latin typeface="Calibri" pitchFamily="34" charset="0"/>
                <a:ea typeface="Calibri" pitchFamily="34" charset="-122"/>
                <a:cs typeface="Calibri" pitchFamily="34" charset="-120"/>
              </a:rPr>
              <a:t>kept photos with the camera pose, linked to the objects they show</a:t>
            </a:r>
            <a:endParaRPr lang="en-US" sz="1600" dirty="0"/>
          </a:p>
        </p:txBody>
      </p:sp>
      <p:sp>
        <p:nvSpPr>
          <p:cNvPr id="14" name="Text 12"/>
          <p:cNvSpPr txBox="1"/>
          <p:nvPr/>
        </p:nvSpPr>
        <p:spPr>
          <a:xfrm>
            <a:off x="457200" y="2148840"/>
            <a:ext cx="7086600" cy="237744"/>
          </a:xfrm>
          <a:prstGeom prst="rect">
            <a:avLst/>
          </a:prstGeom>
          <a:noFill/>
          <a:ln/>
        </p:spPr>
        <p:txBody>
          <a:bodyPr wrap="square" lIns="0" tIns="0" rIns="0" bIns="0" rtlCol="0" anchor="t"/>
          <a:lstStyle/>
          <a:p>
            <a:pPr indent="0" marL="0">
              <a:buNone/>
            </a:pPr>
            <a:r>
              <a:rPr lang="en-US" sz="1300" b="1" dirty="0">
                <a:solidFill>
                  <a:srgbClr val="5B6577"/>
                </a:solidFill>
                <a:latin typeface="Calibri" pitchFamily="34" charset="0"/>
                <a:ea typeface="Calibri" pitchFamily="34" charset="-122"/>
                <a:cs typeface="Calibri" pitchFamily="34" charset="-120"/>
              </a:rPr>
              <a:t>How it is built, in 14 tested stages</a:t>
            </a:r>
            <a:endParaRPr lang="en-US" sz="1300" dirty="0"/>
          </a:p>
        </p:txBody>
      </p:sp>
      <p:sp>
        <p:nvSpPr>
          <p:cNvPr id="15" name="Shape 13"/>
          <p:cNvSpPr/>
          <p:nvPr/>
        </p:nvSpPr>
        <p:spPr>
          <a:xfrm>
            <a:off x="457200" y="2423160"/>
            <a:ext cx="1069848" cy="530352"/>
          </a:xfrm>
          <a:prstGeom prst="rect">
            <a:avLst/>
          </a:prstGeom>
          <a:solidFill>
            <a:srgbClr val="F2F4F8"/>
          </a:solidFill>
          <a:ln/>
        </p:spPr>
      </p:sp>
      <p:sp>
        <p:nvSpPr>
          <p:cNvPr id="16" name="Text 14"/>
          <p:cNvSpPr txBox="1"/>
          <p:nvPr/>
        </p:nvSpPr>
        <p:spPr>
          <a:xfrm>
            <a:off x="493776" y="2423160"/>
            <a:ext cx="996696" cy="530352"/>
          </a:xfrm>
          <a:prstGeom prst="rect">
            <a:avLst/>
          </a:prstGeom>
          <a:noFill/>
          <a:ln/>
        </p:spPr>
        <p:txBody>
          <a:bodyPr wrap="square" lIns="0" tIns="0" rIns="0" bIns="0" rtlCol="0" anchor="ctr"/>
          <a:lstStyle/>
          <a:p>
            <a:pPr algn="ctr" indent="0" marL="0">
              <a:buNone/>
            </a:pPr>
            <a:r>
              <a:rPr lang="en-US" sz="1100" dirty="0">
                <a:solidFill>
                  <a:srgbClr val="1B2333"/>
                </a:solidFill>
                <a:latin typeface="Calibri" pitchFamily="34" charset="0"/>
                <a:ea typeface="Calibri" pitchFamily="34" charset="-122"/>
                <a:cs typeface="Calibri" pitchFamily="34" charset="-120"/>
              </a:rPr>
              <a:t>Keep a photo every 1 m or 45 deg</a:t>
            </a:r>
            <a:endParaRPr lang="en-US" sz="1100" dirty="0"/>
          </a:p>
        </p:txBody>
      </p:sp>
      <p:sp>
        <p:nvSpPr>
          <p:cNvPr id="17" name="Shape 15"/>
          <p:cNvSpPr/>
          <p:nvPr/>
        </p:nvSpPr>
        <p:spPr>
          <a:xfrm>
            <a:off x="1536192" y="2688336"/>
            <a:ext cx="115214" cy="0"/>
          </a:xfrm>
          <a:prstGeom prst="line">
            <a:avLst/>
          </a:prstGeom>
          <a:noFill/>
          <a:ln w="12700">
            <a:solidFill>
              <a:srgbClr val="1B2333"/>
            </a:solidFill>
            <a:prstDash val="solid"/>
            <a:tailEnd type="triangle"/>
          </a:ln>
        </p:spPr>
      </p:sp>
      <p:sp>
        <p:nvSpPr>
          <p:cNvPr id="18" name="Shape 16"/>
          <p:cNvSpPr/>
          <p:nvPr/>
        </p:nvSpPr>
        <p:spPr>
          <a:xfrm>
            <a:off x="1660550" y="2423160"/>
            <a:ext cx="1069848" cy="530352"/>
          </a:xfrm>
          <a:prstGeom prst="rect">
            <a:avLst/>
          </a:prstGeom>
          <a:solidFill>
            <a:srgbClr val="F2F4F8"/>
          </a:solidFill>
          <a:ln/>
        </p:spPr>
      </p:sp>
      <p:sp>
        <p:nvSpPr>
          <p:cNvPr id="19" name="Text 17"/>
          <p:cNvSpPr txBox="1"/>
          <p:nvPr/>
        </p:nvSpPr>
        <p:spPr>
          <a:xfrm>
            <a:off x="1697126" y="2423160"/>
            <a:ext cx="996696" cy="530352"/>
          </a:xfrm>
          <a:prstGeom prst="rect">
            <a:avLst/>
          </a:prstGeom>
          <a:noFill/>
          <a:ln/>
        </p:spPr>
        <p:txBody>
          <a:bodyPr wrap="square" lIns="0" tIns="0" rIns="0" bIns="0" rtlCol="0" anchor="ctr"/>
          <a:lstStyle/>
          <a:p>
            <a:pPr algn="ctr" indent="0" marL="0">
              <a:buNone/>
            </a:pPr>
            <a:r>
              <a:rPr lang="en-US" sz="1100" dirty="0">
                <a:solidFill>
                  <a:srgbClr val="1B2333"/>
                </a:solidFill>
                <a:latin typeface="Calibri" pitchFamily="34" charset="0"/>
                <a:ea typeface="Calibri" pitchFamily="34" charset="-122"/>
                <a:cs typeface="Calibri" pitchFamily="34" charset="-120"/>
              </a:rPr>
              <a:t>SAM 3 finds all 30 classes</a:t>
            </a:r>
            <a:endParaRPr lang="en-US" sz="1100" dirty="0"/>
          </a:p>
        </p:txBody>
      </p:sp>
      <p:sp>
        <p:nvSpPr>
          <p:cNvPr id="20" name="Shape 18"/>
          <p:cNvSpPr/>
          <p:nvPr/>
        </p:nvSpPr>
        <p:spPr>
          <a:xfrm>
            <a:off x="2739542" y="2688336"/>
            <a:ext cx="115214" cy="0"/>
          </a:xfrm>
          <a:prstGeom prst="line">
            <a:avLst/>
          </a:prstGeom>
          <a:noFill/>
          <a:ln w="12700">
            <a:solidFill>
              <a:srgbClr val="1B2333"/>
            </a:solidFill>
            <a:prstDash val="solid"/>
            <a:tailEnd type="triangle"/>
          </a:ln>
        </p:spPr>
      </p:sp>
      <p:sp>
        <p:nvSpPr>
          <p:cNvPr id="21" name="Shape 19"/>
          <p:cNvSpPr/>
          <p:nvPr/>
        </p:nvSpPr>
        <p:spPr>
          <a:xfrm>
            <a:off x="2863901" y="2423160"/>
            <a:ext cx="1069848" cy="530352"/>
          </a:xfrm>
          <a:prstGeom prst="rect">
            <a:avLst/>
          </a:prstGeom>
          <a:solidFill>
            <a:srgbClr val="F2F4F8"/>
          </a:solidFill>
          <a:ln/>
        </p:spPr>
      </p:sp>
      <p:sp>
        <p:nvSpPr>
          <p:cNvPr id="22" name="Text 20"/>
          <p:cNvSpPr txBox="1"/>
          <p:nvPr/>
        </p:nvSpPr>
        <p:spPr>
          <a:xfrm>
            <a:off x="2900477" y="2423160"/>
            <a:ext cx="996696" cy="530352"/>
          </a:xfrm>
          <a:prstGeom prst="rect">
            <a:avLst/>
          </a:prstGeom>
          <a:noFill/>
          <a:ln/>
        </p:spPr>
        <p:txBody>
          <a:bodyPr wrap="square" lIns="0" tIns="0" rIns="0" bIns="0" rtlCol="0" anchor="ctr"/>
          <a:lstStyle/>
          <a:p>
            <a:pPr algn="ctr" indent="0" marL="0">
              <a:buNone/>
            </a:pPr>
            <a:r>
              <a:rPr lang="en-US" sz="1100" dirty="0">
                <a:solidFill>
                  <a:srgbClr val="1B2333"/>
                </a:solidFill>
                <a:latin typeface="Calibri" pitchFamily="34" charset="0"/>
                <a:ea typeface="Calibri" pitchFamily="34" charset="-122"/>
                <a:cs typeface="Calibri" pitchFamily="34" charset="-120"/>
              </a:rPr>
              <a:t>LiDAR gives depth</a:t>
            </a:r>
            <a:endParaRPr lang="en-US" sz="1100" dirty="0"/>
          </a:p>
        </p:txBody>
      </p:sp>
      <p:sp>
        <p:nvSpPr>
          <p:cNvPr id="23" name="Shape 21"/>
          <p:cNvSpPr/>
          <p:nvPr/>
        </p:nvSpPr>
        <p:spPr>
          <a:xfrm>
            <a:off x="3942893" y="2688336"/>
            <a:ext cx="115214" cy="0"/>
          </a:xfrm>
          <a:prstGeom prst="line">
            <a:avLst/>
          </a:prstGeom>
          <a:noFill/>
          <a:ln w="12700">
            <a:solidFill>
              <a:srgbClr val="1B2333"/>
            </a:solidFill>
            <a:prstDash val="solid"/>
            <a:tailEnd type="triangle"/>
          </a:ln>
        </p:spPr>
      </p:sp>
      <p:sp>
        <p:nvSpPr>
          <p:cNvPr id="24" name="Shape 22"/>
          <p:cNvSpPr/>
          <p:nvPr/>
        </p:nvSpPr>
        <p:spPr>
          <a:xfrm>
            <a:off x="4067251" y="2423160"/>
            <a:ext cx="1069848" cy="530352"/>
          </a:xfrm>
          <a:prstGeom prst="rect">
            <a:avLst/>
          </a:prstGeom>
          <a:solidFill>
            <a:srgbClr val="F2F4F8"/>
          </a:solidFill>
          <a:ln/>
        </p:spPr>
      </p:sp>
      <p:sp>
        <p:nvSpPr>
          <p:cNvPr id="25" name="Text 23"/>
          <p:cNvSpPr txBox="1"/>
          <p:nvPr/>
        </p:nvSpPr>
        <p:spPr>
          <a:xfrm>
            <a:off x="4103827" y="2423160"/>
            <a:ext cx="996696" cy="530352"/>
          </a:xfrm>
          <a:prstGeom prst="rect">
            <a:avLst/>
          </a:prstGeom>
          <a:noFill/>
          <a:ln/>
        </p:spPr>
        <p:txBody>
          <a:bodyPr wrap="square" lIns="0" tIns="0" rIns="0" bIns="0" rtlCol="0" anchor="ctr"/>
          <a:lstStyle/>
          <a:p>
            <a:pPr algn="ctr" indent="0" marL="0">
              <a:buNone/>
            </a:pPr>
            <a:r>
              <a:rPr lang="en-US" sz="1100" dirty="0">
                <a:solidFill>
                  <a:srgbClr val="1B2333"/>
                </a:solidFill>
                <a:latin typeface="Calibri" pitchFamily="34" charset="0"/>
                <a:ea typeface="Calibri" pitchFamily="34" charset="-122"/>
                <a:cs typeface="Calibri" pitchFamily="34" charset="-120"/>
              </a:rPr>
              <a:t>Lift to 3D</a:t>
            </a:r>
            <a:endParaRPr lang="en-US" sz="1100" dirty="0"/>
          </a:p>
        </p:txBody>
      </p:sp>
      <p:sp>
        <p:nvSpPr>
          <p:cNvPr id="26" name="Shape 24"/>
          <p:cNvSpPr/>
          <p:nvPr/>
        </p:nvSpPr>
        <p:spPr>
          <a:xfrm>
            <a:off x="5146243" y="2688336"/>
            <a:ext cx="115214" cy="0"/>
          </a:xfrm>
          <a:prstGeom prst="line">
            <a:avLst/>
          </a:prstGeom>
          <a:noFill/>
          <a:ln w="12700">
            <a:solidFill>
              <a:srgbClr val="1B2333"/>
            </a:solidFill>
            <a:prstDash val="solid"/>
            <a:tailEnd type="triangle"/>
          </a:ln>
        </p:spPr>
      </p:sp>
      <p:sp>
        <p:nvSpPr>
          <p:cNvPr id="27" name="Shape 25"/>
          <p:cNvSpPr/>
          <p:nvPr/>
        </p:nvSpPr>
        <p:spPr>
          <a:xfrm>
            <a:off x="5270602" y="2423160"/>
            <a:ext cx="1069848" cy="530352"/>
          </a:xfrm>
          <a:prstGeom prst="rect">
            <a:avLst/>
          </a:prstGeom>
          <a:solidFill>
            <a:srgbClr val="F2F4F8"/>
          </a:solidFill>
          <a:ln/>
        </p:spPr>
      </p:sp>
      <p:sp>
        <p:nvSpPr>
          <p:cNvPr id="28" name="Text 26"/>
          <p:cNvSpPr txBox="1"/>
          <p:nvPr/>
        </p:nvSpPr>
        <p:spPr>
          <a:xfrm>
            <a:off x="5307178" y="2423160"/>
            <a:ext cx="996696" cy="530352"/>
          </a:xfrm>
          <a:prstGeom prst="rect">
            <a:avLst/>
          </a:prstGeom>
          <a:noFill/>
          <a:ln/>
        </p:spPr>
        <p:txBody>
          <a:bodyPr wrap="square" lIns="0" tIns="0" rIns="0" bIns="0" rtlCol="0" anchor="ctr"/>
          <a:lstStyle/>
          <a:p>
            <a:pPr algn="ctr" indent="0" marL="0">
              <a:buNone/>
            </a:pPr>
            <a:r>
              <a:rPr lang="en-US" sz="1100" dirty="0">
                <a:solidFill>
                  <a:srgbClr val="1B2333"/>
                </a:solidFill>
                <a:latin typeface="Calibri" pitchFamily="34" charset="0"/>
                <a:ea typeface="Calibri" pitchFamily="34" charset="-122"/>
                <a:cs typeface="Calibri" pitchFamily="34" charset="-120"/>
              </a:rPr>
              <a:t>CLIP feature per object</a:t>
            </a:r>
            <a:endParaRPr lang="en-US" sz="1100" dirty="0"/>
          </a:p>
        </p:txBody>
      </p:sp>
      <p:sp>
        <p:nvSpPr>
          <p:cNvPr id="29" name="Shape 27"/>
          <p:cNvSpPr/>
          <p:nvPr/>
        </p:nvSpPr>
        <p:spPr>
          <a:xfrm>
            <a:off x="6349594" y="2688336"/>
            <a:ext cx="115214" cy="0"/>
          </a:xfrm>
          <a:prstGeom prst="line">
            <a:avLst/>
          </a:prstGeom>
          <a:noFill/>
          <a:ln w="12700">
            <a:solidFill>
              <a:srgbClr val="1B2333"/>
            </a:solidFill>
            <a:prstDash val="solid"/>
            <a:tailEnd type="triangle"/>
          </a:ln>
        </p:spPr>
      </p:sp>
      <p:sp>
        <p:nvSpPr>
          <p:cNvPr id="30" name="Shape 28"/>
          <p:cNvSpPr/>
          <p:nvPr/>
        </p:nvSpPr>
        <p:spPr>
          <a:xfrm>
            <a:off x="6473952" y="2423160"/>
            <a:ext cx="1069848" cy="530352"/>
          </a:xfrm>
          <a:prstGeom prst="rect">
            <a:avLst/>
          </a:prstGeom>
          <a:solidFill>
            <a:srgbClr val="F2F4F8"/>
          </a:solidFill>
          <a:ln/>
        </p:spPr>
      </p:sp>
      <p:sp>
        <p:nvSpPr>
          <p:cNvPr id="31" name="Text 29"/>
          <p:cNvSpPr txBox="1"/>
          <p:nvPr/>
        </p:nvSpPr>
        <p:spPr>
          <a:xfrm>
            <a:off x="6510528" y="2423160"/>
            <a:ext cx="996696" cy="530352"/>
          </a:xfrm>
          <a:prstGeom prst="rect">
            <a:avLst/>
          </a:prstGeom>
          <a:noFill/>
          <a:ln/>
        </p:spPr>
        <p:txBody>
          <a:bodyPr wrap="square" lIns="0" tIns="0" rIns="0" bIns="0" rtlCol="0" anchor="ctr"/>
          <a:lstStyle/>
          <a:p>
            <a:pPr algn="ctr" indent="0" marL="0">
              <a:buNone/>
            </a:pPr>
            <a:r>
              <a:rPr lang="en-US" sz="1100" dirty="0">
                <a:solidFill>
                  <a:srgbClr val="1B2333"/>
                </a:solidFill>
                <a:latin typeface="Calibri" pitchFamily="34" charset="0"/>
                <a:ea typeface="Calibri" pitchFamily="34" charset="-122"/>
                <a:cs typeface="Calibri" pitchFamily="34" charset="-120"/>
              </a:rPr>
              <a:t>Merge repeat sightings</a:t>
            </a:r>
            <a:endParaRPr lang="en-US" sz="1100" dirty="0"/>
          </a:p>
        </p:txBody>
      </p:sp>
      <p:sp>
        <p:nvSpPr>
          <p:cNvPr id="32" name="Shape 30"/>
          <p:cNvSpPr/>
          <p:nvPr/>
        </p:nvSpPr>
        <p:spPr>
          <a:xfrm>
            <a:off x="457200" y="3090672"/>
            <a:ext cx="7086600" cy="2011680"/>
          </a:xfrm>
          <a:prstGeom prst="rect">
            <a:avLst/>
          </a:prstGeom>
          <a:solidFill>
            <a:srgbClr val="F7F8FA"/>
          </a:solidFill>
          <a:ln w="15875">
            <a:solidFill>
              <a:srgbClr val="9AA3B2"/>
            </a:solidFill>
            <a:prstDash val="dash"/>
          </a:ln>
        </p:spPr>
      </p:sp>
      <p:sp>
        <p:nvSpPr>
          <p:cNvPr id="33" name="Text 31"/>
          <p:cNvSpPr txBox="1"/>
          <p:nvPr/>
        </p:nvSpPr>
        <p:spPr>
          <a:xfrm>
            <a:off x="594360" y="3182112"/>
            <a:ext cx="6812280" cy="1828800"/>
          </a:xfrm>
          <a:prstGeom prst="rect">
            <a:avLst/>
          </a:prstGeom>
          <a:noFill/>
          <a:ln/>
        </p:spPr>
        <p:txBody>
          <a:bodyPr wrap="square" lIns="0" tIns="0" rIns="0" bIns="0" rtlCol="0" anchor="ctr"/>
          <a:lstStyle/>
          <a:p>
            <a:pPr algn="ctr" indent="0" marL="0">
              <a:buNone/>
            </a:pPr>
            <a:r>
              <a:rPr lang="en-US" sz="1400" b="1" dirty="0">
                <a:solidFill>
                  <a:srgbClr val="5B6577"/>
                </a:solidFill>
                <a:latin typeface="Calibri" pitchFamily="34" charset="0"/>
                <a:ea typeface="Calibri" pitchFamily="34" charset="-122"/>
                <a:cs typeface="Calibri" pitchFamily="34" charset="-120"/>
              </a:rPr>
              <a:t>[INSERT RERUN 3D VIEW OF THE GRAPH]</a:t>
            </a:r>
            <a:endParaRPr lang="en-US" sz="1800" dirty="0"/>
          </a:p>
          <a:p>
            <a:pPr algn="ctr" indent="0" marL="0">
              <a:buNone/>
            </a:pPr>
            <a:r>
              <a:rPr lang="en-US" sz="1100" dirty="0">
                <a:solidFill>
                  <a:srgbClr val="8A93A3"/>
                </a:solidFill>
                <a:latin typeface="Calibri" pitchFamily="34" charset="0"/>
                <a:ea typeface="Calibri" pitchFamily="34" charset="-122"/>
                <a:cs typeface="Calibri" pitchFamily="34" charset="-120"/>
              </a:rPr>
              <a:t>Grey LiDAR room, each object a labelled box, each anchor a small camera at its pose, lines from cameras to the objects they saw. Screenshot from mg_t6.3_four_photos_rerun_3d_2026-10-21.rrd, or the flythrough video</a:t>
            </a:r>
            <a:endParaRPr lang="en-US" sz="1800" dirty="0"/>
          </a:p>
          <a:p>
            <a:pPr algn="ctr" indent="0" marL="0">
              <a:buNone/>
            </a:pPr>
            <a:r>
              <a:rPr lang="en-US" sz="1100" dirty="0">
                <a:solidFill>
                  <a:srgbClr val="8A93A3"/>
                </a:solidFill>
                <a:latin typeface="Calibri" pitchFamily="34" charset="0"/>
                <a:ea typeface="Calibri" pitchFamily="34" charset="-122"/>
                <a:cs typeface="Calibri" pitchFamily="34" charset="-120"/>
              </a:rPr>
              <a:t>Owner: Zongzhe</a:t>
            </a:r>
            <a:endParaRPr lang="en-US" sz="1800" dirty="0"/>
          </a:p>
        </p:txBody>
      </p:sp>
      <p:sp>
        <p:nvSpPr>
          <p:cNvPr id="34" name="Shape 32"/>
          <p:cNvSpPr/>
          <p:nvPr/>
        </p:nvSpPr>
        <p:spPr>
          <a:xfrm>
            <a:off x="457200" y="5193792"/>
            <a:ext cx="7086600" cy="731520"/>
          </a:xfrm>
          <a:prstGeom prst="rect">
            <a:avLst/>
          </a:prstGeom>
          <a:solidFill>
            <a:srgbClr val="F7F8FA"/>
          </a:solidFill>
          <a:ln w="15875">
            <a:solidFill>
              <a:srgbClr val="9AA3B2"/>
            </a:solidFill>
            <a:prstDash val="dash"/>
          </a:ln>
        </p:spPr>
      </p:sp>
      <p:sp>
        <p:nvSpPr>
          <p:cNvPr id="35" name="Text 33"/>
          <p:cNvSpPr txBox="1"/>
          <p:nvPr/>
        </p:nvSpPr>
        <p:spPr>
          <a:xfrm>
            <a:off x="594360" y="5285232"/>
            <a:ext cx="6812280" cy="548640"/>
          </a:xfrm>
          <a:prstGeom prst="rect">
            <a:avLst/>
          </a:prstGeom>
          <a:noFill/>
          <a:ln/>
        </p:spPr>
        <p:txBody>
          <a:bodyPr wrap="square" lIns="0" tIns="0" rIns="0" bIns="0" rtlCol="0" anchor="ctr"/>
          <a:lstStyle/>
          <a:p>
            <a:pPr algn="ctr" indent="0" marL="0">
              <a:buNone/>
            </a:pPr>
            <a:r>
              <a:rPr lang="en-US" sz="1200" b="1" dirty="0">
                <a:solidFill>
                  <a:srgbClr val="5B6577"/>
                </a:solidFill>
                <a:latin typeface="Calibri" pitchFamily="34" charset="0"/>
                <a:ea typeface="Calibri" pitchFamily="34" charset="-122"/>
                <a:cs typeface="Calibri" pitchFamily="34" charset="-120"/>
              </a:rPr>
              <a:t>[INSERT FRAME 700: PHOTO | SAM 3 MASKS | 3D BOXES]</a:t>
            </a:r>
            <a:endParaRPr lang="en-US" sz="1800" dirty="0"/>
          </a:p>
          <a:p>
            <a:pPr algn="ctr" indent="0" marL="0">
              <a:buNone/>
            </a:pPr>
            <a:r>
              <a:rPr lang="en-US" sz="1000" dirty="0">
                <a:solidFill>
                  <a:srgbClr val="8A93A3"/>
                </a:solidFill>
                <a:latin typeface="Calibri" pitchFamily="34" charset="0"/>
                <a:ea typeface="Calibri" pitchFamily="34" charset="-122"/>
                <a:cs typeface="Calibri" pitchFamily="34" charset="-120"/>
              </a:rPr>
              <a:t>mg_frame700_masks_and_3d_objects_2026-10-21.png</a:t>
            </a:r>
            <a:endParaRPr lang="en-US" sz="1800" dirty="0"/>
          </a:p>
          <a:p>
            <a:pPr algn="ctr" indent="0" marL="0">
              <a:buNone/>
            </a:pPr>
            <a:r>
              <a:rPr lang="en-US" sz="1000" dirty="0">
                <a:solidFill>
                  <a:srgbClr val="8A93A3"/>
                </a:solidFill>
                <a:latin typeface="Calibri" pitchFamily="34" charset="0"/>
                <a:ea typeface="Calibri" pitchFamily="34" charset="-122"/>
                <a:cs typeface="Calibri" pitchFamily="34" charset="-120"/>
              </a:rPr>
              <a:t>Owner: Zongzhe</a:t>
            </a:r>
            <a:endParaRPr lang="en-US" sz="1800" dirty="0"/>
          </a:p>
        </p:txBody>
      </p:sp>
      <p:sp>
        <p:nvSpPr>
          <p:cNvPr id="36" name="Shape 34"/>
          <p:cNvSpPr/>
          <p:nvPr/>
        </p:nvSpPr>
        <p:spPr>
          <a:xfrm>
            <a:off x="457200" y="6035040"/>
            <a:ext cx="1051560" cy="292608"/>
          </a:xfrm>
          <a:prstGeom prst="rect">
            <a:avLst/>
          </a:prstGeom>
          <a:solidFill>
            <a:srgbClr val="E2ECF7"/>
          </a:solidFill>
          <a:ln w="12700">
            <a:solidFill>
              <a:srgbClr val="2B6CB0"/>
            </a:solidFill>
            <a:prstDash val="solid"/>
          </a:ln>
        </p:spPr>
      </p:sp>
      <p:sp>
        <p:nvSpPr>
          <p:cNvPr id="37" name="Text 35"/>
          <p:cNvSpPr txBox="1"/>
          <p:nvPr/>
        </p:nvSpPr>
        <p:spPr>
          <a:xfrm>
            <a:off x="530352" y="6035040"/>
            <a:ext cx="905256" cy="292608"/>
          </a:xfrm>
          <a:prstGeom prst="rect">
            <a:avLst/>
          </a:prstGeom>
          <a:noFill/>
          <a:ln/>
        </p:spPr>
        <p:txBody>
          <a:bodyPr wrap="square" lIns="0" tIns="0" rIns="0" bIns="0" rtlCol="0" anchor="ctr"/>
          <a:lstStyle/>
          <a:p>
            <a:pPr indent="0" marL="0">
              <a:buNone/>
            </a:pPr>
            <a:r>
              <a:rPr lang="en-US" sz="1200" b="1" dirty="0">
                <a:solidFill>
                  <a:srgbClr val="1D4E85"/>
                </a:solidFill>
                <a:latin typeface="Calibri" pitchFamily="34" charset="0"/>
                <a:ea typeface="Calibri" pitchFamily="34" charset="-122"/>
                <a:cs typeface="Calibri" pitchFamily="34" charset="-120"/>
              </a:rPr>
              <a:t>Isolated</a:t>
            </a:r>
            <a:endParaRPr lang="en-US" sz="1200" dirty="0"/>
          </a:p>
        </p:txBody>
      </p:sp>
      <p:sp>
        <p:nvSpPr>
          <p:cNvPr id="38" name="Text 36"/>
          <p:cNvSpPr txBox="1"/>
          <p:nvPr/>
        </p:nvSpPr>
        <p:spPr>
          <a:xfrm>
            <a:off x="1600200" y="6035040"/>
            <a:ext cx="5943600" cy="292608"/>
          </a:xfrm>
          <a:prstGeom prst="rect">
            <a:avLst/>
          </a:prstGeom>
          <a:noFill/>
          <a:ln/>
        </p:spPr>
        <p:txBody>
          <a:bodyPr wrap="square" lIns="0" tIns="0" rIns="0" bIns="0" rtlCol="0" anchor="ctr"/>
          <a:lstStyle/>
          <a:p>
            <a:pPr indent="0" marL="0">
              <a:buNone/>
            </a:pPr>
            <a:r>
              <a:rPr lang="en-US" sz="1300" dirty="0">
                <a:solidFill>
                  <a:srgbClr val="5B6577"/>
                </a:solidFill>
                <a:latin typeface="Calibri" pitchFamily="34" charset="0"/>
                <a:ea typeface="Calibri" pitchFamily="34" charset="-122"/>
                <a:cs typeface="Calibri" pitchFamily="34" charset="-120"/>
              </a:rPr>
              <a:t>Built offline from a recorded drive. Not yet built live while driving</a:t>
            </a:r>
            <a:endParaRPr lang="en-US" sz="1300" dirty="0"/>
          </a:p>
        </p:txBody>
      </p:sp>
      <p:sp>
        <p:nvSpPr>
          <p:cNvPr id="39" name="Text 37"/>
          <p:cNvSpPr txBox="1"/>
          <p:nvPr/>
        </p:nvSpPr>
        <p:spPr>
          <a:xfrm>
            <a:off x="7909560" y="1417320"/>
            <a:ext cx="3822192" cy="274320"/>
          </a:xfrm>
          <a:prstGeom prst="rect">
            <a:avLst/>
          </a:prstGeom>
          <a:noFill/>
          <a:ln/>
        </p:spPr>
        <p:txBody>
          <a:bodyPr wrap="square" lIns="0" tIns="0" rIns="0" bIns="0" rtlCol="0" anchor="t"/>
          <a:lstStyle/>
          <a:p>
            <a:pPr indent="0" marL="0">
              <a:buNone/>
            </a:pPr>
            <a:r>
              <a:rPr lang="en-US" sz="1250" i="1" dirty="0">
                <a:solidFill>
                  <a:srgbClr val="5B6577"/>
                </a:solidFill>
                <a:latin typeface="Calibri" pitchFamily="34" charset="0"/>
                <a:ea typeface="Calibri" pitchFamily="34" charset="-122"/>
                <a:cs typeface="Calibri" pitchFamily="34" charset="-120"/>
              </a:rPr>
              <a:t>Recording handdriven1, 3536 frames</a:t>
            </a:r>
            <a:endParaRPr lang="en-US" sz="1250" dirty="0"/>
          </a:p>
        </p:txBody>
      </p:sp>
      <p:sp>
        <p:nvSpPr>
          <p:cNvPr id="40" name="Shape 38"/>
          <p:cNvSpPr/>
          <p:nvPr/>
        </p:nvSpPr>
        <p:spPr>
          <a:xfrm>
            <a:off x="7909560" y="1783080"/>
            <a:ext cx="3822192" cy="1024128"/>
          </a:xfrm>
          <a:prstGeom prst="rect">
            <a:avLst/>
          </a:prstGeom>
          <a:solidFill>
            <a:srgbClr val="F2F4F8"/>
          </a:solidFill>
          <a:ln/>
        </p:spPr>
      </p:sp>
      <p:sp>
        <p:nvSpPr>
          <p:cNvPr id="41" name="Text 39"/>
          <p:cNvSpPr txBox="1"/>
          <p:nvPr/>
        </p:nvSpPr>
        <p:spPr>
          <a:xfrm>
            <a:off x="8046720" y="1837944"/>
            <a:ext cx="3547872" cy="914400"/>
          </a:xfrm>
          <a:prstGeom prst="rect">
            <a:avLst/>
          </a:prstGeom>
          <a:noFill/>
          <a:ln/>
        </p:spPr>
        <p:txBody>
          <a:bodyPr wrap="square" lIns="0" tIns="0" rIns="0" bIns="0" rtlCol="0" anchor="ctr"/>
          <a:lstStyle/>
          <a:p>
            <a:pPr indent="0" marL="0">
              <a:buNone/>
            </a:pPr>
            <a:r>
              <a:rPr lang="en-US" sz="2200" b="1" dirty="0">
                <a:solidFill>
                  <a:srgbClr val="1F3B73"/>
                </a:solidFill>
                <a:latin typeface="Calibri" pitchFamily="34" charset="0"/>
                <a:ea typeface="Calibri" pitchFamily="34" charset="-122"/>
                <a:cs typeface="Calibri" pitchFamily="34" charset="-120"/>
              </a:rPr>
              <a:t>29 photos kept</a:t>
            </a:r>
            <a:endParaRPr lang="en-US" sz="1800" dirty="0"/>
          </a:p>
          <a:p>
            <a:pPr indent="0" marL="0">
              <a:buNone/>
            </a:pPr>
            <a:r>
              <a:rPr lang="en-US" sz="1250" dirty="0">
                <a:solidFill>
                  <a:srgbClr val="1B2333"/>
                </a:solidFill>
                <a:latin typeface="Calibri" pitchFamily="34" charset="0"/>
                <a:ea typeface="Calibri" pitchFamily="34" charset="-122"/>
                <a:cs typeface="Calibri" pitchFamily="34" charset="-120"/>
              </a:rPr>
              <a:t>99.2 % of segmentation time saved</a:t>
            </a:r>
            <a:endParaRPr lang="en-US" sz="1800" dirty="0"/>
          </a:p>
        </p:txBody>
      </p:sp>
      <p:sp>
        <p:nvSpPr>
          <p:cNvPr id="42" name="Shape 40"/>
          <p:cNvSpPr/>
          <p:nvPr/>
        </p:nvSpPr>
        <p:spPr>
          <a:xfrm>
            <a:off x="7909560" y="2898648"/>
            <a:ext cx="3822192" cy="1024128"/>
          </a:xfrm>
          <a:prstGeom prst="rect">
            <a:avLst/>
          </a:prstGeom>
          <a:solidFill>
            <a:srgbClr val="FFFFFF"/>
          </a:solidFill>
          <a:ln/>
        </p:spPr>
      </p:sp>
      <p:sp>
        <p:nvSpPr>
          <p:cNvPr id="43" name="Text 41"/>
          <p:cNvSpPr txBox="1"/>
          <p:nvPr/>
        </p:nvSpPr>
        <p:spPr>
          <a:xfrm>
            <a:off x="8046720" y="2953512"/>
            <a:ext cx="3547872" cy="914400"/>
          </a:xfrm>
          <a:prstGeom prst="rect">
            <a:avLst/>
          </a:prstGeom>
          <a:noFill/>
          <a:ln/>
        </p:spPr>
        <p:txBody>
          <a:bodyPr wrap="square" lIns="0" tIns="0" rIns="0" bIns="0" rtlCol="0" anchor="ctr"/>
          <a:lstStyle/>
          <a:p>
            <a:pPr indent="0" marL="0">
              <a:buNone/>
            </a:pPr>
            <a:r>
              <a:rPr lang="en-US" sz="2200" b="1" dirty="0">
                <a:solidFill>
                  <a:srgbClr val="1F3B73"/>
                </a:solidFill>
                <a:latin typeface="Calibri" pitchFamily="34" charset="0"/>
                <a:ea typeface="Calibri" pitchFamily="34" charset="-122"/>
                <a:cs typeface="Calibri" pitchFamily="34" charset="-120"/>
              </a:rPr>
              <a:t>1.69 s vs 9.70 s</a:t>
            </a:r>
            <a:endParaRPr lang="en-US" sz="1800" dirty="0"/>
          </a:p>
          <a:p>
            <a:pPr indent="0" marL="0">
              <a:buNone/>
            </a:pPr>
            <a:r>
              <a:rPr lang="en-US" sz="1250" dirty="0">
                <a:solidFill>
                  <a:srgbClr val="1B2333"/>
                </a:solidFill>
                <a:latin typeface="Calibri" pitchFamily="34" charset="0"/>
                <a:ea typeface="Calibri" pitchFamily="34" charset="-122"/>
                <a:cs typeface="Calibri" pitchFamily="34" charset="-120"/>
              </a:rPr>
              <a:t>batched SAM 3: 40 phrases, 5.7 times faster than one at a time</a:t>
            </a:r>
            <a:endParaRPr lang="en-US" sz="1800" dirty="0"/>
          </a:p>
        </p:txBody>
      </p:sp>
      <p:sp>
        <p:nvSpPr>
          <p:cNvPr id="44" name="Shape 42"/>
          <p:cNvSpPr/>
          <p:nvPr/>
        </p:nvSpPr>
        <p:spPr>
          <a:xfrm>
            <a:off x="7909560" y="4014216"/>
            <a:ext cx="3822192" cy="1024128"/>
          </a:xfrm>
          <a:prstGeom prst="rect">
            <a:avLst/>
          </a:prstGeom>
          <a:solidFill>
            <a:srgbClr val="F2F4F8"/>
          </a:solidFill>
          <a:ln/>
        </p:spPr>
      </p:sp>
      <p:sp>
        <p:nvSpPr>
          <p:cNvPr id="45" name="Text 43"/>
          <p:cNvSpPr txBox="1"/>
          <p:nvPr/>
        </p:nvSpPr>
        <p:spPr>
          <a:xfrm>
            <a:off x="8046720" y="4069080"/>
            <a:ext cx="3547872" cy="914400"/>
          </a:xfrm>
          <a:prstGeom prst="rect">
            <a:avLst/>
          </a:prstGeom>
          <a:noFill/>
          <a:ln/>
        </p:spPr>
        <p:txBody>
          <a:bodyPr wrap="square" lIns="0" tIns="0" rIns="0" bIns="0" rtlCol="0" anchor="ctr"/>
          <a:lstStyle/>
          <a:p>
            <a:pPr indent="0" marL="0">
              <a:buNone/>
            </a:pPr>
            <a:r>
              <a:rPr lang="en-US" sz="2200" b="1" dirty="0">
                <a:solidFill>
                  <a:srgbClr val="1F3B73"/>
                </a:solidFill>
                <a:latin typeface="Calibri" pitchFamily="34" charset="0"/>
                <a:ea typeface="Calibri" pitchFamily="34" charset="-122"/>
                <a:cs typeface="Calibri" pitchFamily="34" charset="-120"/>
              </a:rPr>
              <a:t>399 tests pass</a:t>
            </a:r>
            <a:endParaRPr lang="en-US" sz="1800" dirty="0"/>
          </a:p>
          <a:p>
            <a:pPr indent="0" marL="0">
              <a:buNone/>
            </a:pPr>
            <a:r>
              <a:rPr lang="en-US" sz="1250" dirty="0">
                <a:solidFill>
                  <a:srgbClr val="1B2333"/>
                </a:solidFill>
                <a:latin typeface="Calibri" pitchFamily="34" charset="0"/>
                <a:ea typeface="Calibri" pitchFamily="34" charset="-122"/>
                <a:cs typeface="Calibri" pitchFamily="34" charset="-120"/>
              </a:rPr>
              <a:t>on the lab GPU</a:t>
            </a:r>
            <a:endParaRPr lang="en-US" sz="1800" dirty="0"/>
          </a:p>
        </p:txBody>
      </p:sp>
      <p:sp>
        <p:nvSpPr>
          <p:cNvPr id="46" name="Shape 44"/>
          <p:cNvSpPr/>
          <p:nvPr/>
        </p:nvSpPr>
        <p:spPr>
          <a:xfrm>
            <a:off x="7909560" y="5129784"/>
            <a:ext cx="3822192" cy="1024128"/>
          </a:xfrm>
          <a:prstGeom prst="rect">
            <a:avLst/>
          </a:prstGeom>
          <a:solidFill>
            <a:srgbClr val="FFFFFF"/>
          </a:solidFill>
          <a:ln/>
        </p:spPr>
      </p:sp>
      <p:sp>
        <p:nvSpPr>
          <p:cNvPr id="47" name="Text 45"/>
          <p:cNvSpPr txBox="1"/>
          <p:nvPr/>
        </p:nvSpPr>
        <p:spPr>
          <a:xfrm>
            <a:off x="8046720" y="5184648"/>
            <a:ext cx="3547872" cy="914400"/>
          </a:xfrm>
          <a:prstGeom prst="rect">
            <a:avLst/>
          </a:prstGeom>
          <a:noFill/>
          <a:ln/>
        </p:spPr>
        <p:txBody>
          <a:bodyPr wrap="square" lIns="0" tIns="0" rIns="0" bIns="0" rtlCol="0" anchor="ctr"/>
          <a:lstStyle/>
          <a:p>
            <a:pPr indent="0" marL="0">
              <a:buNone/>
            </a:pPr>
            <a:r>
              <a:rPr lang="en-US" sz="2200" b="1" dirty="0">
                <a:solidFill>
                  <a:srgbClr val="1F3B73"/>
                </a:solidFill>
                <a:latin typeface="Calibri" pitchFamily="34" charset="0"/>
                <a:ea typeface="Calibri" pitchFamily="34" charset="-122"/>
                <a:cs typeface="Calibri" pitchFamily="34" charset="-120"/>
              </a:rPr>
              <a:t>9 upstream problems</a:t>
            </a:r>
            <a:endParaRPr lang="en-US" sz="1800" dirty="0"/>
          </a:p>
          <a:p>
            <a:pPr indent="0" marL="0">
              <a:buNone/>
            </a:pPr>
            <a:r>
              <a:rPr lang="en-US" sz="1250" dirty="0">
                <a:solidFill>
                  <a:srgbClr val="1B2333"/>
                </a:solidFill>
                <a:latin typeface="Calibri" pitchFamily="34" charset="0"/>
                <a:ea typeface="Calibri" pitchFamily="34" charset="-122"/>
                <a:cs typeface="Calibri" pitchFamily="34" charset="-120"/>
              </a:rPr>
              <a:t>fixed or avoided, for example the language model call had no timeout, and the task score was never set</a:t>
            </a:r>
            <a:endParaRPr lang="en-US" sz="1800" dirty="0"/>
          </a:p>
        </p:txBody>
      </p:sp>
      <p:sp>
        <p:nvSpPr>
          <p:cNvPr id="48" name="Text 46"/>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Zongzhe</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1F3B73"/>
          </a:solidFill>
          <a:ln w="9525">
            <a:solidFill>
              <a:srgbClr val="1F3B73"/>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A 10 cm merge radius cut duplicates from 8 to 3 with no false merges</a:t>
            </a:r>
            <a:endParaRPr lang="en-US" sz="2400" dirty="0"/>
          </a:p>
        </p:txBody>
      </p:sp>
      <p:graphicFrame>
        <p:nvGraphicFramePr>
          <p:cNvPr id="13" name="Chart 0" descr=""/>
          <p:cNvGraphicFramePr/>
          <p:nvPr/>
        </p:nvGraphicFramePr>
        <p:xfrm>
          <a:off x="457200" y="1417320"/>
          <a:ext cx="6720840" cy="333756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685800" y="4892040"/>
            <a:ext cx="274320" cy="0"/>
          </a:xfrm>
          <a:prstGeom prst="line">
            <a:avLst/>
          </a:prstGeom>
          <a:noFill/>
          <a:ln w="28575">
            <a:solidFill>
              <a:srgbClr val="1F3B73"/>
            </a:solidFill>
            <a:prstDash val="solid"/>
          </a:ln>
        </p:spPr>
      </p:sp>
      <p:sp>
        <p:nvSpPr>
          <p:cNvPr id="15" name="Shape 12"/>
          <p:cNvSpPr/>
          <p:nvPr/>
        </p:nvSpPr>
        <p:spPr>
          <a:xfrm>
            <a:off x="768096" y="4828032"/>
            <a:ext cx="118872" cy="118872"/>
          </a:xfrm>
          <a:prstGeom prst="ellipse">
            <a:avLst/>
          </a:prstGeom>
          <a:solidFill>
            <a:srgbClr val="1F3B73"/>
          </a:solidFill>
          <a:ln w="12700">
            <a:solidFill>
              <a:srgbClr val="1F3B73"/>
            </a:solidFill>
            <a:prstDash val="solid"/>
          </a:ln>
        </p:spPr>
      </p:sp>
      <p:sp>
        <p:nvSpPr>
          <p:cNvPr id="16" name="Text 13"/>
          <p:cNvSpPr txBox="1"/>
          <p:nvPr/>
        </p:nvSpPr>
        <p:spPr>
          <a:xfrm>
            <a:off x="1014984" y="4773168"/>
            <a:ext cx="1600200" cy="23774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Duplicates, drive 1</a:t>
            </a:r>
            <a:endParaRPr lang="en-US" sz="1100" dirty="0"/>
          </a:p>
        </p:txBody>
      </p:sp>
      <p:sp>
        <p:nvSpPr>
          <p:cNvPr id="17" name="Shape 14"/>
          <p:cNvSpPr/>
          <p:nvPr/>
        </p:nvSpPr>
        <p:spPr>
          <a:xfrm>
            <a:off x="2468880" y="4892040"/>
            <a:ext cx="274320" cy="0"/>
          </a:xfrm>
          <a:prstGeom prst="line">
            <a:avLst/>
          </a:prstGeom>
          <a:noFill/>
          <a:ln w="28575">
            <a:solidFill>
              <a:srgbClr val="A9B4C6"/>
            </a:solidFill>
            <a:prstDash val="solid"/>
          </a:ln>
        </p:spPr>
      </p:sp>
      <p:sp>
        <p:nvSpPr>
          <p:cNvPr id="18" name="Shape 15"/>
          <p:cNvSpPr/>
          <p:nvPr/>
        </p:nvSpPr>
        <p:spPr>
          <a:xfrm>
            <a:off x="2551176" y="4828032"/>
            <a:ext cx="118872" cy="118872"/>
          </a:xfrm>
          <a:prstGeom prst="ellipse">
            <a:avLst/>
          </a:prstGeom>
          <a:solidFill>
            <a:srgbClr val="A9B4C6"/>
          </a:solidFill>
          <a:ln w="12700">
            <a:solidFill>
              <a:srgbClr val="A9B4C6"/>
            </a:solidFill>
            <a:prstDash val="solid"/>
          </a:ln>
        </p:spPr>
      </p:sp>
      <p:sp>
        <p:nvSpPr>
          <p:cNvPr id="19" name="Text 16"/>
          <p:cNvSpPr txBox="1"/>
          <p:nvPr/>
        </p:nvSpPr>
        <p:spPr>
          <a:xfrm>
            <a:off x="2798064" y="4773168"/>
            <a:ext cx="1600200" cy="23774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False merges, drive 1</a:t>
            </a:r>
            <a:endParaRPr lang="en-US" sz="1100" dirty="0"/>
          </a:p>
        </p:txBody>
      </p:sp>
      <p:sp>
        <p:nvSpPr>
          <p:cNvPr id="20" name="Shape 17"/>
          <p:cNvSpPr/>
          <p:nvPr/>
        </p:nvSpPr>
        <p:spPr>
          <a:xfrm>
            <a:off x="4251960" y="4892040"/>
            <a:ext cx="274320" cy="0"/>
          </a:xfrm>
          <a:prstGeom prst="line">
            <a:avLst/>
          </a:prstGeom>
          <a:noFill/>
          <a:ln w="127">
            <a:solidFill>
              <a:srgbClr val="2B6CB0"/>
            </a:solidFill>
            <a:prstDash val="solid"/>
          </a:ln>
        </p:spPr>
      </p:sp>
      <p:sp>
        <p:nvSpPr>
          <p:cNvPr id="21" name="Shape 18"/>
          <p:cNvSpPr/>
          <p:nvPr/>
        </p:nvSpPr>
        <p:spPr>
          <a:xfrm>
            <a:off x="4334256" y="4828032"/>
            <a:ext cx="118872" cy="118872"/>
          </a:xfrm>
          <a:prstGeom prst="ellipse">
            <a:avLst/>
          </a:prstGeom>
          <a:solidFill>
            <a:srgbClr val="2B6CB0"/>
          </a:solidFill>
          <a:ln w="12700">
            <a:solidFill>
              <a:srgbClr val="2B6CB0"/>
            </a:solidFill>
            <a:prstDash val="solid"/>
          </a:ln>
        </p:spPr>
      </p:sp>
      <p:sp>
        <p:nvSpPr>
          <p:cNvPr id="22" name="Text 19"/>
          <p:cNvSpPr txBox="1"/>
          <p:nvPr/>
        </p:nvSpPr>
        <p:spPr>
          <a:xfrm>
            <a:off x="4581144" y="4773168"/>
            <a:ext cx="3017520" cy="23774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Duplicates, drive 2 (run at 2.5, 10, 15 cm only)</a:t>
            </a:r>
            <a:endParaRPr lang="en-US" sz="1100" dirty="0"/>
          </a:p>
        </p:txBody>
      </p:sp>
      <p:sp>
        <p:nvSpPr>
          <p:cNvPr id="23" name="Shape 20"/>
          <p:cNvSpPr/>
          <p:nvPr/>
        </p:nvSpPr>
        <p:spPr>
          <a:xfrm>
            <a:off x="3881628" y="1584198"/>
            <a:ext cx="0" cy="2670048"/>
          </a:xfrm>
          <a:prstGeom prst="line">
            <a:avLst/>
          </a:prstGeom>
          <a:noFill/>
          <a:ln w="22225">
            <a:solidFill>
              <a:srgbClr val="2E7D4F"/>
            </a:solidFill>
            <a:prstDash val="dash"/>
          </a:ln>
        </p:spPr>
      </p:sp>
      <p:sp>
        <p:nvSpPr>
          <p:cNvPr id="24" name="Text 21"/>
          <p:cNvSpPr txBox="1"/>
          <p:nvPr/>
        </p:nvSpPr>
        <p:spPr>
          <a:xfrm>
            <a:off x="3936492" y="1625918"/>
            <a:ext cx="1280160" cy="256032"/>
          </a:xfrm>
          <a:prstGeom prst="rect">
            <a:avLst/>
          </a:prstGeom>
          <a:noFill/>
          <a:ln/>
        </p:spPr>
        <p:txBody>
          <a:bodyPr wrap="square" lIns="0" tIns="0" rIns="0" bIns="0" rtlCol="0" anchor="t"/>
          <a:lstStyle/>
          <a:p>
            <a:pPr indent="0" marL="0">
              <a:buNone/>
            </a:pPr>
            <a:r>
              <a:rPr lang="en-US" sz="1200" b="1" dirty="0">
                <a:solidFill>
                  <a:srgbClr val="1F5C39"/>
                </a:solidFill>
                <a:latin typeface="Calibri" pitchFamily="34" charset="0"/>
                <a:ea typeface="Calibri" pitchFamily="34" charset="-122"/>
                <a:cs typeface="Calibri" pitchFamily="34" charset="-120"/>
              </a:rPr>
              <a:t>chosen: 10 cm</a:t>
            </a:r>
            <a:endParaRPr lang="en-US" sz="1200" dirty="0"/>
          </a:p>
        </p:txBody>
      </p:sp>
      <p:sp>
        <p:nvSpPr>
          <p:cNvPr id="25" name="Text 22"/>
          <p:cNvSpPr txBox="1"/>
          <p:nvPr/>
        </p:nvSpPr>
        <p:spPr>
          <a:xfrm>
            <a:off x="1927098" y="3211259"/>
            <a:ext cx="2194560" cy="256032"/>
          </a:xfrm>
          <a:prstGeom prst="rect">
            <a:avLst/>
          </a:prstGeom>
          <a:noFill/>
          <a:ln/>
        </p:spPr>
        <p:txBody>
          <a:bodyPr wrap="square" lIns="0" tIns="0" rIns="0" bIns="0" rtlCol="0" anchor="t"/>
          <a:lstStyle/>
          <a:p>
            <a:pPr indent="0" marL="0">
              <a:buNone/>
            </a:pPr>
            <a:r>
              <a:rPr lang="en-US" sz="1100" dirty="0">
                <a:solidFill>
                  <a:srgbClr val="1F3B73"/>
                </a:solidFill>
                <a:latin typeface="Calibri" pitchFamily="34" charset="0"/>
                <a:ea typeface="Calibri" pitchFamily="34" charset="-122"/>
                <a:cs typeface="Calibri" pitchFamily="34" charset="-120"/>
              </a:rPr>
              <a:t>drive 1: 8 at 2.5 cm, 3 at 10 cm</a:t>
            </a:r>
            <a:endParaRPr lang="en-US" sz="1100" dirty="0"/>
          </a:p>
        </p:txBody>
      </p:sp>
      <p:sp>
        <p:nvSpPr>
          <p:cNvPr id="26" name="Text 23"/>
          <p:cNvSpPr txBox="1"/>
          <p:nvPr/>
        </p:nvSpPr>
        <p:spPr>
          <a:xfrm>
            <a:off x="4343400" y="2877503"/>
            <a:ext cx="1920240" cy="457200"/>
          </a:xfrm>
          <a:prstGeom prst="rect">
            <a:avLst/>
          </a:prstGeom>
          <a:noFill/>
          <a:ln/>
        </p:spPr>
        <p:txBody>
          <a:bodyPr wrap="square" lIns="0" tIns="0" rIns="0" bIns="0" rtlCol="0" anchor="t"/>
          <a:lstStyle/>
          <a:p>
            <a:pPr algn="ctr" indent="0" marL="0">
              <a:buNone/>
            </a:pPr>
            <a:r>
              <a:rPr lang="en-US" sz="1100" dirty="0">
                <a:solidFill>
                  <a:srgbClr val="B3392F"/>
                </a:solidFill>
                <a:latin typeface="Calibri" pitchFamily="34" charset="0"/>
                <a:ea typeface="Calibri" pitchFamily="34" charset="-122"/>
                <a:cs typeface="Calibri" pitchFamily="34" charset="-120"/>
              </a:rPr>
              <a:t>15 cm: chair merges into desk (drive 2)</a:t>
            </a:r>
            <a:endParaRPr lang="en-US" sz="1100" dirty="0"/>
          </a:p>
        </p:txBody>
      </p:sp>
      <p:sp>
        <p:nvSpPr>
          <p:cNvPr id="27" name="Shape 24"/>
          <p:cNvSpPr/>
          <p:nvPr/>
        </p:nvSpPr>
        <p:spPr>
          <a:xfrm>
            <a:off x="5257800" y="3252978"/>
            <a:ext cx="0" cy="684200"/>
          </a:xfrm>
          <a:prstGeom prst="line">
            <a:avLst/>
          </a:prstGeom>
          <a:noFill/>
          <a:ln w="12700">
            <a:solidFill>
              <a:srgbClr val="B3392F"/>
            </a:solidFill>
            <a:prstDash val="solid"/>
            <a:tailEnd type="triangle"/>
          </a:ln>
        </p:spPr>
      </p:sp>
      <p:sp>
        <p:nvSpPr>
          <p:cNvPr id="28" name="Text 25"/>
          <p:cNvSpPr txBox="1"/>
          <p:nvPr/>
        </p:nvSpPr>
        <p:spPr>
          <a:xfrm>
            <a:off x="457200" y="5120640"/>
            <a:ext cx="3657600" cy="256032"/>
          </a:xfrm>
          <a:prstGeom prst="rect">
            <a:avLst/>
          </a:prstGeom>
          <a:noFill/>
          <a:ln/>
        </p:spPr>
        <p:txBody>
          <a:bodyPr wrap="square" lIns="0" tIns="0" rIns="0" bIns="0" rtlCol="0" anchor="t"/>
          <a:lstStyle/>
          <a:p>
            <a:pPr indent="0" marL="0">
              <a:buNone/>
            </a:pPr>
            <a:r>
              <a:rPr lang="en-US" sz="1300" b="1" dirty="0">
                <a:solidFill>
                  <a:srgbClr val="1B2333"/>
                </a:solidFill>
                <a:latin typeface="Calibri" pitchFamily="34" charset="0"/>
                <a:ea typeface="Calibri" pitchFamily="34" charset="-122"/>
                <a:cs typeface="Calibri" pitchFamily="34" charset="-120"/>
              </a:rPr>
              <a:t>Why not appearance: </a:t>
            </a:r>
            <a:pPr indent="0" marL="0">
              <a:buNone/>
            </a:pPr>
            <a:r>
              <a:rPr lang="en-US" sz="1300" dirty="0">
                <a:solidFill>
                  <a:srgbClr val="1B2333"/>
                </a:solidFill>
                <a:latin typeface="Calibri" pitchFamily="34" charset="0"/>
                <a:ea typeface="Calibri" pitchFamily="34" charset="-122"/>
                <a:cs typeface="Calibri" pitchFamily="34" charset="-120"/>
              </a:rPr>
              <a:t>CLIP similarity</a:t>
            </a:r>
            <a:endParaRPr lang="en-US" sz="1300" dirty="0"/>
          </a:p>
        </p:txBody>
      </p:sp>
      <p:sp>
        <p:nvSpPr>
          <p:cNvPr id="29" name="Text 26"/>
          <p:cNvSpPr txBox="1"/>
          <p:nvPr/>
        </p:nvSpPr>
        <p:spPr>
          <a:xfrm>
            <a:off x="457200" y="5431536"/>
            <a:ext cx="1828800" cy="237744"/>
          </a:xfrm>
          <a:prstGeom prst="rect">
            <a:avLst/>
          </a:prstGeom>
          <a:noFill/>
          <a:ln/>
        </p:spPr>
        <p:txBody>
          <a:bodyPr wrap="square" lIns="0" tIns="0" rIns="0" bIns="0" rtlCol="0" anchor="ctr"/>
          <a:lstStyle/>
          <a:p>
            <a:pPr algn="r" indent="0" marL="0">
              <a:buNone/>
            </a:pPr>
            <a:r>
              <a:rPr lang="en-US" sz="1150" dirty="0">
                <a:solidFill>
                  <a:srgbClr val="5B6577"/>
                </a:solidFill>
                <a:latin typeface="Calibri" pitchFamily="34" charset="0"/>
                <a:ea typeface="Calibri" pitchFamily="34" charset="-122"/>
                <a:cs typeface="Calibri" pitchFamily="34" charset="-120"/>
              </a:rPr>
              <a:t>Same chair</a:t>
            </a:r>
            <a:endParaRPr lang="en-US" sz="1150" dirty="0"/>
          </a:p>
        </p:txBody>
      </p:sp>
      <p:sp>
        <p:nvSpPr>
          <p:cNvPr id="30" name="Shape 27"/>
          <p:cNvSpPr/>
          <p:nvPr/>
        </p:nvSpPr>
        <p:spPr>
          <a:xfrm>
            <a:off x="2331720" y="5468112"/>
            <a:ext cx="3074579" cy="164592"/>
          </a:xfrm>
          <a:prstGeom prst="rect">
            <a:avLst/>
          </a:prstGeom>
          <a:solidFill>
            <a:srgbClr val="8A93A3"/>
          </a:solidFill>
          <a:ln/>
        </p:spPr>
      </p:sp>
      <p:sp>
        <p:nvSpPr>
          <p:cNvPr id="31" name="Text 28"/>
          <p:cNvSpPr txBox="1"/>
          <p:nvPr/>
        </p:nvSpPr>
        <p:spPr>
          <a:xfrm>
            <a:off x="5479451" y="5431536"/>
            <a:ext cx="1005840" cy="237744"/>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0.934</a:t>
            </a:r>
            <a:endParaRPr lang="en-US" sz="1150" dirty="0"/>
          </a:p>
        </p:txBody>
      </p:sp>
      <p:sp>
        <p:nvSpPr>
          <p:cNvPr id="32" name="Text 29"/>
          <p:cNvSpPr txBox="1"/>
          <p:nvPr/>
        </p:nvSpPr>
        <p:spPr>
          <a:xfrm>
            <a:off x="457200" y="5724144"/>
            <a:ext cx="1828800" cy="237744"/>
          </a:xfrm>
          <a:prstGeom prst="rect">
            <a:avLst/>
          </a:prstGeom>
          <a:noFill/>
          <a:ln/>
        </p:spPr>
        <p:txBody>
          <a:bodyPr wrap="square" lIns="0" tIns="0" rIns="0" bIns="0" rtlCol="0" anchor="ctr"/>
          <a:lstStyle/>
          <a:p>
            <a:pPr algn="r" indent="0" marL="0">
              <a:buNone/>
            </a:pPr>
            <a:r>
              <a:rPr lang="en-US" sz="1150" dirty="0">
                <a:solidFill>
                  <a:srgbClr val="5B6577"/>
                </a:solidFill>
                <a:latin typeface="Calibri" pitchFamily="34" charset="0"/>
                <a:ea typeface="Calibri" pitchFamily="34" charset="-122"/>
                <a:cs typeface="Calibri" pitchFamily="34" charset="-120"/>
              </a:rPr>
              <a:t>Two chairs, same model</a:t>
            </a:r>
            <a:endParaRPr lang="en-US" sz="1150" dirty="0"/>
          </a:p>
        </p:txBody>
      </p:sp>
      <p:sp>
        <p:nvSpPr>
          <p:cNvPr id="33" name="Shape 30"/>
          <p:cNvSpPr/>
          <p:nvPr/>
        </p:nvSpPr>
        <p:spPr>
          <a:xfrm>
            <a:off x="2331720" y="5760720"/>
            <a:ext cx="2666390" cy="164592"/>
          </a:xfrm>
          <a:prstGeom prst="rect">
            <a:avLst/>
          </a:prstGeom>
          <a:solidFill>
            <a:srgbClr val="B3392F"/>
          </a:solidFill>
          <a:ln/>
        </p:spPr>
      </p:sp>
      <p:sp>
        <p:nvSpPr>
          <p:cNvPr id="34" name="Shape 31"/>
          <p:cNvSpPr/>
          <p:nvPr/>
        </p:nvSpPr>
        <p:spPr>
          <a:xfrm>
            <a:off x="4998110" y="5760720"/>
            <a:ext cx="131674" cy="164592"/>
          </a:xfrm>
          <a:prstGeom prst="rect">
            <a:avLst/>
          </a:prstGeom>
          <a:solidFill>
            <a:srgbClr val="E7A49E"/>
          </a:solidFill>
          <a:ln/>
        </p:spPr>
      </p:sp>
      <p:sp>
        <p:nvSpPr>
          <p:cNvPr id="35" name="Text 32"/>
          <p:cNvSpPr txBox="1"/>
          <p:nvPr/>
        </p:nvSpPr>
        <p:spPr>
          <a:xfrm>
            <a:off x="5202936" y="5724144"/>
            <a:ext cx="1005840" cy="237744"/>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0.81 to 0.85</a:t>
            </a:r>
            <a:endParaRPr lang="en-US" sz="1150" dirty="0"/>
          </a:p>
        </p:txBody>
      </p:sp>
      <p:sp>
        <p:nvSpPr>
          <p:cNvPr id="36" name="Text 33"/>
          <p:cNvSpPr txBox="1"/>
          <p:nvPr/>
        </p:nvSpPr>
        <p:spPr>
          <a:xfrm>
            <a:off x="457200" y="6016752"/>
            <a:ext cx="1828800" cy="237744"/>
          </a:xfrm>
          <a:prstGeom prst="rect">
            <a:avLst/>
          </a:prstGeom>
          <a:noFill/>
          <a:ln/>
        </p:spPr>
        <p:txBody>
          <a:bodyPr wrap="square" lIns="0" tIns="0" rIns="0" bIns="0" rtlCol="0" anchor="ctr"/>
          <a:lstStyle/>
          <a:p>
            <a:pPr algn="r" indent="0" marL="0">
              <a:buNone/>
            </a:pPr>
            <a:r>
              <a:rPr lang="en-US" sz="1150" dirty="0">
                <a:solidFill>
                  <a:srgbClr val="5B6577"/>
                </a:solidFill>
                <a:latin typeface="Calibri" pitchFamily="34" charset="0"/>
                <a:ea typeface="Calibri" pitchFamily="34" charset="-122"/>
                <a:cs typeface="Calibri" pitchFamily="34" charset="-120"/>
              </a:rPr>
              <a:t>Other objects</a:t>
            </a:r>
            <a:endParaRPr lang="en-US" sz="1150" dirty="0"/>
          </a:p>
        </p:txBody>
      </p:sp>
      <p:sp>
        <p:nvSpPr>
          <p:cNvPr id="37" name="Shape 34"/>
          <p:cNvSpPr/>
          <p:nvPr/>
        </p:nvSpPr>
        <p:spPr>
          <a:xfrm>
            <a:off x="2331720" y="6053328"/>
            <a:ext cx="1843430" cy="164592"/>
          </a:xfrm>
          <a:prstGeom prst="rect">
            <a:avLst/>
          </a:prstGeom>
          <a:solidFill>
            <a:srgbClr val="8A93A3"/>
          </a:solidFill>
          <a:ln/>
        </p:spPr>
      </p:sp>
      <p:sp>
        <p:nvSpPr>
          <p:cNvPr id="38" name="Text 35"/>
          <p:cNvSpPr txBox="1"/>
          <p:nvPr/>
        </p:nvSpPr>
        <p:spPr>
          <a:xfrm>
            <a:off x="4248302" y="6016752"/>
            <a:ext cx="1005840" cy="237744"/>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0.56</a:t>
            </a:r>
            <a:endParaRPr lang="en-US" sz="1150" dirty="0"/>
          </a:p>
        </p:txBody>
      </p:sp>
      <p:sp>
        <p:nvSpPr>
          <p:cNvPr id="39" name="Text 36"/>
          <p:cNvSpPr txBox="1"/>
          <p:nvPr/>
        </p:nvSpPr>
        <p:spPr>
          <a:xfrm>
            <a:off x="7498080" y="1417320"/>
            <a:ext cx="4233672" cy="1051560"/>
          </a:xfrm>
          <a:prstGeom prst="rect">
            <a:avLst/>
          </a:prstGeom>
          <a:noFill/>
          <a:ln/>
        </p:spPr>
        <p:txBody>
          <a:bodyPr wrap="square" lIns="0" tIns="0" rIns="0" bIns="0" rtlCol="0" anchor="t"/>
          <a:lstStyle/>
          <a:p>
            <a:pPr indent="0" marL="0">
              <a:buNone/>
            </a:pPr>
            <a:r>
              <a:rPr lang="en-US" sz="1400" b="1" dirty="0">
                <a:solidFill>
                  <a:srgbClr val="1F3B73"/>
                </a:solidFill>
                <a:latin typeface="Calibri" pitchFamily="34" charset="0"/>
                <a:ea typeface="Calibri" pitchFamily="34" charset="-122"/>
                <a:cs typeface="Calibri" pitchFamily="34" charset="-120"/>
              </a:rPr>
              <a:t>Method</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A hand-made answer key of 16 real objects marked on the LiDAR map (7 chairs, 2 tables, 2 TVs, 2 computer towers, shelf, sofa, door). Independent of the code under test</a:t>
            </a:r>
            <a:endParaRPr lang="en-US" sz="1800" dirty="0"/>
          </a:p>
        </p:txBody>
      </p:sp>
      <p:sp>
        <p:nvSpPr>
          <p:cNvPr id="40" name="Text 37"/>
          <p:cNvSpPr txBox="1"/>
          <p:nvPr/>
        </p:nvSpPr>
        <p:spPr>
          <a:xfrm>
            <a:off x="7498080" y="2542032"/>
            <a:ext cx="4233672" cy="777240"/>
          </a:xfrm>
          <a:prstGeom prst="rect">
            <a:avLst/>
          </a:prstGeom>
          <a:noFill/>
          <a:ln/>
        </p:spPr>
        <p:txBody>
          <a:bodyPr wrap="square" lIns="0" tIns="0" rIns="0" bIns="0" rtlCol="0" anchor="t"/>
          <a:lstStyle/>
          <a:p>
            <a:pPr indent="0" marL="0">
              <a:buNone/>
            </a:pPr>
            <a:r>
              <a:rPr lang="en-US" sz="1400" b="1" dirty="0">
                <a:solidFill>
                  <a:srgbClr val="1F3B73"/>
                </a:solidFill>
                <a:latin typeface="Calibri" pitchFamily="34" charset="0"/>
                <a:ea typeface="Calibri" pitchFamily="34" charset="-122"/>
                <a:cs typeface="Calibri" pitchFamily="34" charset="-120"/>
              </a:rPr>
              <a:t>Why the radius</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Two views of one object land 4 to 9 cm apart with sparse LiDAR depth. Upstream’s 2.5 cm was too tight</a:t>
            </a:r>
            <a:endParaRPr lang="en-US" sz="1800" dirty="0"/>
          </a:p>
        </p:txBody>
      </p:sp>
      <p:sp>
        <p:nvSpPr>
          <p:cNvPr id="41" name="Shape 38"/>
          <p:cNvSpPr/>
          <p:nvPr/>
        </p:nvSpPr>
        <p:spPr>
          <a:xfrm>
            <a:off x="7498080" y="3401568"/>
            <a:ext cx="4233672" cy="960120"/>
          </a:xfrm>
          <a:prstGeom prst="rect">
            <a:avLst/>
          </a:prstGeom>
          <a:solidFill>
            <a:srgbClr val="E3F1E8"/>
          </a:solidFill>
          <a:ln w="12700">
            <a:solidFill>
              <a:srgbClr val="2E7D4F"/>
            </a:solidFill>
            <a:prstDash val="solid"/>
          </a:ln>
        </p:spPr>
      </p:sp>
      <p:sp>
        <p:nvSpPr>
          <p:cNvPr id="42" name="Text 39"/>
          <p:cNvSpPr txBox="1"/>
          <p:nvPr/>
        </p:nvSpPr>
        <p:spPr>
          <a:xfrm>
            <a:off x="7635240" y="3401568"/>
            <a:ext cx="3959352" cy="960120"/>
          </a:xfrm>
          <a:prstGeom prst="rect">
            <a:avLst/>
          </a:prstGeom>
          <a:noFill/>
          <a:ln/>
        </p:spPr>
        <p:txBody>
          <a:bodyPr wrap="square" lIns="0" tIns="0" rIns="0" bIns="0" rtlCol="0" anchor="ctr"/>
          <a:lstStyle/>
          <a:p>
            <a:pPr indent="0" marL="0">
              <a:buNone/>
            </a:pPr>
            <a:r>
              <a:rPr lang="en-US" sz="1400" b="1" dirty="0">
                <a:solidFill>
                  <a:srgbClr val="1B2333"/>
                </a:solidFill>
                <a:latin typeface="Calibri" pitchFamily="34" charset="0"/>
                <a:ea typeface="Calibri" pitchFamily="34" charset="-122"/>
                <a:cs typeface="Calibri" pitchFamily="34" charset="-120"/>
              </a:rPr>
              <a:t>Result at 10 cm: duplicates 8 to 3, 0 false merges, misses unchanged at 3 </a:t>
            </a:r>
            <a:pPr indent="0" marL="0">
              <a:buNone/>
            </a:pPr>
            <a:r>
              <a:rPr lang="en-US" sz="1400" dirty="0">
                <a:solidFill>
                  <a:srgbClr val="1B2333"/>
                </a:solidFill>
                <a:latin typeface="Calibri" pitchFamily="34" charset="0"/>
                <a:ea typeface="Calibri" pitchFamily="34" charset="-122"/>
                <a:cs typeface="Calibri" pitchFamily="34" charset="-120"/>
              </a:rPr>
              <a:t>(first drive). Second drive: 2 to 1</a:t>
            </a:r>
            <a:endParaRPr lang="en-US" sz="1400" dirty="0"/>
          </a:p>
        </p:txBody>
      </p:sp>
      <p:sp>
        <p:nvSpPr>
          <p:cNvPr id="43" name="Text 40"/>
          <p:cNvSpPr txBox="1"/>
          <p:nvPr/>
        </p:nvSpPr>
        <p:spPr>
          <a:xfrm>
            <a:off x="7498080" y="4462272"/>
            <a:ext cx="4233672" cy="685800"/>
          </a:xfrm>
          <a:prstGeom prst="rect">
            <a:avLst/>
          </a:prstGeom>
          <a:noFill/>
          <a:ln/>
        </p:spPr>
        <p:txBody>
          <a:bodyPr wrap="square" lIns="0" tIns="0" rIns="0" bIns="0" rtlCol="0" anchor="t"/>
          <a:lstStyle/>
          <a:p>
            <a:pPr indent="0" marL="0">
              <a:buNone/>
            </a:pPr>
            <a:r>
              <a:rPr lang="en-US" sz="1400" b="1" dirty="0">
                <a:solidFill>
                  <a:srgbClr val="1F3B73"/>
                </a:solidFill>
                <a:latin typeface="Calibri" pitchFamily="34" charset="0"/>
                <a:ea typeface="Calibri" pitchFamily="34" charset="-122"/>
                <a:cs typeface="Calibri" pitchFamily="34" charset="-120"/>
              </a:rPr>
              <a:t>Trade-off</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At 15 cm a chair merges into its desk on the second drive, so 10 cm, not 15</a:t>
            </a:r>
            <a:endParaRPr lang="en-US" sz="1800" dirty="0"/>
          </a:p>
        </p:txBody>
      </p:sp>
      <p:sp>
        <p:nvSpPr>
          <p:cNvPr id="44" name="Text 41"/>
          <p:cNvSpPr txBox="1"/>
          <p:nvPr/>
        </p:nvSpPr>
        <p:spPr>
          <a:xfrm>
            <a:off x="7498080" y="5212080"/>
            <a:ext cx="4233672" cy="914400"/>
          </a:xfrm>
          <a:prstGeom prst="rect">
            <a:avLst/>
          </a:prstGeom>
          <a:noFill/>
          <a:ln/>
        </p:spPr>
        <p:txBody>
          <a:bodyPr wrap="square" lIns="0" tIns="0" rIns="0" bIns="0" rtlCol="0" anchor="t"/>
          <a:lstStyle/>
          <a:p>
            <a:pPr indent="0" marL="0">
              <a:buNone/>
            </a:pPr>
            <a:r>
              <a:rPr lang="en-US" sz="1400" b="1" dirty="0">
                <a:solidFill>
                  <a:srgbClr val="1F3B73"/>
                </a:solidFill>
                <a:latin typeface="Calibri" pitchFamily="34" charset="0"/>
                <a:ea typeface="Calibri" pitchFamily="34" charset="-122"/>
                <a:cs typeface="Calibri" pitchFamily="34" charset="-120"/>
              </a:rPr>
              <a:t>Appearance alone</a:t>
            </a:r>
            <a:endParaRPr lang="en-US" sz="1800" dirty="0"/>
          </a:p>
          <a:p>
            <a:pPr indent="0" marL="0">
              <a:buNone/>
            </a:pPr>
            <a:r>
              <a:rPr lang="en-US" sz="1350" dirty="0">
                <a:solidFill>
                  <a:srgbClr val="1B2333"/>
                </a:solidFill>
                <a:latin typeface="Calibri" pitchFamily="34" charset="0"/>
                <a:ea typeface="Calibri" pitchFamily="34" charset="-122"/>
                <a:cs typeface="Calibri" pitchFamily="34" charset="-120"/>
              </a:rPr>
              <a:t>Two chairs of the same model score 0.81 to 0.85. Merging on appearance alone removes duplicates by merging everything (10 to 14 of 16 objects missed)</a:t>
            </a:r>
            <a:endParaRPr lang="en-US" sz="1800" dirty="0"/>
          </a:p>
        </p:txBody>
      </p:sp>
      <p:sp>
        <p:nvSpPr>
          <p:cNvPr id="45" name="Text 42"/>
          <p:cNvSpPr txBox="1"/>
          <p:nvPr/>
        </p:nvSpPr>
        <p:spPr>
          <a:xfrm>
            <a:off x="7498080" y="6144768"/>
            <a:ext cx="4233672" cy="237744"/>
          </a:xfrm>
          <a:prstGeom prst="rect">
            <a:avLst/>
          </a:prstGeom>
          <a:noFill/>
          <a:ln/>
        </p:spPr>
        <p:txBody>
          <a:bodyPr wrap="square" lIns="0" tIns="0" rIns="0" bIns="0" rtlCol="0" anchor="t"/>
          <a:lstStyle/>
          <a:p>
            <a:pPr indent="0" marL="0">
              <a:buNone/>
            </a:pPr>
            <a:r>
              <a:rPr lang="en-US" sz="1150" i="1" dirty="0">
                <a:solidFill>
                  <a:srgbClr val="5B6577"/>
                </a:solidFill>
                <a:latin typeface="Calibri" pitchFamily="34" charset="0"/>
                <a:ea typeface="Calibri" pitchFamily="34" charset="-122"/>
                <a:cs typeface="Calibri" pitchFamily="34" charset="-120"/>
              </a:rPr>
              <a:t>Two drives, 16 objects. A difference of one is noise</a:t>
            </a:r>
            <a:endParaRPr lang="en-US" sz="1150" dirty="0"/>
          </a:p>
        </p:txBody>
      </p:sp>
      <p:sp>
        <p:nvSpPr>
          <p:cNvPr id="46" name="Text 43"/>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Zongzhe</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F2F4F8"/>
          </a:solidFill>
          <a:ln w="9525">
            <a:solidFill>
              <a:srgbClr val="CDD3DD"/>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1F3B73"/>
          </a:solidFill>
          <a:ln w="9525">
            <a:solidFill>
              <a:srgbClr val="1F3B73"/>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A sentence becomes a ranked list of objects with 3D positions</a:t>
            </a:r>
            <a:endParaRPr lang="en-US" sz="2400" dirty="0"/>
          </a:p>
        </p:txBody>
      </p:sp>
      <p:sp>
        <p:nvSpPr>
          <p:cNvPr id="13" name="Shape 11"/>
          <p:cNvSpPr/>
          <p:nvPr/>
        </p:nvSpPr>
        <p:spPr>
          <a:xfrm>
            <a:off x="457200" y="1417320"/>
            <a:ext cx="3502152" cy="2194560"/>
          </a:xfrm>
          <a:prstGeom prst="rect">
            <a:avLst/>
          </a:prstGeom>
          <a:solidFill>
            <a:srgbClr val="FFFFFF"/>
          </a:solidFill>
          <a:ln w="15875">
            <a:solidFill>
              <a:srgbClr val="CDD3DD"/>
            </a:solidFill>
            <a:prstDash val="solid"/>
          </a:ln>
        </p:spPr>
      </p:sp>
      <p:sp>
        <p:nvSpPr>
          <p:cNvPr id="14" name="Text 12"/>
          <p:cNvSpPr txBox="1"/>
          <p:nvPr/>
        </p:nvSpPr>
        <p:spPr>
          <a:xfrm>
            <a:off x="621792" y="1508760"/>
            <a:ext cx="3172968" cy="310896"/>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1  Sentence to classes</a:t>
            </a:r>
            <a:endParaRPr lang="en-US" sz="1600" dirty="0"/>
          </a:p>
        </p:txBody>
      </p:sp>
      <p:sp>
        <p:nvSpPr>
          <p:cNvPr id="15" name="Shape 13"/>
          <p:cNvSpPr/>
          <p:nvPr/>
        </p:nvSpPr>
        <p:spPr>
          <a:xfrm>
            <a:off x="3986784" y="2514600"/>
            <a:ext cx="329184" cy="0"/>
          </a:xfrm>
          <a:prstGeom prst="line">
            <a:avLst/>
          </a:prstGeom>
          <a:noFill/>
          <a:ln w="22225">
            <a:solidFill>
              <a:srgbClr val="1B2333"/>
            </a:solidFill>
            <a:prstDash val="solid"/>
            <a:tailEnd type="triangle"/>
          </a:ln>
        </p:spPr>
      </p:sp>
      <p:sp>
        <p:nvSpPr>
          <p:cNvPr id="16" name="Shape 14"/>
          <p:cNvSpPr/>
          <p:nvPr/>
        </p:nvSpPr>
        <p:spPr>
          <a:xfrm>
            <a:off x="4343400" y="1417320"/>
            <a:ext cx="3502152" cy="2194560"/>
          </a:xfrm>
          <a:prstGeom prst="rect">
            <a:avLst/>
          </a:prstGeom>
          <a:solidFill>
            <a:srgbClr val="FFFFFF"/>
          </a:solidFill>
          <a:ln w="15875">
            <a:solidFill>
              <a:srgbClr val="CDD3DD"/>
            </a:solidFill>
            <a:prstDash val="solid"/>
          </a:ln>
        </p:spPr>
      </p:sp>
      <p:sp>
        <p:nvSpPr>
          <p:cNvPr id="17" name="Text 15"/>
          <p:cNvSpPr txBox="1"/>
          <p:nvPr/>
        </p:nvSpPr>
        <p:spPr>
          <a:xfrm>
            <a:off x="4507992" y="1508760"/>
            <a:ext cx="3172968" cy="310896"/>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2  Score</a:t>
            </a:r>
            <a:endParaRPr lang="en-US" sz="1600" dirty="0"/>
          </a:p>
        </p:txBody>
      </p:sp>
      <p:sp>
        <p:nvSpPr>
          <p:cNvPr id="18" name="Shape 16"/>
          <p:cNvSpPr/>
          <p:nvPr/>
        </p:nvSpPr>
        <p:spPr>
          <a:xfrm>
            <a:off x="7872984" y="2514600"/>
            <a:ext cx="329184" cy="0"/>
          </a:xfrm>
          <a:prstGeom prst="line">
            <a:avLst/>
          </a:prstGeom>
          <a:noFill/>
          <a:ln w="22225">
            <a:solidFill>
              <a:srgbClr val="1B2333"/>
            </a:solidFill>
            <a:prstDash val="solid"/>
            <a:tailEnd type="triangle"/>
          </a:ln>
        </p:spPr>
      </p:sp>
      <p:sp>
        <p:nvSpPr>
          <p:cNvPr id="19" name="Shape 17"/>
          <p:cNvSpPr/>
          <p:nvPr/>
        </p:nvSpPr>
        <p:spPr>
          <a:xfrm>
            <a:off x="8229600" y="1417320"/>
            <a:ext cx="3502152" cy="2194560"/>
          </a:xfrm>
          <a:prstGeom prst="rect">
            <a:avLst/>
          </a:prstGeom>
          <a:solidFill>
            <a:srgbClr val="FFFFFF"/>
          </a:solidFill>
          <a:ln w="15875">
            <a:solidFill>
              <a:srgbClr val="8A93A3"/>
            </a:solidFill>
            <a:prstDash val="solid"/>
          </a:ln>
        </p:spPr>
      </p:sp>
      <p:sp>
        <p:nvSpPr>
          <p:cNvPr id="20" name="Text 18"/>
          <p:cNvSpPr txBox="1"/>
          <p:nvPr/>
        </p:nvSpPr>
        <p:spPr>
          <a:xfrm>
            <a:off x="8394192" y="1508760"/>
            <a:ext cx="3172968" cy="310896"/>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3  Rank</a:t>
            </a:r>
            <a:endParaRPr lang="en-US" sz="1600" dirty="0"/>
          </a:p>
        </p:txBody>
      </p:sp>
      <p:sp>
        <p:nvSpPr>
          <p:cNvPr id="21" name="Text 19"/>
          <p:cNvSpPr txBox="1"/>
          <p:nvPr/>
        </p:nvSpPr>
        <p:spPr>
          <a:xfrm>
            <a:off x="621792" y="1874520"/>
            <a:ext cx="3200400" cy="411480"/>
          </a:xfrm>
          <a:prstGeom prst="rect">
            <a:avLst/>
          </a:prstGeom>
          <a:noFill/>
          <a:ln/>
        </p:spPr>
        <p:txBody>
          <a:bodyPr wrap="square" lIns="0" tIns="0" rIns="0" bIns="0" rtlCol="0" anchor="t"/>
          <a:lstStyle/>
          <a:p>
            <a:pPr indent="0" marL="0">
              <a:buNone/>
            </a:pPr>
            <a:r>
              <a:rPr lang="en-US" sz="2200" b="1" i="1" dirty="0">
                <a:solidFill>
                  <a:srgbClr val="1B2333"/>
                </a:solidFill>
                <a:latin typeface="Calibri" pitchFamily="34" charset="0"/>
                <a:ea typeface="Calibri" pitchFamily="34" charset="-122"/>
                <a:cs typeface="Calibri" pitchFamily="34" charset="-120"/>
              </a:rPr>
              <a:t>"Find the chair"</a:t>
            </a:r>
            <a:endParaRPr lang="en-US" sz="2200" dirty="0"/>
          </a:p>
        </p:txBody>
      </p:sp>
      <p:sp>
        <p:nvSpPr>
          <p:cNvPr id="22" name="Text 20"/>
          <p:cNvSpPr txBox="1"/>
          <p:nvPr/>
        </p:nvSpPr>
        <p:spPr>
          <a:xfrm>
            <a:off x="621792" y="2313432"/>
            <a:ext cx="3200400" cy="50292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A local language model (Qwen2.5, 1.5B) returns target and related classes</a:t>
            </a:r>
            <a:endParaRPr lang="en-US" sz="1250" dirty="0"/>
          </a:p>
        </p:txBody>
      </p:sp>
      <p:sp>
        <p:nvSpPr>
          <p:cNvPr id="23" name="Shape 21"/>
          <p:cNvSpPr/>
          <p:nvPr/>
        </p:nvSpPr>
        <p:spPr>
          <a:xfrm>
            <a:off x="621792" y="2926080"/>
            <a:ext cx="1325880" cy="347472"/>
          </a:xfrm>
          <a:prstGeom prst="rect">
            <a:avLst/>
          </a:prstGeom>
          <a:solidFill>
            <a:srgbClr val="1F3B73"/>
          </a:solidFill>
          <a:ln/>
        </p:spPr>
      </p:sp>
      <p:sp>
        <p:nvSpPr>
          <p:cNvPr id="24" name="Text 22"/>
          <p:cNvSpPr txBox="1"/>
          <p:nvPr/>
        </p:nvSpPr>
        <p:spPr>
          <a:xfrm>
            <a:off x="621792" y="2926080"/>
            <a:ext cx="13258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target: chair</a:t>
            </a:r>
            <a:endParaRPr lang="en-US" sz="1300" dirty="0"/>
          </a:p>
        </p:txBody>
      </p:sp>
      <p:sp>
        <p:nvSpPr>
          <p:cNvPr id="25" name="Shape 23"/>
          <p:cNvSpPr/>
          <p:nvPr/>
        </p:nvSpPr>
        <p:spPr>
          <a:xfrm>
            <a:off x="2039112" y="2926080"/>
            <a:ext cx="1783080" cy="347472"/>
          </a:xfrm>
          <a:prstGeom prst="rect">
            <a:avLst/>
          </a:prstGeom>
          <a:solidFill>
            <a:srgbClr val="FFFFFF"/>
          </a:solidFill>
          <a:ln w="12700">
            <a:solidFill>
              <a:srgbClr val="1F3B73"/>
            </a:solidFill>
            <a:prstDash val="solid"/>
          </a:ln>
        </p:spPr>
      </p:sp>
      <p:sp>
        <p:nvSpPr>
          <p:cNvPr id="26" name="Text 24"/>
          <p:cNvSpPr txBox="1"/>
          <p:nvPr/>
        </p:nvSpPr>
        <p:spPr>
          <a:xfrm>
            <a:off x="2039112" y="2926080"/>
            <a:ext cx="1783080" cy="347472"/>
          </a:xfrm>
          <a:prstGeom prst="rect">
            <a:avLst/>
          </a:prstGeom>
          <a:noFill/>
          <a:ln/>
        </p:spPr>
        <p:txBody>
          <a:bodyPr wrap="square" lIns="0" tIns="0" rIns="0" bIns="0" rtlCol="0" anchor="ctr"/>
          <a:lstStyle/>
          <a:p>
            <a:pPr algn="ctr" indent="0" marL="0">
              <a:buNone/>
            </a:pPr>
            <a:r>
              <a:rPr lang="en-US" sz="1300" dirty="0">
                <a:solidFill>
                  <a:srgbClr val="1F3B73"/>
                </a:solidFill>
                <a:latin typeface="Calibri" pitchFamily="34" charset="0"/>
                <a:ea typeface="Calibri" pitchFamily="34" charset="-122"/>
                <a:cs typeface="Calibri" pitchFamily="34" charset="-120"/>
              </a:rPr>
              <a:t>related: table, desk</a:t>
            </a:r>
            <a:endParaRPr lang="en-US" sz="1300" dirty="0"/>
          </a:p>
        </p:txBody>
      </p:sp>
      <p:sp>
        <p:nvSpPr>
          <p:cNvPr id="27" name="Text 25"/>
          <p:cNvSpPr txBox="1"/>
          <p:nvPr/>
        </p:nvSpPr>
        <p:spPr>
          <a:xfrm>
            <a:off x="4507992" y="1874520"/>
            <a:ext cx="3172968" cy="73152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Each object’s CLIP image feature against the sentence’s CLIP text vector</a:t>
            </a:r>
            <a:endParaRPr lang="en-US" sz="1400" dirty="0"/>
          </a:p>
        </p:txBody>
      </p:sp>
      <p:sp>
        <p:nvSpPr>
          <p:cNvPr id="28" name="Shape 26"/>
          <p:cNvSpPr/>
          <p:nvPr/>
        </p:nvSpPr>
        <p:spPr>
          <a:xfrm>
            <a:off x="4507992" y="2788920"/>
            <a:ext cx="1325880" cy="384048"/>
          </a:xfrm>
          <a:prstGeom prst="rect">
            <a:avLst/>
          </a:prstGeom>
          <a:solidFill>
            <a:srgbClr val="F2F4F8"/>
          </a:solidFill>
          <a:ln/>
        </p:spPr>
      </p:sp>
      <p:sp>
        <p:nvSpPr>
          <p:cNvPr id="29" name="Text 27"/>
          <p:cNvSpPr txBox="1"/>
          <p:nvPr/>
        </p:nvSpPr>
        <p:spPr>
          <a:xfrm>
            <a:off x="4507992" y="2788920"/>
            <a:ext cx="1325880" cy="384048"/>
          </a:xfrm>
          <a:prstGeom prst="rect">
            <a:avLst/>
          </a:prstGeom>
          <a:noFill/>
          <a:ln/>
        </p:spPr>
        <p:txBody>
          <a:bodyPr wrap="square" lIns="0" tIns="0" rIns="0" bIns="0" rtlCol="0" anchor="ctr"/>
          <a:lstStyle/>
          <a:p>
            <a:pPr algn="ctr" indent="0" marL="0">
              <a:buNone/>
            </a:pPr>
            <a:r>
              <a:rPr lang="en-US" sz="1200" dirty="0">
                <a:solidFill>
                  <a:srgbClr val="1B2333"/>
                </a:solidFill>
                <a:latin typeface="Calibri" pitchFamily="34" charset="0"/>
                <a:ea typeface="Calibri" pitchFamily="34" charset="-122"/>
                <a:cs typeface="Calibri" pitchFamily="34" charset="-120"/>
              </a:rPr>
              <a:t>object image feature</a:t>
            </a:r>
            <a:endParaRPr lang="en-US" sz="1200" dirty="0"/>
          </a:p>
        </p:txBody>
      </p:sp>
      <p:sp>
        <p:nvSpPr>
          <p:cNvPr id="30" name="Text 28"/>
          <p:cNvSpPr txBox="1"/>
          <p:nvPr/>
        </p:nvSpPr>
        <p:spPr>
          <a:xfrm>
            <a:off x="5879592" y="2788920"/>
            <a:ext cx="411480" cy="384048"/>
          </a:xfrm>
          <a:prstGeom prst="rect">
            <a:avLst/>
          </a:prstGeom>
          <a:noFill/>
          <a:ln/>
        </p:spPr>
        <p:txBody>
          <a:bodyPr wrap="square" lIns="0" tIns="0" rIns="0" bIns="0" rtlCol="0" anchor="ctr"/>
          <a:lstStyle/>
          <a:p>
            <a:pPr algn="ctr" indent="0" marL="0">
              <a:buNone/>
            </a:pPr>
            <a:r>
              <a:rPr lang="en-US" sz="1300" dirty="0">
                <a:solidFill>
                  <a:srgbClr val="5B6577"/>
                </a:solidFill>
                <a:latin typeface="Calibri" pitchFamily="34" charset="0"/>
                <a:ea typeface="Calibri" pitchFamily="34" charset="-122"/>
                <a:cs typeface="Calibri" pitchFamily="34" charset="-120"/>
              </a:rPr>
              <a:t>vs</a:t>
            </a:r>
            <a:endParaRPr lang="en-US" sz="1300" dirty="0"/>
          </a:p>
        </p:txBody>
      </p:sp>
      <p:sp>
        <p:nvSpPr>
          <p:cNvPr id="31" name="Shape 29"/>
          <p:cNvSpPr/>
          <p:nvPr/>
        </p:nvSpPr>
        <p:spPr>
          <a:xfrm>
            <a:off x="6336792" y="2788920"/>
            <a:ext cx="1344168" cy="384048"/>
          </a:xfrm>
          <a:prstGeom prst="rect">
            <a:avLst/>
          </a:prstGeom>
          <a:solidFill>
            <a:srgbClr val="F2F4F8"/>
          </a:solidFill>
          <a:ln/>
        </p:spPr>
      </p:sp>
      <p:sp>
        <p:nvSpPr>
          <p:cNvPr id="32" name="Text 30"/>
          <p:cNvSpPr txBox="1"/>
          <p:nvPr/>
        </p:nvSpPr>
        <p:spPr>
          <a:xfrm>
            <a:off x="6336792" y="2788920"/>
            <a:ext cx="1344168" cy="384048"/>
          </a:xfrm>
          <a:prstGeom prst="rect">
            <a:avLst/>
          </a:prstGeom>
          <a:noFill/>
          <a:ln/>
        </p:spPr>
        <p:txBody>
          <a:bodyPr wrap="square" lIns="0" tIns="0" rIns="0" bIns="0" rtlCol="0" anchor="ctr"/>
          <a:lstStyle/>
          <a:p>
            <a:pPr algn="ctr" indent="0" marL="0">
              <a:buNone/>
            </a:pPr>
            <a:r>
              <a:rPr lang="en-US" sz="1200" dirty="0">
                <a:solidFill>
                  <a:srgbClr val="1B2333"/>
                </a:solidFill>
                <a:latin typeface="Calibri" pitchFamily="34" charset="0"/>
                <a:ea typeface="Calibri" pitchFamily="34" charset="-122"/>
                <a:cs typeface="Calibri" pitchFamily="34" charset="-120"/>
              </a:rPr>
              <a:t>sentence text vector</a:t>
            </a:r>
            <a:endParaRPr lang="en-US" sz="1200" dirty="0"/>
          </a:p>
        </p:txBody>
      </p:sp>
      <p:sp>
        <p:nvSpPr>
          <p:cNvPr id="33" name="Text 31"/>
          <p:cNvSpPr txBox="1"/>
          <p:nvPr/>
        </p:nvSpPr>
        <p:spPr>
          <a:xfrm>
            <a:off x="8394192" y="1874520"/>
            <a:ext cx="3172968" cy="1234440"/>
          </a:xfrm>
          <a:prstGeom prst="rect">
            <a:avLst/>
          </a:prstGeom>
          <a:noFill/>
          <a:ln/>
        </p:spPr>
        <p:txBody>
          <a:bodyPr wrap="square" lIns="0" tIns="0" rIns="0" bIns="0" rtlCol="0" anchor="t"/>
          <a:lstStyle/>
          <a:p>
            <a:pPr indent="0" marL="0">
              <a:spcAft>
                <a:spcPts val="500"/>
              </a:spcAft>
              <a:buNone/>
            </a:pPr>
            <a:r>
              <a:rPr lang="en-US" sz="1350" dirty="0">
                <a:solidFill>
                  <a:srgbClr val="1B2333"/>
                </a:solidFill>
                <a:latin typeface="Calibri" pitchFamily="34" charset="0"/>
                <a:ea typeface="Calibri" pitchFamily="34" charset="-122"/>
                <a:cs typeface="Calibri" pitchFamily="34" charset="-120"/>
              </a:rPr>
              <a:t>Target classes first, then related, each by score</a:t>
            </a:r>
            <a:endParaRPr lang="en-US" sz="1350" dirty="0"/>
          </a:p>
          <a:p>
            <a:pPr indent="0" marL="0">
              <a:spcAft>
                <a:spcPts val="500"/>
              </a:spcAft>
              <a:buNone/>
            </a:pPr>
            <a:r>
              <a:rPr lang="en-US" sz="1350" dirty="0">
                <a:solidFill>
                  <a:srgbClr val="1B2333"/>
                </a:solidFill>
                <a:latin typeface="Calibri" pitchFamily="34" charset="0"/>
                <a:ea typeface="Calibri" pitchFamily="34" charset="-122"/>
                <a:cs typeface="Calibri" pitchFamily="34" charset="-120"/>
              </a:rPr>
              <a:t>Each hit: object id, 3D centre, best photo</a:t>
            </a:r>
            <a:endParaRPr lang="en-US" sz="1350" dirty="0"/>
          </a:p>
          <a:p>
            <a:pPr indent="0" marL="0">
              <a:spcAft>
                <a:spcPts val="500"/>
              </a:spcAft>
              <a:buNone/>
            </a:pPr>
            <a:r>
              <a:rPr lang="en-US" sz="1350" dirty="0">
                <a:solidFill>
                  <a:srgbClr val="1B2333"/>
                </a:solidFill>
                <a:latin typeface="Calibri" pitchFamily="34" charset="0"/>
                <a:ea typeface="Calibri" pitchFamily="34" charset="-122"/>
                <a:cs typeface="Calibri" pitchFamily="34" charset="-120"/>
              </a:rPr>
              <a:t>A wrong hit can be rejected and skipped next time</a:t>
            </a:r>
            <a:endParaRPr lang="en-US" sz="1350" dirty="0"/>
          </a:p>
        </p:txBody>
      </p:sp>
      <p:sp>
        <p:nvSpPr>
          <p:cNvPr id="34" name="Shape 32"/>
          <p:cNvSpPr/>
          <p:nvPr/>
        </p:nvSpPr>
        <p:spPr>
          <a:xfrm>
            <a:off x="8394192" y="3099816"/>
            <a:ext cx="3172968" cy="402336"/>
          </a:xfrm>
          <a:prstGeom prst="rect">
            <a:avLst/>
          </a:prstGeom>
          <a:solidFill>
            <a:srgbClr val="FFFFFF"/>
          </a:solidFill>
          <a:ln w="12700">
            <a:solidFill>
              <a:srgbClr val="8A93A3"/>
            </a:solidFill>
            <a:prstDash val="dash"/>
          </a:ln>
        </p:spPr>
      </p:sp>
      <p:sp>
        <p:nvSpPr>
          <p:cNvPr id="35" name="Text 33"/>
          <p:cNvSpPr txBox="1"/>
          <p:nvPr/>
        </p:nvSpPr>
        <p:spPr>
          <a:xfrm>
            <a:off x="8394192" y="3099816"/>
            <a:ext cx="3172968" cy="402336"/>
          </a:xfrm>
          <a:prstGeom prst="rect">
            <a:avLst/>
          </a:prstGeom>
          <a:noFill/>
          <a:ln/>
        </p:spPr>
        <p:txBody>
          <a:bodyPr wrap="square" lIns="0" tIns="0" rIns="0" bIns="0" rtlCol="0" anchor="ctr"/>
          <a:lstStyle/>
          <a:p>
            <a:pPr algn="ctr" indent="0" marL="0">
              <a:buNone/>
            </a:pPr>
            <a:r>
              <a:rPr lang="en-US" sz="1300" b="1" dirty="0">
                <a:solidFill>
                  <a:srgbClr val="4B5363"/>
                </a:solidFill>
                <a:latin typeface="Calibri" pitchFamily="34" charset="0"/>
                <a:ea typeface="Calibri" pitchFamily="34" charset="-122"/>
                <a:cs typeface="Calibri" pitchFamily="34" charset="-120"/>
              </a:rPr>
              <a:t>Acceptance run pending (T6.8)</a:t>
            </a:r>
            <a:endParaRPr lang="en-US" sz="1300" dirty="0"/>
          </a:p>
        </p:txBody>
      </p:sp>
      <p:sp>
        <p:nvSpPr>
          <p:cNvPr id="36" name="Text 34"/>
          <p:cNvSpPr txBox="1"/>
          <p:nvPr/>
        </p:nvSpPr>
        <p:spPr>
          <a:xfrm>
            <a:off x="457200" y="3794760"/>
            <a:ext cx="6400800" cy="274320"/>
          </a:xfrm>
          <a:prstGeom prst="rect">
            <a:avLst/>
          </a:prstGeom>
          <a:noFill/>
          <a:ln/>
        </p:spPr>
        <p:txBody>
          <a:bodyPr wrap="square" lIns="0" tIns="0" rIns="0" bIns="0" rtlCol="0" anchor="t"/>
          <a:lstStyle/>
          <a:p>
            <a:pPr indent="0" marL="0">
              <a:buNone/>
            </a:pPr>
            <a:r>
              <a:rPr lang="en-US" sz="1400" b="1" dirty="0">
                <a:solidFill>
                  <a:srgbClr val="1B2333"/>
                </a:solidFill>
                <a:latin typeface="Calibri" pitchFamily="34" charset="0"/>
                <a:ea typeface="Calibri" pitchFamily="34" charset="-122"/>
                <a:cs typeface="Calibri" pitchFamily="34" charset="-120"/>
              </a:rPr>
              <a:t>Sentence to classes, 22 test instructions (checked by hand)</a:t>
            </a:r>
            <a:endParaRPr lang="en-US" sz="1400" dirty="0"/>
          </a:p>
        </p:txBody>
      </p:sp>
      <p:sp>
        <p:nvSpPr>
          <p:cNvPr id="37" name="Text 35"/>
          <p:cNvSpPr txBox="1"/>
          <p:nvPr/>
        </p:nvSpPr>
        <p:spPr>
          <a:xfrm>
            <a:off x="457200" y="4160520"/>
            <a:ext cx="2377440" cy="29260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Qwen2.5 1.5B (used)</a:t>
            </a:r>
            <a:endParaRPr lang="en-US" sz="1300" dirty="0"/>
          </a:p>
        </p:txBody>
      </p:sp>
      <p:sp>
        <p:nvSpPr>
          <p:cNvPr id="38" name="Shape 36"/>
          <p:cNvSpPr/>
          <p:nvPr/>
        </p:nvSpPr>
        <p:spPr>
          <a:xfrm>
            <a:off x="2880360" y="4197096"/>
            <a:ext cx="3566160" cy="219456"/>
          </a:xfrm>
          <a:prstGeom prst="rect">
            <a:avLst/>
          </a:prstGeom>
          <a:solidFill>
            <a:srgbClr val="F2F4F8"/>
          </a:solidFill>
          <a:ln/>
        </p:spPr>
      </p:sp>
      <p:sp>
        <p:nvSpPr>
          <p:cNvPr id="39" name="Shape 37"/>
          <p:cNvSpPr/>
          <p:nvPr/>
        </p:nvSpPr>
        <p:spPr>
          <a:xfrm>
            <a:off x="2880360" y="4197096"/>
            <a:ext cx="3241964" cy="219456"/>
          </a:xfrm>
          <a:prstGeom prst="rect">
            <a:avLst/>
          </a:prstGeom>
          <a:solidFill>
            <a:srgbClr val="1F3B73"/>
          </a:solidFill>
          <a:ln/>
        </p:spPr>
      </p:sp>
      <p:sp>
        <p:nvSpPr>
          <p:cNvPr id="40" name="Text 38"/>
          <p:cNvSpPr txBox="1"/>
          <p:nvPr/>
        </p:nvSpPr>
        <p:spPr>
          <a:xfrm>
            <a:off x="6537960" y="4160520"/>
            <a:ext cx="914400" cy="292608"/>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20 of 22</a:t>
            </a:r>
            <a:endParaRPr lang="en-US" sz="1300" dirty="0"/>
          </a:p>
        </p:txBody>
      </p:sp>
      <p:sp>
        <p:nvSpPr>
          <p:cNvPr id="41" name="Text 39"/>
          <p:cNvSpPr txBox="1"/>
          <p:nvPr/>
        </p:nvSpPr>
        <p:spPr>
          <a:xfrm>
            <a:off x="457200" y="4526280"/>
            <a:ext cx="2377440" cy="292608"/>
          </a:xfrm>
          <a:prstGeom prst="rect">
            <a:avLst/>
          </a:prstGeom>
          <a:noFill/>
          <a:ln/>
        </p:spPr>
        <p:txBody>
          <a:bodyPr wrap="square" lIns="0" tIns="0" rIns="0" bIns="0" rtlCol="0" anchor="ctr"/>
          <a:lstStyle/>
          <a:p>
            <a:pPr algn="r" indent="0" marL="0">
              <a:buNone/>
            </a:pPr>
            <a:r>
              <a:rPr lang="en-US" sz="1300" dirty="0">
                <a:solidFill>
                  <a:srgbClr val="5B6577"/>
                </a:solidFill>
                <a:latin typeface="Calibri" pitchFamily="34" charset="0"/>
                <a:ea typeface="Calibri" pitchFamily="34" charset="-122"/>
                <a:cs typeface="Calibri" pitchFamily="34" charset="-120"/>
              </a:rPr>
              <a:t>Fallback without the model</a:t>
            </a:r>
            <a:endParaRPr lang="en-US" sz="1300" dirty="0"/>
          </a:p>
        </p:txBody>
      </p:sp>
      <p:sp>
        <p:nvSpPr>
          <p:cNvPr id="42" name="Shape 40"/>
          <p:cNvSpPr/>
          <p:nvPr/>
        </p:nvSpPr>
        <p:spPr>
          <a:xfrm>
            <a:off x="2880360" y="4562856"/>
            <a:ext cx="3566160" cy="219456"/>
          </a:xfrm>
          <a:prstGeom prst="rect">
            <a:avLst/>
          </a:prstGeom>
          <a:solidFill>
            <a:srgbClr val="F2F4F8"/>
          </a:solidFill>
          <a:ln/>
        </p:spPr>
      </p:sp>
      <p:sp>
        <p:nvSpPr>
          <p:cNvPr id="43" name="Shape 41"/>
          <p:cNvSpPr/>
          <p:nvPr/>
        </p:nvSpPr>
        <p:spPr>
          <a:xfrm>
            <a:off x="2880360" y="4562856"/>
            <a:ext cx="2431473" cy="219456"/>
          </a:xfrm>
          <a:prstGeom prst="rect">
            <a:avLst/>
          </a:prstGeom>
          <a:solidFill>
            <a:srgbClr val="8A93A3"/>
          </a:solidFill>
          <a:ln/>
        </p:spPr>
      </p:sp>
      <p:sp>
        <p:nvSpPr>
          <p:cNvPr id="44" name="Text 42"/>
          <p:cNvSpPr txBox="1"/>
          <p:nvPr/>
        </p:nvSpPr>
        <p:spPr>
          <a:xfrm>
            <a:off x="6537960" y="4526280"/>
            <a:ext cx="914400" cy="292608"/>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15 of 22</a:t>
            </a:r>
            <a:endParaRPr lang="en-US" sz="1300" dirty="0"/>
          </a:p>
        </p:txBody>
      </p:sp>
      <p:sp>
        <p:nvSpPr>
          <p:cNvPr id="45" name="Text 43"/>
          <p:cNvSpPr txBox="1"/>
          <p:nvPr/>
        </p:nvSpPr>
        <p:spPr>
          <a:xfrm>
            <a:off x="457200" y="4892040"/>
            <a:ext cx="2377440" cy="292608"/>
          </a:xfrm>
          <a:prstGeom prst="rect">
            <a:avLst/>
          </a:prstGeom>
          <a:noFill/>
          <a:ln/>
        </p:spPr>
        <p:txBody>
          <a:bodyPr wrap="square" lIns="0" tIns="0" rIns="0" bIns="0" rtlCol="0" anchor="ctr"/>
          <a:lstStyle/>
          <a:p>
            <a:pPr algn="r" indent="0" marL="0">
              <a:buNone/>
            </a:pPr>
            <a:r>
              <a:rPr lang="en-US" sz="1300" dirty="0">
                <a:solidFill>
                  <a:srgbClr val="5B6577"/>
                </a:solidFill>
                <a:latin typeface="Calibri" pitchFamily="34" charset="0"/>
                <a:ea typeface="Calibri" pitchFamily="34" charset="-122"/>
                <a:cs typeface="Calibri" pitchFamily="34" charset="-120"/>
              </a:rPr>
              <a:t>Smaller 0.5B model</a:t>
            </a:r>
            <a:endParaRPr lang="en-US" sz="1300" dirty="0"/>
          </a:p>
        </p:txBody>
      </p:sp>
      <p:sp>
        <p:nvSpPr>
          <p:cNvPr id="46" name="Shape 44"/>
          <p:cNvSpPr/>
          <p:nvPr/>
        </p:nvSpPr>
        <p:spPr>
          <a:xfrm>
            <a:off x="2880360" y="4928616"/>
            <a:ext cx="3566160" cy="219456"/>
          </a:xfrm>
          <a:prstGeom prst="rect">
            <a:avLst/>
          </a:prstGeom>
          <a:solidFill>
            <a:srgbClr val="F2F4F8"/>
          </a:solidFill>
          <a:ln/>
        </p:spPr>
      </p:sp>
      <p:sp>
        <p:nvSpPr>
          <p:cNvPr id="47" name="Shape 45"/>
          <p:cNvSpPr/>
          <p:nvPr/>
        </p:nvSpPr>
        <p:spPr>
          <a:xfrm>
            <a:off x="2880360" y="4928616"/>
            <a:ext cx="1945178" cy="219456"/>
          </a:xfrm>
          <a:prstGeom prst="rect">
            <a:avLst/>
          </a:prstGeom>
          <a:solidFill>
            <a:srgbClr val="8A93A3"/>
          </a:solidFill>
          <a:ln/>
        </p:spPr>
      </p:sp>
      <p:sp>
        <p:nvSpPr>
          <p:cNvPr id="48" name="Text 46"/>
          <p:cNvSpPr txBox="1"/>
          <p:nvPr/>
        </p:nvSpPr>
        <p:spPr>
          <a:xfrm>
            <a:off x="6537960" y="4892040"/>
            <a:ext cx="914400" cy="292608"/>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12 of 22</a:t>
            </a:r>
            <a:endParaRPr lang="en-US" sz="1300" dirty="0"/>
          </a:p>
        </p:txBody>
      </p:sp>
      <p:sp>
        <p:nvSpPr>
          <p:cNvPr id="49" name="Text 47"/>
          <p:cNvSpPr txBox="1"/>
          <p:nvPr/>
        </p:nvSpPr>
        <p:spPr>
          <a:xfrm>
            <a:off x="8229600" y="4114800"/>
            <a:ext cx="3502152" cy="868680"/>
          </a:xfrm>
          <a:prstGeom prst="rect">
            <a:avLst/>
          </a:prstGeom>
          <a:noFill/>
          <a:ln/>
        </p:spPr>
        <p:txBody>
          <a:bodyPr wrap="square" lIns="0" tIns="0" rIns="0" bIns="0" rtlCol="0" anchor="t"/>
          <a:lstStyle/>
          <a:p>
            <a:pPr indent="0" marL="0">
              <a:buNone/>
            </a:pPr>
            <a:r>
              <a:rPr lang="en-US" sz="2600" b="1" dirty="0">
                <a:solidFill>
                  <a:srgbClr val="1F3B73"/>
                </a:solidFill>
                <a:latin typeface="Calibri" pitchFamily="34" charset="0"/>
                <a:ea typeface="Calibri" pitchFamily="34" charset="-122"/>
                <a:cs typeface="Calibri" pitchFamily="34" charset="-120"/>
              </a:rPr>
              <a:t>0.28 to 0.32 s</a:t>
            </a:r>
            <a:endParaRPr lang="en-US" sz="1800" dirty="0"/>
          </a:p>
          <a:p>
            <a:pPr indent="0" marL="0">
              <a:buNone/>
            </a:pPr>
            <a:r>
              <a:rPr lang="en-US" sz="1300" dirty="0">
                <a:solidFill>
                  <a:srgbClr val="5B6577"/>
                </a:solidFill>
                <a:latin typeface="Calibri" pitchFamily="34" charset="0"/>
                <a:ea typeface="Calibri" pitchFamily="34" charset="-122"/>
                <a:cs typeface="Calibri" pitchFamily="34" charset="-120"/>
              </a:rPr>
              <a:t>a reply, running locally</a:t>
            </a:r>
            <a:endParaRPr lang="en-US" sz="1800" dirty="0"/>
          </a:p>
        </p:txBody>
      </p:sp>
      <p:sp>
        <p:nvSpPr>
          <p:cNvPr id="50" name="Shape 48"/>
          <p:cNvSpPr/>
          <p:nvPr/>
        </p:nvSpPr>
        <p:spPr>
          <a:xfrm>
            <a:off x="457200" y="5486400"/>
            <a:ext cx="1371600" cy="310896"/>
          </a:xfrm>
          <a:prstGeom prst="rect">
            <a:avLst/>
          </a:prstGeom>
          <a:solidFill>
            <a:srgbClr val="FBF1DC"/>
          </a:solidFill>
          <a:ln w="12700">
            <a:solidFill>
              <a:srgbClr val="B7791F"/>
            </a:solidFill>
            <a:prstDash val="solid"/>
          </a:ln>
        </p:spPr>
      </p:sp>
      <p:sp>
        <p:nvSpPr>
          <p:cNvPr id="51" name="Text 49"/>
          <p:cNvSpPr txBox="1"/>
          <p:nvPr/>
        </p:nvSpPr>
        <p:spPr>
          <a:xfrm>
            <a:off x="530352" y="5486400"/>
            <a:ext cx="1225296" cy="310896"/>
          </a:xfrm>
          <a:prstGeom prst="rect">
            <a:avLst/>
          </a:prstGeom>
          <a:noFill/>
          <a:ln/>
        </p:spPr>
        <p:txBody>
          <a:bodyPr wrap="square" lIns="0" tIns="0" rIns="0" bIns="0" rtlCol="0" anchor="ctr"/>
          <a:lstStyle/>
          <a:p>
            <a:pPr indent="0" marL="0">
              <a:buNone/>
            </a:pPr>
            <a:r>
              <a:rPr lang="en-US" sz="1200" b="1" dirty="0">
                <a:solidFill>
                  <a:srgbClr val="7A4E0B"/>
                </a:solidFill>
                <a:latin typeface="Calibri" pitchFamily="34" charset="0"/>
                <a:ea typeface="Calibri" pitchFamily="34" charset="-122"/>
                <a:cs typeface="Calibri" pitchFamily="34" charset="-120"/>
              </a:rPr>
              <a:t>Built</a:t>
            </a:r>
            <a:endParaRPr lang="en-US" sz="1200" dirty="0"/>
          </a:p>
        </p:txBody>
      </p:sp>
      <p:sp>
        <p:nvSpPr>
          <p:cNvPr id="52" name="Text 50"/>
          <p:cNvSpPr txBox="1"/>
          <p:nvPr/>
        </p:nvSpPr>
        <p:spPr>
          <a:xfrm>
            <a:off x="1920240" y="5440680"/>
            <a:ext cx="9811512" cy="411480"/>
          </a:xfrm>
          <a:prstGeom prst="rect">
            <a:avLst/>
          </a:prstGeom>
          <a:noFill/>
          <a:ln/>
        </p:spPr>
        <p:txBody>
          <a:bodyPr wrap="square" lIns="0" tIns="0" rIns="0" bIns="0" rtlCol="0" anchor="ctr"/>
          <a:lstStyle/>
          <a:p>
            <a:pPr indent="0" marL="0">
              <a:buNone/>
            </a:pPr>
            <a:r>
              <a:rPr lang="en-US" sz="1350" dirty="0">
                <a:solidFill>
                  <a:srgbClr val="1B2333"/>
                </a:solidFill>
                <a:latin typeface="Calibri" pitchFamily="34" charset="0"/>
                <a:ea typeface="Calibri" pitchFamily="34" charset="-122"/>
                <a:cs typeface="Calibri" pitchFamily="34" charset="-120"/>
              </a:rPr>
              <a:t>Steps 2 and 3 tested on stand-ins and a few photos. </a:t>
            </a:r>
            <a:pPr indent="0" marL="0">
              <a:buNone/>
            </a:pPr>
            <a:r>
              <a:rPr lang="en-US" sz="1350" b="1" dirty="0">
                <a:solidFill>
                  <a:srgbClr val="1B2333"/>
                </a:solidFill>
                <a:latin typeface="Calibri" pitchFamily="34" charset="0"/>
                <a:ea typeface="Calibri" pitchFamily="34" charset="-122"/>
                <a:cs typeface="Calibri" pitchFamily="34" charset="-120"/>
              </a:rPr>
              <a:t>The full query on the recorded drive is the acceptance test, scheduled weeks 7 to 8 (T6.8)</a:t>
            </a:r>
            <a:endParaRPr lang="en-US" sz="1350" dirty="0"/>
          </a:p>
        </p:txBody>
      </p:sp>
      <p:sp>
        <p:nvSpPr>
          <p:cNvPr id="53" name="Text 51"/>
          <p:cNvSpPr txBox="1"/>
          <p:nvPr/>
        </p:nvSpPr>
        <p:spPr>
          <a:xfrm>
            <a:off x="457200" y="5943600"/>
            <a:ext cx="11274552" cy="411480"/>
          </a:xfrm>
          <a:prstGeom prst="rect">
            <a:avLst/>
          </a:prstGeom>
          <a:noFill/>
          <a:ln/>
        </p:spPr>
        <p:txBody>
          <a:bodyPr wrap="square" lIns="0" tIns="0" rIns="0" bIns="0" rtlCol="0" anchor="t"/>
          <a:lstStyle/>
          <a:p>
            <a:pPr indent="0" marL="0">
              <a:buNone/>
            </a:pPr>
            <a:r>
              <a:rPr lang="en-US" sz="1350" i="1" dirty="0">
                <a:solidFill>
                  <a:srgbClr val="5B6577"/>
                </a:solidFill>
                <a:latin typeface="Calibri" pitchFamily="34" charset="0"/>
                <a:ea typeface="Calibri" pitchFamily="34" charset="-122"/>
                <a:cs typeface="Calibri" pitchFamily="34" charset="-120"/>
              </a:rPr>
              <a:t>Today the query is a sentence. In the full system each object is matched against the gaze crop’s feature, and a match ends exploration (M8)</a:t>
            </a:r>
            <a:endParaRPr lang="en-US" sz="1350" dirty="0"/>
          </a:p>
        </p:txBody>
      </p:sp>
      <p:sp>
        <p:nvSpPr>
          <p:cNvPr id="54" name="Text 52"/>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Zongzhe</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F2F4F8"/>
          </a:solidFill>
          <a:ln w="9525">
            <a:solidFill>
              <a:srgbClr val="CDD3DD"/>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1F3B73"/>
          </a:solidFill>
          <a:ln w="9525">
            <a:solidFill>
              <a:srgbClr val="1F3B73"/>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F2F4F8"/>
          </a:solidFill>
          <a:ln w="9525">
            <a:solidFill>
              <a:srgbClr val="CDD3DD"/>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CLIP finds the looked-at box across cameras, and now steers the grasp</a:t>
            </a:r>
            <a:endParaRPr lang="en-US" sz="2400" dirty="0"/>
          </a:p>
        </p:txBody>
      </p:sp>
      <p:sp>
        <p:nvSpPr>
          <p:cNvPr id="13" name="Text 11"/>
          <p:cNvSpPr txBox="1"/>
          <p:nvPr/>
        </p:nvSpPr>
        <p:spPr>
          <a:xfrm>
            <a:off x="457200" y="1389888"/>
            <a:ext cx="11274552" cy="292608"/>
          </a:xfrm>
          <a:prstGeom prst="rect">
            <a:avLst/>
          </a:prstGeom>
          <a:noFill/>
          <a:ln/>
        </p:spPr>
        <p:txBody>
          <a:bodyPr wrap="square" lIns="0" tIns="0" rIns="0" bIns="0" rtlCol="0" anchor="t"/>
          <a:lstStyle/>
          <a:p>
            <a:pPr indent="0" marL="0">
              <a:buNone/>
            </a:pPr>
            <a:r>
              <a:rPr lang="en-US" sz="1600" b="1" dirty="0">
                <a:solidFill>
                  <a:srgbClr val="1B2333"/>
                </a:solidFill>
                <a:latin typeface="Calibri" pitchFamily="34" charset="0"/>
                <a:ea typeface="Calibri" pitchFamily="34" charset="-122"/>
                <a:cs typeface="Calibri" pitchFamily="34" charset="-120"/>
              </a:rPr>
              <a:t>The question: </a:t>
            </a:r>
            <a:pPr indent="0" marL="0">
              <a:buNone/>
            </a:pPr>
            <a:r>
              <a:rPr lang="en-US" sz="1600" dirty="0">
                <a:solidFill>
                  <a:srgbClr val="1B2333"/>
                </a:solidFill>
                <a:latin typeface="Calibri" pitchFamily="34" charset="0"/>
                <a:ea typeface="Calibri" pitchFamily="34" charset="-122"/>
                <a:cs typeface="Calibri" pitchFamily="34" charset="-120"/>
              </a:rPr>
              <a:t>which wrist-camera mask is the object in the glasses crop?</a:t>
            </a:r>
            <a:endParaRPr lang="en-US" sz="1600" dirty="0"/>
          </a:p>
        </p:txBody>
      </p:sp>
      <p:sp>
        <p:nvSpPr>
          <p:cNvPr id="14" name="Text 12"/>
          <p:cNvSpPr txBox="1"/>
          <p:nvPr/>
        </p:nvSpPr>
        <p:spPr>
          <a:xfrm>
            <a:off x="457200" y="1810512"/>
            <a:ext cx="5440680" cy="310896"/>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1  Choose the method</a:t>
            </a:r>
            <a:endParaRPr lang="en-US" sz="1700" dirty="0"/>
          </a:p>
        </p:txBody>
      </p:sp>
      <p:sp>
        <p:nvSpPr>
          <p:cNvPr id="15" name="Text 13"/>
          <p:cNvSpPr txBox="1"/>
          <p:nvPr/>
        </p:nvSpPr>
        <p:spPr>
          <a:xfrm>
            <a:off x="457200" y="2121408"/>
            <a:ext cx="5440680" cy="411480"/>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25 glasses-wrist pairs with 2 to 12 decoys, unless noted. Share of pairs with the box ranked first</a:t>
            </a:r>
            <a:endParaRPr lang="en-US" sz="1150" dirty="0"/>
          </a:p>
        </p:txBody>
      </p:sp>
      <p:sp>
        <p:nvSpPr>
          <p:cNvPr id="16" name="Text 14"/>
          <p:cNvSpPr txBox="1"/>
          <p:nvPr/>
        </p:nvSpPr>
        <p:spPr>
          <a:xfrm>
            <a:off x="457200" y="2587752"/>
            <a:ext cx="2148840" cy="402336"/>
          </a:xfrm>
          <a:prstGeom prst="rect">
            <a:avLst/>
          </a:prstGeom>
          <a:noFill/>
          <a:ln/>
        </p:spPr>
        <p:txBody>
          <a:bodyPr wrap="square" lIns="0" tIns="0" rIns="0" bIns="0" rtlCol="0" anchor="ctr"/>
          <a:lstStyle/>
          <a:p>
            <a:pPr algn="r" indent="0" marL="0">
              <a:buNone/>
            </a:pPr>
            <a:r>
              <a:rPr lang="en-US" sz="1200" dirty="0">
                <a:solidFill>
                  <a:srgbClr val="5B6577"/>
                </a:solidFill>
                <a:latin typeface="Calibri" pitchFamily="34" charset="0"/>
                <a:ea typeface="Calibri" pitchFamily="34" charset="-122"/>
                <a:cs typeface="Calibri" pitchFamily="34" charset="-120"/>
              </a:rPr>
              <a:t>SuperPoint + LightGlue keypoints (baseline, 15 pairs)</a:t>
            </a:r>
            <a:endParaRPr lang="en-US" sz="1200" dirty="0"/>
          </a:p>
        </p:txBody>
      </p:sp>
      <p:sp>
        <p:nvSpPr>
          <p:cNvPr id="17" name="Shape 15"/>
          <p:cNvSpPr/>
          <p:nvPr/>
        </p:nvSpPr>
        <p:spPr>
          <a:xfrm>
            <a:off x="2697480" y="2679192"/>
            <a:ext cx="2286000" cy="219456"/>
          </a:xfrm>
          <a:prstGeom prst="rect">
            <a:avLst/>
          </a:prstGeom>
          <a:solidFill>
            <a:srgbClr val="F2F4F8"/>
          </a:solidFill>
          <a:ln/>
        </p:spPr>
      </p:sp>
      <p:sp>
        <p:nvSpPr>
          <p:cNvPr id="18" name="Text 16"/>
          <p:cNvSpPr txBox="1"/>
          <p:nvPr/>
        </p:nvSpPr>
        <p:spPr>
          <a:xfrm>
            <a:off x="5056632" y="2587752"/>
            <a:ext cx="868680" cy="402336"/>
          </a:xfrm>
          <a:prstGeom prst="rect">
            <a:avLst/>
          </a:prstGeom>
          <a:noFill/>
          <a:ln/>
        </p:spPr>
        <p:txBody>
          <a:bodyPr wrap="square" lIns="0" tIns="0" rIns="0" bIns="0" rtlCol="0" anchor="ctr"/>
          <a:lstStyle/>
          <a:p>
            <a:pPr indent="0" marL="0">
              <a:buNone/>
            </a:pPr>
            <a:r>
              <a:rPr lang="en-US" sz="1250" b="1" dirty="0">
                <a:solidFill>
                  <a:srgbClr val="B3392F"/>
                </a:solidFill>
                <a:latin typeface="Calibri" pitchFamily="34" charset="0"/>
                <a:ea typeface="Calibri" pitchFamily="34" charset="-122"/>
                <a:cs typeface="Calibri" pitchFamily="34" charset="-120"/>
              </a:rPr>
              <a:t>0 of 15</a:t>
            </a:r>
            <a:endParaRPr lang="en-US" sz="1250" dirty="0"/>
          </a:p>
        </p:txBody>
      </p:sp>
      <p:sp>
        <p:nvSpPr>
          <p:cNvPr id="19" name="Text 17"/>
          <p:cNvSpPr txBox="1"/>
          <p:nvPr/>
        </p:nvSpPr>
        <p:spPr>
          <a:xfrm>
            <a:off x="457200" y="3044952"/>
            <a:ext cx="2148840" cy="402336"/>
          </a:xfrm>
          <a:prstGeom prst="rect">
            <a:avLst/>
          </a:prstGeom>
          <a:noFill/>
          <a:ln/>
        </p:spPr>
        <p:txBody>
          <a:bodyPr wrap="square" lIns="0" tIns="0" rIns="0" bIns="0" rtlCol="0" anchor="ctr"/>
          <a:lstStyle/>
          <a:p>
            <a:pPr algn="r" indent="0" marL="0">
              <a:buNone/>
            </a:pPr>
            <a:r>
              <a:rPr lang="en-US" sz="1200" dirty="0">
                <a:solidFill>
                  <a:srgbClr val="5B6577"/>
                </a:solidFill>
                <a:latin typeface="Calibri" pitchFamily="34" charset="0"/>
                <a:ea typeface="Calibri" pitchFamily="34" charset="-122"/>
                <a:cs typeface="Calibri" pitchFamily="34" charset="-120"/>
              </a:rPr>
              <a:t>SAM 3 decoder vector</a:t>
            </a:r>
            <a:endParaRPr lang="en-US" sz="1200" dirty="0"/>
          </a:p>
        </p:txBody>
      </p:sp>
      <p:sp>
        <p:nvSpPr>
          <p:cNvPr id="20" name="Shape 18"/>
          <p:cNvSpPr/>
          <p:nvPr/>
        </p:nvSpPr>
        <p:spPr>
          <a:xfrm>
            <a:off x="2697480" y="3136392"/>
            <a:ext cx="2286000" cy="219456"/>
          </a:xfrm>
          <a:prstGeom prst="rect">
            <a:avLst/>
          </a:prstGeom>
          <a:solidFill>
            <a:srgbClr val="F2F4F8"/>
          </a:solidFill>
          <a:ln/>
        </p:spPr>
      </p:sp>
      <p:sp>
        <p:nvSpPr>
          <p:cNvPr id="21" name="Shape 19"/>
          <p:cNvSpPr/>
          <p:nvPr/>
        </p:nvSpPr>
        <p:spPr>
          <a:xfrm>
            <a:off x="2697480" y="3136392"/>
            <a:ext cx="640080" cy="219456"/>
          </a:xfrm>
          <a:prstGeom prst="rect">
            <a:avLst/>
          </a:prstGeom>
          <a:solidFill>
            <a:srgbClr val="8A93A3"/>
          </a:solidFill>
          <a:ln/>
        </p:spPr>
      </p:sp>
      <p:sp>
        <p:nvSpPr>
          <p:cNvPr id="22" name="Text 20"/>
          <p:cNvSpPr txBox="1"/>
          <p:nvPr/>
        </p:nvSpPr>
        <p:spPr>
          <a:xfrm>
            <a:off x="5056632" y="3044952"/>
            <a:ext cx="868680" cy="402336"/>
          </a:xfrm>
          <a:prstGeom prst="rect">
            <a:avLst/>
          </a:prstGeom>
          <a:noFill/>
          <a:ln/>
        </p:spPr>
        <p:txBody>
          <a:bodyPr wrap="square" lIns="0" tIns="0" rIns="0" bIns="0" rtlCol="0" anchor="ctr"/>
          <a:lstStyle/>
          <a:p>
            <a:pPr indent="0" marL="0">
              <a:buNone/>
            </a:pPr>
            <a:r>
              <a:rPr lang="en-US" sz="1250" b="1" dirty="0">
                <a:solidFill>
                  <a:srgbClr val="1B2333"/>
                </a:solidFill>
                <a:latin typeface="Calibri" pitchFamily="34" charset="0"/>
                <a:ea typeface="Calibri" pitchFamily="34" charset="-122"/>
                <a:cs typeface="Calibri" pitchFamily="34" charset="-120"/>
              </a:rPr>
              <a:t>7 of 25</a:t>
            </a:r>
            <a:endParaRPr lang="en-US" sz="1250" dirty="0"/>
          </a:p>
        </p:txBody>
      </p:sp>
      <p:sp>
        <p:nvSpPr>
          <p:cNvPr id="23" name="Text 21"/>
          <p:cNvSpPr txBox="1"/>
          <p:nvPr/>
        </p:nvSpPr>
        <p:spPr>
          <a:xfrm>
            <a:off x="457200" y="3502152"/>
            <a:ext cx="2148840" cy="402336"/>
          </a:xfrm>
          <a:prstGeom prst="rect">
            <a:avLst/>
          </a:prstGeom>
          <a:noFill/>
          <a:ln/>
        </p:spPr>
        <p:txBody>
          <a:bodyPr wrap="square" lIns="0" tIns="0" rIns="0" bIns="0" rtlCol="0" anchor="ctr"/>
          <a:lstStyle/>
          <a:p>
            <a:pPr algn="r" indent="0" marL="0">
              <a:buNone/>
            </a:pPr>
            <a:r>
              <a:rPr lang="en-US" sz="1200" dirty="0">
                <a:solidFill>
                  <a:srgbClr val="5B6577"/>
                </a:solidFill>
                <a:latin typeface="Calibri" pitchFamily="34" charset="0"/>
                <a:ea typeface="Calibri" pitchFamily="34" charset="-122"/>
                <a:cs typeface="Calibri" pitchFamily="34" charset="-120"/>
              </a:rPr>
              <a:t>SAM 3 image features</a:t>
            </a:r>
            <a:endParaRPr lang="en-US" sz="1200" dirty="0"/>
          </a:p>
        </p:txBody>
      </p:sp>
      <p:sp>
        <p:nvSpPr>
          <p:cNvPr id="24" name="Shape 22"/>
          <p:cNvSpPr/>
          <p:nvPr/>
        </p:nvSpPr>
        <p:spPr>
          <a:xfrm>
            <a:off x="2697480" y="3593592"/>
            <a:ext cx="2286000" cy="219456"/>
          </a:xfrm>
          <a:prstGeom prst="rect">
            <a:avLst/>
          </a:prstGeom>
          <a:solidFill>
            <a:srgbClr val="F2F4F8"/>
          </a:solidFill>
          <a:ln/>
        </p:spPr>
      </p:sp>
      <p:sp>
        <p:nvSpPr>
          <p:cNvPr id="25" name="Shape 23"/>
          <p:cNvSpPr/>
          <p:nvPr/>
        </p:nvSpPr>
        <p:spPr>
          <a:xfrm>
            <a:off x="2697480" y="3593592"/>
            <a:ext cx="1371600" cy="219456"/>
          </a:xfrm>
          <a:prstGeom prst="rect">
            <a:avLst/>
          </a:prstGeom>
          <a:solidFill>
            <a:srgbClr val="8A93A3"/>
          </a:solidFill>
          <a:ln/>
        </p:spPr>
      </p:sp>
      <p:sp>
        <p:nvSpPr>
          <p:cNvPr id="26" name="Text 24"/>
          <p:cNvSpPr txBox="1"/>
          <p:nvPr/>
        </p:nvSpPr>
        <p:spPr>
          <a:xfrm>
            <a:off x="5056632" y="3502152"/>
            <a:ext cx="868680" cy="402336"/>
          </a:xfrm>
          <a:prstGeom prst="rect">
            <a:avLst/>
          </a:prstGeom>
          <a:noFill/>
          <a:ln/>
        </p:spPr>
        <p:txBody>
          <a:bodyPr wrap="square" lIns="0" tIns="0" rIns="0" bIns="0" rtlCol="0" anchor="ctr"/>
          <a:lstStyle/>
          <a:p>
            <a:pPr indent="0" marL="0">
              <a:buNone/>
            </a:pPr>
            <a:r>
              <a:rPr lang="en-US" sz="1250" b="1" dirty="0">
                <a:solidFill>
                  <a:srgbClr val="1B2333"/>
                </a:solidFill>
                <a:latin typeface="Calibri" pitchFamily="34" charset="0"/>
                <a:ea typeface="Calibri" pitchFamily="34" charset="-122"/>
                <a:cs typeface="Calibri" pitchFamily="34" charset="-120"/>
              </a:rPr>
              <a:t>15 of 25</a:t>
            </a:r>
            <a:endParaRPr lang="en-US" sz="1250" dirty="0"/>
          </a:p>
        </p:txBody>
      </p:sp>
      <p:sp>
        <p:nvSpPr>
          <p:cNvPr id="27" name="Text 25"/>
          <p:cNvSpPr txBox="1"/>
          <p:nvPr/>
        </p:nvSpPr>
        <p:spPr>
          <a:xfrm>
            <a:off x="457200" y="3959352"/>
            <a:ext cx="2148840" cy="402336"/>
          </a:xfrm>
          <a:prstGeom prst="rect">
            <a:avLst/>
          </a:prstGeom>
          <a:noFill/>
          <a:ln/>
        </p:spPr>
        <p:txBody>
          <a:bodyPr wrap="square" lIns="0" tIns="0" rIns="0" bIns="0" rtlCol="0" anchor="ctr"/>
          <a:lstStyle/>
          <a:p>
            <a:pPr algn="r" indent="0" marL="0">
              <a:buNone/>
            </a:pPr>
            <a:r>
              <a:rPr lang="en-US" sz="1200" b="1" dirty="0">
                <a:solidFill>
                  <a:srgbClr val="1B2333"/>
                </a:solidFill>
                <a:latin typeface="Calibri" pitchFamily="34" charset="0"/>
                <a:ea typeface="Calibri" pitchFamily="34" charset="-122"/>
                <a:cs typeface="Calibri" pitchFamily="34" charset="-120"/>
              </a:rPr>
              <a:t>CLIP whole-object feature</a:t>
            </a:r>
            <a:endParaRPr lang="en-US" sz="1200" dirty="0"/>
          </a:p>
        </p:txBody>
      </p:sp>
      <p:sp>
        <p:nvSpPr>
          <p:cNvPr id="28" name="Shape 26"/>
          <p:cNvSpPr/>
          <p:nvPr/>
        </p:nvSpPr>
        <p:spPr>
          <a:xfrm>
            <a:off x="2697480" y="4050792"/>
            <a:ext cx="2286000" cy="219456"/>
          </a:xfrm>
          <a:prstGeom prst="rect">
            <a:avLst/>
          </a:prstGeom>
          <a:solidFill>
            <a:srgbClr val="F2F4F8"/>
          </a:solidFill>
          <a:ln/>
        </p:spPr>
      </p:sp>
      <p:sp>
        <p:nvSpPr>
          <p:cNvPr id="29" name="Shape 27"/>
          <p:cNvSpPr/>
          <p:nvPr/>
        </p:nvSpPr>
        <p:spPr>
          <a:xfrm>
            <a:off x="2697480" y="4050792"/>
            <a:ext cx="2286000" cy="219456"/>
          </a:xfrm>
          <a:prstGeom prst="rect">
            <a:avLst/>
          </a:prstGeom>
          <a:solidFill>
            <a:srgbClr val="1F3B73"/>
          </a:solidFill>
          <a:ln/>
        </p:spPr>
      </p:sp>
      <p:sp>
        <p:nvSpPr>
          <p:cNvPr id="30" name="Text 28"/>
          <p:cNvSpPr txBox="1"/>
          <p:nvPr/>
        </p:nvSpPr>
        <p:spPr>
          <a:xfrm>
            <a:off x="5056632" y="3959352"/>
            <a:ext cx="868680" cy="402336"/>
          </a:xfrm>
          <a:prstGeom prst="rect">
            <a:avLst/>
          </a:prstGeom>
          <a:noFill/>
          <a:ln/>
        </p:spPr>
        <p:txBody>
          <a:bodyPr wrap="square" lIns="0" tIns="0" rIns="0" bIns="0" rtlCol="0" anchor="ctr"/>
          <a:lstStyle/>
          <a:p>
            <a:pPr indent="0" marL="0">
              <a:buNone/>
            </a:pPr>
            <a:r>
              <a:rPr lang="en-US" sz="1250" b="1" dirty="0">
                <a:solidFill>
                  <a:srgbClr val="1B2333"/>
                </a:solidFill>
                <a:latin typeface="Calibri" pitchFamily="34" charset="0"/>
                <a:ea typeface="Calibri" pitchFamily="34" charset="-122"/>
                <a:cs typeface="Calibri" pitchFamily="34" charset="-120"/>
              </a:rPr>
              <a:t>25 of 25</a:t>
            </a:r>
            <a:endParaRPr lang="en-US" sz="1250" dirty="0"/>
          </a:p>
        </p:txBody>
      </p:sp>
      <p:pic>
        <p:nvPicPr>
          <p:cNvPr id="31" name="Image 0" descr="LightGlue baseline: wrong keypoint matches">    </p:cNvPr>
          <p:cNvPicPr>
            <a:picLocks noChangeAspect="1"/>
          </p:cNvPicPr>
          <p:nvPr/>
        </p:nvPicPr>
        <p:blipFill>
          <a:blip r:embed="rId1"/>
          <a:stretch>
            <a:fillRect/>
          </a:stretch>
        </p:blipFill>
        <p:spPr>
          <a:xfrm>
            <a:off x="457200" y="4507992"/>
            <a:ext cx="3108960" cy="1332967"/>
          </a:xfrm>
          <a:prstGeom prst="rect">
            <a:avLst/>
          </a:prstGeom>
        </p:spPr>
      </p:pic>
      <p:sp>
        <p:nvSpPr>
          <p:cNvPr id="32" name="Text 29"/>
          <p:cNvSpPr txBox="1"/>
          <p:nvPr/>
        </p:nvSpPr>
        <p:spPr>
          <a:xfrm>
            <a:off x="3703320" y="4507992"/>
            <a:ext cx="2194560" cy="1332967"/>
          </a:xfrm>
          <a:prstGeom prst="rect">
            <a:avLst/>
          </a:prstGeom>
          <a:noFill/>
          <a:ln/>
        </p:spPr>
        <p:txBody>
          <a:bodyPr wrap="square" lIns="0" tIns="0" rIns="0" bIns="0" rtlCol="0" anchor="ctr"/>
          <a:lstStyle/>
          <a:p>
            <a:pPr indent="0" marL="0">
              <a:buNone/>
            </a:pPr>
            <a:r>
              <a:rPr lang="en-US" sz="1200" dirty="0">
                <a:solidFill>
                  <a:srgbClr val="5B6577"/>
                </a:solidFill>
                <a:latin typeface="Calibri" pitchFamily="34" charset="0"/>
                <a:ea typeface="Calibri" pitchFamily="34" charset="-122"/>
                <a:cs typeface="Calibri" pitchFamily="34" charset="-120"/>
              </a:rPr>
              <a:t>Baseline: keypoints match the ceiling and floor, not the box</a:t>
            </a:r>
            <a:endParaRPr lang="en-US" sz="1200" dirty="0"/>
          </a:p>
        </p:txBody>
      </p:sp>
      <p:sp>
        <p:nvSpPr>
          <p:cNvPr id="33" name="Text 30"/>
          <p:cNvSpPr txBox="1"/>
          <p:nvPr/>
        </p:nvSpPr>
        <p:spPr>
          <a:xfrm>
            <a:off x="6263640" y="1810512"/>
            <a:ext cx="5468112" cy="310896"/>
          </a:xfrm>
          <a:prstGeom prst="rect">
            <a:avLst/>
          </a:prstGeom>
          <a:noFill/>
          <a:ln/>
        </p:spPr>
        <p:txBody>
          <a:bodyPr wrap="square" lIns="0" tIns="0" rIns="0" bIns="0" rtlCol="0" anchor="t"/>
          <a:lstStyle/>
          <a:p>
            <a:pPr indent="0" marL="0">
              <a:buNone/>
            </a:pPr>
            <a:r>
              <a:rPr lang="en-US" sz="1700" b="1" dirty="0">
                <a:solidFill>
                  <a:srgbClr val="1F3B73"/>
                </a:solidFill>
                <a:latin typeface="Calibri" pitchFamily="34" charset="0"/>
                <a:ea typeface="Calibri" pitchFamily="34" charset="-122"/>
                <a:cs typeface="Calibri" pitchFamily="34" charset="-120"/>
              </a:rPr>
              <a:t>2  In the grasp loop (T8.9a)</a:t>
            </a:r>
            <a:endParaRPr lang="en-US" sz="1700" dirty="0"/>
          </a:p>
        </p:txBody>
      </p:sp>
      <p:sp>
        <p:nvSpPr>
          <p:cNvPr id="34" name="Text 31"/>
          <p:cNvSpPr txBox="1"/>
          <p:nvPr/>
        </p:nvSpPr>
        <p:spPr>
          <a:xfrm>
            <a:off x="6263640" y="2157984"/>
            <a:ext cx="4416552" cy="86868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The grasp client compares every wrist mask with the glasses crop and takes the closest. Below 0.56, or a tie within 0.01, it publishes nothing and the arm waits</a:t>
            </a:r>
            <a:endParaRPr lang="en-US" sz="1300" dirty="0"/>
          </a:p>
        </p:txBody>
      </p:sp>
      <p:pic>
        <p:nvPicPr>
          <p:cNvPr id="35" name="Image 1" descr="Glasses crop above, wrist crop below">    </p:cNvPr>
          <p:cNvPicPr>
            <a:picLocks noChangeAspect="1"/>
          </p:cNvPicPr>
          <p:nvPr/>
        </p:nvPicPr>
        <p:blipFill>
          <a:blip r:embed="rId2"/>
          <a:stretch>
            <a:fillRect/>
          </a:stretch>
        </p:blipFill>
        <p:spPr>
          <a:xfrm>
            <a:off x="11109960" y="1810512"/>
            <a:ext cx="621792" cy="1243584"/>
          </a:xfrm>
          <a:prstGeom prst="rect">
            <a:avLst/>
          </a:prstGeom>
        </p:spPr>
      </p:pic>
      <p:sp>
        <p:nvSpPr>
          <p:cNvPr id="36" name="Text 32"/>
          <p:cNvSpPr txBox="1"/>
          <p:nvPr/>
        </p:nvSpPr>
        <p:spPr>
          <a:xfrm>
            <a:off x="10771632" y="3072384"/>
            <a:ext cx="960120" cy="365760"/>
          </a:xfrm>
          <a:prstGeom prst="rect">
            <a:avLst/>
          </a:prstGeom>
          <a:noFill/>
          <a:ln/>
        </p:spPr>
        <p:txBody>
          <a:bodyPr wrap="square" lIns="0" tIns="0" rIns="0" bIns="0" rtlCol="0" anchor="t"/>
          <a:lstStyle/>
          <a:p>
            <a:pPr algn="r" indent="0" marL="0">
              <a:buNone/>
            </a:pPr>
            <a:r>
              <a:rPr lang="en-US" sz="950" dirty="0">
                <a:solidFill>
                  <a:srgbClr val="5B6577"/>
                </a:solidFill>
                <a:latin typeface="Calibri" pitchFamily="34" charset="0"/>
                <a:ea typeface="Calibri" pitchFamily="34" charset="-122"/>
                <a:cs typeface="Calibri" pitchFamily="34" charset="-120"/>
              </a:rPr>
              <a:t>glasses above, wrist below</a:t>
            </a:r>
            <a:endParaRPr lang="en-US" sz="950" dirty="0"/>
          </a:p>
        </p:txBody>
      </p:sp>
      <p:sp>
        <p:nvSpPr>
          <p:cNvPr id="37" name="Text 33"/>
          <p:cNvSpPr txBox="1"/>
          <p:nvPr/>
        </p:nvSpPr>
        <p:spPr>
          <a:xfrm>
            <a:off x="6263640" y="3090672"/>
            <a:ext cx="4416552" cy="411480"/>
          </a:xfrm>
          <a:prstGeom prst="rect">
            <a:avLst/>
          </a:prstGeom>
          <a:noFill/>
          <a:ln/>
        </p:spPr>
        <p:txBody>
          <a:bodyPr wrap="square" lIns="0" tIns="0" rIns="0" bIns="0" rtlCol="0" anchor="t"/>
          <a:lstStyle/>
          <a:p>
            <a:pPr indent="0" marL="0">
              <a:buNone/>
            </a:pPr>
            <a:r>
              <a:rPr lang="en-US" sz="1150" i="1" dirty="0">
                <a:solidFill>
                  <a:srgbClr val="5B6577"/>
                </a:solidFill>
                <a:latin typeface="Calibri" pitchFamily="34" charset="0"/>
                <a:ea typeface="Calibri" pitchFamily="34" charset="-122"/>
                <a:cs typeface="Calibri" pitchFamily="34" charset="-120"/>
              </a:rPr>
              <a:t>Wrist targets on the box the user looked at (recordings replayed, arm not moved)</a:t>
            </a:r>
            <a:endParaRPr lang="en-US" sz="1150" dirty="0"/>
          </a:p>
        </p:txBody>
      </p:sp>
      <p:sp>
        <p:nvSpPr>
          <p:cNvPr id="38" name="Text 34"/>
          <p:cNvSpPr txBox="1"/>
          <p:nvPr/>
        </p:nvSpPr>
        <p:spPr>
          <a:xfrm>
            <a:off x="6263640" y="3547872"/>
            <a:ext cx="5468112" cy="256032"/>
          </a:xfrm>
          <a:prstGeom prst="rect">
            <a:avLst/>
          </a:prstGeom>
          <a:noFill/>
          <a:ln/>
        </p:spPr>
        <p:txBody>
          <a:bodyPr wrap="square" lIns="0" tIns="0" rIns="0" bIns="0" rtlCol="0" anchor="t"/>
          <a:lstStyle/>
          <a:p>
            <a:pPr indent="0" marL="0">
              <a:buNone/>
            </a:pPr>
            <a:r>
              <a:rPr lang="en-US" sz="1300" b="1" dirty="0">
                <a:solidFill>
                  <a:srgbClr val="1B2333"/>
                </a:solidFill>
                <a:latin typeface="Calibri" pitchFamily="34" charset="0"/>
                <a:ea typeface="Calibri" pitchFamily="34" charset="-122"/>
                <a:cs typeface="Calibri" pitchFamily="34" charset="-120"/>
              </a:rPr>
              <a:t>Three different boxes</a:t>
            </a:r>
            <a:endParaRPr lang="en-US" sz="1300" dirty="0"/>
          </a:p>
        </p:txBody>
      </p:sp>
      <p:sp>
        <p:nvSpPr>
          <p:cNvPr id="39" name="Text 35"/>
          <p:cNvSpPr txBox="1"/>
          <p:nvPr/>
        </p:nvSpPr>
        <p:spPr>
          <a:xfrm>
            <a:off x="6263640" y="3822192"/>
            <a:ext cx="224028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Old pick (most confident SAM 3 mask)</a:t>
            </a:r>
            <a:endParaRPr lang="en-US" sz="1100" dirty="0"/>
          </a:p>
        </p:txBody>
      </p:sp>
      <p:sp>
        <p:nvSpPr>
          <p:cNvPr id="40" name="Shape 36"/>
          <p:cNvSpPr/>
          <p:nvPr/>
        </p:nvSpPr>
        <p:spPr>
          <a:xfrm>
            <a:off x="8595360" y="3858768"/>
            <a:ext cx="2011680" cy="201168"/>
          </a:xfrm>
          <a:prstGeom prst="rect">
            <a:avLst/>
          </a:prstGeom>
          <a:solidFill>
            <a:srgbClr val="F2F4F8"/>
          </a:solidFill>
          <a:ln/>
        </p:spPr>
      </p:sp>
      <p:sp>
        <p:nvSpPr>
          <p:cNvPr id="41" name="Shape 37"/>
          <p:cNvSpPr/>
          <p:nvPr/>
        </p:nvSpPr>
        <p:spPr>
          <a:xfrm>
            <a:off x="8595360" y="3858768"/>
            <a:ext cx="1836751" cy="201168"/>
          </a:xfrm>
          <a:prstGeom prst="rect">
            <a:avLst/>
          </a:prstGeom>
          <a:solidFill>
            <a:srgbClr val="8A93A3"/>
          </a:solidFill>
          <a:ln/>
        </p:spPr>
      </p:sp>
      <p:sp>
        <p:nvSpPr>
          <p:cNvPr id="42" name="Text 38"/>
          <p:cNvSpPr txBox="1"/>
          <p:nvPr/>
        </p:nvSpPr>
        <p:spPr>
          <a:xfrm>
            <a:off x="10680192" y="3822192"/>
            <a:ext cx="1188720" cy="274320"/>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91 %  </a:t>
            </a:r>
            <a:pPr indent="0" marL="0">
              <a:buNone/>
            </a:pPr>
            <a:r>
              <a:rPr lang="en-US" sz="1150" dirty="0">
                <a:solidFill>
                  <a:srgbClr val="5B6577"/>
                </a:solidFill>
                <a:latin typeface="Calibri" pitchFamily="34" charset="0"/>
                <a:ea typeface="Calibri" pitchFamily="34" charset="-122"/>
                <a:cs typeface="Calibri" pitchFamily="34" charset="-120"/>
              </a:rPr>
              <a:t>105 of 115</a:t>
            </a:r>
            <a:endParaRPr lang="en-US" sz="1150" dirty="0"/>
          </a:p>
        </p:txBody>
      </p:sp>
      <p:sp>
        <p:nvSpPr>
          <p:cNvPr id="43" name="Text 39"/>
          <p:cNvSpPr txBox="1"/>
          <p:nvPr/>
        </p:nvSpPr>
        <p:spPr>
          <a:xfrm>
            <a:off x="6263640" y="4114800"/>
            <a:ext cx="224028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With the glasses crop</a:t>
            </a:r>
            <a:endParaRPr lang="en-US" sz="1100" dirty="0"/>
          </a:p>
        </p:txBody>
      </p:sp>
      <p:sp>
        <p:nvSpPr>
          <p:cNvPr id="44" name="Shape 40"/>
          <p:cNvSpPr/>
          <p:nvPr/>
        </p:nvSpPr>
        <p:spPr>
          <a:xfrm>
            <a:off x="8595360" y="4151376"/>
            <a:ext cx="2011680" cy="201168"/>
          </a:xfrm>
          <a:prstGeom prst="rect">
            <a:avLst/>
          </a:prstGeom>
          <a:solidFill>
            <a:srgbClr val="F2F4F8"/>
          </a:solidFill>
          <a:ln/>
        </p:spPr>
      </p:sp>
      <p:sp>
        <p:nvSpPr>
          <p:cNvPr id="45" name="Shape 41"/>
          <p:cNvSpPr/>
          <p:nvPr/>
        </p:nvSpPr>
        <p:spPr>
          <a:xfrm>
            <a:off x="8595360" y="4151376"/>
            <a:ext cx="2011680" cy="201168"/>
          </a:xfrm>
          <a:prstGeom prst="rect">
            <a:avLst/>
          </a:prstGeom>
          <a:solidFill>
            <a:srgbClr val="1F3B73"/>
          </a:solidFill>
          <a:ln/>
        </p:spPr>
      </p:sp>
      <p:sp>
        <p:nvSpPr>
          <p:cNvPr id="46" name="Text 42"/>
          <p:cNvSpPr txBox="1"/>
          <p:nvPr/>
        </p:nvSpPr>
        <p:spPr>
          <a:xfrm>
            <a:off x="10680192" y="4114800"/>
            <a:ext cx="1188720" cy="274320"/>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100 %  </a:t>
            </a:r>
            <a:pPr indent="0" marL="0">
              <a:buNone/>
            </a:pPr>
            <a:r>
              <a:rPr lang="en-US" sz="1150" dirty="0">
                <a:solidFill>
                  <a:srgbClr val="5B6577"/>
                </a:solidFill>
                <a:latin typeface="Calibri" pitchFamily="34" charset="0"/>
                <a:ea typeface="Calibri" pitchFamily="34" charset="-122"/>
                <a:cs typeface="Calibri" pitchFamily="34" charset="-120"/>
              </a:rPr>
              <a:t>334 of 334</a:t>
            </a:r>
            <a:endParaRPr lang="en-US" sz="1150" dirty="0"/>
          </a:p>
        </p:txBody>
      </p:sp>
      <p:sp>
        <p:nvSpPr>
          <p:cNvPr id="47" name="Text 43"/>
          <p:cNvSpPr txBox="1"/>
          <p:nvPr/>
        </p:nvSpPr>
        <p:spPr>
          <a:xfrm>
            <a:off x="6263640" y="4507992"/>
            <a:ext cx="5468112" cy="256032"/>
          </a:xfrm>
          <a:prstGeom prst="rect">
            <a:avLst/>
          </a:prstGeom>
          <a:noFill/>
          <a:ln/>
        </p:spPr>
        <p:txBody>
          <a:bodyPr wrap="square" lIns="0" tIns="0" rIns="0" bIns="0" rtlCol="0" anchor="t"/>
          <a:lstStyle/>
          <a:p>
            <a:pPr indent="0" marL="0">
              <a:buNone/>
            </a:pPr>
            <a:r>
              <a:rPr lang="en-US" sz="1300" b="1" dirty="0">
                <a:solidFill>
                  <a:srgbClr val="1B2333"/>
                </a:solidFill>
                <a:latin typeface="Calibri" pitchFamily="34" charset="0"/>
                <a:ea typeface="Calibri" pitchFamily="34" charset="-122"/>
                <a:cs typeface="Calibri" pitchFamily="34" charset="-120"/>
              </a:rPr>
              <a:t>Two cardboard boxes, 0.4 to 1.6 m</a:t>
            </a:r>
            <a:endParaRPr lang="en-US" sz="1300" dirty="0"/>
          </a:p>
        </p:txBody>
      </p:sp>
      <p:sp>
        <p:nvSpPr>
          <p:cNvPr id="48" name="Text 44"/>
          <p:cNvSpPr txBox="1"/>
          <p:nvPr/>
        </p:nvSpPr>
        <p:spPr>
          <a:xfrm>
            <a:off x="6263640" y="4782312"/>
            <a:ext cx="224028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Old pick (most confident SAM 3 mask)</a:t>
            </a:r>
            <a:endParaRPr lang="en-US" sz="1100" dirty="0"/>
          </a:p>
        </p:txBody>
      </p:sp>
      <p:sp>
        <p:nvSpPr>
          <p:cNvPr id="49" name="Shape 45"/>
          <p:cNvSpPr/>
          <p:nvPr/>
        </p:nvSpPr>
        <p:spPr>
          <a:xfrm>
            <a:off x="8595360" y="4818888"/>
            <a:ext cx="2011680" cy="201168"/>
          </a:xfrm>
          <a:prstGeom prst="rect">
            <a:avLst/>
          </a:prstGeom>
          <a:solidFill>
            <a:srgbClr val="F2F4F8"/>
          </a:solidFill>
          <a:ln/>
        </p:spPr>
      </p:sp>
      <p:sp>
        <p:nvSpPr>
          <p:cNvPr id="50" name="Text 46"/>
          <p:cNvSpPr txBox="1"/>
          <p:nvPr/>
        </p:nvSpPr>
        <p:spPr>
          <a:xfrm>
            <a:off x="10680192" y="4782312"/>
            <a:ext cx="1188720" cy="274320"/>
          </a:xfrm>
          <a:prstGeom prst="rect">
            <a:avLst/>
          </a:prstGeom>
          <a:noFill/>
          <a:ln/>
        </p:spPr>
        <p:txBody>
          <a:bodyPr wrap="square" lIns="0" tIns="0" rIns="0" bIns="0" rtlCol="0" anchor="ctr"/>
          <a:lstStyle/>
          <a:p>
            <a:pPr indent="0" marL="0">
              <a:buNone/>
            </a:pPr>
            <a:r>
              <a:rPr lang="en-US" sz="1150" b="1" dirty="0">
                <a:solidFill>
                  <a:srgbClr val="B3392F"/>
                </a:solidFill>
                <a:latin typeface="Calibri" pitchFamily="34" charset="0"/>
                <a:ea typeface="Calibri" pitchFamily="34" charset="-122"/>
                <a:cs typeface="Calibri" pitchFamily="34" charset="-120"/>
              </a:rPr>
              <a:t>0 %  </a:t>
            </a:r>
            <a:pPr indent="0" marL="0">
              <a:buNone/>
            </a:pPr>
            <a:r>
              <a:rPr lang="en-US" sz="1150" dirty="0">
                <a:solidFill>
                  <a:srgbClr val="5B6577"/>
                </a:solidFill>
                <a:latin typeface="Calibri" pitchFamily="34" charset="0"/>
                <a:ea typeface="Calibri" pitchFamily="34" charset="-122"/>
                <a:cs typeface="Calibri" pitchFamily="34" charset="-120"/>
              </a:rPr>
              <a:t>0 of 114</a:t>
            </a:r>
            <a:endParaRPr lang="en-US" sz="1150" dirty="0"/>
          </a:p>
        </p:txBody>
      </p:sp>
      <p:sp>
        <p:nvSpPr>
          <p:cNvPr id="51" name="Text 47"/>
          <p:cNvSpPr txBox="1"/>
          <p:nvPr/>
        </p:nvSpPr>
        <p:spPr>
          <a:xfrm>
            <a:off x="6263640" y="5074920"/>
            <a:ext cx="224028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With the glasses crop</a:t>
            </a:r>
            <a:endParaRPr lang="en-US" sz="1100" dirty="0"/>
          </a:p>
        </p:txBody>
      </p:sp>
      <p:sp>
        <p:nvSpPr>
          <p:cNvPr id="52" name="Shape 48"/>
          <p:cNvSpPr/>
          <p:nvPr/>
        </p:nvSpPr>
        <p:spPr>
          <a:xfrm>
            <a:off x="8595360" y="5111496"/>
            <a:ext cx="2011680" cy="201168"/>
          </a:xfrm>
          <a:prstGeom prst="rect">
            <a:avLst/>
          </a:prstGeom>
          <a:solidFill>
            <a:srgbClr val="F2F4F8"/>
          </a:solidFill>
          <a:ln/>
        </p:spPr>
      </p:sp>
      <p:sp>
        <p:nvSpPr>
          <p:cNvPr id="53" name="Shape 49"/>
          <p:cNvSpPr/>
          <p:nvPr/>
        </p:nvSpPr>
        <p:spPr>
          <a:xfrm>
            <a:off x="8595360" y="5111496"/>
            <a:ext cx="1996667" cy="201168"/>
          </a:xfrm>
          <a:prstGeom prst="rect">
            <a:avLst/>
          </a:prstGeom>
          <a:solidFill>
            <a:srgbClr val="1F3B73"/>
          </a:solidFill>
          <a:ln/>
        </p:spPr>
      </p:sp>
      <p:sp>
        <p:nvSpPr>
          <p:cNvPr id="54" name="Text 50"/>
          <p:cNvSpPr txBox="1"/>
          <p:nvPr/>
        </p:nvSpPr>
        <p:spPr>
          <a:xfrm>
            <a:off x="10680192" y="5074920"/>
            <a:ext cx="1188720" cy="274320"/>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99 %  </a:t>
            </a:r>
            <a:pPr indent="0" marL="0">
              <a:buNone/>
            </a:pPr>
            <a:r>
              <a:rPr lang="en-US" sz="1150" dirty="0">
                <a:solidFill>
                  <a:srgbClr val="5B6577"/>
                </a:solidFill>
                <a:latin typeface="Calibri" pitchFamily="34" charset="0"/>
                <a:ea typeface="Calibri" pitchFamily="34" charset="-122"/>
                <a:cs typeface="Calibri" pitchFamily="34" charset="-120"/>
              </a:rPr>
              <a:t>266 of 268</a:t>
            </a:r>
            <a:endParaRPr lang="en-US" sz="1150" dirty="0"/>
          </a:p>
        </p:txBody>
      </p:sp>
      <p:sp>
        <p:nvSpPr>
          <p:cNvPr id="55" name="Text 51"/>
          <p:cNvSpPr txBox="1"/>
          <p:nvPr/>
        </p:nvSpPr>
        <p:spPr>
          <a:xfrm>
            <a:off x="6263640" y="5468112"/>
            <a:ext cx="5468112" cy="256032"/>
          </a:xfrm>
          <a:prstGeom prst="rect">
            <a:avLst/>
          </a:prstGeom>
          <a:noFill/>
          <a:ln/>
        </p:spPr>
        <p:txBody>
          <a:bodyPr wrap="square" lIns="0" tIns="0" rIns="0" bIns="0" rtlCol="0" anchor="t"/>
          <a:lstStyle/>
          <a:p>
            <a:pPr indent="0" marL="0">
              <a:buNone/>
            </a:pPr>
            <a:r>
              <a:rPr lang="en-US" sz="1150" i="1" dirty="0">
                <a:solidFill>
                  <a:srgbClr val="5B6577"/>
                </a:solidFill>
                <a:latin typeface="Calibri" pitchFamily="34" charset="0"/>
                <a:ea typeface="Calibri" pitchFamily="34" charset="-122"/>
                <a:cs typeface="Calibri" pitchFamily="34" charset="-120"/>
              </a:rPr>
              <a:t>Replayed recordings, counted per published target. Not yet run on the real arm</a:t>
            </a:r>
            <a:endParaRPr lang="en-US" sz="1150" dirty="0"/>
          </a:p>
        </p:txBody>
      </p:sp>
      <p:sp>
        <p:nvSpPr>
          <p:cNvPr id="56" name="Shape 52"/>
          <p:cNvSpPr/>
          <p:nvPr/>
        </p:nvSpPr>
        <p:spPr>
          <a:xfrm>
            <a:off x="6263640" y="5833872"/>
            <a:ext cx="2651760" cy="530352"/>
          </a:xfrm>
          <a:prstGeom prst="rect">
            <a:avLst/>
          </a:prstGeom>
          <a:solidFill>
            <a:srgbClr val="FDF4E3"/>
          </a:solidFill>
          <a:ln w="12700">
            <a:solidFill>
              <a:srgbClr val="B7791F"/>
            </a:solidFill>
            <a:prstDash val="solid"/>
          </a:ln>
        </p:spPr>
      </p:sp>
      <p:sp>
        <p:nvSpPr>
          <p:cNvPr id="57" name="Text 53"/>
          <p:cNvSpPr txBox="1"/>
          <p:nvPr/>
        </p:nvSpPr>
        <p:spPr>
          <a:xfrm>
            <a:off x="6355080" y="5833872"/>
            <a:ext cx="2468880" cy="530352"/>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The 2 misses: </a:t>
            </a:r>
            <a:pPr indent="0" marL="0">
              <a:buNone/>
            </a:pPr>
            <a:r>
              <a:rPr lang="en-US" sz="1150" dirty="0">
                <a:solidFill>
                  <a:srgbClr val="1B2333"/>
                </a:solidFill>
                <a:latin typeface="Calibri" pitchFamily="34" charset="0"/>
                <a:ea typeface="Calibri" pitchFamily="34" charset="-122"/>
                <a:cs typeface="Calibri" pitchFamily="34" charset="-120"/>
              </a:rPr>
              <a:t>wrong gaze pick at 1.5 m (the mat). Fix next: T2.24</a:t>
            </a:r>
            <a:endParaRPr lang="en-US" sz="1150" dirty="0"/>
          </a:p>
        </p:txBody>
      </p:sp>
      <p:sp>
        <p:nvSpPr>
          <p:cNvPr id="58" name="Shape 54"/>
          <p:cNvSpPr/>
          <p:nvPr/>
        </p:nvSpPr>
        <p:spPr>
          <a:xfrm>
            <a:off x="9052560" y="5833872"/>
            <a:ext cx="2679192" cy="530352"/>
          </a:xfrm>
          <a:prstGeom prst="rect">
            <a:avLst/>
          </a:prstGeom>
          <a:solidFill>
            <a:srgbClr val="FBEAE8"/>
          </a:solidFill>
          <a:ln w="12700">
            <a:solidFill>
              <a:srgbClr val="B3392F"/>
            </a:solidFill>
            <a:prstDash val="solid"/>
          </a:ln>
        </p:spPr>
      </p:sp>
      <p:sp>
        <p:nvSpPr>
          <p:cNvPr id="59" name="Text 55"/>
          <p:cNvSpPr txBox="1"/>
          <p:nvPr/>
        </p:nvSpPr>
        <p:spPr>
          <a:xfrm>
            <a:off x="9144000" y="5833872"/>
            <a:ext cx="2496312" cy="530352"/>
          </a:xfrm>
          <a:prstGeom prst="rect">
            <a:avLst/>
          </a:prstGeom>
          <a:noFill/>
          <a:ln/>
        </p:spPr>
        <p:txBody>
          <a:bodyPr wrap="square" lIns="0" tIns="0" rIns="0" bIns="0" rtlCol="0" anchor="ctr"/>
          <a:lstStyle/>
          <a:p>
            <a:pPr indent="0" marL="0">
              <a:buNone/>
            </a:pPr>
            <a:r>
              <a:rPr lang="en-US" sz="1150" b="1" dirty="0">
                <a:solidFill>
                  <a:srgbClr val="B3392F"/>
                </a:solidFill>
                <a:latin typeface="Calibri" pitchFamily="34" charset="0"/>
                <a:ea typeface="Calibri" pitchFamily="34" charset="-122"/>
                <a:cs typeface="Calibri" pitchFamily="34" charset="-120"/>
              </a:rPr>
              <a:t>Limit: </a:t>
            </a:r>
            <a:pPr indent="0" marL="0">
              <a:buNone/>
            </a:pPr>
            <a:r>
              <a:rPr lang="en-US" sz="1150" dirty="0">
                <a:solidFill>
                  <a:srgbClr val="1B2333"/>
                </a:solidFill>
                <a:latin typeface="Calibri" pitchFamily="34" charset="0"/>
                <a:ea typeface="Calibri" pitchFamily="34" charset="-122"/>
                <a:cs typeface="Calibri" pitchFamily="34" charset="-120"/>
              </a:rPr>
              <a:t>same-colour boxes 6 of 12. Needs the gaze ray in the robot frame (T8.8)</a:t>
            </a:r>
            <a:endParaRPr lang="en-US" sz="1150" dirty="0"/>
          </a:p>
        </p:txBody>
      </p:sp>
      <p:sp>
        <p:nvSpPr>
          <p:cNvPr id="60" name="Text 56"/>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Dion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F2F4F8"/>
          </a:solidFill>
          <a:ln w="9525">
            <a:solidFill>
              <a:srgbClr val="CDD3DD"/>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1F3B73"/>
          </a:solidFill>
          <a:ln w="9525">
            <a:solidFill>
              <a:srgbClr val="1F3B73"/>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The real arm grasps on a spoken command: 5 of 6 within reach</a:t>
            </a:r>
            <a:endParaRPr lang="en-US" sz="2400" dirty="0"/>
          </a:p>
        </p:txBody>
      </p:sp>
      <p:sp>
        <p:nvSpPr>
          <p:cNvPr id="13" name="Shape 11"/>
          <p:cNvSpPr/>
          <p:nvPr/>
        </p:nvSpPr>
        <p:spPr>
          <a:xfrm>
            <a:off x="548640" y="2148840"/>
            <a:ext cx="896112" cy="566928"/>
          </a:xfrm>
          <a:prstGeom prst="rect">
            <a:avLst/>
          </a:prstGeom>
          <a:solidFill>
            <a:srgbClr val="F2F4F8"/>
          </a:solidFill>
          <a:ln w="15875">
            <a:solidFill>
              <a:srgbClr val="1F3B73"/>
            </a:solidFill>
            <a:prstDash val="solid"/>
          </a:ln>
        </p:spPr>
      </p:sp>
      <p:sp>
        <p:nvSpPr>
          <p:cNvPr id="14" name="Text 12"/>
          <p:cNvSpPr txBox="1"/>
          <p:nvPr/>
        </p:nvSpPr>
        <p:spPr>
          <a:xfrm>
            <a:off x="548640" y="2148840"/>
            <a:ext cx="896112" cy="566928"/>
          </a:xfrm>
          <a:prstGeom prst="rect">
            <a:avLst/>
          </a:prstGeom>
          <a:noFill/>
          <a:ln/>
        </p:spPr>
        <p:txBody>
          <a:bodyPr wrap="square" lIns="0" tIns="0" rIns="0" bIns="0" rtlCol="0" anchor="ctr"/>
          <a:lstStyle/>
          <a:p>
            <a:pPr algn="ctr" indent="0" marL="0">
              <a:buNone/>
            </a:pPr>
            <a:r>
              <a:rPr lang="en-US" sz="1500" b="1" dirty="0">
                <a:solidFill>
                  <a:srgbClr val="1F3B73"/>
                </a:solidFill>
                <a:latin typeface="Calibri" pitchFamily="34" charset="0"/>
                <a:ea typeface="Calibri" pitchFamily="34" charset="-122"/>
                <a:cs typeface="Calibri" pitchFamily="34" charset="-120"/>
              </a:rPr>
              <a:t>Idle</a:t>
            </a:r>
            <a:endParaRPr lang="en-US" sz="1500" dirty="0"/>
          </a:p>
        </p:txBody>
      </p:sp>
      <p:sp>
        <p:nvSpPr>
          <p:cNvPr id="15" name="Shape 13"/>
          <p:cNvSpPr/>
          <p:nvPr/>
        </p:nvSpPr>
        <p:spPr>
          <a:xfrm>
            <a:off x="2103120" y="2148840"/>
            <a:ext cx="896112" cy="566928"/>
          </a:xfrm>
          <a:prstGeom prst="rect">
            <a:avLst/>
          </a:prstGeom>
          <a:solidFill>
            <a:srgbClr val="E6ECF6"/>
          </a:solidFill>
          <a:ln w="15875">
            <a:solidFill>
              <a:srgbClr val="1F3B73"/>
            </a:solidFill>
            <a:prstDash val="solid"/>
          </a:ln>
        </p:spPr>
      </p:sp>
      <p:sp>
        <p:nvSpPr>
          <p:cNvPr id="16" name="Text 14"/>
          <p:cNvSpPr txBox="1"/>
          <p:nvPr/>
        </p:nvSpPr>
        <p:spPr>
          <a:xfrm>
            <a:off x="2103120" y="2148840"/>
            <a:ext cx="896112" cy="566928"/>
          </a:xfrm>
          <a:prstGeom prst="rect">
            <a:avLst/>
          </a:prstGeom>
          <a:noFill/>
          <a:ln/>
        </p:spPr>
        <p:txBody>
          <a:bodyPr wrap="square" lIns="0" tIns="0" rIns="0" bIns="0" rtlCol="0" anchor="ctr"/>
          <a:lstStyle/>
          <a:p>
            <a:pPr algn="ctr" indent="0" marL="0">
              <a:buNone/>
            </a:pPr>
            <a:r>
              <a:rPr lang="en-US" sz="1500" b="1" dirty="0">
                <a:solidFill>
                  <a:srgbClr val="1F3B73"/>
                </a:solidFill>
                <a:latin typeface="Calibri" pitchFamily="34" charset="0"/>
                <a:ea typeface="Calibri" pitchFamily="34" charset="-122"/>
                <a:cs typeface="Calibri" pitchFamily="34" charset="-120"/>
              </a:rPr>
              <a:t>Approach</a:t>
            </a:r>
            <a:endParaRPr lang="en-US" sz="1500" dirty="0"/>
          </a:p>
        </p:txBody>
      </p:sp>
      <p:sp>
        <p:nvSpPr>
          <p:cNvPr id="17" name="Shape 15"/>
          <p:cNvSpPr/>
          <p:nvPr/>
        </p:nvSpPr>
        <p:spPr>
          <a:xfrm>
            <a:off x="3657600" y="2148840"/>
            <a:ext cx="896112" cy="566928"/>
          </a:xfrm>
          <a:prstGeom prst="rect">
            <a:avLst/>
          </a:prstGeom>
          <a:solidFill>
            <a:srgbClr val="E6ECF6"/>
          </a:solidFill>
          <a:ln w="15875">
            <a:solidFill>
              <a:srgbClr val="1F3B73"/>
            </a:solidFill>
            <a:prstDash val="solid"/>
          </a:ln>
        </p:spPr>
      </p:sp>
      <p:sp>
        <p:nvSpPr>
          <p:cNvPr id="18" name="Text 16"/>
          <p:cNvSpPr txBox="1"/>
          <p:nvPr/>
        </p:nvSpPr>
        <p:spPr>
          <a:xfrm>
            <a:off x="3657600" y="2148840"/>
            <a:ext cx="896112" cy="566928"/>
          </a:xfrm>
          <a:prstGeom prst="rect">
            <a:avLst/>
          </a:prstGeom>
          <a:noFill/>
          <a:ln/>
        </p:spPr>
        <p:txBody>
          <a:bodyPr wrap="square" lIns="0" tIns="0" rIns="0" bIns="0" rtlCol="0" anchor="ctr"/>
          <a:lstStyle/>
          <a:p>
            <a:pPr algn="ctr" indent="0" marL="0">
              <a:buNone/>
            </a:pPr>
            <a:r>
              <a:rPr lang="en-US" sz="1500" b="1" dirty="0">
                <a:solidFill>
                  <a:srgbClr val="1F3B73"/>
                </a:solidFill>
                <a:latin typeface="Calibri" pitchFamily="34" charset="0"/>
                <a:ea typeface="Calibri" pitchFamily="34" charset="-122"/>
                <a:cs typeface="Calibri" pitchFamily="34" charset="-120"/>
              </a:rPr>
              <a:t>Grasp</a:t>
            </a:r>
            <a:endParaRPr lang="en-US" sz="1500" dirty="0"/>
          </a:p>
        </p:txBody>
      </p:sp>
      <p:sp>
        <p:nvSpPr>
          <p:cNvPr id="19" name="Shape 17"/>
          <p:cNvSpPr/>
          <p:nvPr/>
        </p:nvSpPr>
        <p:spPr>
          <a:xfrm>
            <a:off x="5212080" y="2148840"/>
            <a:ext cx="896112" cy="566928"/>
          </a:xfrm>
          <a:prstGeom prst="rect">
            <a:avLst/>
          </a:prstGeom>
          <a:solidFill>
            <a:srgbClr val="E6ECF6"/>
          </a:solidFill>
          <a:ln w="15875">
            <a:solidFill>
              <a:srgbClr val="1F3B73"/>
            </a:solidFill>
            <a:prstDash val="solid"/>
          </a:ln>
        </p:spPr>
      </p:sp>
      <p:sp>
        <p:nvSpPr>
          <p:cNvPr id="20" name="Text 18"/>
          <p:cNvSpPr txBox="1"/>
          <p:nvPr/>
        </p:nvSpPr>
        <p:spPr>
          <a:xfrm>
            <a:off x="5212080" y="2148840"/>
            <a:ext cx="896112" cy="566928"/>
          </a:xfrm>
          <a:prstGeom prst="rect">
            <a:avLst/>
          </a:prstGeom>
          <a:noFill/>
          <a:ln/>
        </p:spPr>
        <p:txBody>
          <a:bodyPr wrap="square" lIns="0" tIns="0" rIns="0" bIns="0" rtlCol="0" anchor="ctr"/>
          <a:lstStyle/>
          <a:p>
            <a:pPr algn="ctr" indent="0" marL="0">
              <a:buNone/>
            </a:pPr>
            <a:r>
              <a:rPr lang="en-US" sz="1500" b="1" dirty="0">
                <a:solidFill>
                  <a:srgbClr val="1F3B73"/>
                </a:solidFill>
                <a:latin typeface="Calibri" pitchFamily="34" charset="0"/>
                <a:ea typeface="Calibri" pitchFamily="34" charset="-122"/>
                <a:cs typeface="Calibri" pitchFamily="34" charset="-120"/>
              </a:rPr>
              <a:t>Hold</a:t>
            </a:r>
            <a:endParaRPr lang="en-US" sz="1500" dirty="0"/>
          </a:p>
        </p:txBody>
      </p:sp>
      <p:sp>
        <p:nvSpPr>
          <p:cNvPr id="21" name="Shape 19"/>
          <p:cNvSpPr/>
          <p:nvPr/>
        </p:nvSpPr>
        <p:spPr>
          <a:xfrm>
            <a:off x="1444752" y="2432304"/>
            <a:ext cx="658368" cy="0"/>
          </a:xfrm>
          <a:prstGeom prst="line">
            <a:avLst/>
          </a:prstGeom>
          <a:noFill/>
          <a:ln w="19050">
            <a:solidFill>
              <a:srgbClr val="1B2333"/>
            </a:solidFill>
            <a:prstDash val="solid"/>
            <a:tailEnd type="triangle"/>
          </a:ln>
        </p:spPr>
      </p:sp>
      <p:sp>
        <p:nvSpPr>
          <p:cNvPr id="22" name="Text 20"/>
          <p:cNvSpPr txBox="1"/>
          <p:nvPr/>
        </p:nvSpPr>
        <p:spPr>
          <a:xfrm>
            <a:off x="1463040" y="2478024"/>
            <a:ext cx="621792" cy="566928"/>
          </a:xfrm>
          <a:prstGeom prst="rect">
            <a:avLst/>
          </a:prstGeom>
          <a:noFill/>
          <a:ln/>
        </p:spPr>
        <p:txBody>
          <a:bodyPr wrap="square" lIns="0" tIns="0" rIns="0" bIns="0" rtlCol="0" anchor="t"/>
          <a:lstStyle/>
          <a:p>
            <a:pPr algn="ctr" indent="0" marL="0">
              <a:buNone/>
            </a:pPr>
            <a:r>
              <a:rPr lang="en-US" sz="1000" dirty="0">
                <a:solidFill>
                  <a:srgbClr val="5B6577"/>
                </a:solidFill>
                <a:latin typeface="Calibri" pitchFamily="34" charset="0"/>
                <a:ea typeface="Calibri" pitchFamily="34" charset="-122"/>
                <a:cs typeface="Calibri" pitchFamily="34" charset="-120"/>
              </a:rPr>
              <a:t>grasp request + mask</a:t>
            </a:r>
            <a:endParaRPr lang="en-US" sz="1000" dirty="0"/>
          </a:p>
        </p:txBody>
      </p:sp>
      <p:sp>
        <p:nvSpPr>
          <p:cNvPr id="23" name="Shape 21"/>
          <p:cNvSpPr/>
          <p:nvPr/>
        </p:nvSpPr>
        <p:spPr>
          <a:xfrm>
            <a:off x="2999232" y="2432304"/>
            <a:ext cx="658368" cy="0"/>
          </a:xfrm>
          <a:prstGeom prst="line">
            <a:avLst/>
          </a:prstGeom>
          <a:noFill/>
          <a:ln w="19050">
            <a:solidFill>
              <a:srgbClr val="1B2333"/>
            </a:solidFill>
            <a:prstDash val="solid"/>
            <a:tailEnd type="triangle"/>
          </a:ln>
        </p:spPr>
      </p:sp>
      <p:sp>
        <p:nvSpPr>
          <p:cNvPr id="24" name="Text 22"/>
          <p:cNvSpPr txBox="1"/>
          <p:nvPr/>
        </p:nvSpPr>
        <p:spPr>
          <a:xfrm>
            <a:off x="3017520" y="2478024"/>
            <a:ext cx="621792" cy="566928"/>
          </a:xfrm>
          <a:prstGeom prst="rect">
            <a:avLst/>
          </a:prstGeom>
          <a:noFill/>
          <a:ln/>
        </p:spPr>
        <p:txBody>
          <a:bodyPr wrap="square" lIns="0" tIns="0" rIns="0" bIns="0" rtlCol="0" anchor="t"/>
          <a:lstStyle/>
          <a:p>
            <a:pPr algn="ctr" indent="0" marL="0">
              <a:buNone/>
            </a:pPr>
            <a:r>
              <a:rPr lang="en-US" sz="1000" dirty="0">
                <a:solidFill>
                  <a:srgbClr val="5B6577"/>
                </a:solidFill>
                <a:latin typeface="Calibri" pitchFamily="34" charset="0"/>
                <a:ea typeface="Calibri" pitchFamily="34" charset="-122"/>
                <a:cs typeface="Calibri" pitchFamily="34" charset="-120"/>
              </a:rPr>
              <a:t>wrist camera at 0.21 m</a:t>
            </a:r>
            <a:endParaRPr lang="en-US" sz="1000" dirty="0"/>
          </a:p>
        </p:txBody>
      </p:sp>
      <p:sp>
        <p:nvSpPr>
          <p:cNvPr id="25" name="Shape 23"/>
          <p:cNvSpPr/>
          <p:nvPr/>
        </p:nvSpPr>
        <p:spPr>
          <a:xfrm>
            <a:off x="4553712" y="2432304"/>
            <a:ext cx="658368" cy="0"/>
          </a:xfrm>
          <a:prstGeom prst="line">
            <a:avLst/>
          </a:prstGeom>
          <a:noFill/>
          <a:ln w="19050">
            <a:solidFill>
              <a:srgbClr val="1B2333"/>
            </a:solidFill>
            <a:prstDash val="solid"/>
            <a:tailEnd type="triangle"/>
          </a:ln>
        </p:spPr>
      </p:sp>
      <p:sp>
        <p:nvSpPr>
          <p:cNvPr id="26" name="Text 24"/>
          <p:cNvSpPr txBox="1"/>
          <p:nvPr/>
        </p:nvSpPr>
        <p:spPr>
          <a:xfrm>
            <a:off x="4572000" y="2478024"/>
            <a:ext cx="621792" cy="566928"/>
          </a:xfrm>
          <a:prstGeom prst="rect">
            <a:avLst/>
          </a:prstGeom>
          <a:noFill/>
          <a:ln/>
        </p:spPr>
        <p:txBody>
          <a:bodyPr wrap="square" lIns="0" tIns="0" rIns="0" bIns="0" rtlCol="0" anchor="t"/>
          <a:lstStyle/>
          <a:p>
            <a:pPr algn="ctr" indent="0" marL="0">
              <a:buNone/>
            </a:pPr>
            <a:r>
              <a:rPr lang="en-US" sz="1000" dirty="0">
                <a:solidFill>
                  <a:srgbClr val="5B6577"/>
                </a:solidFill>
                <a:latin typeface="Calibri" pitchFamily="34" charset="0"/>
                <a:ea typeface="Calibri" pitchFamily="34" charset="-122"/>
                <a:cs typeface="Calibri" pitchFamily="34" charset="-120"/>
              </a:rPr>
              <a:t>lift, return home</a:t>
            </a:r>
            <a:endParaRPr lang="en-US" sz="1000" dirty="0"/>
          </a:p>
        </p:txBody>
      </p:sp>
      <p:sp>
        <p:nvSpPr>
          <p:cNvPr id="27" name="Shape 25"/>
          <p:cNvSpPr/>
          <p:nvPr/>
        </p:nvSpPr>
        <p:spPr>
          <a:xfrm flipV="1">
            <a:off x="5660136" y="1764792"/>
            <a:ext cx="0" cy="384048"/>
          </a:xfrm>
          <a:prstGeom prst="line">
            <a:avLst/>
          </a:prstGeom>
          <a:noFill/>
          <a:ln w="19050">
            <a:solidFill>
              <a:srgbClr val="1B2333"/>
            </a:solidFill>
            <a:prstDash val="solid"/>
          </a:ln>
        </p:spPr>
      </p:sp>
      <p:sp>
        <p:nvSpPr>
          <p:cNvPr id="28" name="Shape 26"/>
          <p:cNvSpPr/>
          <p:nvPr/>
        </p:nvSpPr>
        <p:spPr>
          <a:xfrm flipH="1">
            <a:off x="996696" y="1764792"/>
            <a:ext cx="4663440" cy="0"/>
          </a:xfrm>
          <a:prstGeom prst="line">
            <a:avLst/>
          </a:prstGeom>
          <a:noFill/>
          <a:ln w="19050">
            <a:solidFill>
              <a:srgbClr val="1B2333"/>
            </a:solidFill>
            <a:prstDash val="solid"/>
          </a:ln>
        </p:spPr>
      </p:sp>
      <p:sp>
        <p:nvSpPr>
          <p:cNvPr id="29" name="Shape 27"/>
          <p:cNvSpPr/>
          <p:nvPr/>
        </p:nvSpPr>
        <p:spPr>
          <a:xfrm>
            <a:off x="996696" y="1764792"/>
            <a:ext cx="0" cy="384048"/>
          </a:xfrm>
          <a:prstGeom prst="line">
            <a:avLst/>
          </a:prstGeom>
          <a:noFill/>
          <a:ln w="19050">
            <a:solidFill>
              <a:srgbClr val="1B2333"/>
            </a:solidFill>
            <a:prstDash val="solid"/>
            <a:tailEnd type="triangle"/>
          </a:ln>
        </p:spPr>
      </p:sp>
      <p:sp>
        <p:nvSpPr>
          <p:cNvPr id="30" name="Text 28"/>
          <p:cNvSpPr txBox="1"/>
          <p:nvPr/>
        </p:nvSpPr>
        <p:spPr>
          <a:xfrm>
            <a:off x="2103120" y="1490472"/>
            <a:ext cx="2286000" cy="256032"/>
          </a:xfrm>
          <a:prstGeom prst="rect">
            <a:avLst/>
          </a:prstGeom>
          <a:noFill/>
          <a:ln/>
        </p:spPr>
        <p:txBody>
          <a:bodyPr wrap="square" lIns="0" tIns="0" rIns="0" bIns="0" rtlCol="0" anchor="t"/>
          <a:lstStyle/>
          <a:p>
            <a:pPr algn="ctr" indent="0" marL="0">
              <a:buNone/>
            </a:pPr>
            <a:r>
              <a:rPr lang="en-US" sz="1200" dirty="0">
                <a:solidFill>
                  <a:srgbClr val="5B6577"/>
                </a:solidFill>
                <a:latin typeface="Calibri" pitchFamily="34" charset="0"/>
                <a:ea typeface="Calibri" pitchFamily="34" charset="-122"/>
                <a:cs typeface="Calibri" pitchFamily="34" charset="-120"/>
              </a:rPr>
              <a:t>"release"</a:t>
            </a:r>
            <a:endParaRPr lang="en-US" sz="1200" dirty="0"/>
          </a:p>
        </p:txBody>
      </p:sp>
      <p:sp>
        <p:nvSpPr>
          <p:cNvPr id="31" name="Shape 29"/>
          <p:cNvSpPr/>
          <p:nvPr/>
        </p:nvSpPr>
        <p:spPr>
          <a:xfrm>
            <a:off x="2779776" y="3383280"/>
            <a:ext cx="1097280" cy="502920"/>
          </a:xfrm>
          <a:prstGeom prst="rect">
            <a:avLst/>
          </a:prstGeom>
          <a:solidFill>
            <a:srgbClr val="FBEAE8"/>
          </a:solidFill>
          <a:ln w="15875">
            <a:solidFill>
              <a:srgbClr val="B3392F"/>
            </a:solidFill>
            <a:prstDash val="solid"/>
          </a:ln>
        </p:spPr>
      </p:sp>
      <p:sp>
        <p:nvSpPr>
          <p:cNvPr id="32" name="Text 30"/>
          <p:cNvSpPr txBox="1"/>
          <p:nvPr/>
        </p:nvSpPr>
        <p:spPr>
          <a:xfrm>
            <a:off x="2779776" y="3383280"/>
            <a:ext cx="1097280" cy="502920"/>
          </a:xfrm>
          <a:prstGeom prst="rect">
            <a:avLst/>
          </a:prstGeom>
          <a:noFill/>
          <a:ln/>
        </p:spPr>
        <p:txBody>
          <a:bodyPr wrap="square" lIns="0" tIns="0" rIns="0" bIns="0" rtlCol="0" anchor="ctr"/>
          <a:lstStyle/>
          <a:p>
            <a:pPr algn="ctr" indent="0" marL="0">
              <a:buNone/>
            </a:pPr>
            <a:r>
              <a:rPr lang="en-US" sz="1400" b="1" dirty="0">
                <a:solidFill>
                  <a:srgbClr val="B3392F"/>
                </a:solidFill>
                <a:latin typeface="Calibri" pitchFamily="34" charset="0"/>
                <a:ea typeface="Calibri" pitchFamily="34" charset="-122"/>
                <a:cs typeface="Calibri" pitchFamily="34" charset="-120"/>
              </a:rPr>
              <a:t>Stopped</a:t>
            </a:r>
            <a:endParaRPr lang="en-US" sz="1400" dirty="0"/>
          </a:p>
        </p:txBody>
      </p:sp>
      <p:sp>
        <p:nvSpPr>
          <p:cNvPr id="33" name="Shape 31"/>
          <p:cNvSpPr/>
          <p:nvPr/>
        </p:nvSpPr>
        <p:spPr>
          <a:xfrm>
            <a:off x="2551176" y="2715768"/>
            <a:ext cx="457200" cy="667512"/>
          </a:xfrm>
          <a:prstGeom prst="line">
            <a:avLst/>
          </a:prstGeom>
          <a:noFill/>
          <a:ln w="15875">
            <a:solidFill>
              <a:srgbClr val="B3392F"/>
            </a:solidFill>
            <a:prstDash val="solid"/>
            <a:tailEnd type="triangle"/>
          </a:ln>
        </p:spPr>
      </p:sp>
      <p:sp>
        <p:nvSpPr>
          <p:cNvPr id="34" name="Shape 32"/>
          <p:cNvSpPr/>
          <p:nvPr/>
        </p:nvSpPr>
        <p:spPr>
          <a:xfrm flipH="1">
            <a:off x="3648456" y="2715768"/>
            <a:ext cx="457200" cy="667512"/>
          </a:xfrm>
          <a:prstGeom prst="line">
            <a:avLst/>
          </a:prstGeom>
          <a:noFill/>
          <a:ln w="15875">
            <a:solidFill>
              <a:srgbClr val="B3392F"/>
            </a:solidFill>
            <a:prstDash val="solid"/>
            <a:tailEnd type="triangle"/>
          </a:ln>
        </p:spPr>
      </p:sp>
      <p:sp>
        <p:nvSpPr>
          <p:cNvPr id="35" name="Text 33"/>
          <p:cNvSpPr txBox="1"/>
          <p:nvPr/>
        </p:nvSpPr>
        <p:spPr>
          <a:xfrm>
            <a:off x="3922776" y="3090672"/>
            <a:ext cx="914400" cy="237744"/>
          </a:xfrm>
          <a:prstGeom prst="rect">
            <a:avLst/>
          </a:prstGeom>
          <a:noFill/>
          <a:ln/>
        </p:spPr>
        <p:txBody>
          <a:bodyPr wrap="square" lIns="0" tIns="0" rIns="0" bIns="0" rtlCol="0" anchor="t"/>
          <a:lstStyle/>
          <a:p>
            <a:pPr indent="0" marL="0">
              <a:buNone/>
            </a:pPr>
            <a:r>
              <a:rPr lang="en-US" sz="1100" dirty="0">
                <a:solidFill>
                  <a:srgbClr val="B3392F"/>
                </a:solidFill>
                <a:latin typeface="Calibri" pitchFamily="34" charset="0"/>
                <a:ea typeface="Calibri" pitchFamily="34" charset="-122"/>
                <a:cs typeface="Calibri" pitchFamily="34" charset="-120"/>
              </a:rPr>
              <a:t>stop key</a:t>
            </a:r>
            <a:endParaRPr lang="en-US" sz="1100" dirty="0"/>
          </a:p>
        </p:txBody>
      </p:sp>
      <p:sp>
        <p:nvSpPr>
          <p:cNvPr id="36" name="Shape 34"/>
          <p:cNvSpPr/>
          <p:nvPr/>
        </p:nvSpPr>
        <p:spPr>
          <a:xfrm flipH="1">
            <a:off x="996696" y="3639312"/>
            <a:ext cx="1783080" cy="0"/>
          </a:xfrm>
          <a:prstGeom prst="line">
            <a:avLst/>
          </a:prstGeom>
          <a:noFill/>
          <a:ln w="15875">
            <a:solidFill>
              <a:srgbClr val="B3392F"/>
            </a:solidFill>
            <a:prstDash val="dash"/>
          </a:ln>
        </p:spPr>
      </p:sp>
      <p:sp>
        <p:nvSpPr>
          <p:cNvPr id="37" name="Shape 35"/>
          <p:cNvSpPr/>
          <p:nvPr/>
        </p:nvSpPr>
        <p:spPr>
          <a:xfrm flipV="1">
            <a:off x="996696" y="2715768"/>
            <a:ext cx="0" cy="923544"/>
          </a:xfrm>
          <a:prstGeom prst="line">
            <a:avLst/>
          </a:prstGeom>
          <a:noFill/>
          <a:ln w="15875">
            <a:solidFill>
              <a:srgbClr val="B3392F"/>
            </a:solidFill>
            <a:prstDash val="dash"/>
            <a:tailEnd type="triangle"/>
          </a:ln>
        </p:spPr>
      </p:sp>
      <p:sp>
        <p:nvSpPr>
          <p:cNvPr id="38" name="Text 36"/>
          <p:cNvSpPr txBox="1"/>
          <p:nvPr/>
        </p:nvSpPr>
        <p:spPr>
          <a:xfrm>
            <a:off x="1069848" y="3657600"/>
            <a:ext cx="1463040" cy="237744"/>
          </a:xfrm>
          <a:prstGeom prst="rect">
            <a:avLst/>
          </a:prstGeom>
          <a:noFill/>
          <a:ln/>
        </p:spPr>
        <p:txBody>
          <a:bodyPr wrap="square" lIns="0" tIns="0" rIns="0" bIns="0" rtlCol="0" anchor="t"/>
          <a:lstStyle/>
          <a:p>
            <a:pPr indent="0" marL="0">
              <a:buNone/>
            </a:pPr>
            <a:r>
              <a:rPr lang="en-US" sz="1100" dirty="0">
                <a:solidFill>
                  <a:srgbClr val="B3392F"/>
                </a:solidFill>
                <a:latin typeface="Calibri" pitchFamily="34" charset="0"/>
                <a:ea typeface="Calibri" pitchFamily="34" charset="-122"/>
                <a:cs typeface="Calibri" pitchFamily="34" charset="-120"/>
              </a:rPr>
              <a:t>reset, no motion</a:t>
            </a:r>
            <a:endParaRPr lang="en-US" sz="1100" dirty="0"/>
          </a:p>
        </p:txBody>
      </p:sp>
      <p:sp>
        <p:nvSpPr>
          <p:cNvPr id="39" name="Text 37"/>
          <p:cNvSpPr txBox="1"/>
          <p:nvPr/>
        </p:nvSpPr>
        <p:spPr>
          <a:xfrm>
            <a:off x="457200" y="3931920"/>
            <a:ext cx="5669280" cy="502920"/>
          </a:xfrm>
          <a:prstGeom prst="rect">
            <a:avLst/>
          </a:prstGeom>
          <a:noFill/>
          <a:ln/>
        </p:spPr>
        <p:txBody>
          <a:bodyPr wrap="square" lIns="0" tIns="0" rIns="0" bIns="0" rtlCol="0" anchor="t"/>
          <a:lstStyle/>
          <a:p>
            <a:pPr indent="0" marL="0">
              <a:buNone/>
            </a:pPr>
            <a:r>
              <a:rPr lang="en-US" sz="1250" b="1" dirty="0">
                <a:solidFill>
                  <a:srgbClr val="1B2333"/>
                </a:solidFill>
                <a:latin typeface="Calibri" pitchFamily="34" charset="0"/>
                <a:ea typeface="Calibri" pitchFamily="34" charset="-122"/>
                <a:cs typeface="Calibri" pitchFamily="34" charset="-120"/>
              </a:rPr>
              <a:t>Approach: </a:t>
            </a:r>
            <a:pPr indent="0" marL="0">
              <a:buNone/>
            </a:pPr>
            <a:r>
              <a:rPr lang="en-US" sz="1250" dirty="0">
                <a:solidFill>
                  <a:srgbClr val="1B2333"/>
                </a:solidFill>
                <a:latin typeface="Calibri" pitchFamily="34" charset="0"/>
                <a:ea typeface="Calibri" pitchFamily="34" charset="-122"/>
                <a:cs typeface="Calibri" pitchFamily="34" charset="-120"/>
              </a:rPr>
              <a:t>the wrist camera steps 2 cm towards the mask centre until 0.21 m</a:t>
            </a:r>
            <a:endParaRPr lang="en-US" sz="1250" dirty="0"/>
          </a:p>
          <a:p>
            <a:pPr indent="0" marL="0">
              <a:buNone/>
            </a:pPr>
            <a:r>
              <a:rPr lang="en-US" sz="1250" b="1" dirty="0">
                <a:solidFill>
                  <a:srgbClr val="1B2333"/>
                </a:solidFill>
                <a:latin typeface="Calibri" pitchFamily="34" charset="0"/>
                <a:ea typeface="Calibri" pitchFamily="34" charset="-122"/>
                <a:cs typeface="Calibri" pitchFamily="34" charset="-120"/>
              </a:rPr>
              <a:t>Hold: </a:t>
            </a:r>
            <a:pPr indent="0" marL="0">
              <a:buNone/>
            </a:pPr>
            <a:r>
              <a:rPr lang="en-US" sz="1250" dirty="0">
                <a:solidFill>
                  <a:srgbClr val="1B2333"/>
                </a:solidFill>
                <a:latin typeface="Calibri" pitchFamily="34" charset="0"/>
                <a:ea typeface="Calibri" pitchFamily="34" charset="-122"/>
                <a:cs typeface="Calibri" pitchFamily="34" charset="-120"/>
              </a:rPr>
              <a:t>until the user says "release"</a:t>
            </a:r>
            <a:endParaRPr lang="en-US" sz="1250" dirty="0"/>
          </a:p>
        </p:txBody>
      </p:sp>
      <p:sp>
        <p:nvSpPr>
          <p:cNvPr id="40" name="Shape 38"/>
          <p:cNvSpPr/>
          <p:nvPr/>
        </p:nvSpPr>
        <p:spPr>
          <a:xfrm>
            <a:off x="6355080" y="1463040"/>
            <a:ext cx="5376672" cy="3017520"/>
          </a:xfrm>
          <a:prstGeom prst="rect">
            <a:avLst/>
          </a:prstGeom>
          <a:solidFill>
            <a:srgbClr val="F7F8FA"/>
          </a:solidFill>
          <a:ln w="15875">
            <a:solidFill>
              <a:srgbClr val="9AA3B2"/>
            </a:solidFill>
            <a:prstDash val="dash"/>
          </a:ln>
        </p:spPr>
      </p:sp>
      <p:sp>
        <p:nvSpPr>
          <p:cNvPr id="41" name="Text 39"/>
          <p:cNvSpPr txBox="1"/>
          <p:nvPr/>
        </p:nvSpPr>
        <p:spPr>
          <a:xfrm>
            <a:off x="6492240" y="1554480"/>
            <a:ext cx="5102352" cy="2834640"/>
          </a:xfrm>
          <a:prstGeom prst="rect">
            <a:avLst/>
          </a:prstGeom>
          <a:noFill/>
          <a:ln/>
        </p:spPr>
        <p:txBody>
          <a:bodyPr wrap="square" lIns="0" tIns="0" rIns="0" bIns="0" rtlCol="0" anchor="ctr"/>
          <a:lstStyle/>
          <a:p>
            <a:pPr algn="ctr" indent="0" marL="0">
              <a:buNone/>
            </a:pPr>
            <a:r>
              <a:rPr lang="en-US" sz="1500" b="1" dirty="0">
                <a:solidFill>
                  <a:srgbClr val="5B6577"/>
                </a:solidFill>
                <a:latin typeface="Calibri" pitchFamily="34" charset="0"/>
                <a:ea typeface="Calibri" pitchFamily="34" charset="-122"/>
                <a:cs typeface="Calibri" pitchFamily="34" charset="-120"/>
              </a:rPr>
              <a:t>[INSERT VIDEO OF THE REAL GRASP]</a:t>
            </a:r>
            <a:endParaRPr lang="en-US" sz="1800" dirty="0"/>
          </a:p>
          <a:p>
            <a:pPr algn="ctr" indent="0" marL="0">
              <a:buNone/>
            </a:pPr>
            <a:r>
              <a:rPr lang="en-US" sz="1150" dirty="0">
                <a:solidFill>
                  <a:srgbClr val="8A93A3"/>
                </a:solidFill>
                <a:latin typeface="Calibri" pitchFamily="34" charset="0"/>
                <a:ea typeface="Calibri" pitchFamily="34" charset="-122"/>
                <a:cs typeface="Calibri" pitchFamily="34" charset="-120"/>
              </a:rPr>
              <a:t>grasp_real_arm_&lt;date&gt;.mp4 (Dion’s phone), trimmed to 15 s or less. Or three stills: approach, close, lift. Keep a still as backup if playback fails</a:t>
            </a:r>
            <a:endParaRPr lang="en-US" sz="1800" dirty="0"/>
          </a:p>
          <a:p>
            <a:pPr algn="ctr" indent="0" marL="0">
              <a:buNone/>
            </a:pPr>
            <a:r>
              <a:rPr lang="en-US" sz="1150" dirty="0">
                <a:solidFill>
                  <a:srgbClr val="8A93A3"/>
                </a:solidFill>
                <a:latin typeface="Calibri" pitchFamily="34" charset="0"/>
                <a:ea typeface="Calibri" pitchFamily="34" charset="-122"/>
                <a:cs typeface="Calibri" pitchFamily="34" charset="-120"/>
              </a:rPr>
              <a:t>Owner: Dion</a:t>
            </a:r>
            <a:endParaRPr lang="en-US" sz="1800" dirty="0"/>
          </a:p>
        </p:txBody>
      </p:sp>
      <p:sp>
        <p:nvSpPr>
          <p:cNvPr id="42" name="Text 40"/>
          <p:cNvSpPr txBox="1"/>
          <p:nvPr/>
        </p:nvSpPr>
        <p:spPr>
          <a:xfrm>
            <a:off x="457200" y="4553712"/>
            <a:ext cx="2743200" cy="228600"/>
          </a:xfrm>
          <a:prstGeom prst="rect">
            <a:avLst/>
          </a:prstGeom>
          <a:noFill/>
          <a:ln/>
        </p:spPr>
        <p:txBody>
          <a:bodyPr wrap="square" lIns="0" tIns="0" rIns="0" bIns="0" rtlCol="0" anchor="t"/>
          <a:lstStyle/>
          <a:p>
            <a:pPr indent="0" marL="0">
              <a:buNone/>
            </a:pPr>
            <a:r>
              <a:rPr lang="en-US" sz="1200" b="1" dirty="0">
                <a:solidFill>
                  <a:srgbClr val="1B2333"/>
                </a:solidFill>
                <a:latin typeface="Calibri" pitchFamily="34" charset="0"/>
                <a:ea typeface="Calibri" pitchFamily="34" charset="-122"/>
                <a:cs typeface="Calibri" pitchFamily="34" charset="-120"/>
              </a:rPr>
              <a:t>Grasps by box distance</a:t>
            </a:r>
            <a:endParaRPr lang="en-US" sz="1200" dirty="0"/>
          </a:p>
        </p:txBody>
      </p:sp>
      <p:sp>
        <p:nvSpPr>
          <p:cNvPr id="43" name="Shape 41"/>
          <p:cNvSpPr/>
          <p:nvPr/>
        </p:nvSpPr>
        <p:spPr>
          <a:xfrm>
            <a:off x="868680" y="5102352"/>
            <a:ext cx="502920" cy="987552"/>
          </a:xfrm>
          <a:prstGeom prst="rect">
            <a:avLst/>
          </a:prstGeom>
          <a:solidFill>
            <a:srgbClr val="2E7D4F"/>
          </a:solidFill>
          <a:ln/>
        </p:spPr>
      </p:sp>
      <p:sp>
        <p:nvSpPr>
          <p:cNvPr id="44" name="Text 42"/>
          <p:cNvSpPr txBox="1"/>
          <p:nvPr/>
        </p:nvSpPr>
        <p:spPr>
          <a:xfrm>
            <a:off x="685800" y="4855464"/>
            <a:ext cx="868680" cy="228600"/>
          </a:xfrm>
          <a:prstGeom prst="rect">
            <a:avLst/>
          </a:prstGeom>
          <a:noFill/>
          <a:ln/>
        </p:spPr>
        <p:txBody>
          <a:bodyPr wrap="square" lIns="0" tIns="0" rIns="0" bIns="0" rtlCol="0" anchor="t"/>
          <a:lstStyle/>
          <a:p>
            <a:pPr algn="ctr" indent="0" marL="0">
              <a:buNone/>
            </a:pPr>
            <a:r>
              <a:rPr lang="en-US" sz="1150" b="1" dirty="0">
                <a:solidFill>
                  <a:srgbClr val="1B2333"/>
                </a:solidFill>
                <a:latin typeface="Calibri" pitchFamily="34" charset="0"/>
                <a:ea typeface="Calibri" pitchFamily="34" charset="-122"/>
                <a:cs typeface="Calibri" pitchFamily="34" charset="-120"/>
              </a:rPr>
              <a:t>4 of 4</a:t>
            </a:r>
            <a:endParaRPr lang="en-US" sz="1150" dirty="0"/>
          </a:p>
        </p:txBody>
      </p:sp>
      <p:sp>
        <p:nvSpPr>
          <p:cNvPr id="45" name="Text 43"/>
          <p:cNvSpPr txBox="1"/>
          <p:nvPr/>
        </p:nvSpPr>
        <p:spPr>
          <a:xfrm>
            <a:off x="685800" y="6108192"/>
            <a:ext cx="868680" cy="2286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44.5 cm</a:t>
            </a:r>
            <a:endParaRPr lang="en-US" sz="1100" dirty="0"/>
          </a:p>
        </p:txBody>
      </p:sp>
      <p:sp>
        <p:nvSpPr>
          <p:cNvPr id="46" name="Shape 44"/>
          <p:cNvSpPr/>
          <p:nvPr/>
        </p:nvSpPr>
        <p:spPr>
          <a:xfrm>
            <a:off x="1828800" y="5843016"/>
            <a:ext cx="502920" cy="246888"/>
          </a:xfrm>
          <a:prstGeom prst="rect">
            <a:avLst/>
          </a:prstGeom>
          <a:solidFill>
            <a:srgbClr val="2E7D4F"/>
          </a:solidFill>
          <a:ln/>
        </p:spPr>
      </p:sp>
      <p:sp>
        <p:nvSpPr>
          <p:cNvPr id="47" name="Shape 45"/>
          <p:cNvSpPr/>
          <p:nvPr/>
        </p:nvSpPr>
        <p:spPr>
          <a:xfrm>
            <a:off x="1828800" y="5596128"/>
            <a:ext cx="502920" cy="246888"/>
          </a:xfrm>
          <a:prstGeom prst="rect">
            <a:avLst/>
          </a:prstGeom>
          <a:solidFill>
            <a:srgbClr val="D5D9E0"/>
          </a:solidFill>
          <a:ln/>
        </p:spPr>
      </p:sp>
      <p:sp>
        <p:nvSpPr>
          <p:cNvPr id="48" name="Text 46"/>
          <p:cNvSpPr txBox="1"/>
          <p:nvPr/>
        </p:nvSpPr>
        <p:spPr>
          <a:xfrm>
            <a:off x="1645920" y="5349240"/>
            <a:ext cx="868680" cy="228600"/>
          </a:xfrm>
          <a:prstGeom prst="rect">
            <a:avLst/>
          </a:prstGeom>
          <a:noFill/>
          <a:ln/>
        </p:spPr>
        <p:txBody>
          <a:bodyPr wrap="square" lIns="0" tIns="0" rIns="0" bIns="0" rtlCol="0" anchor="t"/>
          <a:lstStyle/>
          <a:p>
            <a:pPr algn="ctr" indent="0" marL="0">
              <a:buNone/>
            </a:pPr>
            <a:r>
              <a:rPr lang="en-US" sz="1150" b="1" dirty="0">
                <a:solidFill>
                  <a:srgbClr val="1B2333"/>
                </a:solidFill>
                <a:latin typeface="Calibri" pitchFamily="34" charset="0"/>
                <a:ea typeface="Calibri" pitchFamily="34" charset="-122"/>
                <a:cs typeface="Calibri" pitchFamily="34" charset="-120"/>
              </a:rPr>
              <a:t>1 of 2</a:t>
            </a:r>
            <a:endParaRPr lang="en-US" sz="1150" dirty="0"/>
          </a:p>
        </p:txBody>
      </p:sp>
      <p:sp>
        <p:nvSpPr>
          <p:cNvPr id="49" name="Text 47"/>
          <p:cNvSpPr txBox="1"/>
          <p:nvPr/>
        </p:nvSpPr>
        <p:spPr>
          <a:xfrm>
            <a:off x="1645920" y="6108192"/>
            <a:ext cx="868680" cy="2286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49.5 cm</a:t>
            </a:r>
            <a:endParaRPr lang="en-US" sz="1100" dirty="0"/>
          </a:p>
        </p:txBody>
      </p:sp>
      <p:sp>
        <p:nvSpPr>
          <p:cNvPr id="50" name="Shape 48"/>
          <p:cNvSpPr/>
          <p:nvPr/>
        </p:nvSpPr>
        <p:spPr>
          <a:xfrm>
            <a:off x="2788920" y="5596128"/>
            <a:ext cx="502920" cy="493776"/>
          </a:xfrm>
          <a:prstGeom prst="rect">
            <a:avLst/>
          </a:prstGeom>
          <a:solidFill>
            <a:srgbClr val="D5D9E0"/>
          </a:solidFill>
          <a:ln/>
        </p:spPr>
      </p:sp>
      <p:sp>
        <p:nvSpPr>
          <p:cNvPr id="51" name="Text 49"/>
          <p:cNvSpPr txBox="1"/>
          <p:nvPr/>
        </p:nvSpPr>
        <p:spPr>
          <a:xfrm>
            <a:off x="2606040" y="5349240"/>
            <a:ext cx="868680" cy="228600"/>
          </a:xfrm>
          <a:prstGeom prst="rect">
            <a:avLst/>
          </a:prstGeom>
          <a:noFill/>
          <a:ln/>
        </p:spPr>
        <p:txBody>
          <a:bodyPr wrap="square" lIns="0" tIns="0" rIns="0" bIns="0" rtlCol="0" anchor="t"/>
          <a:lstStyle/>
          <a:p>
            <a:pPr algn="ctr" indent="0" marL="0">
              <a:buNone/>
            </a:pPr>
            <a:r>
              <a:rPr lang="en-US" sz="1150" b="1" dirty="0">
                <a:solidFill>
                  <a:srgbClr val="1B2333"/>
                </a:solidFill>
                <a:latin typeface="Calibri" pitchFamily="34" charset="0"/>
                <a:ea typeface="Calibri" pitchFamily="34" charset="-122"/>
                <a:cs typeface="Calibri" pitchFamily="34" charset="-120"/>
              </a:rPr>
              <a:t>0 of 2</a:t>
            </a:r>
            <a:endParaRPr lang="en-US" sz="1150" dirty="0"/>
          </a:p>
        </p:txBody>
      </p:sp>
      <p:sp>
        <p:nvSpPr>
          <p:cNvPr id="52" name="Text 50"/>
          <p:cNvSpPr txBox="1"/>
          <p:nvPr/>
        </p:nvSpPr>
        <p:spPr>
          <a:xfrm>
            <a:off x="2606040" y="6108192"/>
            <a:ext cx="868680" cy="2286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54.5 cm</a:t>
            </a:r>
            <a:endParaRPr lang="en-US" sz="1100" dirty="0"/>
          </a:p>
        </p:txBody>
      </p:sp>
      <p:sp>
        <p:nvSpPr>
          <p:cNvPr id="53" name="Shape 51"/>
          <p:cNvSpPr/>
          <p:nvPr/>
        </p:nvSpPr>
        <p:spPr>
          <a:xfrm>
            <a:off x="685800" y="6089904"/>
            <a:ext cx="3017520" cy="0"/>
          </a:xfrm>
          <a:prstGeom prst="line">
            <a:avLst/>
          </a:prstGeom>
          <a:noFill/>
          <a:ln w="9525">
            <a:solidFill>
              <a:srgbClr val="8A93A3"/>
            </a:solidFill>
            <a:prstDash val="solid"/>
          </a:ln>
        </p:spPr>
      </p:sp>
      <p:sp>
        <p:nvSpPr>
          <p:cNvPr id="54" name="Shape 52"/>
          <p:cNvSpPr/>
          <p:nvPr/>
        </p:nvSpPr>
        <p:spPr>
          <a:xfrm>
            <a:off x="2560320" y="5047488"/>
            <a:ext cx="0" cy="1042416"/>
          </a:xfrm>
          <a:prstGeom prst="line">
            <a:avLst/>
          </a:prstGeom>
          <a:noFill/>
          <a:ln w="15875">
            <a:solidFill>
              <a:srgbClr val="B3392F"/>
            </a:solidFill>
            <a:prstDash val="dash"/>
          </a:ln>
        </p:spPr>
      </p:sp>
      <p:sp>
        <p:nvSpPr>
          <p:cNvPr id="55" name="Text 53"/>
          <p:cNvSpPr txBox="1"/>
          <p:nvPr/>
        </p:nvSpPr>
        <p:spPr>
          <a:xfrm>
            <a:off x="2103120" y="4828032"/>
            <a:ext cx="914400" cy="201168"/>
          </a:xfrm>
          <a:prstGeom prst="rect">
            <a:avLst/>
          </a:prstGeom>
          <a:noFill/>
          <a:ln/>
        </p:spPr>
        <p:txBody>
          <a:bodyPr wrap="square" lIns="0" tIns="0" rIns="0" bIns="0" rtlCol="0" anchor="t"/>
          <a:lstStyle/>
          <a:p>
            <a:pPr algn="ctr" indent="0" marL="0">
              <a:buNone/>
            </a:pPr>
            <a:r>
              <a:rPr lang="en-US" sz="1050" dirty="0">
                <a:solidFill>
                  <a:srgbClr val="B3392F"/>
                </a:solidFill>
                <a:latin typeface="Calibri" pitchFamily="34" charset="0"/>
                <a:ea typeface="Calibri" pitchFamily="34" charset="-122"/>
                <a:cs typeface="Calibri" pitchFamily="34" charset="-120"/>
              </a:rPr>
              <a:t>reach limit</a:t>
            </a:r>
            <a:endParaRPr lang="en-US" sz="1050" dirty="0"/>
          </a:p>
        </p:txBody>
      </p:sp>
      <p:sp>
        <p:nvSpPr>
          <p:cNvPr id="56" name="Text 54"/>
          <p:cNvSpPr txBox="1"/>
          <p:nvPr/>
        </p:nvSpPr>
        <p:spPr>
          <a:xfrm>
            <a:off x="3794760" y="4937760"/>
            <a:ext cx="1280160" cy="457200"/>
          </a:xfrm>
          <a:prstGeom prst="rect">
            <a:avLst/>
          </a:prstGeom>
          <a:noFill/>
          <a:ln/>
        </p:spPr>
        <p:txBody>
          <a:bodyPr wrap="square" lIns="0" tIns="0" rIns="0" bIns="0" rtlCol="0" anchor="t"/>
          <a:lstStyle/>
          <a:p>
            <a:pPr indent="0" marL="0">
              <a:buNone/>
            </a:pPr>
            <a:r>
              <a:rPr lang="en-US" sz="1100" dirty="0">
                <a:solidFill>
                  <a:srgbClr val="2E7D4F"/>
                </a:solidFill>
                <a:latin typeface="Calibri" pitchFamily="34" charset="0"/>
                <a:ea typeface="Calibri" pitchFamily="34" charset="-122"/>
                <a:cs typeface="Calibri" pitchFamily="34" charset="-120"/>
              </a:rPr>
              <a:t>■ </a:t>
            </a:r>
            <a:pPr indent="0" marL="0">
              <a:buNone/>
            </a:pPr>
            <a:r>
              <a:rPr lang="en-US" sz="1100" dirty="0">
                <a:solidFill>
                  <a:srgbClr val="5B6577"/>
                </a:solidFill>
                <a:latin typeface="Calibri" pitchFamily="34" charset="0"/>
                <a:ea typeface="Calibri" pitchFamily="34" charset="-122"/>
                <a:cs typeface="Calibri" pitchFamily="34" charset="-120"/>
              </a:rPr>
              <a:t>grasped   </a:t>
            </a:r>
            <a:pPr indent="0" marL="0">
              <a:buNone/>
            </a:pPr>
            <a:r>
              <a:rPr lang="en-US" sz="1100" dirty="0">
                <a:solidFill>
                  <a:srgbClr val="D5D9E0"/>
                </a:solidFill>
                <a:latin typeface="Calibri" pitchFamily="34" charset="0"/>
                <a:ea typeface="Calibri" pitchFamily="34" charset="-122"/>
                <a:cs typeface="Calibri" pitchFamily="34" charset="-120"/>
              </a:rPr>
              <a:t>■ </a:t>
            </a:r>
            <a:pPr indent="0" marL="0">
              <a:buNone/>
            </a:pPr>
            <a:r>
              <a:rPr lang="en-US" sz="1100" dirty="0">
                <a:solidFill>
                  <a:srgbClr val="5B6577"/>
                </a:solidFill>
                <a:latin typeface="Calibri" pitchFamily="34" charset="0"/>
                <a:ea typeface="Calibri" pitchFamily="34" charset="-122"/>
                <a:cs typeface="Calibri" pitchFamily="34" charset="-120"/>
              </a:rPr>
              <a:t>failed</a:t>
            </a:r>
            <a:endParaRPr lang="en-US" sz="1100" dirty="0"/>
          </a:p>
        </p:txBody>
      </p:sp>
      <p:sp>
        <p:nvSpPr>
          <p:cNvPr id="57" name="Text 55"/>
          <p:cNvSpPr txBox="1"/>
          <p:nvPr/>
        </p:nvSpPr>
        <p:spPr>
          <a:xfrm>
            <a:off x="5257800" y="4617720"/>
            <a:ext cx="6473952" cy="237744"/>
          </a:xfrm>
          <a:prstGeom prst="rect">
            <a:avLst/>
          </a:prstGeom>
          <a:noFill/>
          <a:ln/>
        </p:spPr>
        <p:txBody>
          <a:bodyPr wrap="square" lIns="0" tIns="0" rIns="0" bIns="0" rtlCol="0" anchor="t"/>
          <a:lstStyle/>
          <a:p>
            <a:pPr indent="0" marL="0">
              <a:buNone/>
            </a:pPr>
            <a:r>
              <a:rPr lang="en-US" sz="1200" i="1" dirty="0">
                <a:solidFill>
                  <a:srgbClr val="5B6577"/>
                </a:solidFill>
                <a:latin typeface="Calibri" pitchFamily="34" charset="0"/>
                <a:ea typeface="Calibri" pitchFamily="34" charset="-122"/>
                <a:cs typeface="Calibri" pitchFamily="34" charset="-120"/>
              </a:rPr>
              <a:t>Real RM65 arm, simple grasp path, command from a recorded voice file</a:t>
            </a:r>
            <a:endParaRPr lang="en-US" sz="1200" dirty="0"/>
          </a:p>
        </p:txBody>
      </p:sp>
      <p:sp>
        <p:nvSpPr>
          <p:cNvPr id="58" name="Text 56"/>
          <p:cNvSpPr txBox="1"/>
          <p:nvPr/>
        </p:nvSpPr>
        <p:spPr>
          <a:xfrm>
            <a:off x="5257800" y="4892040"/>
            <a:ext cx="2057400" cy="868680"/>
          </a:xfrm>
          <a:prstGeom prst="rect">
            <a:avLst/>
          </a:prstGeom>
          <a:noFill/>
          <a:ln/>
        </p:spPr>
        <p:txBody>
          <a:bodyPr wrap="square" lIns="0" tIns="0" rIns="0" bIns="0" rtlCol="0" anchor="t"/>
          <a:lstStyle/>
          <a:p>
            <a:pPr indent="0" marL="0">
              <a:buNone/>
            </a:pPr>
            <a:r>
              <a:rPr lang="en-US" sz="3200" b="1" dirty="0">
                <a:solidFill>
                  <a:srgbClr val="1F3B73"/>
                </a:solidFill>
                <a:latin typeface="Calibri" pitchFamily="34" charset="0"/>
                <a:ea typeface="Calibri" pitchFamily="34" charset="-122"/>
                <a:cs typeface="Calibri" pitchFamily="34" charset="-120"/>
              </a:rPr>
              <a:t>5 of 6</a:t>
            </a:r>
            <a:endParaRPr lang="en-US" sz="1800" dirty="0"/>
          </a:p>
          <a:p>
            <a:pPr indent="0" marL="0">
              <a:buNone/>
            </a:pPr>
            <a:r>
              <a:rPr lang="en-US" sz="1300" b="1" dirty="0">
                <a:solidFill>
                  <a:srgbClr val="1B2333"/>
                </a:solidFill>
                <a:latin typeface="Calibri" pitchFamily="34" charset="0"/>
                <a:ea typeface="Calibri" pitchFamily="34" charset="-122"/>
                <a:cs typeface="Calibri" pitchFamily="34" charset="-120"/>
              </a:rPr>
              <a:t>within reach (5 of 8 grasps)</a:t>
            </a:r>
            <a:endParaRPr lang="en-US" sz="1800" dirty="0"/>
          </a:p>
        </p:txBody>
      </p:sp>
      <p:sp>
        <p:nvSpPr>
          <p:cNvPr id="59" name="Text 57"/>
          <p:cNvSpPr txBox="1"/>
          <p:nvPr/>
        </p:nvSpPr>
        <p:spPr>
          <a:xfrm>
            <a:off x="7406640" y="4919472"/>
            <a:ext cx="2103120" cy="914400"/>
          </a:xfrm>
          <a:prstGeom prst="rect">
            <a:avLst/>
          </a:prstGeom>
          <a:noFill/>
          <a:ln/>
        </p:spPr>
        <p:txBody>
          <a:bodyPr wrap="square" lIns="0" tIns="0" rIns="0" bIns="0" rtlCol="0" anchor="t"/>
          <a:lstStyle/>
          <a:p>
            <a:pPr indent="0" marL="0">
              <a:buNone/>
            </a:pPr>
            <a:r>
              <a:rPr lang="en-US" sz="1250" b="1" dirty="0">
                <a:solidFill>
                  <a:srgbClr val="1B2333"/>
                </a:solidFill>
                <a:latin typeface="Calibri" pitchFamily="34" charset="0"/>
                <a:ea typeface="Calibri" pitchFamily="34" charset="-122"/>
                <a:cs typeface="Calibri" pitchFamily="34" charset="-120"/>
              </a:rPr>
              <a:t>First real grasp 13 Oct 2026</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Grasp, hold, refuse two requests while busy, release, grasp again, in one run</a:t>
            </a:r>
            <a:endParaRPr lang="en-US" sz="1250" dirty="0"/>
          </a:p>
        </p:txBody>
      </p:sp>
      <p:sp>
        <p:nvSpPr>
          <p:cNvPr id="60" name="Shape 58"/>
          <p:cNvSpPr/>
          <p:nvPr/>
        </p:nvSpPr>
        <p:spPr>
          <a:xfrm>
            <a:off x="9646920" y="4919472"/>
            <a:ext cx="2084832" cy="841248"/>
          </a:xfrm>
          <a:prstGeom prst="rect">
            <a:avLst/>
          </a:prstGeom>
          <a:solidFill>
            <a:srgbClr val="E3F1E8"/>
          </a:solidFill>
          <a:ln w="12700">
            <a:solidFill>
              <a:srgbClr val="2E7D4F"/>
            </a:solidFill>
            <a:prstDash val="solid"/>
          </a:ln>
        </p:spPr>
      </p:sp>
      <p:sp>
        <p:nvSpPr>
          <p:cNvPr id="61" name="Text 59"/>
          <p:cNvSpPr txBox="1"/>
          <p:nvPr/>
        </p:nvSpPr>
        <p:spPr>
          <a:xfrm>
            <a:off x="9738360" y="4919472"/>
            <a:ext cx="1920240" cy="841248"/>
          </a:xfrm>
          <a:prstGeom prst="rect">
            <a:avLst/>
          </a:prstGeom>
          <a:noFill/>
          <a:ln/>
        </p:spPr>
        <p:txBody>
          <a:bodyPr wrap="square" lIns="0" tIns="0" rIns="0" bIns="0" rtlCol="0" anchor="ctr"/>
          <a:lstStyle/>
          <a:p>
            <a:pPr indent="0" marL="0">
              <a:buNone/>
            </a:pPr>
            <a:r>
              <a:rPr lang="en-US" sz="1200" b="1" dirty="0">
                <a:solidFill>
                  <a:srgbClr val="1F5C39"/>
                </a:solidFill>
                <a:latin typeface="Calibri" pitchFamily="34" charset="0"/>
                <a:ea typeface="Calibri" pitchFamily="34" charset="-122"/>
                <a:cs typeface="Calibri" pitchFamily="34" charset="-120"/>
              </a:rPr>
              <a:t>Software stop: </a:t>
            </a:r>
            <a:pPr indent="0" marL="0">
              <a:buNone/>
            </a:pPr>
            <a:r>
              <a:rPr lang="en-US" sz="1200" dirty="0">
                <a:solidFill>
                  <a:srgbClr val="1F5C39"/>
                </a:solidFill>
                <a:latin typeface="Calibri" pitchFamily="34" charset="0"/>
                <a:ea typeface="Calibri" pitchFamily="34" charset="-122"/>
                <a:cs typeface="Calibri" pitchFamily="34" charset="-120"/>
              </a:rPr>
              <a:t>arm stopped at two test points, motion cancelled within 1 ms</a:t>
            </a:r>
            <a:endParaRPr lang="en-US" sz="1200" dirty="0"/>
          </a:p>
        </p:txBody>
      </p:sp>
      <p:sp>
        <p:nvSpPr>
          <p:cNvPr id="62" name="Text 60"/>
          <p:cNvSpPr txBox="1"/>
          <p:nvPr/>
        </p:nvSpPr>
        <p:spPr>
          <a:xfrm>
            <a:off x="5257800" y="5833872"/>
            <a:ext cx="6473952" cy="566928"/>
          </a:xfrm>
          <a:prstGeom prst="rect">
            <a:avLst/>
          </a:prstGeom>
          <a:noFill/>
          <a:ln/>
        </p:spPr>
        <p:txBody>
          <a:bodyPr wrap="square" lIns="0" tIns="0" rIns="0" bIns="0" rtlCol="0" anchor="t"/>
          <a:lstStyle/>
          <a:p>
            <a:pPr indent="0" marL="0">
              <a:buNone/>
            </a:pPr>
            <a:r>
              <a:rPr lang="en-US" sz="1100" b="1" dirty="0">
                <a:solidFill>
                  <a:srgbClr val="5B6577"/>
                </a:solidFill>
                <a:latin typeface="Calibri" pitchFamily="34" charset="0"/>
                <a:ea typeface="Calibri" pitchFamily="34" charset="-122"/>
                <a:cs typeface="Calibri" pitchFamily="34" charset="-120"/>
              </a:rPr>
              <a:t>Conditions and limits: </a:t>
            </a:r>
            <a:pPr indent="0" marL="0">
              <a:buNone/>
            </a:pPr>
            <a:r>
              <a:rPr lang="en-US" sz="1100" dirty="0">
                <a:solidFill>
                  <a:srgbClr val="5B6577"/>
                </a:solidFill>
                <a:latin typeface="Calibri" pitchFamily="34" charset="0"/>
                <a:ea typeface="Calibri" pitchFamily="34" charset="-122"/>
                <a:cs typeface="Calibri" pitchFamily="34" charset="-120"/>
              </a:rPr>
              <a:t>voice from a recorded file, not live glasses. Box in a narrow band of positions. Success judged by the people at the robot, no automatic check yet. Hardware e-stop is rejected by the arm controller, so every test has two people and a hand on the power button</a:t>
            </a:r>
            <a:endParaRPr lang="en-US" sz="1100" dirty="0"/>
          </a:p>
        </p:txBody>
      </p:sp>
      <p:sp>
        <p:nvSpPr>
          <p:cNvPr id="63" name="Text 61"/>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Dion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182880"/>
            <a:ext cx="1755648" cy="274320"/>
          </a:xfrm>
          <a:prstGeom prst="rect">
            <a:avLst/>
          </a:prstGeom>
          <a:solidFill>
            <a:srgbClr val="F2F4F8"/>
          </a:solidFill>
          <a:ln w="9525">
            <a:solidFill>
              <a:srgbClr val="CDD3DD"/>
            </a:solidFill>
            <a:prstDash val="solid"/>
          </a:ln>
        </p:spPr>
      </p:sp>
      <p:sp>
        <p:nvSpPr>
          <p:cNvPr id="3" name="Text 1"/>
          <p:cNvSpPr txBox="1"/>
          <p:nvPr/>
        </p:nvSpPr>
        <p:spPr>
          <a:xfrm>
            <a:off x="457200"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 Intent</a:t>
            </a:r>
            <a:endParaRPr lang="en-US" sz="1100" dirty="0"/>
          </a:p>
        </p:txBody>
      </p:sp>
      <p:sp>
        <p:nvSpPr>
          <p:cNvPr id="4" name="Shape 2"/>
          <p:cNvSpPr/>
          <p:nvPr/>
        </p:nvSpPr>
        <p:spPr>
          <a:xfrm>
            <a:off x="2267712" y="182880"/>
            <a:ext cx="1755648" cy="274320"/>
          </a:xfrm>
          <a:prstGeom prst="rect">
            <a:avLst/>
          </a:prstGeom>
          <a:solidFill>
            <a:srgbClr val="F2F4F8"/>
          </a:solidFill>
          <a:ln w="9525">
            <a:solidFill>
              <a:srgbClr val="CDD3DD"/>
            </a:solidFill>
            <a:prstDash val="solid"/>
          </a:ln>
        </p:spPr>
      </p:sp>
      <p:sp>
        <p:nvSpPr>
          <p:cNvPr id="5" name="Text 3"/>
          <p:cNvSpPr txBox="1"/>
          <p:nvPr/>
        </p:nvSpPr>
        <p:spPr>
          <a:xfrm>
            <a:off x="2267712"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 Explore and map</a:t>
            </a:r>
            <a:endParaRPr lang="en-US" sz="1100" dirty="0"/>
          </a:p>
        </p:txBody>
      </p:sp>
      <p:sp>
        <p:nvSpPr>
          <p:cNvPr id="6" name="Shape 4"/>
          <p:cNvSpPr/>
          <p:nvPr/>
        </p:nvSpPr>
        <p:spPr>
          <a:xfrm>
            <a:off x="4078224" y="182880"/>
            <a:ext cx="1755648" cy="274320"/>
          </a:xfrm>
          <a:prstGeom prst="rect">
            <a:avLst/>
          </a:prstGeom>
          <a:solidFill>
            <a:srgbClr val="F2F4F8"/>
          </a:solidFill>
          <a:ln w="9525">
            <a:solidFill>
              <a:srgbClr val="CDD3DD"/>
            </a:solidFill>
            <a:prstDash val="solid"/>
          </a:ln>
        </p:spPr>
      </p:sp>
      <p:sp>
        <p:nvSpPr>
          <p:cNvPr id="7" name="Text 5"/>
          <p:cNvSpPr txBox="1"/>
          <p:nvPr/>
        </p:nvSpPr>
        <p:spPr>
          <a:xfrm>
            <a:off x="4078224"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3 Search</a:t>
            </a:r>
            <a:endParaRPr lang="en-US" sz="1100" dirty="0"/>
          </a:p>
        </p:txBody>
      </p:sp>
      <p:sp>
        <p:nvSpPr>
          <p:cNvPr id="8" name="Shape 6"/>
          <p:cNvSpPr/>
          <p:nvPr/>
        </p:nvSpPr>
        <p:spPr>
          <a:xfrm>
            <a:off x="5888736" y="182880"/>
            <a:ext cx="1755648" cy="274320"/>
          </a:xfrm>
          <a:prstGeom prst="rect">
            <a:avLst/>
          </a:prstGeom>
          <a:solidFill>
            <a:srgbClr val="F2F4F8"/>
          </a:solidFill>
          <a:ln w="9525">
            <a:solidFill>
              <a:srgbClr val="CDD3DD"/>
            </a:solidFill>
            <a:prstDash val="solid"/>
          </a:ln>
        </p:spPr>
      </p:sp>
      <p:sp>
        <p:nvSpPr>
          <p:cNvPr id="9" name="Text 7"/>
          <p:cNvSpPr txBox="1"/>
          <p:nvPr/>
        </p:nvSpPr>
        <p:spPr>
          <a:xfrm>
            <a:off x="5888736" y="182880"/>
            <a:ext cx="1755648" cy="274320"/>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0" name="Shape 8"/>
          <p:cNvSpPr/>
          <p:nvPr/>
        </p:nvSpPr>
        <p:spPr>
          <a:xfrm>
            <a:off x="7699248" y="182880"/>
            <a:ext cx="1755648" cy="274320"/>
          </a:xfrm>
          <a:prstGeom prst="rect">
            <a:avLst/>
          </a:prstGeom>
          <a:solidFill>
            <a:srgbClr val="1F3B73"/>
          </a:solidFill>
          <a:ln w="9525">
            <a:solidFill>
              <a:srgbClr val="1F3B73"/>
            </a:solidFill>
            <a:prstDash val="solid"/>
          </a:ln>
        </p:spPr>
      </p:sp>
      <p:sp>
        <p:nvSpPr>
          <p:cNvPr id="11" name="Text 9"/>
          <p:cNvSpPr txBox="1"/>
          <p:nvPr/>
        </p:nvSpPr>
        <p:spPr>
          <a:xfrm>
            <a:off x="7699248" y="182880"/>
            <a:ext cx="17556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Grasp</a:t>
            </a:r>
            <a:endParaRPr lang="en-US" sz="1100" dirty="0"/>
          </a:p>
        </p:txBody>
      </p:sp>
      <p:sp>
        <p:nvSpPr>
          <p:cNvPr id="1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AnyGrasp works at one ideal spot because, up close, the camera sees only one face</a:t>
            </a:r>
            <a:endParaRPr lang="en-US" sz="2400" dirty="0"/>
          </a:p>
        </p:txBody>
      </p:sp>
      <p:sp>
        <p:nvSpPr>
          <p:cNvPr id="13" name="Text 11"/>
          <p:cNvSpPr txBox="1"/>
          <p:nvPr/>
        </p:nvSpPr>
        <p:spPr>
          <a:xfrm>
            <a:off x="457200" y="1389888"/>
            <a:ext cx="11274552" cy="621792"/>
          </a:xfrm>
          <a:prstGeom prst="rect">
            <a:avLst/>
          </a:prstGeom>
          <a:noFill/>
          <a:ln/>
        </p:spPr>
        <p:txBody>
          <a:bodyPr wrap="square" lIns="0" tIns="0" rIns="0" bIns="0" rtlCol="0" anchor="t"/>
          <a:lstStyle/>
          <a:p>
            <a:pPr indent="0" marL="0">
              <a:buNone/>
            </a:pPr>
            <a:r>
              <a:rPr lang="en-US" sz="1500" b="1" dirty="0">
                <a:solidFill>
                  <a:srgbClr val="1B2333"/>
                </a:solidFill>
                <a:latin typeface="Calibri" pitchFamily="34" charset="0"/>
                <a:ea typeface="Calibri" pitchFamily="34" charset="-122"/>
                <a:cs typeface="Calibri" pitchFamily="34" charset="-120"/>
              </a:rPr>
              <a:t>AnyGrasp: </a:t>
            </a:r>
            <a:pPr indent="0" marL="0">
              <a:buNone/>
            </a:pPr>
            <a:r>
              <a:rPr lang="en-US" sz="1500" dirty="0">
                <a:solidFill>
                  <a:srgbClr val="1B2333"/>
                </a:solidFill>
                <a:latin typeface="Calibri" pitchFamily="34" charset="0"/>
                <a:ea typeface="Calibri" pitchFamily="34" charset="-122"/>
                <a:cs typeface="Calibri" pitchFamily="34" charset="-120"/>
              </a:rPr>
              <a:t>a learned model that proposes 6-DoF grasps on a point cloud.  </a:t>
            </a:r>
            <a:pPr indent="0" marL="0">
              <a:buNone/>
            </a:pPr>
            <a:r>
              <a:rPr lang="en-US" sz="1500" b="1" dirty="0">
                <a:solidFill>
                  <a:srgbClr val="1B2333"/>
                </a:solidFill>
                <a:latin typeface="Calibri" pitchFamily="34" charset="0"/>
                <a:ea typeface="Calibri" pitchFamily="34" charset="-122"/>
                <a:cs typeface="Calibri" pitchFamily="34" charset="-120"/>
              </a:rPr>
              <a:t>Result: </a:t>
            </a:r>
            <a:pPr indent="0" marL="0">
              <a:buNone/>
            </a:pPr>
            <a:r>
              <a:rPr lang="en-US" sz="1500" b="1" dirty="0">
                <a:solidFill>
                  <a:srgbClr val="1F3B73"/>
                </a:solidFill>
                <a:latin typeface="Calibri" pitchFamily="34" charset="0"/>
                <a:ea typeface="Calibri" pitchFamily="34" charset="-122"/>
                <a:cs typeface="Calibri" pitchFamily="34" charset="-120"/>
              </a:rPr>
              <a:t>2 of 3 at the ideal spot</a:t>
            </a:r>
            <a:pPr indent="0" marL="0">
              <a:buNone/>
            </a:pPr>
            <a:r>
              <a:rPr lang="en-US" sz="1500" dirty="0">
                <a:solidFill>
                  <a:srgbClr val="1B2333"/>
                </a:solidFill>
                <a:latin typeface="Calibri" pitchFamily="34" charset="0"/>
                <a:ea typeface="Calibri" pitchFamily="34" charset="-122"/>
                <a:cs typeface="Calibri" pitchFamily="34" charset="-120"/>
              </a:rPr>
              <a:t> (44.5 cm, centred, square). Fails elsewhere: a recipe from OK-Robot gave more grasps offline (132 vs 97) but </a:t>
            </a:r>
            <a:pPr indent="0" marL="0">
              <a:buNone/>
            </a:pPr>
            <a:r>
              <a:rPr lang="en-US" sz="1500" b="1" dirty="0">
                <a:solidFill>
                  <a:srgbClr val="B3392F"/>
                </a:solidFill>
                <a:latin typeface="Calibri" pitchFamily="34" charset="0"/>
                <a:ea typeface="Calibri" pitchFamily="34" charset="-122"/>
                <a:cs typeface="Calibri" pitchFamily="34" charset="-120"/>
              </a:rPr>
              <a:t>0 of 4 live</a:t>
            </a:r>
            <a:endParaRPr lang="en-US" sz="1500" dirty="0"/>
          </a:p>
        </p:txBody>
      </p:sp>
      <p:pic>
        <p:nvPicPr>
          <p:cNvPr id="14" name="Image 0" descr="Fit check passes an edge grasp wrongly">    </p:cNvPr>
          <p:cNvPicPr>
            <a:picLocks noChangeAspect="1"/>
          </p:cNvPicPr>
          <p:nvPr/>
        </p:nvPicPr>
        <p:blipFill>
          <a:blip r:embed="rId1"/>
          <a:stretch>
            <a:fillRect/>
          </a:stretch>
        </p:blipFill>
        <p:spPr>
          <a:xfrm>
            <a:off x="457200" y="2148840"/>
            <a:ext cx="3977640" cy="3209099"/>
          </a:xfrm>
          <a:prstGeom prst="rect">
            <a:avLst/>
          </a:prstGeom>
        </p:spPr>
      </p:pic>
      <p:sp>
        <p:nvSpPr>
          <p:cNvPr id="15" name="Text 12"/>
          <p:cNvSpPr txBox="1"/>
          <p:nvPr/>
        </p:nvSpPr>
        <p:spPr>
          <a:xfrm>
            <a:off x="457200" y="5412803"/>
            <a:ext cx="3977640" cy="438912"/>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A 75 mm face measured as 56 mm: the check passes a grasp the gripper cannot make</a:t>
            </a:r>
            <a:endParaRPr lang="en-US" sz="1200" dirty="0"/>
          </a:p>
        </p:txBody>
      </p:sp>
      <p:sp>
        <p:nvSpPr>
          <p:cNvPr id="16" name="Text 13"/>
          <p:cNvSpPr txBox="1"/>
          <p:nvPr/>
        </p:nvSpPr>
        <p:spPr>
          <a:xfrm>
            <a:off x="4709160" y="2148840"/>
            <a:ext cx="2560320" cy="256032"/>
          </a:xfrm>
          <a:prstGeom prst="rect">
            <a:avLst/>
          </a:prstGeom>
          <a:noFill/>
          <a:ln/>
        </p:spPr>
        <p:txBody>
          <a:bodyPr wrap="square" lIns="0" tIns="0" rIns="0" bIns="0" rtlCol="0" anchor="t"/>
          <a:lstStyle/>
          <a:p>
            <a:pPr indent="0" marL="0">
              <a:buNone/>
            </a:pPr>
            <a:r>
              <a:rPr lang="en-US" sz="1300" b="1" dirty="0">
                <a:solidFill>
                  <a:srgbClr val="1B2333"/>
                </a:solidFill>
                <a:latin typeface="Calibri" pitchFamily="34" charset="0"/>
                <a:ea typeface="Calibri" pitchFamily="34" charset="-122"/>
                <a:cs typeface="Calibri" pitchFamily="34" charset="-120"/>
              </a:rPr>
              <a:t>Gripper opening against each face</a:t>
            </a:r>
            <a:endParaRPr lang="en-US" sz="1300" dirty="0"/>
          </a:p>
        </p:txBody>
      </p:sp>
      <p:sp>
        <p:nvSpPr>
          <p:cNvPr id="17" name="Shape 14"/>
          <p:cNvSpPr/>
          <p:nvPr/>
        </p:nvSpPr>
        <p:spPr>
          <a:xfrm>
            <a:off x="4709160" y="2944368"/>
            <a:ext cx="2057400" cy="457200"/>
          </a:xfrm>
          <a:prstGeom prst="rect">
            <a:avLst/>
          </a:prstGeom>
          <a:solidFill>
            <a:srgbClr val="C9A97A"/>
          </a:solidFill>
          <a:ln w="12700">
            <a:solidFill>
              <a:srgbClr val="8C6D45"/>
            </a:solidFill>
            <a:prstDash val="solid"/>
          </a:ln>
        </p:spPr>
      </p:sp>
      <p:sp>
        <p:nvSpPr>
          <p:cNvPr id="18" name="Text 15"/>
          <p:cNvSpPr txBox="1"/>
          <p:nvPr/>
        </p:nvSpPr>
        <p:spPr>
          <a:xfrm>
            <a:off x="4709160" y="2944368"/>
            <a:ext cx="2057400" cy="45720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Side face 75 mm</a:t>
            </a:r>
            <a:endParaRPr lang="en-US" sz="1200" dirty="0"/>
          </a:p>
        </p:txBody>
      </p:sp>
      <p:sp>
        <p:nvSpPr>
          <p:cNvPr id="19" name="Shape 16"/>
          <p:cNvSpPr/>
          <p:nvPr/>
        </p:nvSpPr>
        <p:spPr>
          <a:xfrm>
            <a:off x="4709160" y="2761488"/>
            <a:ext cx="1947672" cy="0"/>
          </a:xfrm>
          <a:prstGeom prst="line">
            <a:avLst/>
          </a:prstGeom>
          <a:noFill/>
          <a:ln w="19050">
            <a:solidFill>
              <a:srgbClr val="1B2333"/>
            </a:solidFill>
            <a:prstDash val="solid"/>
            <a:headEnd type="triangle"/>
            <a:tailEnd type="triangle"/>
          </a:ln>
        </p:spPr>
      </p:sp>
      <p:sp>
        <p:nvSpPr>
          <p:cNvPr id="20" name="Text 17"/>
          <p:cNvSpPr txBox="1"/>
          <p:nvPr/>
        </p:nvSpPr>
        <p:spPr>
          <a:xfrm>
            <a:off x="4709160" y="2514600"/>
            <a:ext cx="1947672" cy="2286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gripper 71 mm</a:t>
            </a:r>
            <a:endParaRPr lang="en-US" sz="1100" dirty="0"/>
          </a:p>
        </p:txBody>
      </p:sp>
      <p:sp>
        <p:nvSpPr>
          <p:cNvPr id="21" name="Text 18"/>
          <p:cNvSpPr txBox="1"/>
          <p:nvPr/>
        </p:nvSpPr>
        <p:spPr>
          <a:xfrm>
            <a:off x="6903720" y="2852928"/>
            <a:ext cx="411480" cy="548640"/>
          </a:xfrm>
          <a:prstGeom prst="rect">
            <a:avLst/>
          </a:prstGeom>
          <a:noFill/>
          <a:ln/>
        </p:spPr>
        <p:txBody>
          <a:bodyPr wrap="square" lIns="0" tIns="0" rIns="0" bIns="0" rtlCol="0" anchor="ctr"/>
          <a:lstStyle/>
          <a:p>
            <a:pPr indent="0" marL="0">
              <a:buNone/>
            </a:pPr>
            <a:r>
              <a:rPr lang="en-US" sz="3000" b="1" dirty="0">
                <a:solidFill>
                  <a:srgbClr val="B3392F"/>
                </a:solidFill>
                <a:latin typeface="Calibri" pitchFamily="34" charset="0"/>
                <a:ea typeface="Calibri" pitchFamily="34" charset="-122"/>
                <a:cs typeface="Calibri" pitchFamily="34" charset="-120"/>
              </a:rPr>
              <a:t>✗</a:t>
            </a:r>
            <a:endParaRPr lang="en-US" sz="3000" dirty="0"/>
          </a:p>
        </p:txBody>
      </p:sp>
      <p:sp>
        <p:nvSpPr>
          <p:cNvPr id="22" name="Text 19"/>
          <p:cNvSpPr txBox="1"/>
          <p:nvPr/>
        </p:nvSpPr>
        <p:spPr>
          <a:xfrm>
            <a:off x="6858000" y="3364992"/>
            <a:ext cx="822960" cy="228600"/>
          </a:xfrm>
          <a:prstGeom prst="rect">
            <a:avLst/>
          </a:prstGeom>
          <a:noFill/>
          <a:ln/>
        </p:spPr>
        <p:txBody>
          <a:bodyPr wrap="square" lIns="0" tIns="0" rIns="0" bIns="0" rtlCol="0" anchor="t"/>
          <a:lstStyle/>
          <a:p>
            <a:pPr indent="0" marL="0">
              <a:buNone/>
            </a:pPr>
            <a:r>
              <a:rPr lang="en-US" sz="1100" dirty="0">
                <a:solidFill>
                  <a:srgbClr val="B3392F"/>
                </a:solidFill>
                <a:latin typeface="Calibri" pitchFamily="34" charset="0"/>
                <a:ea typeface="Calibri" pitchFamily="34" charset="-122"/>
                <a:cs typeface="Calibri" pitchFamily="34" charset="-120"/>
              </a:rPr>
              <a:t>too wide</a:t>
            </a:r>
            <a:endParaRPr lang="en-US" sz="1100" dirty="0"/>
          </a:p>
        </p:txBody>
      </p:sp>
      <p:sp>
        <p:nvSpPr>
          <p:cNvPr id="23" name="Shape 20"/>
          <p:cNvSpPr/>
          <p:nvPr/>
        </p:nvSpPr>
        <p:spPr>
          <a:xfrm>
            <a:off x="4709160" y="4361688"/>
            <a:ext cx="1645920" cy="457200"/>
          </a:xfrm>
          <a:prstGeom prst="rect">
            <a:avLst/>
          </a:prstGeom>
          <a:solidFill>
            <a:srgbClr val="C9A97A"/>
          </a:solidFill>
          <a:ln w="12700">
            <a:solidFill>
              <a:srgbClr val="8C6D45"/>
            </a:solidFill>
            <a:prstDash val="solid"/>
          </a:ln>
        </p:spPr>
      </p:sp>
      <p:sp>
        <p:nvSpPr>
          <p:cNvPr id="24" name="Text 21"/>
          <p:cNvSpPr txBox="1"/>
          <p:nvPr/>
        </p:nvSpPr>
        <p:spPr>
          <a:xfrm>
            <a:off x="4709160" y="4361688"/>
            <a:ext cx="1645920" cy="45720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Top 60 mm</a:t>
            </a:r>
            <a:endParaRPr lang="en-US" sz="1200" dirty="0"/>
          </a:p>
        </p:txBody>
      </p:sp>
      <p:sp>
        <p:nvSpPr>
          <p:cNvPr id="25" name="Shape 22"/>
          <p:cNvSpPr/>
          <p:nvPr/>
        </p:nvSpPr>
        <p:spPr>
          <a:xfrm>
            <a:off x="4709160" y="4178808"/>
            <a:ext cx="1947672" cy="0"/>
          </a:xfrm>
          <a:prstGeom prst="line">
            <a:avLst/>
          </a:prstGeom>
          <a:noFill/>
          <a:ln w="19050">
            <a:solidFill>
              <a:srgbClr val="1B2333"/>
            </a:solidFill>
            <a:prstDash val="solid"/>
            <a:headEnd type="triangle"/>
            <a:tailEnd type="triangle"/>
          </a:ln>
        </p:spPr>
      </p:sp>
      <p:sp>
        <p:nvSpPr>
          <p:cNvPr id="26" name="Text 23"/>
          <p:cNvSpPr txBox="1"/>
          <p:nvPr/>
        </p:nvSpPr>
        <p:spPr>
          <a:xfrm>
            <a:off x="4709160" y="3931920"/>
            <a:ext cx="1947672" cy="228600"/>
          </a:xfrm>
          <a:prstGeom prst="rect">
            <a:avLst/>
          </a:prstGeom>
          <a:noFill/>
          <a:ln/>
        </p:spPr>
        <p:txBody>
          <a:bodyPr wrap="square" lIns="0" tIns="0" rIns="0" bIns="0" rtlCol="0" anchor="t"/>
          <a:lstStyle/>
          <a:p>
            <a:pPr algn="ctr" indent="0" marL="0">
              <a:buNone/>
            </a:pPr>
            <a:r>
              <a:rPr lang="en-US" sz="1100" dirty="0">
                <a:solidFill>
                  <a:srgbClr val="5B6577"/>
                </a:solidFill>
                <a:latin typeface="Calibri" pitchFamily="34" charset="0"/>
                <a:ea typeface="Calibri" pitchFamily="34" charset="-122"/>
                <a:cs typeface="Calibri" pitchFamily="34" charset="-120"/>
              </a:rPr>
              <a:t>gripper 71 mm</a:t>
            </a:r>
            <a:endParaRPr lang="en-US" sz="1100" dirty="0"/>
          </a:p>
        </p:txBody>
      </p:sp>
      <p:sp>
        <p:nvSpPr>
          <p:cNvPr id="27" name="Text 24"/>
          <p:cNvSpPr txBox="1"/>
          <p:nvPr/>
        </p:nvSpPr>
        <p:spPr>
          <a:xfrm>
            <a:off x="6793992" y="4270248"/>
            <a:ext cx="411480" cy="548640"/>
          </a:xfrm>
          <a:prstGeom prst="rect">
            <a:avLst/>
          </a:prstGeom>
          <a:noFill/>
          <a:ln/>
        </p:spPr>
        <p:txBody>
          <a:bodyPr wrap="square" lIns="0" tIns="0" rIns="0" bIns="0" rtlCol="0" anchor="ctr"/>
          <a:lstStyle/>
          <a:p>
            <a:pPr indent="0" marL="0">
              <a:buNone/>
            </a:pPr>
            <a:r>
              <a:rPr lang="en-US" sz="3000" b="1" dirty="0">
                <a:solidFill>
                  <a:srgbClr val="2E7D4F"/>
                </a:solidFill>
                <a:latin typeface="Calibri" pitchFamily="34" charset="0"/>
                <a:ea typeface="Calibri" pitchFamily="34" charset="-122"/>
                <a:cs typeface="Calibri" pitchFamily="34" charset="-120"/>
              </a:rPr>
              <a:t>✓</a:t>
            </a:r>
            <a:endParaRPr lang="en-US" sz="3000" dirty="0"/>
          </a:p>
        </p:txBody>
      </p:sp>
      <p:sp>
        <p:nvSpPr>
          <p:cNvPr id="28" name="Text 25"/>
          <p:cNvSpPr txBox="1"/>
          <p:nvPr/>
        </p:nvSpPr>
        <p:spPr>
          <a:xfrm>
            <a:off x="6748272" y="4782312"/>
            <a:ext cx="822960" cy="228600"/>
          </a:xfrm>
          <a:prstGeom prst="rect">
            <a:avLst/>
          </a:prstGeom>
          <a:noFill/>
          <a:ln/>
        </p:spPr>
        <p:txBody>
          <a:bodyPr wrap="square" lIns="0" tIns="0" rIns="0" bIns="0" rtlCol="0" anchor="t"/>
          <a:lstStyle/>
          <a:p>
            <a:pPr indent="0" marL="0">
              <a:buNone/>
            </a:pPr>
            <a:r>
              <a:rPr lang="en-US" sz="1100" dirty="0">
                <a:solidFill>
                  <a:srgbClr val="1F5C39"/>
                </a:solidFill>
                <a:latin typeface="Calibri" pitchFamily="34" charset="0"/>
                <a:ea typeface="Calibri" pitchFamily="34" charset="-122"/>
                <a:cs typeface="Calibri" pitchFamily="34" charset="-120"/>
              </a:rPr>
              <a:t>fits</a:t>
            </a:r>
            <a:endParaRPr lang="en-US" sz="1100" dirty="0"/>
          </a:p>
        </p:txBody>
      </p:sp>
      <p:sp>
        <p:nvSpPr>
          <p:cNvPr id="29" name="Text 26"/>
          <p:cNvSpPr txBox="1"/>
          <p:nvPr/>
        </p:nvSpPr>
        <p:spPr>
          <a:xfrm>
            <a:off x="4709160" y="5166360"/>
            <a:ext cx="2560320" cy="237744"/>
          </a:xfrm>
          <a:prstGeom prst="rect">
            <a:avLst/>
          </a:prstGeom>
          <a:noFill/>
          <a:ln/>
        </p:spPr>
        <p:txBody>
          <a:bodyPr wrap="square" lIns="0" tIns="0" rIns="0" bIns="0" rtlCol="0" anchor="t"/>
          <a:lstStyle/>
          <a:p>
            <a:pPr indent="0" marL="0">
              <a:buNone/>
            </a:pPr>
            <a:r>
              <a:rPr lang="en-US" sz="1150" dirty="0">
                <a:solidFill>
                  <a:srgbClr val="5B6577"/>
                </a:solidFill>
                <a:latin typeface="Calibri" pitchFamily="34" charset="0"/>
                <a:ea typeface="Calibri" pitchFamily="34" charset="-122"/>
                <a:cs typeface="Calibri" pitchFamily="34" charset="-120"/>
              </a:rPr>
              <a:t>Box 75 x 60 x 143 mm</a:t>
            </a:r>
            <a:endParaRPr lang="en-US" sz="1150" dirty="0"/>
          </a:p>
        </p:txBody>
      </p:sp>
      <p:sp>
        <p:nvSpPr>
          <p:cNvPr id="30" name="Text 27"/>
          <p:cNvSpPr txBox="1"/>
          <p:nvPr/>
        </p:nvSpPr>
        <p:spPr>
          <a:xfrm>
            <a:off x="7635240" y="2148840"/>
            <a:ext cx="4096512" cy="274320"/>
          </a:xfrm>
          <a:prstGeom prst="rect">
            <a:avLst/>
          </a:prstGeom>
          <a:noFill/>
          <a:ln/>
        </p:spPr>
        <p:txBody>
          <a:bodyPr wrap="square" lIns="0" tIns="0" rIns="0" bIns="0" rtlCol="0" anchor="t"/>
          <a:lstStyle/>
          <a:p>
            <a:pPr indent="0" marL="0">
              <a:buNone/>
            </a:pPr>
            <a:r>
              <a:rPr lang="en-US" sz="1500" b="1" dirty="0">
                <a:solidFill>
                  <a:srgbClr val="1F3B73"/>
                </a:solidFill>
                <a:latin typeface="Calibri" pitchFamily="34" charset="0"/>
                <a:ea typeface="Calibri" pitchFamily="34" charset="-122"/>
                <a:cs typeface="Calibri" pitchFamily="34" charset="-120"/>
              </a:rPr>
              <a:t>Cause, diagnosed</a:t>
            </a:r>
            <a:endParaRPr lang="en-US" sz="1500" dirty="0"/>
          </a:p>
        </p:txBody>
      </p:sp>
      <p:sp>
        <p:nvSpPr>
          <p:cNvPr id="31" name="Text 28"/>
          <p:cNvSpPr txBox="1"/>
          <p:nvPr/>
        </p:nvSpPr>
        <p:spPr>
          <a:xfrm>
            <a:off x="7635240" y="2478024"/>
            <a:ext cx="4096512" cy="30175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B2333"/>
                </a:solidFill>
                <a:latin typeface="Calibri" pitchFamily="34" charset="0"/>
                <a:ea typeface="Calibri" pitchFamily="34" charset="-122"/>
                <a:cs typeface="Calibri" pitchFamily="34" charset="-120"/>
              </a:rPr>
              <a:t>At 0.21 m the wrist camera sees mostly one face of the 75 x 60 x 143 mm box</a:t>
            </a:r>
            <a:endParaRPr lang="en-US" sz="1350" dirty="0"/>
          </a:p>
          <a:p>
            <a:pPr marL="342900" indent="-342900">
              <a:spcAft>
                <a:spcPts val="800"/>
              </a:spcAft>
              <a:buSzPct val="100000"/>
              <a:buChar char="•"/>
            </a:pPr>
            <a:r>
              <a:rPr lang="en-US" sz="1350" dirty="0">
                <a:solidFill>
                  <a:srgbClr val="1B2333"/>
                </a:solidFill>
                <a:latin typeface="Calibri" pitchFamily="34" charset="0"/>
                <a:ea typeface="Calibri" pitchFamily="34" charset="-122"/>
                <a:cs typeface="Calibri" pitchFamily="34" charset="-120"/>
              </a:rPr>
              <a:t>The confident grasps go across the 75 mm face, wider than the 71 mm gripper</a:t>
            </a:r>
            <a:endParaRPr lang="en-US" sz="1350" dirty="0"/>
          </a:p>
          <a:p>
            <a:pPr marL="342900" indent="-342900">
              <a:spcAft>
                <a:spcPts val="800"/>
              </a:spcAft>
              <a:buSzPct val="100000"/>
              <a:buChar char="•"/>
            </a:pPr>
            <a:r>
              <a:rPr lang="en-US" sz="1350" dirty="0">
                <a:solidFill>
                  <a:srgbClr val="1B2333"/>
                </a:solidFill>
                <a:latin typeface="Calibri" pitchFamily="34" charset="0"/>
                <a:ea typeface="Calibri" pitchFamily="34" charset="-122"/>
                <a:cs typeface="Calibri" pitchFamily="34" charset="-120"/>
              </a:rPr>
              <a:t>Our fit check measures width from visible points, so edge and corner grasps pass it wrongly (369 of 369 passed on replay)</a:t>
            </a:r>
            <a:endParaRPr lang="en-US" sz="1350" dirty="0"/>
          </a:p>
          <a:p>
            <a:pPr marL="342900" indent="-342900">
              <a:spcAft>
                <a:spcPts val="800"/>
              </a:spcAft>
              <a:buSzPct val="100000"/>
              <a:buChar char="•"/>
            </a:pPr>
            <a:r>
              <a:rPr lang="en-US" sz="1350" dirty="0">
                <a:solidFill>
                  <a:srgbClr val="1B2333"/>
                </a:solidFill>
                <a:latin typeface="Calibri" pitchFamily="34" charset="0"/>
                <a:ea typeface="Calibri" pitchFamily="34" charset="-122"/>
                <a:cs typeface="Calibri" pitchFamily="34" charset="-120"/>
              </a:rPr>
              <a:t>The good top-down grasp is proposed in 49 of 75 frames but scores at most 0.25, under our 0.3 floor</a:t>
            </a:r>
            <a:endParaRPr lang="en-US" sz="1350" dirty="0"/>
          </a:p>
        </p:txBody>
      </p:sp>
      <p:sp>
        <p:nvSpPr>
          <p:cNvPr id="32" name="Text 29"/>
          <p:cNvSpPr txBox="1"/>
          <p:nvPr/>
        </p:nvSpPr>
        <p:spPr>
          <a:xfrm>
            <a:off x="4709160" y="5577840"/>
            <a:ext cx="2011680" cy="274320"/>
          </a:xfrm>
          <a:prstGeom prst="rect">
            <a:avLst/>
          </a:prstGeom>
          <a:noFill/>
          <a:ln/>
        </p:spPr>
        <p:txBody>
          <a:bodyPr wrap="square" lIns="0" tIns="0" rIns="0" bIns="0" rtlCol="0" anchor="t"/>
          <a:lstStyle/>
          <a:p>
            <a:pPr indent="0" marL="0">
              <a:buNone/>
            </a:pPr>
            <a:r>
              <a:rPr lang="en-US" sz="1300" b="1" dirty="0">
                <a:solidFill>
                  <a:srgbClr val="1F3B73"/>
                </a:solidFill>
                <a:latin typeface="Calibri" pitchFamily="34" charset="0"/>
                <a:ea typeface="Calibri" pitchFamily="34" charset="-122"/>
                <a:cs typeface="Calibri" pitchFamily="34" charset="-120"/>
              </a:rPr>
              <a:t>Next, cheapest first</a:t>
            </a:r>
            <a:endParaRPr lang="en-US" sz="1300" dirty="0"/>
          </a:p>
        </p:txBody>
      </p:sp>
      <p:sp>
        <p:nvSpPr>
          <p:cNvPr id="33" name="Shape 30"/>
          <p:cNvSpPr/>
          <p:nvPr/>
        </p:nvSpPr>
        <p:spPr>
          <a:xfrm>
            <a:off x="4709160" y="5870448"/>
            <a:ext cx="2267712" cy="548640"/>
          </a:xfrm>
          <a:prstGeom prst="rect">
            <a:avLst/>
          </a:prstGeom>
          <a:solidFill>
            <a:srgbClr val="E6ECF6"/>
          </a:solidFill>
          <a:ln/>
        </p:spPr>
      </p:sp>
      <p:sp>
        <p:nvSpPr>
          <p:cNvPr id="34" name="Text 31"/>
          <p:cNvSpPr txBox="1"/>
          <p:nvPr/>
        </p:nvSpPr>
        <p:spPr>
          <a:xfrm>
            <a:off x="4800600" y="5870448"/>
            <a:ext cx="2084832" cy="548640"/>
          </a:xfrm>
          <a:prstGeom prst="rect">
            <a:avLst/>
          </a:prstGeom>
          <a:noFill/>
          <a:ln/>
        </p:spPr>
        <p:txBody>
          <a:bodyPr wrap="square" lIns="0" tIns="0" rIns="0" bIns="0" rtlCol="0" anchor="ctr"/>
          <a:lstStyle/>
          <a:p>
            <a:pPr indent="0" marL="0">
              <a:buNone/>
            </a:pPr>
            <a:r>
              <a:rPr lang="en-US" sz="1500" b="1" dirty="0">
                <a:solidFill>
                  <a:srgbClr val="1F3B73"/>
                </a:solidFill>
                <a:latin typeface="Calibri" pitchFamily="34" charset="0"/>
                <a:ea typeface="Calibri" pitchFamily="34" charset="-122"/>
                <a:cs typeface="Calibri" pitchFamily="34" charset="-120"/>
              </a:rPr>
              <a:t>A  </a:t>
            </a:r>
            <a:pPr indent="0" marL="0">
              <a:buNone/>
            </a:pPr>
            <a:r>
              <a:rPr lang="en-US" sz="1150" dirty="0">
                <a:solidFill>
                  <a:srgbClr val="1B2333"/>
                </a:solidFill>
                <a:latin typeface="Calibri" pitchFamily="34" charset="0"/>
                <a:ea typeface="Calibri" pitchFamily="34" charset="-122"/>
                <a:cs typeface="Calibri" pitchFamily="34" charset="-120"/>
              </a:rPr>
              <a:t>Grasp once from 0.4 to 0.5 m with the whole box in view</a:t>
            </a:r>
            <a:endParaRPr lang="en-US" sz="1150" dirty="0"/>
          </a:p>
        </p:txBody>
      </p:sp>
      <p:sp>
        <p:nvSpPr>
          <p:cNvPr id="35" name="Shape 32"/>
          <p:cNvSpPr/>
          <p:nvPr/>
        </p:nvSpPr>
        <p:spPr>
          <a:xfrm>
            <a:off x="7050024" y="5870448"/>
            <a:ext cx="2267712" cy="548640"/>
          </a:xfrm>
          <a:prstGeom prst="rect">
            <a:avLst/>
          </a:prstGeom>
          <a:solidFill>
            <a:srgbClr val="F2F4F8"/>
          </a:solidFill>
          <a:ln/>
        </p:spPr>
      </p:sp>
      <p:sp>
        <p:nvSpPr>
          <p:cNvPr id="36" name="Text 33"/>
          <p:cNvSpPr txBox="1"/>
          <p:nvPr/>
        </p:nvSpPr>
        <p:spPr>
          <a:xfrm>
            <a:off x="7141464" y="5870448"/>
            <a:ext cx="2084832" cy="548640"/>
          </a:xfrm>
          <a:prstGeom prst="rect">
            <a:avLst/>
          </a:prstGeom>
          <a:noFill/>
          <a:ln/>
        </p:spPr>
        <p:txBody>
          <a:bodyPr wrap="square" lIns="0" tIns="0" rIns="0" bIns="0" rtlCol="0" anchor="ctr"/>
          <a:lstStyle/>
          <a:p>
            <a:pPr indent="0" marL="0">
              <a:buNone/>
            </a:pPr>
            <a:r>
              <a:rPr lang="en-US" sz="1500" b="1" dirty="0">
                <a:solidFill>
                  <a:srgbClr val="1F3B73"/>
                </a:solidFill>
                <a:latin typeface="Calibri" pitchFamily="34" charset="0"/>
                <a:ea typeface="Calibri" pitchFamily="34" charset="-122"/>
                <a:cs typeface="Calibri" pitchFamily="34" charset="-120"/>
              </a:rPr>
              <a:t>B  </a:t>
            </a:r>
            <a:pPr indent="0" marL="0">
              <a:buNone/>
            </a:pPr>
            <a:r>
              <a:rPr lang="en-US" sz="1150" dirty="0">
                <a:solidFill>
                  <a:srgbClr val="1B2333"/>
                </a:solidFill>
                <a:latin typeface="Calibri" pitchFamily="34" charset="0"/>
                <a:ea typeface="Calibri" pitchFamily="34" charset="-122"/>
                <a:cs typeface="Calibri" pitchFamily="34" charset="-120"/>
              </a:rPr>
              <a:t>Grasp on several fused views (retest owed)</a:t>
            </a:r>
            <a:endParaRPr lang="en-US" sz="1150" dirty="0"/>
          </a:p>
        </p:txBody>
      </p:sp>
      <p:sp>
        <p:nvSpPr>
          <p:cNvPr id="37" name="Shape 34"/>
          <p:cNvSpPr/>
          <p:nvPr/>
        </p:nvSpPr>
        <p:spPr>
          <a:xfrm>
            <a:off x="9390888" y="5870448"/>
            <a:ext cx="2267712" cy="548640"/>
          </a:xfrm>
          <a:prstGeom prst="rect">
            <a:avLst/>
          </a:prstGeom>
          <a:solidFill>
            <a:srgbClr val="F2F4F8"/>
          </a:solidFill>
          <a:ln/>
        </p:spPr>
      </p:sp>
      <p:sp>
        <p:nvSpPr>
          <p:cNvPr id="38" name="Text 35"/>
          <p:cNvSpPr txBox="1"/>
          <p:nvPr/>
        </p:nvSpPr>
        <p:spPr>
          <a:xfrm>
            <a:off x="9482328" y="5870448"/>
            <a:ext cx="2084832" cy="548640"/>
          </a:xfrm>
          <a:prstGeom prst="rect">
            <a:avLst/>
          </a:prstGeom>
          <a:noFill/>
          <a:ln/>
        </p:spPr>
        <p:txBody>
          <a:bodyPr wrap="square" lIns="0" tIns="0" rIns="0" bIns="0" rtlCol="0" anchor="ctr"/>
          <a:lstStyle/>
          <a:p>
            <a:pPr indent="0" marL="0">
              <a:buNone/>
            </a:pPr>
            <a:r>
              <a:rPr lang="en-US" sz="1500" b="1" dirty="0">
                <a:solidFill>
                  <a:srgbClr val="1F3B73"/>
                </a:solidFill>
                <a:latin typeface="Calibri" pitchFamily="34" charset="0"/>
                <a:ea typeface="Calibri" pitchFamily="34" charset="-122"/>
                <a:cs typeface="Calibri" pitchFamily="34" charset="-120"/>
              </a:rPr>
              <a:t>C  </a:t>
            </a:r>
            <a:pPr indent="0" marL="0">
              <a:buNone/>
            </a:pPr>
            <a:r>
              <a:rPr lang="en-US" sz="1150" dirty="0">
                <a:solidFill>
                  <a:srgbClr val="1B2333"/>
                </a:solidFill>
                <a:latin typeface="Calibri" pitchFamily="34" charset="0"/>
                <a:ea typeface="Calibri" pitchFamily="34" charset="-122"/>
                <a:cs typeface="Calibri" pitchFamily="34" charset="-120"/>
              </a:rPr>
              <a:t>New AnyGrasp SDK (waiting on a licence)</a:t>
            </a:r>
            <a:endParaRPr lang="en-US" sz="1150" dirty="0"/>
          </a:p>
        </p:txBody>
      </p:sp>
      <p:sp>
        <p:nvSpPr>
          <p:cNvPr id="39" name="Text 36"/>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Dion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Where each part sits in the full flow, and the links still to join</a:t>
            </a:r>
            <a:endParaRPr lang="en-US" sz="2400" dirty="0"/>
          </a:p>
        </p:txBody>
      </p:sp>
      <p:sp>
        <p:nvSpPr>
          <p:cNvPr id="3" name="Shape 1"/>
          <p:cNvSpPr/>
          <p:nvPr/>
        </p:nvSpPr>
        <p:spPr>
          <a:xfrm>
            <a:off x="457200" y="1810512"/>
            <a:ext cx="1600200" cy="384048"/>
          </a:xfrm>
          <a:prstGeom prst="rect">
            <a:avLst/>
          </a:prstGeom>
          <a:solidFill>
            <a:srgbClr val="F2F4F8"/>
          </a:solidFill>
          <a:ln/>
        </p:spPr>
      </p:sp>
      <p:sp>
        <p:nvSpPr>
          <p:cNvPr id="4" name="Text 2"/>
          <p:cNvSpPr txBox="1"/>
          <p:nvPr/>
        </p:nvSpPr>
        <p:spPr>
          <a:xfrm>
            <a:off x="512064" y="1810512"/>
            <a:ext cx="1490472" cy="384048"/>
          </a:xfrm>
          <a:prstGeom prst="rect">
            <a:avLst/>
          </a:prstGeom>
          <a:noFill/>
          <a:ln/>
        </p:spPr>
        <p:txBody>
          <a:bodyPr wrap="square" lIns="0" tIns="0" rIns="0" bIns="0" rtlCol="0" anchor="ctr"/>
          <a:lstStyle/>
          <a:p>
            <a:pPr indent="0" marL="0">
              <a:buNone/>
            </a:pPr>
            <a:r>
              <a:rPr lang="en-US" sz="1100" b="1" dirty="0">
                <a:solidFill>
                  <a:srgbClr val="5B6577"/>
                </a:solidFill>
                <a:latin typeface="Calibri" pitchFamily="34" charset="0"/>
                <a:ea typeface="Calibri" pitchFamily="34" charset="-122"/>
                <a:cs typeface="Calibri" pitchFamily="34" charset="-120"/>
              </a:rPr>
              <a:t>1 Intent capture</a:t>
            </a:r>
            <a:endParaRPr lang="en-US" sz="1100" dirty="0"/>
          </a:p>
        </p:txBody>
      </p:sp>
      <p:sp>
        <p:nvSpPr>
          <p:cNvPr id="5" name="Shape 3"/>
          <p:cNvSpPr/>
          <p:nvPr/>
        </p:nvSpPr>
        <p:spPr>
          <a:xfrm>
            <a:off x="2761488" y="1810512"/>
            <a:ext cx="1600200" cy="384048"/>
          </a:xfrm>
          <a:prstGeom prst="rect">
            <a:avLst/>
          </a:prstGeom>
          <a:solidFill>
            <a:srgbClr val="F2F4F8"/>
          </a:solidFill>
          <a:ln/>
        </p:spPr>
      </p:sp>
      <p:sp>
        <p:nvSpPr>
          <p:cNvPr id="6" name="Text 4"/>
          <p:cNvSpPr txBox="1"/>
          <p:nvPr/>
        </p:nvSpPr>
        <p:spPr>
          <a:xfrm>
            <a:off x="2816352" y="1810512"/>
            <a:ext cx="1490472" cy="384048"/>
          </a:xfrm>
          <a:prstGeom prst="rect">
            <a:avLst/>
          </a:prstGeom>
          <a:noFill/>
          <a:ln/>
        </p:spPr>
        <p:txBody>
          <a:bodyPr wrap="square" lIns="0" tIns="0" rIns="0" bIns="0" rtlCol="0" anchor="ctr"/>
          <a:lstStyle/>
          <a:p>
            <a:pPr indent="0" marL="0">
              <a:buNone/>
            </a:pPr>
            <a:r>
              <a:rPr lang="en-US" sz="1100" b="1" dirty="0">
                <a:solidFill>
                  <a:srgbClr val="5B6577"/>
                </a:solidFill>
                <a:latin typeface="Calibri" pitchFamily="34" charset="0"/>
                <a:ea typeface="Calibri" pitchFamily="34" charset="-122"/>
                <a:cs typeface="Calibri" pitchFamily="34" charset="-120"/>
              </a:rPr>
              <a:t>2 Explore and find the user</a:t>
            </a:r>
            <a:endParaRPr lang="en-US" sz="1100" dirty="0"/>
          </a:p>
        </p:txBody>
      </p:sp>
      <p:sp>
        <p:nvSpPr>
          <p:cNvPr id="7" name="Shape 5"/>
          <p:cNvSpPr/>
          <p:nvPr/>
        </p:nvSpPr>
        <p:spPr>
          <a:xfrm>
            <a:off x="5065776" y="1810512"/>
            <a:ext cx="1600200" cy="384048"/>
          </a:xfrm>
          <a:prstGeom prst="rect">
            <a:avLst/>
          </a:prstGeom>
          <a:solidFill>
            <a:srgbClr val="F2F4F8"/>
          </a:solidFill>
          <a:ln/>
        </p:spPr>
      </p:sp>
      <p:sp>
        <p:nvSpPr>
          <p:cNvPr id="8" name="Text 6"/>
          <p:cNvSpPr txBox="1"/>
          <p:nvPr/>
        </p:nvSpPr>
        <p:spPr>
          <a:xfrm>
            <a:off x="5120640" y="1810512"/>
            <a:ext cx="1490472" cy="384048"/>
          </a:xfrm>
          <a:prstGeom prst="rect">
            <a:avLst/>
          </a:prstGeom>
          <a:noFill/>
          <a:ln/>
        </p:spPr>
        <p:txBody>
          <a:bodyPr wrap="square" lIns="0" tIns="0" rIns="0" bIns="0" rtlCol="0" anchor="ctr"/>
          <a:lstStyle/>
          <a:p>
            <a:pPr indent="0" marL="0">
              <a:buNone/>
            </a:pPr>
            <a:r>
              <a:rPr lang="en-US" sz="1100" b="1" dirty="0">
                <a:solidFill>
                  <a:srgbClr val="5B6577"/>
                </a:solidFill>
                <a:latin typeface="Calibri" pitchFamily="34" charset="0"/>
                <a:ea typeface="Calibri" pitchFamily="34" charset="-122"/>
                <a:cs typeface="Calibri" pitchFamily="34" charset="-120"/>
              </a:rPr>
              <a:t>3 Search</a:t>
            </a:r>
            <a:endParaRPr lang="en-US" sz="1100" dirty="0"/>
          </a:p>
        </p:txBody>
      </p:sp>
      <p:sp>
        <p:nvSpPr>
          <p:cNvPr id="9" name="Shape 7"/>
          <p:cNvSpPr/>
          <p:nvPr/>
        </p:nvSpPr>
        <p:spPr>
          <a:xfrm>
            <a:off x="7370064" y="1810512"/>
            <a:ext cx="1600200" cy="384048"/>
          </a:xfrm>
          <a:prstGeom prst="rect">
            <a:avLst/>
          </a:prstGeom>
          <a:solidFill>
            <a:srgbClr val="F2F4F8"/>
          </a:solidFill>
          <a:ln/>
        </p:spPr>
      </p:sp>
      <p:sp>
        <p:nvSpPr>
          <p:cNvPr id="10" name="Text 8"/>
          <p:cNvSpPr txBox="1"/>
          <p:nvPr/>
        </p:nvSpPr>
        <p:spPr>
          <a:xfrm>
            <a:off x="7424928" y="1810512"/>
            <a:ext cx="1490472" cy="384048"/>
          </a:xfrm>
          <a:prstGeom prst="rect">
            <a:avLst/>
          </a:prstGeom>
          <a:noFill/>
          <a:ln/>
        </p:spPr>
        <p:txBody>
          <a:bodyPr wrap="square" lIns="0" tIns="0" rIns="0" bIns="0" rtlCol="0" anchor="ctr"/>
          <a:lstStyle/>
          <a:p>
            <a:pPr indent="0" marL="0">
              <a:buNone/>
            </a:pPr>
            <a:r>
              <a:rPr lang="en-US" sz="1100" b="1" dirty="0">
                <a:solidFill>
                  <a:srgbClr val="5B6577"/>
                </a:solidFill>
                <a:latin typeface="Calibri" pitchFamily="34" charset="0"/>
                <a:ea typeface="Calibri" pitchFamily="34" charset="-122"/>
                <a:cs typeface="Calibri" pitchFamily="34" charset="-120"/>
              </a:rPr>
              <a:t>4 Approach and confirm</a:t>
            </a:r>
            <a:endParaRPr lang="en-US" sz="1100" dirty="0"/>
          </a:p>
        </p:txBody>
      </p:sp>
      <p:sp>
        <p:nvSpPr>
          <p:cNvPr id="11" name="Shape 9"/>
          <p:cNvSpPr/>
          <p:nvPr/>
        </p:nvSpPr>
        <p:spPr>
          <a:xfrm>
            <a:off x="9674352" y="1810512"/>
            <a:ext cx="1600200" cy="384048"/>
          </a:xfrm>
          <a:prstGeom prst="rect">
            <a:avLst/>
          </a:prstGeom>
          <a:solidFill>
            <a:srgbClr val="F2F4F8"/>
          </a:solidFill>
          <a:ln/>
        </p:spPr>
      </p:sp>
      <p:sp>
        <p:nvSpPr>
          <p:cNvPr id="12" name="Text 10"/>
          <p:cNvSpPr txBox="1"/>
          <p:nvPr/>
        </p:nvSpPr>
        <p:spPr>
          <a:xfrm>
            <a:off x="9729216" y="1810512"/>
            <a:ext cx="1490472" cy="384048"/>
          </a:xfrm>
          <a:prstGeom prst="rect">
            <a:avLst/>
          </a:prstGeom>
          <a:noFill/>
          <a:ln/>
        </p:spPr>
        <p:txBody>
          <a:bodyPr wrap="square" lIns="0" tIns="0" rIns="0" bIns="0" rtlCol="0" anchor="ctr"/>
          <a:lstStyle/>
          <a:p>
            <a:pPr indent="0" marL="0">
              <a:buNone/>
            </a:pPr>
            <a:r>
              <a:rPr lang="en-US" sz="1100" b="1" dirty="0">
                <a:solidFill>
                  <a:srgbClr val="5B6577"/>
                </a:solidFill>
                <a:latin typeface="Calibri" pitchFamily="34" charset="0"/>
                <a:ea typeface="Calibri" pitchFamily="34" charset="-122"/>
                <a:cs typeface="Calibri" pitchFamily="34" charset="-120"/>
              </a:rPr>
              <a:t>5 Grasp</a:t>
            </a:r>
            <a:endParaRPr lang="en-US" sz="1100" dirty="0"/>
          </a:p>
        </p:txBody>
      </p:sp>
      <p:sp>
        <p:nvSpPr>
          <p:cNvPr id="13" name="Shape 11"/>
          <p:cNvSpPr/>
          <p:nvPr/>
        </p:nvSpPr>
        <p:spPr>
          <a:xfrm>
            <a:off x="457200" y="3255264"/>
            <a:ext cx="1600200" cy="658368"/>
          </a:xfrm>
          <a:prstGeom prst="rect">
            <a:avLst/>
          </a:prstGeom>
          <a:solidFill>
            <a:srgbClr val="E3F1E8"/>
          </a:solidFill>
          <a:ln w="19050">
            <a:solidFill>
              <a:srgbClr val="2E7D4F"/>
            </a:solidFill>
            <a:prstDash val="solid"/>
          </a:ln>
        </p:spPr>
      </p:sp>
      <p:sp>
        <p:nvSpPr>
          <p:cNvPr id="14" name="Text 12"/>
          <p:cNvSpPr txBox="1"/>
          <p:nvPr/>
        </p:nvSpPr>
        <p:spPr>
          <a:xfrm>
            <a:off x="521208" y="3255264"/>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Voice and gaze to a reference crop</a:t>
            </a:r>
            <a:endParaRPr lang="en-US" sz="1800" dirty="0"/>
          </a:p>
          <a:p>
            <a:pPr indent="0" marL="0">
              <a:buNone/>
            </a:pPr>
            <a:r>
              <a:rPr lang="en-US" sz="1050" dirty="0">
                <a:solidFill>
                  <a:srgbClr val="1F5C39"/>
                </a:solidFill>
                <a:latin typeface="Calibri" pitchFamily="34" charset="0"/>
                <a:ea typeface="Calibri" pitchFamily="34" charset="-122"/>
                <a:cs typeface="Calibri" pitchFamily="34" charset="-120"/>
              </a:rPr>
              <a:t>Tested on replay</a:t>
            </a:r>
            <a:endParaRPr lang="en-US" sz="1800" dirty="0"/>
          </a:p>
        </p:txBody>
      </p:sp>
      <p:sp>
        <p:nvSpPr>
          <p:cNvPr id="15" name="Shape 13"/>
          <p:cNvSpPr/>
          <p:nvPr/>
        </p:nvSpPr>
        <p:spPr>
          <a:xfrm>
            <a:off x="2761488" y="5193792"/>
            <a:ext cx="1600200" cy="658368"/>
          </a:xfrm>
          <a:prstGeom prst="rect">
            <a:avLst/>
          </a:prstGeom>
          <a:solidFill>
            <a:srgbClr val="E3F1E8"/>
          </a:solidFill>
          <a:ln w="19050">
            <a:solidFill>
              <a:srgbClr val="2E7D4F"/>
            </a:solidFill>
            <a:prstDash val="solid"/>
          </a:ln>
        </p:spPr>
      </p:sp>
      <p:sp>
        <p:nvSpPr>
          <p:cNvPr id="16" name="Text 14"/>
          <p:cNvSpPr txBox="1"/>
          <p:nvPr/>
        </p:nvSpPr>
        <p:spPr>
          <a:xfrm>
            <a:off x="2825496" y="5193792"/>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FAST-LIVO2 map and pose</a:t>
            </a:r>
            <a:endParaRPr lang="en-US" sz="1800" dirty="0"/>
          </a:p>
          <a:p>
            <a:pPr indent="0" marL="0">
              <a:buNone/>
            </a:pPr>
            <a:r>
              <a:rPr lang="en-US" sz="1050" dirty="0">
                <a:solidFill>
                  <a:srgbClr val="1F5C39"/>
                </a:solidFill>
                <a:latin typeface="Calibri" pitchFamily="34" charset="0"/>
                <a:ea typeface="Calibri" pitchFamily="34" charset="-122"/>
                <a:cs typeface="Calibri" pitchFamily="34" charset="-120"/>
              </a:rPr>
              <a:t>Tested, pushed by hand</a:t>
            </a:r>
            <a:endParaRPr lang="en-US" sz="1800" dirty="0"/>
          </a:p>
        </p:txBody>
      </p:sp>
      <p:sp>
        <p:nvSpPr>
          <p:cNvPr id="17" name="Shape 15"/>
          <p:cNvSpPr/>
          <p:nvPr/>
        </p:nvSpPr>
        <p:spPr>
          <a:xfrm>
            <a:off x="2761488" y="3255264"/>
            <a:ext cx="1600200" cy="658368"/>
          </a:xfrm>
          <a:prstGeom prst="rect">
            <a:avLst/>
          </a:prstGeom>
          <a:solidFill>
            <a:srgbClr val="FBF1DC"/>
          </a:solidFill>
          <a:ln w="19050">
            <a:solidFill>
              <a:srgbClr val="B7791F"/>
            </a:solidFill>
            <a:prstDash val="solid"/>
          </a:ln>
        </p:spPr>
      </p:sp>
      <p:sp>
        <p:nvSpPr>
          <p:cNvPr id="18" name="Text 16"/>
          <p:cNvSpPr txBox="1"/>
          <p:nvPr/>
        </p:nvSpPr>
        <p:spPr>
          <a:xfrm>
            <a:off x="2825496" y="3255264"/>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Nav2 drives the base</a:t>
            </a:r>
            <a:endParaRPr lang="en-US" sz="1800" dirty="0"/>
          </a:p>
          <a:p>
            <a:pPr indent="0" marL="0">
              <a:buNone/>
            </a:pPr>
            <a:r>
              <a:rPr lang="en-US" sz="1050" dirty="0">
                <a:solidFill>
                  <a:srgbClr val="7A4E0B"/>
                </a:solidFill>
                <a:latin typeface="Calibri" pitchFamily="34" charset="0"/>
                <a:ea typeface="Calibri" pitchFamily="34" charset="-122"/>
                <a:cs typeface="Calibri" pitchFamily="34" charset="-120"/>
              </a:rPr>
              <a:t>Built, never driven</a:t>
            </a:r>
            <a:endParaRPr lang="en-US" sz="1800" dirty="0"/>
          </a:p>
        </p:txBody>
      </p:sp>
      <p:sp>
        <p:nvSpPr>
          <p:cNvPr id="19" name="Shape 17"/>
          <p:cNvSpPr/>
          <p:nvPr/>
        </p:nvSpPr>
        <p:spPr>
          <a:xfrm>
            <a:off x="2761488" y="4224528"/>
            <a:ext cx="1600200" cy="658368"/>
          </a:xfrm>
          <a:prstGeom prst="rect">
            <a:avLst/>
          </a:prstGeom>
          <a:solidFill>
            <a:srgbClr val="E2ECF7"/>
          </a:solidFill>
          <a:ln w="19050">
            <a:solidFill>
              <a:srgbClr val="2B6CB0"/>
            </a:solidFill>
            <a:prstDash val="solid"/>
          </a:ln>
        </p:spPr>
      </p:sp>
      <p:sp>
        <p:nvSpPr>
          <p:cNvPr id="20" name="Text 18"/>
          <p:cNvSpPr txBox="1"/>
          <p:nvPr/>
        </p:nvSpPr>
        <p:spPr>
          <a:xfrm>
            <a:off x="2825496" y="4224528"/>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Memory graph</a:t>
            </a:r>
            <a:endParaRPr lang="en-US" sz="1800" dirty="0"/>
          </a:p>
          <a:p>
            <a:pPr indent="0" marL="0">
              <a:buNone/>
            </a:pPr>
            <a:r>
              <a:rPr lang="en-US" sz="1050" dirty="0">
                <a:solidFill>
                  <a:srgbClr val="1D4E85"/>
                </a:solidFill>
                <a:latin typeface="Calibri" pitchFamily="34" charset="0"/>
                <a:ea typeface="Calibri" pitchFamily="34" charset="-122"/>
                <a:cs typeface="Calibri" pitchFamily="34" charset="-120"/>
              </a:rPr>
              <a:t>Works alone, offline</a:t>
            </a:r>
            <a:endParaRPr lang="en-US" sz="1800" dirty="0"/>
          </a:p>
        </p:txBody>
      </p:sp>
      <p:sp>
        <p:nvSpPr>
          <p:cNvPr id="21" name="Shape 19"/>
          <p:cNvSpPr/>
          <p:nvPr/>
        </p:nvSpPr>
        <p:spPr>
          <a:xfrm>
            <a:off x="2761488" y="2286000"/>
            <a:ext cx="1600200" cy="658368"/>
          </a:xfrm>
          <a:prstGeom prst="rect">
            <a:avLst/>
          </a:prstGeom>
          <a:solidFill>
            <a:srgbClr val="FFFFFF"/>
          </a:solidFill>
          <a:ln w="19050">
            <a:solidFill>
              <a:srgbClr val="8A93A3"/>
            </a:solidFill>
            <a:prstDash val="solid"/>
          </a:ln>
        </p:spPr>
      </p:sp>
      <p:sp>
        <p:nvSpPr>
          <p:cNvPr id="22" name="Text 20"/>
          <p:cNvSpPr txBox="1"/>
          <p:nvPr/>
        </p:nvSpPr>
        <p:spPr>
          <a:xfrm>
            <a:off x="2825496" y="2286000"/>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Find the user</a:t>
            </a:r>
            <a:endParaRPr lang="en-US" sz="1800" dirty="0"/>
          </a:p>
          <a:p>
            <a:pPr indent="0" marL="0">
              <a:buNone/>
            </a:pPr>
            <a:r>
              <a:rPr lang="en-US" sz="1050" dirty="0">
                <a:solidFill>
                  <a:srgbClr val="4B5363"/>
                </a:solidFill>
                <a:latin typeface="Calibri" pitchFamily="34" charset="0"/>
                <a:ea typeface="Calibri" pitchFamily="34" charset="-122"/>
                <a:cs typeface="Calibri" pitchFamily="34" charset="-120"/>
              </a:rPr>
              <a:t>Planned</a:t>
            </a:r>
            <a:endParaRPr lang="en-US" sz="1800" dirty="0"/>
          </a:p>
        </p:txBody>
      </p:sp>
      <p:sp>
        <p:nvSpPr>
          <p:cNvPr id="23" name="Shape 21"/>
          <p:cNvSpPr/>
          <p:nvPr/>
        </p:nvSpPr>
        <p:spPr>
          <a:xfrm>
            <a:off x="5065776" y="4224528"/>
            <a:ext cx="1600200" cy="658368"/>
          </a:xfrm>
          <a:prstGeom prst="rect">
            <a:avLst/>
          </a:prstGeom>
          <a:solidFill>
            <a:srgbClr val="FFFFFF"/>
          </a:solidFill>
          <a:ln w="19050">
            <a:solidFill>
              <a:srgbClr val="8A93A3"/>
            </a:solidFill>
            <a:prstDash val="solid"/>
          </a:ln>
        </p:spPr>
      </p:sp>
      <p:sp>
        <p:nvSpPr>
          <p:cNvPr id="24" name="Text 22"/>
          <p:cNvSpPr txBox="1"/>
          <p:nvPr/>
        </p:nvSpPr>
        <p:spPr>
          <a:xfrm>
            <a:off x="5129784" y="4224528"/>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Gaze match against graph objects</a:t>
            </a:r>
            <a:endParaRPr lang="en-US" sz="1800" dirty="0"/>
          </a:p>
          <a:p>
            <a:pPr indent="0" marL="0">
              <a:buNone/>
            </a:pPr>
            <a:r>
              <a:rPr lang="en-US" sz="1050" dirty="0">
                <a:solidFill>
                  <a:srgbClr val="4B5363"/>
                </a:solidFill>
                <a:latin typeface="Calibri" pitchFamily="34" charset="0"/>
                <a:ea typeface="Calibri" pitchFamily="34" charset="-122"/>
                <a:cs typeface="Calibri" pitchFamily="34" charset="-120"/>
              </a:rPr>
              <a:t>Planned</a:t>
            </a:r>
            <a:endParaRPr lang="en-US" sz="1800" dirty="0"/>
          </a:p>
        </p:txBody>
      </p:sp>
      <p:sp>
        <p:nvSpPr>
          <p:cNvPr id="25" name="Shape 23"/>
          <p:cNvSpPr/>
          <p:nvPr/>
        </p:nvSpPr>
        <p:spPr>
          <a:xfrm>
            <a:off x="7370064" y="4224528"/>
            <a:ext cx="1600200" cy="658368"/>
          </a:xfrm>
          <a:prstGeom prst="rect">
            <a:avLst/>
          </a:prstGeom>
          <a:solidFill>
            <a:srgbClr val="FFFFFF"/>
          </a:solidFill>
          <a:ln w="19050">
            <a:solidFill>
              <a:srgbClr val="8A93A3"/>
            </a:solidFill>
            <a:prstDash val="solid"/>
          </a:ln>
        </p:spPr>
      </p:sp>
      <p:sp>
        <p:nvSpPr>
          <p:cNvPr id="26" name="Text 24"/>
          <p:cNvSpPr txBox="1"/>
          <p:nvPr/>
        </p:nvSpPr>
        <p:spPr>
          <a:xfrm>
            <a:off x="7434072" y="4224528"/>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Drive to the object, hand over to the arm</a:t>
            </a:r>
            <a:endParaRPr lang="en-US" sz="1800" dirty="0"/>
          </a:p>
          <a:p>
            <a:pPr indent="0" marL="0">
              <a:buNone/>
            </a:pPr>
            <a:r>
              <a:rPr lang="en-US" sz="1050" dirty="0">
                <a:solidFill>
                  <a:srgbClr val="4B5363"/>
                </a:solidFill>
                <a:latin typeface="Calibri" pitchFamily="34" charset="0"/>
                <a:ea typeface="Calibri" pitchFamily="34" charset="-122"/>
                <a:cs typeface="Calibri" pitchFamily="34" charset="-120"/>
              </a:rPr>
              <a:t>Planned</a:t>
            </a:r>
            <a:endParaRPr lang="en-US" sz="1800" dirty="0"/>
          </a:p>
        </p:txBody>
      </p:sp>
      <p:sp>
        <p:nvSpPr>
          <p:cNvPr id="27" name="Shape 25"/>
          <p:cNvSpPr/>
          <p:nvPr/>
        </p:nvSpPr>
        <p:spPr>
          <a:xfrm>
            <a:off x="7370064" y="3255264"/>
            <a:ext cx="1600200" cy="658368"/>
          </a:xfrm>
          <a:prstGeom prst="rect">
            <a:avLst/>
          </a:prstGeom>
          <a:solidFill>
            <a:srgbClr val="E3F1E8"/>
          </a:solidFill>
          <a:ln w="19050">
            <a:solidFill>
              <a:srgbClr val="2E7D4F"/>
            </a:solidFill>
            <a:prstDash val="solid"/>
          </a:ln>
        </p:spPr>
      </p:sp>
      <p:sp>
        <p:nvSpPr>
          <p:cNvPr id="28" name="Text 26"/>
          <p:cNvSpPr txBox="1"/>
          <p:nvPr/>
        </p:nvSpPr>
        <p:spPr>
          <a:xfrm>
            <a:off x="7434072" y="3255264"/>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Wrist camera confirms the object</a:t>
            </a:r>
            <a:endParaRPr lang="en-US" sz="1800" dirty="0"/>
          </a:p>
          <a:p>
            <a:pPr indent="0" marL="0">
              <a:buNone/>
            </a:pPr>
            <a:r>
              <a:rPr lang="en-US" sz="1050" dirty="0">
                <a:solidFill>
                  <a:srgbClr val="1F5C39"/>
                </a:solidFill>
                <a:latin typeface="Calibri" pitchFamily="34" charset="0"/>
                <a:ea typeface="Calibri" pitchFamily="34" charset="-122"/>
                <a:cs typeface="Calibri" pitchFamily="34" charset="-120"/>
              </a:rPr>
              <a:t>Tested on replay</a:t>
            </a:r>
            <a:endParaRPr lang="en-US" sz="1800" dirty="0"/>
          </a:p>
        </p:txBody>
      </p:sp>
      <p:sp>
        <p:nvSpPr>
          <p:cNvPr id="29" name="Shape 27"/>
          <p:cNvSpPr/>
          <p:nvPr/>
        </p:nvSpPr>
        <p:spPr>
          <a:xfrm>
            <a:off x="9674352" y="3255264"/>
            <a:ext cx="1600200" cy="658368"/>
          </a:xfrm>
          <a:prstGeom prst="rect">
            <a:avLst/>
          </a:prstGeom>
          <a:solidFill>
            <a:srgbClr val="E3F1E8"/>
          </a:solidFill>
          <a:ln w="19050">
            <a:solidFill>
              <a:srgbClr val="2E7D4F"/>
            </a:solidFill>
            <a:prstDash val="solid"/>
          </a:ln>
        </p:spPr>
      </p:sp>
      <p:sp>
        <p:nvSpPr>
          <p:cNvPr id="30" name="Text 28"/>
          <p:cNvSpPr txBox="1"/>
          <p:nvPr/>
        </p:nvSpPr>
        <p:spPr>
          <a:xfrm>
            <a:off x="9738360" y="3255264"/>
            <a:ext cx="1472184" cy="658368"/>
          </a:xfrm>
          <a:prstGeom prst="rect">
            <a:avLst/>
          </a:prstGeom>
          <a:noFill/>
          <a:ln/>
        </p:spPr>
        <p:txBody>
          <a:bodyPr wrap="square" lIns="0" tIns="0" rIns="0" bIns="0" rtlCol="0" anchor="ctr"/>
          <a:lstStyle/>
          <a:p>
            <a:pPr indent="0" marL="0">
              <a:buNone/>
            </a:pPr>
            <a:r>
              <a:rPr lang="en-US" sz="1150" b="1" dirty="0">
                <a:solidFill>
                  <a:srgbClr val="1B2333"/>
                </a:solidFill>
                <a:latin typeface="Calibri" pitchFamily="34" charset="0"/>
                <a:ea typeface="Calibri" pitchFamily="34" charset="-122"/>
                <a:cs typeface="Calibri" pitchFamily="34" charset="-120"/>
              </a:rPr>
              <a:t>Grasp on the real arm</a:t>
            </a:r>
            <a:endParaRPr lang="en-US" sz="1800" dirty="0"/>
          </a:p>
          <a:p>
            <a:pPr indent="0" marL="0">
              <a:buNone/>
            </a:pPr>
            <a:r>
              <a:rPr lang="en-US" sz="1050" dirty="0">
                <a:solidFill>
                  <a:srgbClr val="1F5C39"/>
                </a:solidFill>
                <a:latin typeface="Calibri" pitchFamily="34" charset="0"/>
                <a:ea typeface="Calibri" pitchFamily="34" charset="-122"/>
                <a:cs typeface="Calibri" pitchFamily="34" charset="-120"/>
              </a:rPr>
              <a:t>Tested on the real arm</a:t>
            </a:r>
            <a:endParaRPr lang="en-US" sz="1800" dirty="0"/>
          </a:p>
        </p:txBody>
      </p:sp>
      <p:sp>
        <p:nvSpPr>
          <p:cNvPr id="31" name="Shape 29"/>
          <p:cNvSpPr/>
          <p:nvPr/>
        </p:nvSpPr>
        <p:spPr>
          <a:xfrm>
            <a:off x="2057400" y="3383280"/>
            <a:ext cx="182880" cy="0"/>
          </a:xfrm>
          <a:prstGeom prst="line">
            <a:avLst/>
          </a:prstGeom>
          <a:noFill/>
          <a:ln w="22225">
            <a:solidFill>
              <a:srgbClr val="1B2333"/>
            </a:solidFill>
            <a:prstDash val="solid"/>
          </a:ln>
        </p:spPr>
      </p:sp>
      <p:sp>
        <p:nvSpPr>
          <p:cNvPr id="32" name="Shape 30"/>
          <p:cNvSpPr/>
          <p:nvPr/>
        </p:nvSpPr>
        <p:spPr>
          <a:xfrm flipV="1">
            <a:off x="2240280" y="1371600"/>
            <a:ext cx="0" cy="2011680"/>
          </a:xfrm>
          <a:prstGeom prst="line">
            <a:avLst/>
          </a:prstGeom>
          <a:noFill/>
          <a:ln w="22225">
            <a:solidFill>
              <a:srgbClr val="1B2333"/>
            </a:solidFill>
            <a:prstDash val="solid"/>
          </a:ln>
        </p:spPr>
      </p:sp>
      <p:sp>
        <p:nvSpPr>
          <p:cNvPr id="33" name="Shape 31"/>
          <p:cNvSpPr/>
          <p:nvPr/>
        </p:nvSpPr>
        <p:spPr>
          <a:xfrm>
            <a:off x="2240280" y="1371600"/>
            <a:ext cx="9281160" cy="0"/>
          </a:xfrm>
          <a:prstGeom prst="line">
            <a:avLst/>
          </a:prstGeom>
          <a:noFill/>
          <a:ln w="22225">
            <a:solidFill>
              <a:srgbClr val="1B2333"/>
            </a:solidFill>
            <a:prstDash val="solid"/>
          </a:ln>
        </p:spPr>
      </p:sp>
      <p:sp>
        <p:nvSpPr>
          <p:cNvPr id="34" name="Shape 32"/>
          <p:cNvSpPr/>
          <p:nvPr/>
        </p:nvSpPr>
        <p:spPr>
          <a:xfrm>
            <a:off x="11521440" y="1371600"/>
            <a:ext cx="0" cy="2066544"/>
          </a:xfrm>
          <a:prstGeom prst="line">
            <a:avLst/>
          </a:prstGeom>
          <a:noFill/>
          <a:ln w="22225">
            <a:solidFill>
              <a:srgbClr val="1B2333"/>
            </a:solidFill>
            <a:prstDash val="solid"/>
          </a:ln>
        </p:spPr>
      </p:sp>
      <p:sp>
        <p:nvSpPr>
          <p:cNvPr id="35" name="Shape 33"/>
          <p:cNvSpPr/>
          <p:nvPr/>
        </p:nvSpPr>
        <p:spPr>
          <a:xfrm flipH="1">
            <a:off x="11274552" y="3438144"/>
            <a:ext cx="246888" cy="0"/>
          </a:xfrm>
          <a:prstGeom prst="line">
            <a:avLst/>
          </a:prstGeom>
          <a:noFill/>
          <a:ln w="22225">
            <a:solidFill>
              <a:srgbClr val="1B2333"/>
            </a:solidFill>
            <a:prstDash val="solid"/>
            <a:tailEnd type="triangle"/>
          </a:ln>
        </p:spPr>
      </p:sp>
      <p:sp>
        <p:nvSpPr>
          <p:cNvPr id="36" name="Text 34"/>
          <p:cNvSpPr txBox="1"/>
          <p:nvPr/>
        </p:nvSpPr>
        <p:spPr>
          <a:xfrm>
            <a:off x="5120640" y="1152144"/>
            <a:ext cx="2926080" cy="219456"/>
          </a:xfrm>
          <a:prstGeom prst="rect">
            <a:avLst/>
          </a:prstGeom>
          <a:noFill/>
          <a:ln/>
        </p:spPr>
        <p:txBody>
          <a:bodyPr wrap="square" lIns="0" tIns="0" rIns="0" bIns="0" rtlCol="0" anchor="t"/>
          <a:lstStyle/>
          <a:p>
            <a:pPr algn="ctr" indent="0" marL="0">
              <a:buNone/>
            </a:pPr>
            <a:r>
              <a:rPr lang="en-US" sz="1000" dirty="0">
                <a:solidFill>
                  <a:srgbClr val="1B2333"/>
                </a:solidFill>
                <a:latin typeface="Calibri" pitchFamily="34" charset="0"/>
                <a:ea typeface="Calibri" pitchFamily="34" charset="-122"/>
                <a:cs typeface="Calibri" pitchFamily="34" charset="-120"/>
              </a:rPr>
              <a:t>1  recorded voice word (real arm)</a:t>
            </a:r>
            <a:endParaRPr lang="en-US" sz="1000" dirty="0"/>
          </a:p>
        </p:txBody>
      </p:sp>
      <p:sp>
        <p:nvSpPr>
          <p:cNvPr id="37" name="Shape 35"/>
          <p:cNvSpPr/>
          <p:nvPr/>
        </p:nvSpPr>
        <p:spPr>
          <a:xfrm>
            <a:off x="2057400" y="3621024"/>
            <a:ext cx="365760" cy="0"/>
          </a:xfrm>
          <a:prstGeom prst="line">
            <a:avLst/>
          </a:prstGeom>
          <a:noFill/>
          <a:ln w="22225">
            <a:solidFill>
              <a:srgbClr val="1B2333"/>
            </a:solidFill>
            <a:prstDash val="solid"/>
          </a:ln>
        </p:spPr>
      </p:sp>
      <p:sp>
        <p:nvSpPr>
          <p:cNvPr id="38" name="Shape 36"/>
          <p:cNvSpPr/>
          <p:nvPr/>
        </p:nvSpPr>
        <p:spPr>
          <a:xfrm flipV="1">
            <a:off x="2423160" y="1645920"/>
            <a:ext cx="0" cy="1975104"/>
          </a:xfrm>
          <a:prstGeom prst="line">
            <a:avLst/>
          </a:prstGeom>
          <a:noFill/>
          <a:ln w="22225">
            <a:solidFill>
              <a:srgbClr val="1B2333"/>
            </a:solidFill>
            <a:prstDash val="solid"/>
          </a:ln>
        </p:spPr>
      </p:sp>
      <p:sp>
        <p:nvSpPr>
          <p:cNvPr id="39" name="Shape 37"/>
          <p:cNvSpPr/>
          <p:nvPr/>
        </p:nvSpPr>
        <p:spPr>
          <a:xfrm>
            <a:off x="2423160" y="1645920"/>
            <a:ext cx="6903720" cy="0"/>
          </a:xfrm>
          <a:prstGeom prst="line">
            <a:avLst/>
          </a:prstGeom>
          <a:noFill/>
          <a:ln w="22225">
            <a:solidFill>
              <a:srgbClr val="1B2333"/>
            </a:solidFill>
            <a:prstDash val="solid"/>
          </a:ln>
        </p:spPr>
      </p:sp>
      <p:sp>
        <p:nvSpPr>
          <p:cNvPr id="40" name="Shape 38"/>
          <p:cNvSpPr/>
          <p:nvPr/>
        </p:nvSpPr>
        <p:spPr>
          <a:xfrm>
            <a:off x="9326880" y="1645920"/>
            <a:ext cx="0" cy="1755648"/>
          </a:xfrm>
          <a:prstGeom prst="line">
            <a:avLst/>
          </a:prstGeom>
          <a:noFill/>
          <a:ln w="22225">
            <a:solidFill>
              <a:srgbClr val="1B2333"/>
            </a:solidFill>
            <a:prstDash val="solid"/>
          </a:ln>
        </p:spPr>
      </p:sp>
      <p:sp>
        <p:nvSpPr>
          <p:cNvPr id="41" name="Shape 39"/>
          <p:cNvSpPr/>
          <p:nvPr/>
        </p:nvSpPr>
        <p:spPr>
          <a:xfrm flipH="1">
            <a:off x="8970264" y="3401568"/>
            <a:ext cx="356616" cy="0"/>
          </a:xfrm>
          <a:prstGeom prst="line">
            <a:avLst/>
          </a:prstGeom>
          <a:noFill/>
          <a:ln w="22225">
            <a:solidFill>
              <a:srgbClr val="1B2333"/>
            </a:solidFill>
            <a:prstDash val="solid"/>
            <a:tailEnd type="triangle"/>
          </a:ln>
        </p:spPr>
      </p:sp>
      <p:sp>
        <p:nvSpPr>
          <p:cNvPr id="42" name="Text 40"/>
          <p:cNvSpPr txBox="1"/>
          <p:nvPr/>
        </p:nvSpPr>
        <p:spPr>
          <a:xfrm>
            <a:off x="5120640" y="1426464"/>
            <a:ext cx="2926080" cy="219456"/>
          </a:xfrm>
          <a:prstGeom prst="rect">
            <a:avLst/>
          </a:prstGeom>
          <a:noFill/>
          <a:ln/>
        </p:spPr>
        <p:txBody>
          <a:bodyPr wrap="square" lIns="0" tIns="0" rIns="0" bIns="0" rtlCol="0" anchor="t"/>
          <a:lstStyle/>
          <a:p>
            <a:pPr algn="ctr" indent="0" marL="0">
              <a:buNone/>
            </a:pPr>
            <a:r>
              <a:rPr lang="en-US" sz="1000" dirty="0">
                <a:solidFill>
                  <a:srgbClr val="1B2333"/>
                </a:solidFill>
                <a:latin typeface="Calibri" pitchFamily="34" charset="0"/>
                <a:ea typeface="Calibri" pitchFamily="34" charset="-122"/>
                <a:cs typeface="Calibri" pitchFamily="34" charset="-120"/>
              </a:rPr>
              <a:t>2  gaze reference crop (replay)</a:t>
            </a:r>
            <a:endParaRPr lang="en-US" sz="1000" dirty="0"/>
          </a:p>
        </p:txBody>
      </p:sp>
      <p:sp>
        <p:nvSpPr>
          <p:cNvPr id="43" name="Shape 41"/>
          <p:cNvSpPr/>
          <p:nvPr/>
        </p:nvSpPr>
        <p:spPr>
          <a:xfrm>
            <a:off x="8970264" y="3758184"/>
            <a:ext cx="704088" cy="0"/>
          </a:xfrm>
          <a:prstGeom prst="line">
            <a:avLst/>
          </a:prstGeom>
          <a:noFill/>
          <a:ln w="22225">
            <a:solidFill>
              <a:srgbClr val="1B2333"/>
            </a:solidFill>
            <a:prstDash val="solid"/>
            <a:tailEnd type="triangle"/>
          </a:ln>
        </p:spPr>
      </p:sp>
      <p:sp>
        <p:nvSpPr>
          <p:cNvPr id="44" name="Text 42"/>
          <p:cNvSpPr txBox="1"/>
          <p:nvPr/>
        </p:nvSpPr>
        <p:spPr>
          <a:xfrm>
            <a:off x="8988552" y="3803904"/>
            <a:ext cx="676656" cy="457200"/>
          </a:xfrm>
          <a:prstGeom prst="rect">
            <a:avLst/>
          </a:prstGeom>
          <a:noFill/>
          <a:ln/>
        </p:spPr>
        <p:txBody>
          <a:bodyPr wrap="square" lIns="0" tIns="0" rIns="0" bIns="0" rtlCol="0" anchor="t"/>
          <a:lstStyle/>
          <a:p>
            <a:pPr algn="ctr" indent="0" marL="0">
              <a:buNone/>
            </a:pPr>
            <a:r>
              <a:rPr lang="en-US" sz="1000" dirty="0">
                <a:solidFill>
                  <a:srgbClr val="1B2333"/>
                </a:solidFill>
                <a:latin typeface="Calibri" pitchFamily="34" charset="0"/>
                <a:ea typeface="Calibri" pitchFamily="34" charset="-122"/>
                <a:cs typeface="Calibri" pitchFamily="34" charset="-120"/>
              </a:rPr>
              <a:t>3  target mask, 600 of 602</a:t>
            </a:r>
            <a:endParaRPr lang="en-US" sz="1000" dirty="0"/>
          </a:p>
        </p:txBody>
      </p:sp>
      <p:sp>
        <p:nvSpPr>
          <p:cNvPr id="45" name="Shape 43"/>
          <p:cNvSpPr/>
          <p:nvPr/>
        </p:nvSpPr>
        <p:spPr>
          <a:xfrm flipH="1">
            <a:off x="2606040" y="5522976"/>
            <a:ext cx="155448" cy="0"/>
          </a:xfrm>
          <a:prstGeom prst="line">
            <a:avLst/>
          </a:prstGeom>
          <a:noFill/>
          <a:ln w="22225">
            <a:solidFill>
              <a:srgbClr val="1B2333"/>
            </a:solidFill>
            <a:prstDash val="solid"/>
          </a:ln>
        </p:spPr>
      </p:sp>
      <p:sp>
        <p:nvSpPr>
          <p:cNvPr id="46" name="Shape 44"/>
          <p:cNvSpPr/>
          <p:nvPr/>
        </p:nvSpPr>
        <p:spPr>
          <a:xfrm flipV="1">
            <a:off x="2606040" y="3712464"/>
            <a:ext cx="0" cy="1810512"/>
          </a:xfrm>
          <a:prstGeom prst="line">
            <a:avLst/>
          </a:prstGeom>
          <a:noFill/>
          <a:ln w="22225">
            <a:solidFill>
              <a:srgbClr val="1B2333"/>
            </a:solidFill>
            <a:prstDash val="solid"/>
          </a:ln>
        </p:spPr>
      </p:sp>
      <p:sp>
        <p:nvSpPr>
          <p:cNvPr id="47" name="Shape 45"/>
          <p:cNvSpPr/>
          <p:nvPr/>
        </p:nvSpPr>
        <p:spPr>
          <a:xfrm>
            <a:off x="2606040" y="3712464"/>
            <a:ext cx="155448" cy="0"/>
          </a:xfrm>
          <a:prstGeom prst="line">
            <a:avLst/>
          </a:prstGeom>
          <a:noFill/>
          <a:ln w="22225">
            <a:solidFill>
              <a:srgbClr val="1B2333"/>
            </a:solidFill>
            <a:prstDash val="solid"/>
            <a:tailEnd type="triangle"/>
          </a:ln>
        </p:spPr>
      </p:sp>
      <p:sp>
        <p:nvSpPr>
          <p:cNvPr id="48" name="Text 46"/>
          <p:cNvSpPr txBox="1"/>
          <p:nvPr/>
        </p:nvSpPr>
        <p:spPr>
          <a:xfrm>
            <a:off x="1143000" y="4617720"/>
            <a:ext cx="1371600" cy="329184"/>
          </a:xfrm>
          <a:prstGeom prst="rect">
            <a:avLst/>
          </a:prstGeom>
          <a:noFill/>
          <a:ln/>
        </p:spPr>
        <p:txBody>
          <a:bodyPr wrap="square" lIns="0" tIns="0" rIns="0" bIns="0" rtlCol="0" anchor="t"/>
          <a:lstStyle/>
          <a:p>
            <a:pPr algn="r" indent="0" marL="0">
              <a:buNone/>
            </a:pPr>
            <a:r>
              <a:rPr lang="en-US" sz="1000" dirty="0">
                <a:solidFill>
                  <a:srgbClr val="1B2333"/>
                </a:solidFill>
                <a:latin typeface="Calibri" pitchFamily="34" charset="0"/>
                <a:ea typeface="Calibri" pitchFamily="34" charset="-122"/>
                <a:cs typeface="Calibri" pitchFamily="34" charset="-120"/>
              </a:rPr>
              <a:t>4  pose and 2D map, checked live</a:t>
            </a:r>
            <a:endParaRPr lang="en-US" sz="1000" dirty="0"/>
          </a:p>
        </p:txBody>
      </p:sp>
      <p:sp>
        <p:nvSpPr>
          <p:cNvPr id="49" name="Shape 47"/>
          <p:cNvSpPr/>
          <p:nvPr/>
        </p:nvSpPr>
        <p:spPr>
          <a:xfrm flipV="1">
            <a:off x="4114800" y="4882896"/>
            <a:ext cx="0" cy="310896"/>
          </a:xfrm>
          <a:prstGeom prst="line">
            <a:avLst/>
          </a:prstGeom>
          <a:noFill/>
          <a:ln w="22225">
            <a:solidFill>
              <a:srgbClr val="1B2333"/>
            </a:solidFill>
            <a:prstDash val="solid"/>
            <a:tailEnd type="triangle"/>
          </a:ln>
        </p:spPr>
      </p:sp>
      <p:sp>
        <p:nvSpPr>
          <p:cNvPr id="50" name="Text 48"/>
          <p:cNvSpPr txBox="1"/>
          <p:nvPr/>
        </p:nvSpPr>
        <p:spPr>
          <a:xfrm>
            <a:off x="2788920" y="4901184"/>
            <a:ext cx="1280160" cy="292608"/>
          </a:xfrm>
          <a:prstGeom prst="rect">
            <a:avLst/>
          </a:prstGeom>
          <a:noFill/>
          <a:ln/>
        </p:spPr>
        <p:txBody>
          <a:bodyPr wrap="square" lIns="0" tIns="0" rIns="0" bIns="0" rtlCol="0" anchor="t"/>
          <a:lstStyle/>
          <a:p>
            <a:pPr algn="r" indent="0" marL="0">
              <a:buNone/>
            </a:pPr>
            <a:r>
              <a:rPr lang="en-US" sz="1000" dirty="0">
                <a:solidFill>
                  <a:srgbClr val="1B2333"/>
                </a:solidFill>
                <a:latin typeface="Calibri" pitchFamily="34" charset="0"/>
                <a:ea typeface="Calibri" pitchFamily="34" charset="-122"/>
                <a:cs typeface="Calibri" pitchFamily="34" charset="-120"/>
              </a:rPr>
              <a:t>5  recorded drive, offline</a:t>
            </a:r>
            <a:endParaRPr lang="en-US" sz="1000" dirty="0"/>
          </a:p>
        </p:txBody>
      </p:sp>
      <p:sp>
        <p:nvSpPr>
          <p:cNvPr id="51" name="Shape 49"/>
          <p:cNvSpPr/>
          <p:nvPr/>
        </p:nvSpPr>
        <p:spPr>
          <a:xfrm>
            <a:off x="4114800" y="3913632"/>
            <a:ext cx="0" cy="310896"/>
          </a:xfrm>
          <a:prstGeom prst="line">
            <a:avLst/>
          </a:prstGeom>
          <a:noFill/>
          <a:ln w="22225">
            <a:solidFill>
              <a:srgbClr val="B3392F"/>
            </a:solidFill>
            <a:prstDash val="dash"/>
            <a:tailEnd type="triangle"/>
          </a:ln>
        </p:spPr>
      </p:sp>
      <p:sp>
        <p:nvSpPr>
          <p:cNvPr id="52" name="Text 50"/>
          <p:cNvSpPr txBox="1"/>
          <p:nvPr/>
        </p:nvSpPr>
        <p:spPr>
          <a:xfrm>
            <a:off x="2743200" y="3913632"/>
            <a:ext cx="1325880" cy="310896"/>
          </a:xfrm>
          <a:prstGeom prst="rect">
            <a:avLst/>
          </a:prstGeom>
          <a:noFill/>
          <a:ln/>
        </p:spPr>
        <p:txBody>
          <a:bodyPr wrap="square" lIns="0" tIns="0" rIns="0" bIns="0" rtlCol="0" anchor="t"/>
          <a:lstStyle/>
          <a:p>
            <a:pPr algn="r" indent="0" marL="0">
              <a:buNone/>
            </a:pPr>
            <a:r>
              <a:rPr lang="en-US" sz="950" dirty="0">
                <a:solidFill>
                  <a:srgbClr val="B3392F"/>
                </a:solidFill>
                <a:latin typeface="Calibri" pitchFamily="34" charset="0"/>
                <a:ea typeface="Calibri" pitchFamily="34" charset="-122"/>
                <a:cs typeface="Calibri" pitchFamily="34" charset="-120"/>
              </a:rPr>
              <a:t>6  explore, graph grows live (T3.6, T7.5, T7.2)</a:t>
            </a:r>
            <a:endParaRPr lang="en-US" sz="950" dirty="0"/>
          </a:p>
        </p:txBody>
      </p:sp>
      <p:sp>
        <p:nvSpPr>
          <p:cNvPr id="53" name="Shape 51"/>
          <p:cNvSpPr/>
          <p:nvPr/>
        </p:nvSpPr>
        <p:spPr>
          <a:xfrm flipV="1">
            <a:off x="4114800" y="2944368"/>
            <a:ext cx="0" cy="310896"/>
          </a:xfrm>
          <a:prstGeom prst="line">
            <a:avLst/>
          </a:prstGeom>
          <a:noFill/>
          <a:ln w="22225">
            <a:solidFill>
              <a:srgbClr val="B3392F"/>
            </a:solidFill>
            <a:prstDash val="dash"/>
            <a:tailEnd type="triangle"/>
          </a:ln>
        </p:spPr>
      </p:sp>
      <p:sp>
        <p:nvSpPr>
          <p:cNvPr id="54" name="Text 52"/>
          <p:cNvSpPr txBox="1"/>
          <p:nvPr/>
        </p:nvSpPr>
        <p:spPr>
          <a:xfrm>
            <a:off x="2788920" y="2962656"/>
            <a:ext cx="1280160" cy="292608"/>
          </a:xfrm>
          <a:prstGeom prst="rect">
            <a:avLst/>
          </a:prstGeom>
          <a:noFill/>
          <a:ln/>
        </p:spPr>
        <p:txBody>
          <a:bodyPr wrap="square" lIns="0" tIns="0" rIns="0" bIns="0" rtlCol="0" anchor="t"/>
          <a:lstStyle/>
          <a:p>
            <a:pPr algn="r" indent="0" marL="0">
              <a:buNone/>
            </a:pPr>
            <a:r>
              <a:rPr lang="en-US" sz="1000" dirty="0">
                <a:solidFill>
                  <a:srgbClr val="B3392F"/>
                </a:solidFill>
                <a:latin typeface="Calibri" pitchFamily="34" charset="0"/>
                <a:ea typeface="Calibri" pitchFamily="34" charset="-122"/>
                <a:cs typeface="Calibri" pitchFamily="34" charset="-120"/>
              </a:rPr>
              <a:t>7  find the user (T7.6)</a:t>
            </a:r>
            <a:endParaRPr lang="en-US" sz="1000" dirty="0"/>
          </a:p>
        </p:txBody>
      </p:sp>
      <p:sp>
        <p:nvSpPr>
          <p:cNvPr id="55" name="Shape 53"/>
          <p:cNvSpPr/>
          <p:nvPr/>
        </p:nvSpPr>
        <p:spPr>
          <a:xfrm>
            <a:off x="1005840" y="3913632"/>
            <a:ext cx="0" cy="2057400"/>
          </a:xfrm>
          <a:prstGeom prst="line">
            <a:avLst/>
          </a:prstGeom>
          <a:noFill/>
          <a:ln w="22225">
            <a:solidFill>
              <a:srgbClr val="B3392F"/>
            </a:solidFill>
            <a:prstDash val="dash"/>
          </a:ln>
        </p:spPr>
      </p:sp>
      <p:sp>
        <p:nvSpPr>
          <p:cNvPr id="56" name="Shape 54"/>
          <p:cNvSpPr/>
          <p:nvPr/>
        </p:nvSpPr>
        <p:spPr>
          <a:xfrm>
            <a:off x="1005840" y="5971032"/>
            <a:ext cx="4846320" cy="0"/>
          </a:xfrm>
          <a:prstGeom prst="line">
            <a:avLst/>
          </a:prstGeom>
          <a:noFill/>
          <a:ln w="22225">
            <a:solidFill>
              <a:srgbClr val="B3392F"/>
            </a:solidFill>
            <a:prstDash val="dash"/>
          </a:ln>
        </p:spPr>
      </p:sp>
      <p:sp>
        <p:nvSpPr>
          <p:cNvPr id="57" name="Shape 55"/>
          <p:cNvSpPr/>
          <p:nvPr/>
        </p:nvSpPr>
        <p:spPr>
          <a:xfrm flipV="1">
            <a:off x="5852160" y="4882896"/>
            <a:ext cx="0" cy="1088136"/>
          </a:xfrm>
          <a:prstGeom prst="line">
            <a:avLst/>
          </a:prstGeom>
          <a:noFill/>
          <a:ln w="22225">
            <a:solidFill>
              <a:srgbClr val="B3392F"/>
            </a:solidFill>
            <a:prstDash val="dash"/>
            <a:tailEnd type="triangle"/>
          </a:ln>
        </p:spPr>
      </p:sp>
      <p:sp>
        <p:nvSpPr>
          <p:cNvPr id="58" name="Text 56"/>
          <p:cNvSpPr txBox="1"/>
          <p:nvPr/>
        </p:nvSpPr>
        <p:spPr>
          <a:xfrm>
            <a:off x="1097280" y="5715000"/>
            <a:ext cx="1417320" cy="237744"/>
          </a:xfrm>
          <a:prstGeom prst="rect">
            <a:avLst/>
          </a:prstGeom>
          <a:noFill/>
          <a:ln/>
        </p:spPr>
        <p:txBody>
          <a:bodyPr wrap="square" lIns="0" tIns="0" rIns="0" bIns="0" rtlCol="0" anchor="t"/>
          <a:lstStyle/>
          <a:p>
            <a:pPr indent="0" marL="0">
              <a:buNone/>
            </a:pPr>
            <a:r>
              <a:rPr lang="en-US" sz="1000" dirty="0">
                <a:solidFill>
                  <a:srgbClr val="B3392F"/>
                </a:solidFill>
                <a:latin typeface="Calibri" pitchFamily="34" charset="0"/>
                <a:ea typeface="Calibri" pitchFamily="34" charset="-122"/>
                <a:cs typeface="Calibri" pitchFamily="34" charset="-120"/>
              </a:rPr>
              <a:t>8  gaze target (T8.2)</a:t>
            </a:r>
            <a:endParaRPr lang="en-US" sz="1000" dirty="0"/>
          </a:p>
        </p:txBody>
      </p:sp>
      <p:sp>
        <p:nvSpPr>
          <p:cNvPr id="59" name="Shape 57"/>
          <p:cNvSpPr/>
          <p:nvPr/>
        </p:nvSpPr>
        <p:spPr>
          <a:xfrm>
            <a:off x="4361688" y="4553712"/>
            <a:ext cx="704088" cy="0"/>
          </a:xfrm>
          <a:prstGeom prst="line">
            <a:avLst/>
          </a:prstGeom>
          <a:noFill/>
          <a:ln w="22225">
            <a:solidFill>
              <a:srgbClr val="B3392F"/>
            </a:solidFill>
            <a:prstDash val="dash"/>
            <a:tailEnd type="triangle"/>
          </a:ln>
        </p:spPr>
      </p:sp>
      <p:sp>
        <p:nvSpPr>
          <p:cNvPr id="60" name="Text 58"/>
          <p:cNvSpPr txBox="1"/>
          <p:nvPr/>
        </p:nvSpPr>
        <p:spPr>
          <a:xfrm>
            <a:off x="4379976" y="4608576"/>
            <a:ext cx="676656" cy="457200"/>
          </a:xfrm>
          <a:prstGeom prst="rect">
            <a:avLst/>
          </a:prstGeom>
          <a:noFill/>
          <a:ln/>
        </p:spPr>
        <p:txBody>
          <a:bodyPr wrap="square" lIns="0" tIns="0" rIns="0" bIns="0" rtlCol="0" anchor="t"/>
          <a:lstStyle/>
          <a:p>
            <a:pPr algn="ctr" indent="0" marL="0">
              <a:buNone/>
            </a:pPr>
            <a:r>
              <a:rPr lang="en-US" sz="1000" dirty="0">
                <a:solidFill>
                  <a:srgbClr val="B3392F"/>
                </a:solidFill>
                <a:latin typeface="Calibri" pitchFamily="34" charset="0"/>
                <a:ea typeface="Calibri" pitchFamily="34" charset="-122"/>
                <a:cs typeface="Calibri" pitchFamily="34" charset="-120"/>
              </a:rPr>
              <a:t>9  each new object (T8.2)</a:t>
            </a:r>
            <a:endParaRPr lang="en-US" sz="1000" dirty="0"/>
          </a:p>
        </p:txBody>
      </p:sp>
      <p:sp>
        <p:nvSpPr>
          <p:cNvPr id="61" name="Shape 59"/>
          <p:cNvSpPr/>
          <p:nvPr/>
        </p:nvSpPr>
        <p:spPr>
          <a:xfrm>
            <a:off x="6665976" y="4553712"/>
            <a:ext cx="704088" cy="0"/>
          </a:xfrm>
          <a:prstGeom prst="line">
            <a:avLst/>
          </a:prstGeom>
          <a:noFill/>
          <a:ln w="22225">
            <a:solidFill>
              <a:srgbClr val="B3392F"/>
            </a:solidFill>
            <a:prstDash val="dash"/>
            <a:tailEnd type="triangle"/>
          </a:ln>
        </p:spPr>
      </p:sp>
      <p:sp>
        <p:nvSpPr>
          <p:cNvPr id="62" name="Text 60"/>
          <p:cNvSpPr txBox="1"/>
          <p:nvPr/>
        </p:nvSpPr>
        <p:spPr>
          <a:xfrm>
            <a:off x="6684264" y="4608576"/>
            <a:ext cx="676656" cy="621792"/>
          </a:xfrm>
          <a:prstGeom prst="rect">
            <a:avLst/>
          </a:prstGeom>
          <a:noFill/>
          <a:ln/>
        </p:spPr>
        <p:txBody>
          <a:bodyPr wrap="square" lIns="0" tIns="0" rIns="0" bIns="0" rtlCol="0" anchor="t"/>
          <a:lstStyle/>
          <a:p>
            <a:pPr algn="ctr" indent="0" marL="0">
              <a:buNone/>
            </a:pPr>
            <a:r>
              <a:rPr lang="en-US" sz="1000" dirty="0">
                <a:solidFill>
                  <a:srgbClr val="B3392F"/>
                </a:solidFill>
                <a:latin typeface="Calibri" pitchFamily="34" charset="0"/>
                <a:ea typeface="Calibri" pitchFamily="34" charset="-122"/>
                <a:cs typeface="Calibri" pitchFamily="34" charset="-120"/>
              </a:rPr>
              <a:t>10  match becomes the goal (T7.1, T6.8)</a:t>
            </a:r>
            <a:endParaRPr lang="en-US" sz="1000" dirty="0"/>
          </a:p>
        </p:txBody>
      </p:sp>
      <p:sp>
        <p:nvSpPr>
          <p:cNvPr id="63" name="Shape 61"/>
          <p:cNvSpPr/>
          <p:nvPr/>
        </p:nvSpPr>
        <p:spPr>
          <a:xfrm flipV="1">
            <a:off x="8641080" y="3913632"/>
            <a:ext cx="0" cy="310896"/>
          </a:xfrm>
          <a:prstGeom prst="line">
            <a:avLst/>
          </a:prstGeom>
          <a:noFill/>
          <a:ln w="22225">
            <a:solidFill>
              <a:srgbClr val="B3392F"/>
            </a:solidFill>
            <a:prstDash val="dash"/>
            <a:tailEnd type="triangle"/>
          </a:ln>
        </p:spPr>
      </p:sp>
      <p:sp>
        <p:nvSpPr>
          <p:cNvPr id="64" name="Text 62"/>
          <p:cNvSpPr txBox="1"/>
          <p:nvPr/>
        </p:nvSpPr>
        <p:spPr>
          <a:xfrm>
            <a:off x="7388352" y="3913632"/>
            <a:ext cx="1207008" cy="310896"/>
          </a:xfrm>
          <a:prstGeom prst="rect">
            <a:avLst/>
          </a:prstGeom>
          <a:noFill/>
          <a:ln/>
        </p:spPr>
        <p:txBody>
          <a:bodyPr wrap="square" lIns="0" tIns="0" rIns="0" bIns="0" rtlCol="0" anchor="t"/>
          <a:lstStyle/>
          <a:p>
            <a:pPr algn="r" indent="0" marL="0">
              <a:buNone/>
            </a:pPr>
            <a:r>
              <a:rPr lang="en-US" sz="1000" dirty="0">
                <a:solidFill>
                  <a:srgbClr val="B3392F"/>
                </a:solidFill>
                <a:latin typeface="Calibri" pitchFamily="34" charset="0"/>
                <a:ea typeface="Calibri" pitchFamily="34" charset="-122"/>
                <a:cs typeface="Calibri" pitchFamily="34" charset="-120"/>
              </a:rPr>
              <a:t>11  arrive, hand over (T3.7)</a:t>
            </a:r>
            <a:endParaRPr lang="en-US" sz="1000" dirty="0"/>
          </a:p>
        </p:txBody>
      </p:sp>
      <p:sp>
        <p:nvSpPr>
          <p:cNvPr id="65" name="Shape 63"/>
          <p:cNvSpPr/>
          <p:nvPr/>
        </p:nvSpPr>
        <p:spPr>
          <a:xfrm flipH="1">
            <a:off x="4361688" y="3639312"/>
            <a:ext cx="3008376" cy="0"/>
          </a:xfrm>
          <a:prstGeom prst="line">
            <a:avLst/>
          </a:prstGeom>
          <a:noFill/>
          <a:ln w="22225">
            <a:solidFill>
              <a:srgbClr val="B3392F"/>
            </a:solidFill>
            <a:prstDash val="dash"/>
            <a:tailEnd type="triangle"/>
          </a:ln>
        </p:spPr>
      </p:sp>
      <p:sp>
        <p:nvSpPr>
          <p:cNvPr id="66" name="Text 64"/>
          <p:cNvSpPr txBox="1"/>
          <p:nvPr/>
        </p:nvSpPr>
        <p:spPr>
          <a:xfrm>
            <a:off x="4846320" y="3383280"/>
            <a:ext cx="2377440" cy="219456"/>
          </a:xfrm>
          <a:prstGeom prst="rect">
            <a:avLst/>
          </a:prstGeom>
          <a:noFill/>
          <a:ln/>
        </p:spPr>
        <p:txBody>
          <a:bodyPr wrap="square" lIns="0" tIns="0" rIns="0" bIns="0" rtlCol="0" anchor="t"/>
          <a:lstStyle/>
          <a:p>
            <a:pPr algn="ctr" indent="0" marL="0">
              <a:buNone/>
            </a:pPr>
            <a:r>
              <a:rPr lang="en-US" sz="1000" dirty="0">
                <a:solidFill>
                  <a:srgbClr val="B3392F"/>
                </a:solidFill>
                <a:latin typeface="Calibri" pitchFamily="34" charset="0"/>
                <a:ea typeface="Calibri" pitchFamily="34" charset="-122"/>
                <a:cs typeface="Calibri" pitchFamily="34" charset="-120"/>
              </a:rPr>
              <a:t>12  reject: explore again (no task yet)</a:t>
            </a:r>
            <a:endParaRPr lang="en-US" sz="1000" dirty="0"/>
          </a:p>
        </p:txBody>
      </p:sp>
      <p:sp>
        <p:nvSpPr>
          <p:cNvPr id="67" name="Text 65"/>
          <p:cNvSpPr txBox="1"/>
          <p:nvPr/>
        </p:nvSpPr>
        <p:spPr>
          <a:xfrm>
            <a:off x="5120640" y="2331720"/>
            <a:ext cx="914400" cy="219456"/>
          </a:xfrm>
          <a:prstGeom prst="rect">
            <a:avLst/>
          </a:prstGeom>
          <a:noFill/>
          <a:ln/>
        </p:spPr>
        <p:txBody>
          <a:bodyPr wrap="square" lIns="0" tIns="0" rIns="0" bIns="0" rtlCol="0" anchor="t"/>
          <a:lstStyle/>
          <a:p>
            <a:pPr indent="0" marL="0">
              <a:buNone/>
            </a:pPr>
            <a:r>
              <a:rPr lang="en-US" sz="1100" b="1" dirty="0">
                <a:solidFill>
                  <a:srgbClr val="5B6577"/>
                </a:solidFill>
                <a:latin typeface="Calibri" pitchFamily="34" charset="0"/>
                <a:ea typeface="Calibri" pitchFamily="34" charset="-122"/>
                <a:cs typeface="Calibri" pitchFamily="34" charset="-120"/>
              </a:rPr>
              <a:t>Key</a:t>
            </a:r>
            <a:endParaRPr lang="en-US" sz="1100" dirty="0"/>
          </a:p>
        </p:txBody>
      </p:sp>
      <p:sp>
        <p:nvSpPr>
          <p:cNvPr id="68" name="Shape 66"/>
          <p:cNvSpPr/>
          <p:nvPr/>
        </p:nvSpPr>
        <p:spPr>
          <a:xfrm>
            <a:off x="5120640" y="2615184"/>
            <a:ext cx="182880" cy="155448"/>
          </a:xfrm>
          <a:prstGeom prst="rect">
            <a:avLst/>
          </a:prstGeom>
          <a:solidFill>
            <a:srgbClr val="E3F1E8"/>
          </a:solidFill>
          <a:ln w="12700">
            <a:solidFill>
              <a:srgbClr val="2E7D4F"/>
            </a:solidFill>
            <a:prstDash val="solid"/>
          </a:ln>
        </p:spPr>
      </p:sp>
      <p:sp>
        <p:nvSpPr>
          <p:cNvPr id="69" name="Text 67"/>
          <p:cNvSpPr txBox="1"/>
          <p:nvPr/>
        </p:nvSpPr>
        <p:spPr>
          <a:xfrm>
            <a:off x="5358384" y="2578608"/>
            <a:ext cx="559064" cy="228600"/>
          </a:xfrm>
          <a:prstGeom prst="rect">
            <a:avLst/>
          </a:prstGeom>
          <a:noFill/>
          <a:ln/>
        </p:spPr>
        <p:txBody>
          <a:bodyPr wrap="square" lIns="0" tIns="0" rIns="0" bIns="0" rtlCol="0" anchor="ctr"/>
          <a:lstStyle/>
          <a:p>
            <a:pPr indent="0" marL="0">
              <a:buNone/>
            </a:pPr>
            <a:r>
              <a:rPr lang="en-US" sz="1050" dirty="0">
                <a:solidFill>
                  <a:srgbClr val="5B6577"/>
                </a:solidFill>
                <a:latin typeface="Calibri" pitchFamily="34" charset="0"/>
                <a:ea typeface="Calibri" pitchFamily="34" charset="-122"/>
                <a:cs typeface="Calibri" pitchFamily="34" charset="-120"/>
              </a:rPr>
              <a:t>Tested</a:t>
            </a:r>
            <a:endParaRPr lang="en-US" sz="1050" dirty="0"/>
          </a:p>
        </p:txBody>
      </p:sp>
      <p:sp>
        <p:nvSpPr>
          <p:cNvPr id="70" name="Shape 68"/>
          <p:cNvSpPr/>
          <p:nvPr/>
        </p:nvSpPr>
        <p:spPr>
          <a:xfrm>
            <a:off x="6054608" y="2615184"/>
            <a:ext cx="182880" cy="155448"/>
          </a:xfrm>
          <a:prstGeom prst="rect">
            <a:avLst/>
          </a:prstGeom>
          <a:solidFill>
            <a:srgbClr val="FBF1DC"/>
          </a:solidFill>
          <a:ln w="12700">
            <a:solidFill>
              <a:srgbClr val="B7791F"/>
            </a:solidFill>
            <a:prstDash val="solid"/>
          </a:ln>
        </p:spPr>
      </p:sp>
      <p:sp>
        <p:nvSpPr>
          <p:cNvPr id="71" name="Text 69"/>
          <p:cNvSpPr txBox="1"/>
          <p:nvPr/>
        </p:nvSpPr>
        <p:spPr>
          <a:xfrm>
            <a:off x="6292352" y="2578608"/>
            <a:ext cx="1607515" cy="228600"/>
          </a:xfrm>
          <a:prstGeom prst="rect">
            <a:avLst/>
          </a:prstGeom>
          <a:noFill/>
          <a:ln/>
        </p:spPr>
        <p:txBody>
          <a:bodyPr wrap="square" lIns="0" tIns="0" rIns="0" bIns="0" rtlCol="0" anchor="ctr"/>
          <a:lstStyle/>
          <a:p>
            <a:pPr indent="0" marL="0">
              <a:buNone/>
            </a:pPr>
            <a:r>
              <a:rPr lang="en-US" sz="1050" dirty="0">
                <a:solidFill>
                  <a:srgbClr val="5B6577"/>
                </a:solidFill>
                <a:latin typeface="Calibri" pitchFamily="34" charset="0"/>
                <a:ea typeface="Calibri" pitchFamily="34" charset="-122"/>
                <a:cs typeface="Calibri" pitchFamily="34" charset="-120"/>
              </a:rPr>
              <a:t>Built, not validated</a:t>
            </a:r>
            <a:endParaRPr lang="en-US" sz="1050" dirty="0"/>
          </a:p>
        </p:txBody>
      </p:sp>
      <p:sp>
        <p:nvSpPr>
          <p:cNvPr id="72" name="Shape 70"/>
          <p:cNvSpPr/>
          <p:nvPr/>
        </p:nvSpPr>
        <p:spPr>
          <a:xfrm>
            <a:off x="8037027" y="2615184"/>
            <a:ext cx="182880" cy="155448"/>
          </a:xfrm>
          <a:prstGeom prst="rect">
            <a:avLst/>
          </a:prstGeom>
          <a:solidFill>
            <a:srgbClr val="E2ECF7"/>
          </a:solidFill>
          <a:ln w="12700">
            <a:solidFill>
              <a:srgbClr val="2B6CB0"/>
            </a:solidFill>
            <a:prstDash val="solid"/>
          </a:ln>
        </p:spPr>
      </p:sp>
      <p:sp>
        <p:nvSpPr>
          <p:cNvPr id="73" name="Text 71"/>
          <p:cNvSpPr txBox="1"/>
          <p:nvPr/>
        </p:nvSpPr>
        <p:spPr>
          <a:xfrm>
            <a:off x="8274771" y="2578608"/>
            <a:ext cx="1757294" cy="228600"/>
          </a:xfrm>
          <a:prstGeom prst="rect">
            <a:avLst/>
          </a:prstGeom>
          <a:noFill/>
          <a:ln/>
        </p:spPr>
        <p:txBody>
          <a:bodyPr wrap="square" lIns="0" tIns="0" rIns="0" bIns="0" rtlCol="0" anchor="ctr"/>
          <a:lstStyle/>
          <a:p>
            <a:pPr indent="0" marL="0">
              <a:buNone/>
            </a:pPr>
            <a:r>
              <a:rPr lang="en-US" sz="1050" dirty="0">
                <a:solidFill>
                  <a:srgbClr val="5B6577"/>
                </a:solidFill>
                <a:latin typeface="Calibri" pitchFamily="34" charset="0"/>
                <a:ea typeface="Calibri" pitchFamily="34" charset="-122"/>
                <a:cs typeface="Calibri" pitchFamily="34" charset="-120"/>
              </a:rPr>
              <a:t>Isolated (works alone)</a:t>
            </a:r>
            <a:endParaRPr lang="en-US" sz="1050" dirty="0"/>
          </a:p>
        </p:txBody>
      </p:sp>
      <p:sp>
        <p:nvSpPr>
          <p:cNvPr id="74" name="Shape 72"/>
          <p:cNvSpPr/>
          <p:nvPr/>
        </p:nvSpPr>
        <p:spPr>
          <a:xfrm>
            <a:off x="10169225" y="2615184"/>
            <a:ext cx="182880" cy="155448"/>
          </a:xfrm>
          <a:prstGeom prst="rect">
            <a:avLst/>
          </a:prstGeom>
          <a:solidFill>
            <a:srgbClr val="FFFFFF"/>
          </a:solidFill>
          <a:ln w="12700">
            <a:solidFill>
              <a:srgbClr val="8A93A3"/>
            </a:solidFill>
            <a:prstDash val="solid"/>
          </a:ln>
        </p:spPr>
      </p:sp>
      <p:sp>
        <p:nvSpPr>
          <p:cNvPr id="75" name="Text 73"/>
          <p:cNvSpPr txBox="1"/>
          <p:nvPr/>
        </p:nvSpPr>
        <p:spPr>
          <a:xfrm>
            <a:off x="10406969" y="2578608"/>
            <a:ext cx="633954" cy="228600"/>
          </a:xfrm>
          <a:prstGeom prst="rect">
            <a:avLst/>
          </a:prstGeom>
          <a:noFill/>
          <a:ln/>
        </p:spPr>
        <p:txBody>
          <a:bodyPr wrap="square" lIns="0" tIns="0" rIns="0" bIns="0" rtlCol="0" anchor="ctr"/>
          <a:lstStyle/>
          <a:p>
            <a:pPr indent="0" marL="0">
              <a:buNone/>
            </a:pPr>
            <a:r>
              <a:rPr lang="en-US" sz="1050" dirty="0">
                <a:solidFill>
                  <a:srgbClr val="5B6577"/>
                </a:solidFill>
                <a:latin typeface="Calibri" pitchFamily="34" charset="0"/>
                <a:ea typeface="Calibri" pitchFamily="34" charset="-122"/>
                <a:cs typeface="Calibri" pitchFamily="34" charset="-120"/>
              </a:rPr>
              <a:t>Planned</a:t>
            </a:r>
            <a:endParaRPr lang="en-US" sz="1050" dirty="0"/>
          </a:p>
        </p:txBody>
      </p:sp>
      <p:sp>
        <p:nvSpPr>
          <p:cNvPr id="76" name="Shape 74"/>
          <p:cNvSpPr/>
          <p:nvPr/>
        </p:nvSpPr>
        <p:spPr>
          <a:xfrm>
            <a:off x="5120640" y="2953512"/>
            <a:ext cx="411480" cy="0"/>
          </a:xfrm>
          <a:prstGeom prst="line">
            <a:avLst/>
          </a:prstGeom>
          <a:noFill/>
          <a:ln w="22225">
            <a:solidFill>
              <a:srgbClr val="1B2333"/>
            </a:solidFill>
            <a:prstDash val="solid"/>
            <a:tailEnd type="triangle"/>
          </a:ln>
        </p:spPr>
      </p:sp>
      <p:sp>
        <p:nvSpPr>
          <p:cNvPr id="77" name="Text 75"/>
          <p:cNvSpPr txBox="1"/>
          <p:nvPr/>
        </p:nvSpPr>
        <p:spPr>
          <a:xfrm>
            <a:off x="5596128" y="2843784"/>
            <a:ext cx="1005840" cy="219456"/>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works today</a:t>
            </a:r>
            <a:endParaRPr lang="en-US" sz="1050" dirty="0"/>
          </a:p>
        </p:txBody>
      </p:sp>
      <p:sp>
        <p:nvSpPr>
          <p:cNvPr id="78" name="Shape 76"/>
          <p:cNvSpPr/>
          <p:nvPr/>
        </p:nvSpPr>
        <p:spPr>
          <a:xfrm>
            <a:off x="6720840" y="2953512"/>
            <a:ext cx="411480" cy="0"/>
          </a:xfrm>
          <a:prstGeom prst="line">
            <a:avLst/>
          </a:prstGeom>
          <a:noFill/>
          <a:ln w="22225">
            <a:solidFill>
              <a:srgbClr val="B3392F"/>
            </a:solidFill>
            <a:prstDash val="dash"/>
            <a:tailEnd type="triangle"/>
          </a:ln>
        </p:spPr>
      </p:sp>
      <p:sp>
        <p:nvSpPr>
          <p:cNvPr id="79" name="Text 77"/>
          <p:cNvSpPr txBox="1"/>
          <p:nvPr/>
        </p:nvSpPr>
        <p:spPr>
          <a:xfrm>
            <a:off x="7196328" y="2843784"/>
            <a:ext cx="2011680" cy="219456"/>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still to join, with task IDs</a:t>
            </a:r>
            <a:endParaRPr lang="en-US" sz="1050" dirty="0"/>
          </a:p>
        </p:txBody>
      </p:sp>
      <p:sp>
        <p:nvSpPr>
          <p:cNvPr id="80" name="Text 78"/>
          <p:cNvSpPr txBox="1"/>
          <p:nvPr/>
        </p:nvSpPr>
        <p:spPr>
          <a:xfrm>
            <a:off x="457200" y="6108192"/>
            <a:ext cx="11274552" cy="329184"/>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No end-to-end run yet, as planned. </a:t>
            </a:r>
            <a:pPr indent="0" marL="0">
              <a:buNone/>
            </a:pPr>
            <a:r>
              <a:rPr lang="en-US" sz="1300" dirty="0">
                <a:solidFill>
                  <a:srgbClr val="1B2333"/>
                </a:solidFill>
                <a:latin typeface="Calibri" pitchFamily="34" charset="0"/>
                <a:ea typeface="Calibri" pitchFamily="34" charset="-122"/>
                <a:cs typeface="Calibri" pitchFamily="34" charset="-120"/>
              </a:rPr>
              <a:t>First full run (speak, look, drive, grasp) is M4, January 2027. The plan’s target for this interim was "M0 done, M1 and M3 under way"</a:t>
            </a:r>
            <a:endParaRPr lang="en-US" sz="1300" dirty="0"/>
          </a:p>
        </p:txBody>
      </p:sp>
      <p:sp>
        <p:nvSpPr>
          <p:cNvPr id="81" name="Text 79"/>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Sherman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Ahead on memory and gaze, behind on calibration and driving, final dates unchanged</a:t>
            </a:r>
            <a:endParaRPr lang="en-US" sz="2400" dirty="0"/>
          </a:p>
        </p:txBody>
      </p:sp>
      <p:sp>
        <p:nvSpPr>
          <p:cNvPr id="3" name="Shape 1"/>
          <p:cNvSpPr/>
          <p:nvPr/>
        </p:nvSpPr>
        <p:spPr>
          <a:xfrm>
            <a:off x="3323107" y="1609344"/>
            <a:ext cx="289953" cy="2939796"/>
          </a:xfrm>
          <a:prstGeom prst="rect">
            <a:avLst/>
          </a:prstGeom>
          <a:solidFill>
            <a:srgbClr val="DDE2EA"/>
          </a:solidFill>
          <a:ln/>
        </p:spPr>
      </p:sp>
      <p:sp>
        <p:nvSpPr>
          <p:cNvPr id="4" name="Text 2"/>
          <p:cNvSpPr txBox="1"/>
          <p:nvPr/>
        </p:nvSpPr>
        <p:spPr>
          <a:xfrm>
            <a:off x="3140227" y="4576572"/>
            <a:ext cx="655713" cy="201168"/>
          </a:xfrm>
          <a:prstGeom prst="rect">
            <a:avLst/>
          </a:prstGeom>
          <a:noFill/>
          <a:ln/>
        </p:spPr>
        <p:txBody>
          <a:bodyPr wrap="square" lIns="0" tIns="0" rIns="0" bIns="0" rtlCol="0" anchor="t"/>
          <a:lstStyle/>
          <a:p>
            <a:pPr algn="ctr" indent="0" marL="0">
              <a:buNone/>
            </a:pPr>
            <a:r>
              <a:rPr lang="en-US" sz="900" dirty="0">
                <a:solidFill>
                  <a:srgbClr val="5B6577"/>
                </a:solidFill>
                <a:latin typeface="Calibri" pitchFamily="34" charset="0"/>
                <a:ea typeface="Calibri" pitchFamily="34" charset="-122"/>
                <a:cs typeface="Calibri" pitchFamily="34" charset="-120"/>
              </a:rPr>
              <a:t>recess</a:t>
            </a:r>
            <a:endParaRPr lang="en-US" sz="900" dirty="0"/>
          </a:p>
        </p:txBody>
      </p:sp>
      <p:sp>
        <p:nvSpPr>
          <p:cNvPr id="5" name="Shape 3"/>
          <p:cNvSpPr/>
          <p:nvPr/>
        </p:nvSpPr>
        <p:spPr>
          <a:xfrm>
            <a:off x="5062826" y="1609344"/>
            <a:ext cx="1159813" cy="2939796"/>
          </a:xfrm>
          <a:prstGeom prst="rect">
            <a:avLst/>
          </a:prstGeom>
          <a:solidFill>
            <a:srgbClr val="DDE2EA"/>
          </a:solidFill>
          <a:ln/>
        </p:spPr>
      </p:sp>
      <p:sp>
        <p:nvSpPr>
          <p:cNvPr id="6" name="Text 4"/>
          <p:cNvSpPr txBox="1"/>
          <p:nvPr/>
        </p:nvSpPr>
        <p:spPr>
          <a:xfrm>
            <a:off x="4879946" y="4576572"/>
            <a:ext cx="1525573" cy="201168"/>
          </a:xfrm>
          <a:prstGeom prst="rect">
            <a:avLst/>
          </a:prstGeom>
          <a:noFill/>
          <a:ln/>
        </p:spPr>
        <p:txBody>
          <a:bodyPr wrap="square" lIns="0" tIns="0" rIns="0" bIns="0" rtlCol="0" anchor="t"/>
          <a:lstStyle/>
          <a:p>
            <a:pPr algn="ctr" indent="0" marL="0">
              <a:buNone/>
            </a:pPr>
            <a:r>
              <a:rPr lang="en-US" sz="900" dirty="0">
                <a:solidFill>
                  <a:srgbClr val="5B6577"/>
                </a:solidFill>
                <a:latin typeface="Calibri" pitchFamily="34" charset="0"/>
                <a:ea typeface="Calibri" pitchFamily="34" charset="-122"/>
                <a:cs typeface="Calibri" pitchFamily="34" charset="-120"/>
              </a:rPr>
              <a:t>exams, early Dec</a:t>
            </a:r>
            <a:endParaRPr lang="en-US" sz="900" dirty="0"/>
          </a:p>
        </p:txBody>
      </p:sp>
      <p:sp>
        <p:nvSpPr>
          <p:cNvPr id="7" name="Shape 5"/>
          <p:cNvSpPr/>
          <p:nvPr/>
        </p:nvSpPr>
        <p:spPr>
          <a:xfrm>
            <a:off x="6222639" y="1609344"/>
            <a:ext cx="579907" cy="2939796"/>
          </a:xfrm>
          <a:prstGeom prst="rect">
            <a:avLst/>
          </a:prstGeom>
          <a:solidFill>
            <a:srgbClr val="DDE2EA"/>
          </a:solidFill>
          <a:ln/>
        </p:spPr>
      </p:sp>
      <p:sp>
        <p:nvSpPr>
          <p:cNvPr id="8" name="Text 6"/>
          <p:cNvSpPr txBox="1"/>
          <p:nvPr/>
        </p:nvSpPr>
        <p:spPr>
          <a:xfrm>
            <a:off x="6039759" y="4576572"/>
            <a:ext cx="945667" cy="201168"/>
          </a:xfrm>
          <a:prstGeom prst="rect">
            <a:avLst/>
          </a:prstGeom>
          <a:noFill/>
          <a:ln/>
        </p:spPr>
        <p:txBody>
          <a:bodyPr wrap="square" lIns="0" tIns="0" rIns="0" bIns="0" rtlCol="0" anchor="t"/>
          <a:lstStyle/>
          <a:p>
            <a:pPr algn="ctr" indent="0" marL="0">
              <a:buNone/>
            </a:pPr>
            <a:r>
              <a:rPr lang="en-US" sz="900" dirty="0">
                <a:solidFill>
                  <a:srgbClr val="5B6577"/>
                </a:solidFill>
                <a:latin typeface="Calibri" pitchFamily="34" charset="0"/>
                <a:ea typeface="Calibri" pitchFamily="34" charset="-122"/>
                <a:cs typeface="Calibri" pitchFamily="34" charset="-120"/>
              </a:rPr>
              <a:t>break</a:t>
            </a:r>
            <a:endParaRPr lang="en-US" sz="900" dirty="0"/>
          </a:p>
        </p:txBody>
      </p:sp>
      <p:sp>
        <p:nvSpPr>
          <p:cNvPr id="9" name="Shape 7"/>
          <p:cNvSpPr/>
          <p:nvPr/>
        </p:nvSpPr>
        <p:spPr>
          <a:xfrm>
            <a:off x="6802546" y="1609344"/>
            <a:ext cx="579907" cy="2939796"/>
          </a:xfrm>
          <a:prstGeom prst="rect">
            <a:avLst/>
          </a:prstGeom>
          <a:solidFill>
            <a:srgbClr val="EDF0F4"/>
          </a:solidFill>
          <a:ln/>
        </p:spPr>
      </p:sp>
      <p:sp>
        <p:nvSpPr>
          <p:cNvPr id="10" name="Text 8"/>
          <p:cNvSpPr txBox="1"/>
          <p:nvPr/>
        </p:nvSpPr>
        <p:spPr>
          <a:xfrm>
            <a:off x="6619666" y="4576572"/>
            <a:ext cx="945667" cy="201168"/>
          </a:xfrm>
          <a:prstGeom prst="rect">
            <a:avLst/>
          </a:prstGeom>
          <a:noFill/>
          <a:ln/>
        </p:spPr>
        <p:txBody>
          <a:bodyPr wrap="square" lIns="0" tIns="0" rIns="0" bIns="0" rtlCol="0" anchor="t"/>
          <a:lstStyle/>
          <a:p>
            <a:pPr algn="ctr" indent="0" marL="0">
              <a:buNone/>
            </a:pPr>
            <a:r>
              <a:rPr lang="en-US" sz="900" dirty="0">
                <a:solidFill>
                  <a:srgbClr val="5B6577"/>
                </a:solidFill>
                <a:latin typeface="Calibri" pitchFamily="34" charset="0"/>
                <a:ea typeface="Calibri" pitchFamily="34" charset="-122"/>
                <a:cs typeface="Calibri" pitchFamily="34" charset="-120"/>
              </a:rPr>
              <a:t>buffer</a:t>
            </a:r>
            <a:endParaRPr lang="en-US" sz="900" dirty="0"/>
          </a:p>
        </p:txBody>
      </p:sp>
      <p:sp>
        <p:nvSpPr>
          <p:cNvPr id="11" name="Shape 9"/>
          <p:cNvSpPr/>
          <p:nvPr/>
        </p:nvSpPr>
        <p:spPr>
          <a:xfrm>
            <a:off x="11151845" y="1609344"/>
            <a:ext cx="579907" cy="2939796"/>
          </a:xfrm>
          <a:prstGeom prst="rect">
            <a:avLst/>
          </a:prstGeom>
          <a:solidFill>
            <a:srgbClr val="E6ECF6"/>
          </a:solidFill>
          <a:ln/>
        </p:spPr>
      </p:sp>
      <p:sp>
        <p:nvSpPr>
          <p:cNvPr id="12" name="Text 10"/>
          <p:cNvSpPr txBox="1"/>
          <p:nvPr/>
        </p:nvSpPr>
        <p:spPr>
          <a:xfrm>
            <a:off x="11151845" y="4576572"/>
            <a:ext cx="579907" cy="201168"/>
          </a:xfrm>
          <a:prstGeom prst="rect">
            <a:avLst/>
          </a:prstGeom>
          <a:noFill/>
          <a:ln/>
        </p:spPr>
        <p:txBody>
          <a:bodyPr wrap="square" lIns="0" tIns="0" rIns="0" bIns="0" rtlCol="0" anchor="t"/>
          <a:lstStyle/>
          <a:p>
            <a:pPr algn="ctr" indent="0" marL="0">
              <a:buNone/>
            </a:pPr>
            <a:r>
              <a:rPr lang="en-US" sz="900" dirty="0">
                <a:solidFill>
                  <a:srgbClr val="1F3B73"/>
                </a:solidFill>
                <a:latin typeface="Calibri" pitchFamily="34" charset="0"/>
                <a:ea typeface="Calibri" pitchFamily="34" charset="-122"/>
                <a:cs typeface="Calibri" pitchFamily="34" charset="-120"/>
              </a:rPr>
              <a:t>oral</a:t>
            </a:r>
            <a:endParaRPr lang="en-US" sz="900" dirty="0"/>
          </a:p>
        </p:txBody>
      </p:sp>
      <p:sp>
        <p:nvSpPr>
          <p:cNvPr id="13" name="Text 11"/>
          <p:cNvSpPr txBox="1"/>
          <p:nvPr/>
        </p:nvSpPr>
        <p:spPr>
          <a:xfrm>
            <a:off x="2743200" y="1371600"/>
            <a:ext cx="704172"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Sep</a:t>
            </a:r>
            <a:endParaRPr lang="en-US" sz="1100" dirty="0"/>
          </a:p>
        </p:txBody>
      </p:sp>
      <p:sp>
        <p:nvSpPr>
          <p:cNvPr id="14" name="Text 12"/>
          <p:cNvSpPr txBox="1"/>
          <p:nvPr/>
        </p:nvSpPr>
        <p:spPr>
          <a:xfrm>
            <a:off x="3447372" y="1371600"/>
            <a:ext cx="1284079"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Oct</a:t>
            </a:r>
            <a:endParaRPr lang="en-US" sz="1100" dirty="0"/>
          </a:p>
        </p:txBody>
      </p:sp>
      <p:sp>
        <p:nvSpPr>
          <p:cNvPr id="15" name="Shape 13"/>
          <p:cNvSpPr/>
          <p:nvPr/>
        </p:nvSpPr>
        <p:spPr>
          <a:xfrm>
            <a:off x="3447372" y="1371600"/>
            <a:ext cx="0" cy="219456"/>
          </a:xfrm>
          <a:prstGeom prst="line">
            <a:avLst/>
          </a:prstGeom>
          <a:noFill/>
          <a:ln w="9525">
            <a:solidFill>
              <a:srgbClr val="CDD3DD"/>
            </a:solidFill>
            <a:prstDash val="solid"/>
          </a:ln>
        </p:spPr>
      </p:sp>
      <p:sp>
        <p:nvSpPr>
          <p:cNvPr id="16" name="Text 14"/>
          <p:cNvSpPr txBox="1"/>
          <p:nvPr/>
        </p:nvSpPr>
        <p:spPr>
          <a:xfrm>
            <a:off x="4731451" y="1371600"/>
            <a:ext cx="1242657"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Nov</a:t>
            </a:r>
            <a:endParaRPr lang="en-US" sz="1100" dirty="0"/>
          </a:p>
        </p:txBody>
      </p:sp>
      <p:sp>
        <p:nvSpPr>
          <p:cNvPr id="17" name="Shape 15"/>
          <p:cNvSpPr/>
          <p:nvPr/>
        </p:nvSpPr>
        <p:spPr>
          <a:xfrm>
            <a:off x="4731451" y="1371600"/>
            <a:ext cx="0" cy="219456"/>
          </a:xfrm>
          <a:prstGeom prst="line">
            <a:avLst/>
          </a:prstGeom>
          <a:noFill/>
          <a:ln w="9525">
            <a:solidFill>
              <a:srgbClr val="CDD3DD"/>
            </a:solidFill>
            <a:prstDash val="solid"/>
          </a:ln>
        </p:spPr>
      </p:sp>
      <p:sp>
        <p:nvSpPr>
          <p:cNvPr id="18" name="Text 16"/>
          <p:cNvSpPr txBox="1"/>
          <p:nvPr/>
        </p:nvSpPr>
        <p:spPr>
          <a:xfrm>
            <a:off x="5974108" y="1371600"/>
            <a:ext cx="1284079"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Dec</a:t>
            </a:r>
            <a:endParaRPr lang="en-US" sz="1100" dirty="0"/>
          </a:p>
        </p:txBody>
      </p:sp>
      <p:sp>
        <p:nvSpPr>
          <p:cNvPr id="19" name="Shape 17"/>
          <p:cNvSpPr/>
          <p:nvPr/>
        </p:nvSpPr>
        <p:spPr>
          <a:xfrm>
            <a:off x="5974108" y="1371600"/>
            <a:ext cx="0" cy="219456"/>
          </a:xfrm>
          <a:prstGeom prst="line">
            <a:avLst/>
          </a:prstGeom>
          <a:noFill/>
          <a:ln w="9525">
            <a:solidFill>
              <a:srgbClr val="CDD3DD"/>
            </a:solidFill>
            <a:prstDash val="solid"/>
          </a:ln>
        </p:spPr>
      </p:sp>
      <p:sp>
        <p:nvSpPr>
          <p:cNvPr id="20" name="Text 18"/>
          <p:cNvSpPr txBox="1"/>
          <p:nvPr/>
        </p:nvSpPr>
        <p:spPr>
          <a:xfrm>
            <a:off x="7258187" y="1371600"/>
            <a:ext cx="1284079"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Jan</a:t>
            </a:r>
            <a:endParaRPr lang="en-US" sz="1100" dirty="0"/>
          </a:p>
        </p:txBody>
      </p:sp>
      <p:sp>
        <p:nvSpPr>
          <p:cNvPr id="21" name="Shape 19"/>
          <p:cNvSpPr/>
          <p:nvPr/>
        </p:nvSpPr>
        <p:spPr>
          <a:xfrm>
            <a:off x="7258187" y="1371600"/>
            <a:ext cx="0" cy="219456"/>
          </a:xfrm>
          <a:prstGeom prst="line">
            <a:avLst/>
          </a:prstGeom>
          <a:noFill/>
          <a:ln w="9525">
            <a:solidFill>
              <a:srgbClr val="CDD3DD"/>
            </a:solidFill>
            <a:prstDash val="solid"/>
          </a:ln>
        </p:spPr>
      </p:sp>
      <p:sp>
        <p:nvSpPr>
          <p:cNvPr id="22" name="Text 20"/>
          <p:cNvSpPr txBox="1"/>
          <p:nvPr/>
        </p:nvSpPr>
        <p:spPr>
          <a:xfrm>
            <a:off x="8542266" y="1371600"/>
            <a:ext cx="1159813"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Feb</a:t>
            </a:r>
            <a:endParaRPr lang="en-US" sz="1100" dirty="0"/>
          </a:p>
        </p:txBody>
      </p:sp>
      <p:sp>
        <p:nvSpPr>
          <p:cNvPr id="23" name="Shape 21"/>
          <p:cNvSpPr/>
          <p:nvPr/>
        </p:nvSpPr>
        <p:spPr>
          <a:xfrm>
            <a:off x="8542266" y="1371600"/>
            <a:ext cx="0" cy="219456"/>
          </a:xfrm>
          <a:prstGeom prst="line">
            <a:avLst/>
          </a:prstGeom>
          <a:noFill/>
          <a:ln w="9525">
            <a:solidFill>
              <a:srgbClr val="CDD3DD"/>
            </a:solidFill>
            <a:prstDash val="solid"/>
          </a:ln>
        </p:spPr>
      </p:sp>
      <p:sp>
        <p:nvSpPr>
          <p:cNvPr id="24" name="Text 22"/>
          <p:cNvSpPr txBox="1"/>
          <p:nvPr/>
        </p:nvSpPr>
        <p:spPr>
          <a:xfrm>
            <a:off x="9702079" y="1371600"/>
            <a:ext cx="1284079"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Mar</a:t>
            </a:r>
            <a:endParaRPr lang="en-US" sz="1100" dirty="0"/>
          </a:p>
        </p:txBody>
      </p:sp>
      <p:sp>
        <p:nvSpPr>
          <p:cNvPr id="25" name="Shape 23"/>
          <p:cNvSpPr/>
          <p:nvPr/>
        </p:nvSpPr>
        <p:spPr>
          <a:xfrm>
            <a:off x="9702079" y="1371600"/>
            <a:ext cx="0" cy="219456"/>
          </a:xfrm>
          <a:prstGeom prst="line">
            <a:avLst/>
          </a:prstGeom>
          <a:noFill/>
          <a:ln w="9525">
            <a:solidFill>
              <a:srgbClr val="CDD3DD"/>
            </a:solidFill>
            <a:prstDash val="solid"/>
          </a:ln>
        </p:spPr>
      </p:sp>
      <p:sp>
        <p:nvSpPr>
          <p:cNvPr id="26" name="Text 24"/>
          <p:cNvSpPr txBox="1"/>
          <p:nvPr/>
        </p:nvSpPr>
        <p:spPr>
          <a:xfrm>
            <a:off x="10986158" y="1371600"/>
            <a:ext cx="745594" cy="219456"/>
          </a:xfrm>
          <a:prstGeom prst="rect">
            <a:avLst/>
          </a:prstGeom>
          <a:noFill/>
          <a:ln/>
        </p:spPr>
        <p:txBody>
          <a:bodyPr wrap="square" lIns="0" tIns="0" rIns="0" bIns="0" rtlCol="0" anchor="t"/>
          <a:lstStyle/>
          <a:p>
            <a:pPr algn="ctr" indent="0" marL="0">
              <a:buNone/>
            </a:pPr>
            <a:r>
              <a:rPr lang="en-US" sz="1100" b="1" dirty="0">
                <a:solidFill>
                  <a:srgbClr val="5B6577"/>
                </a:solidFill>
                <a:latin typeface="Calibri" pitchFamily="34" charset="0"/>
                <a:ea typeface="Calibri" pitchFamily="34" charset="-122"/>
                <a:cs typeface="Calibri" pitchFamily="34" charset="-120"/>
              </a:rPr>
              <a:t>Apr</a:t>
            </a:r>
            <a:endParaRPr lang="en-US" sz="1100" dirty="0"/>
          </a:p>
        </p:txBody>
      </p:sp>
      <p:sp>
        <p:nvSpPr>
          <p:cNvPr id="27" name="Shape 25"/>
          <p:cNvSpPr/>
          <p:nvPr/>
        </p:nvSpPr>
        <p:spPr>
          <a:xfrm>
            <a:off x="10986158" y="1371600"/>
            <a:ext cx="0" cy="219456"/>
          </a:xfrm>
          <a:prstGeom prst="line">
            <a:avLst/>
          </a:prstGeom>
          <a:noFill/>
          <a:ln w="9525">
            <a:solidFill>
              <a:srgbClr val="CDD3DD"/>
            </a:solidFill>
            <a:prstDash val="solid"/>
          </a:ln>
        </p:spPr>
      </p:sp>
      <p:sp>
        <p:nvSpPr>
          <p:cNvPr id="28" name="Text 26"/>
          <p:cNvSpPr txBox="1"/>
          <p:nvPr/>
        </p:nvSpPr>
        <p:spPr>
          <a:xfrm>
            <a:off x="2743200"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a:t>
            </a:r>
            <a:endParaRPr lang="en-US" sz="850" dirty="0"/>
          </a:p>
        </p:txBody>
      </p:sp>
      <p:sp>
        <p:nvSpPr>
          <p:cNvPr id="29" name="Text 27"/>
          <p:cNvSpPr txBox="1"/>
          <p:nvPr/>
        </p:nvSpPr>
        <p:spPr>
          <a:xfrm>
            <a:off x="303315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a:t>
            </a:r>
            <a:endParaRPr lang="en-US" sz="850" dirty="0"/>
          </a:p>
        </p:txBody>
      </p:sp>
      <p:sp>
        <p:nvSpPr>
          <p:cNvPr id="30" name="Text 28"/>
          <p:cNvSpPr txBox="1"/>
          <p:nvPr/>
        </p:nvSpPr>
        <p:spPr>
          <a:xfrm>
            <a:off x="3323107"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3</a:t>
            </a:r>
            <a:endParaRPr lang="en-US" sz="850" dirty="0"/>
          </a:p>
        </p:txBody>
      </p:sp>
      <p:sp>
        <p:nvSpPr>
          <p:cNvPr id="31" name="Text 29"/>
          <p:cNvSpPr txBox="1"/>
          <p:nvPr/>
        </p:nvSpPr>
        <p:spPr>
          <a:xfrm>
            <a:off x="3613060"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4</a:t>
            </a:r>
            <a:endParaRPr lang="en-US" sz="850" dirty="0"/>
          </a:p>
        </p:txBody>
      </p:sp>
      <p:sp>
        <p:nvSpPr>
          <p:cNvPr id="32" name="Text 30"/>
          <p:cNvSpPr txBox="1"/>
          <p:nvPr/>
        </p:nvSpPr>
        <p:spPr>
          <a:xfrm>
            <a:off x="390301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5</a:t>
            </a:r>
            <a:endParaRPr lang="en-US" sz="850" dirty="0"/>
          </a:p>
        </p:txBody>
      </p:sp>
      <p:sp>
        <p:nvSpPr>
          <p:cNvPr id="33" name="Text 31"/>
          <p:cNvSpPr txBox="1"/>
          <p:nvPr/>
        </p:nvSpPr>
        <p:spPr>
          <a:xfrm>
            <a:off x="419296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6</a:t>
            </a:r>
            <a:endParaRPr lang="en-US" sz="850" dirty="0"/>
          </a:p>
        </p:txBody>
      </p:sp>
      <p:sp>
        <p:nvSpPr>
          <p:cNvPr id="34" name="Text 32"/>
          <p:cNvSpPr txBox="1"/>
          <p:nvPr/>
        </p:nvSpPr>
        <p:spPr>
          <a:xfrm>
            <a:off x="4482920"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7</a:t>
            </a:r>
            <a:endParaRPr lang="en-US" sz="850" dirty="0"/>
          </a:p>
        </p:txBody>
      </p:sp>
      <p:sp>
        <p:nvSpPr>
          <p:cNvPr id="35" name="Text 33"/>
          <p:cNvSpPr txBox="1"/>
          <p:nvPr/>
        </p:nvSpPr>
        <p:spPr>
          <a:xfrm>
            <a:off x="477287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8</a:t>
            </a:r>
            <a:endParaRPr lang="en-US" sz="850" dirty="0"/>
          </a:p>
        </p:txBody>
      </p:sp>
      <p:sp>
        <p:nvSpPr>
          <p:cNvPr id="36" name="Text 34"/>
          <p:cNvSpPr txBox="1"/>
          <p:nvPr/>
        </p:nvSpPr>
        <p:spPr>
          <a:xfrm>
            <a:off x="506282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9</a:t>
            </a:r>
            <a:endParaRPr lang="en-US" sz="850" dirty="0"/>
          </a:p>
        </p:txBody>
      </p:sp>
      <p:sp>
        <p:nvSpPr>
          <p:cNvPr id="37" name="Text 35"/>
          <p:cNvSpPr txBox="1"/>
          <p:nvPr/>
        </p:nvSpPr>
        <p:spPr>
          <a:xfrm>
            <a:off x="5352780"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10</a:t>
            </a:r>
            <a:endParaRPr lang="en-US" sz="850" dirty="0"/>
          </a:p>
        </p:txBody>
      </p:sp>
      <p:sp>
        <p:nvSpPr>
          <p:cNvPr id="38" name="Text 36"/>
          <p:cNvSpPr txBox="1"/>
          <p:nvPr/>
        </p:nvSpPr>
        <p:spPr>
          <a:xfrm>
            <a:off x="564273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11</a:t>
            </a:r>
            <a:endParaRPr lang="en-US" sz="850" dirty="0"/>
          </a:p>
        </p:txBody>
      </p:sp>
      <p:sp>
        <p:nvSpPr>
          <p:cNvPr id="39" name="Text 37"/>
          <p:cNvSpPr txBox="1"/>
          <p:nvPr/>
        </p:nvSpPr>
        <p:spPr>
          <a:xfrm>
            <a:off x="593268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12</a:t>
            </a:r>
            <a:endParaRPr lang="en-US" sz="850" dirty="0"/>
          </a:p>
        </p:txBody>
      </p:sp>
      <p:sp>
        <p:nvSpPr>
          <p:cNvPr id="40" name="Text 38"/>
          <p:cNvSpPr txBox="1"/>
          <p:nvPr/>
        </p:nvSpPr>
        <p:spPr>
          <a:xfrm>
            <a:off x="622263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13</a:t>
            </a:r>
            <a:endParaRPr lang="en-US" sz="850" dirty="0"/>
          </a:p>
        </p:txBody>
      </p:sp>
      <p:sp>
        <p:nvSpPr>
          <p:cNvPr id="41" name="Text 39"/>
          <p:cNvSpPr txBox="1"/>
          <p:nvPr/>
        </p:nvSpPr>
        <p:spPr>
          <a:xfrm>
            <a:off x="651259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14</a:t>
            </a:r>
            <a:endParaRPr lang="en-US" sz="850" dirty="0"/>
          </a:p>
        </p:txBody>
      </p:sp>
      <p:sp>
        <p:nvSpPr>
          <p:cNvPr id="42" name="Text 40"/>
          <p:cNvSpPr txBox="1"/>
          <p:nvPr/>
        </p:nvSpPr>
        <p:spPr>
          <a:xfrm>
            <a:off x="680254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15</a:t>
            </a:r>
            <a:endParaRPr lang="en-US" sz="850" dirty="0"/>
          </a:p>
        </p:txBody>
      </p:sp>
      <p:sp>
        <p:nvSpPr>
          <p:cNvPr id="43" name="Text 41"/>
          <p:cNvSpPr txBox="1"/>
          <p:nvPr/>
        </p:nvSpPr>
        <p:spPr>
          <a:xfrm>
            <a:off x="709249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16</a:t>
            </a:r>
            <a:endParaRPr lang="en-US" sz="850" dirty="0"/>
          </a:p>
        </p:txBody>
      </p:sp>
      <p:sp>
        <p:nvSpPr>
          <p:cNvPr id="44" name="Text 42"/>
          <p:cNvSpPr txBox="1"/>
          <p:nvPr/>
        </p:nvSpPr>
        <p:spPr>
          <a:xfrm>
            <a:off x="738245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17</a:t>
            </a:r>
            <a:endParaRPr lang="en-US" sz="850" dirty="0"/>
          </a:p>
        </p:txBody>
      </p:sp>
      <p:sp>
        <p:nvSpPr>
          <p:cNvPr id="45" name="Text 43"/>
          <p:cNvSpPr txBox="1"/>
          <p:nvPr/>
        </p:nvSpPr>
        <p:spPr>
          <a:xfrm>
            <a:off x="767240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18</a:t>
            </a:r>
            <a:endParaRPr lang="en-US" sz="850" dirty="0"/>
          </a:p>
        </p:txBody>
      </p:sp>
      <p:sp>
        <p:nvSpPr>
          <p:cNvPr id="46" name="Text 44"/>
          <p:cNvSpPr txBox="1"/>
          <p:nvPr/>
        </p:nvSpPr>
        <p:spPr>
          <a:xfrm>
            <a:off x="796235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19</a:t>
            </a:r>
            <a:endParaRPr lang="en-US" sz="850" dirty="0"/>
          </a:p>
        </p:txBody>
      </p:sp>
      <p:sp>
        <p:nvSpPr>
          <p:cNvPr id="47" name="Text 45"/>
          <p:cNvSpPr txBox="1"/>
          <p:nvPr/>
        </p:nvSpPr>
        <p:spPr>
          <a:xfrm>
            <a:off x="8252313"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20</a:t>
            </a:r>
            <a:endParaRPr lang="en-US" sz="850" dirty="0"/>
          </a:p>
        </p:txBody>
      </p:sp>
      <p:sp>
        <p:nvSpPr>
          <p:cNvPr id="48" name="Text 46"/>
          <p:cNvSpPr txBox="1"/>
          <p:nvPr/>
        </p:nvSpPr>
        <p:spPr>
          <a:xfrm>
            <a:off x="854226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21</a:t>
            </a:r>
            <a:endParaRPr lang="en-US" sz="850" dirty="0"/>
          </a:p>
        </p:txBody>
      </p:sp>
      <p:sp>
        <p:nvSpPr>
          <p:cNvPr id="49" name="Text 47"/>
          <p:cNvSpPr txBox="1"/>
          <p:nvPr/>
        </p:nvSpPr>
        <p:spPr>
          <a:xfrm>
            <a:off x="883221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22</a:t>
            </a:r>
            <a:endParaRPr lang="en-US" sz="850" dirty="0"/>
          </a:p>
        </p:txBody>
      </p:sp>
      <p:sp>
        <p:nvSpPr>
          <p:cNvPr id="50" name="Text 48"/>
          <p:cNvSpPr txBox="1"/>
          <p:nvPr/>
        </p:nvSpPr>
        <p:spPr>
          <a:xfrm>
            <a:off x="9122172"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23</a:t>
            </a:r>
            <a:endParaRPr lang="en-US" sz="850" dirty="0"/>
          </a:p>
        </p:txBody>
      </p:sp>
      <p:sp>
        <p:nvSpPr>
          <p:cNvPr id="51" name="Text 49"/>
          <p:cNvSpPr txBox="1"/>
          <p:nvPr/>
        </p:nvSpPr>
        <p:spPr>
          <a:xfrm>
            <a:off x="941212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24</a:t>
            </a:r>
            <a:endParaRPr lang="en-US" sz="850" dirty="0"/>
          </a:p>
        </p:txBody>
      </p:sp>
      <p:sp>
        <p:nvSpPr>
          <p:cNvPr id="52" name="Text 50"/>
          <p:cNvSpPr txBox="1"/>
          <p:nvPr/>
        </p:nvSpPr>
        <p:spPr>
          <a:xfrm>
            <a:off x="970207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25</a:t>
            </a:r>
            <a:endParaRPr lang="en-US" sz="850" dirty="0"/>
          </a:p>
        </p:txBody>
      </p:sp>
      <p:sp>
        <p:nvSpPr>
          <p:cNvPr id="53" name="Text 51"/>
          <p:cNvSpPr txBox="1"/>
          <p:nvPr/>
        </p:nvSpPr>
        <p:spPr>
          <a:xfrm>
            <a:off x="9992032"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26</a:t>
            </a:r>
            <a:endParaRPr lang="en-US" sz="850" dirty="0"/>
          </a:p>
        </p:txBody>
      </p:sp>
      <p:sp>
        <p:nvSpPr>
          <p:cNvPr id="54" name="Text 52"/>
          <p:cNvSpPr txBox="1"/>
          <p:nvPr/>
        </p:nvSpPr>
        <p:spPr>
          <a:xfrm>
            <a:off x="10281986"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27</a:t>
            </a:r>
            <a:endParaRPr lang="en-US" sz="850" dirty="0"/>
          </a:p>
        </p:txBody>
      </p:sp>
      <p:sp>
        <p:nvSpPr>
          <p:cNvPr id="55" name="Text 53"/>
          <p:cNvSpPr txBox="1"/>
          <p:nvPr/>
        </p:nvSpPr>
        <p:spPr>
          <a:xfrm>
            <a:off x="1057193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28</a:t>
            </a:r>
            <a:endParaRPr lang="en-US" sz="850" dirty="0"/>
          </a:p>
        </p:txBody>
      </p:sp>
      <p:sp>
        <p:nvSpPr>
          <p:cNvPr id="56" name="Text 54"/>
          <p:cNvSpPr txBox="1"/>
          <p:nvPr/>
        </p:nvSpPr>
        <p:spPr>
          <a:xfrm>
            <a:off x="10861892"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29</a:t>
            </a:r>
            <a:endParaRPr lang="en-US" sz="850" dirty="0"/>
          </a:p>
        </p:txBody>
      </p:sp>
      <p:sp>
        <p:nvSpPr>
          <p:cNvPr id="57" name="Text 55"/>
          <p:cNvSpPr txBox="1"/>
          <p:nvPr/>
        </p:nvSpPr>
        <p:spPr>
          <a:xfrm>
            <a:off x="11151845"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30</a:t>
            </a:r>
            <a:endParaRPr lang="en-US" sz="850" dirty="0"/>
          </a:p>
        </p:txBody>
      </p:sp>
      <p:sp>
        <p:nvSpPr>
          <p:cNvPr id="58" name="Text 56"/>
          <p:cNvSpPr txBox="1"/>
          <p:nvPr/>
        </p:nvSpPr>
        <p:spPr>
          <a:xfrm>
            <a:off x="11441799" y="1609344"/>
            <a:ext cx="289953" cy="237744"/>
          </a:xfrm>
          <a:prstGeom prst="rect">
            <a:avLst/>
          </a:prstGeom>
          <a:noFill/>
          <a:ln/>
        </p:spPr>
        <p:txBody>
          <a:bodyPr wrap="square" lIns="0" tIns="0" rIns="0" bIns="0" rtlCol="0" anchor="ctr"/>
          <a:lstStyle/>
          <a:p>
            <a:pPr algn="ctr" indent="0" marL="0">
              <a:buNone/>
            </a:pPr>
            <a:r>
              <a:rPr lang="en-US" sz="850" dirty="0">
                <a:solidFill>
                  <a:srgbClr val="5B6577"/>
                </a:solidFill>
                <a:latin typeface="Calibri" pitchFamily="34" charset="0"/>
                <a:ea typeface="Calibri" pitchFamily="34" charset="-122"/>
                <a:cs typeface="Calibri" pitchFamily="34" charset="-120"/>
              </a:rPr>
              <a:t>31</a:t>
            </a:r>
            <a:endParaRPr lang="en-US" sz="850" dirty="0"/>
          </a:p>
        </p:txBody>
      </p:sp>
      <p:sp>
        <p:nvSpPr>
          <p:cNvPr id="59" name="Text 57"/>
          <p:cNvSpPr txBox="1"/>
          <p:nvPr/>
        </p:nvSpPr>
        <p:spPr>
          <a:xfrm>
            <a:off x="457200" y="1609344"/>
            <a:ext cx="2240280" cy="237744"/>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Week (week 1 = 14 Sep 2026)</a:t>
            </a:r>
            <a:endParaRPr lang="en-US" sz="1000" dirty="0"/>
          </a:p>
        </p:txBody>
      </p:sp>
      <p:sp>
        <p:nvSpPr>
          <p:cNvPr id="60" name="Text 58"/>
          <p:cNvSpPr txBox="1"/>
          <p:nvPr/>
        </p:nvSpPr>
        <p:spPr>
          <a:xfrm>
            <a:off x="457200" y="1883664"/>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M0 Build and run</a:t>
            </a:r>
            <a:endParaRPr lang="en-US" sz="1100" dirty="0"/>
          </a:p>
        </p:txBody>
      </p:sp>
      <p:sp>
        <p:nvSpPr>
          <p:cNvPr id="61" name="Shape 59"/>
          <p:cNvSpPr/>
          <p:nvPr/>
        </p:nvSpPr>
        <p:spPr>
          <a:xfrm>
            <a:off x="2743200" y="2125980"/>
            <a:ext cx="8988552" cy="0"/>
          </a:xfrm>
          <a:prstGeom prst="line">
            <a:avLst/>
          </a:prstGeom>
          <a:noFill/>
          <a:ln w="6350">
            <a:solidFill>
              <a:srgbClr val="E8EBF0"/>
            </a:solidFill>
            <a:prstDash val="solid"/>
          </a:ln>
        </p:spPr>
      </p:sp>
      <p:sp>
        <p:nvSpPr>
          <p:cNvPr id="62" name="Shape 60"/>
          <p:cNvSpPr/>
          <p:nvPr/>
        </p:nvSpPr>
        <p:spPr>
          <a:xfrm>
            <a:off x="2743200" y="1938528"/>
            <a:ext cx="579907" cy="132588"/>
          </a:xfrm>
          <a:prstGeom prst="rect">
            <a:avLst/>
          </a:prstGeom>
          <a:solidFill>
            <a:srgbClr val="1F3B73"/>
          </a:solidFill>
          <a:ln/>
        </p:spPr>
      </p:sp>
      <p:sp>
        <p:nvSpPr>
          <p:cNvPr id="63" name="Text 61"/>
          <p:cNvSpPr txBox="1"/>
          <p:nvPr/>
        </p:nvSpPr>
        <p:spPr>
          <a:xfrm>
            <a:off x="3368827" y="1883664"/>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done 24 Sep</a:t>
            </a:r>
            <a:endParaRPr lang="en-US" sz="1000" dirty="0"/>
          </a:p>
        </p:txBody>
      </p:sp>
      <p:sp>
        <p:nvSpPr>
          <p:cNvPr id="64" name="Text 62"/>
          <p:cNvSpPr txBox="1"/>
          <p:nvPr/>
        </p:nvSpPr>
        <p:spPr>
          <a:xfrm>
            <a:off x="457200" y="2125980"/>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M1 Arm picks something up</a:t>
            </a:r>
            <a:endParaRPr lang="en-US" sz="1100" dirty="0"/>
          </a:p>
        </p:txBody>
      </p:sp>
      <p:sp>
        <p:nvSpPr>
          <p:cNvPr id="65" name="Shape 63"/>
          <p:cNvSpPr/>
          <p:nvPr/>
        </p:nvSpPr>
        <p:spPr>
          <a:xfrm>
            <a:off x="2743200" y="2368296"/>
            <a:ext cx="8988552" cy="0"/>
          </a:xfrm>
          <a:prstGeom prst="line">
            <a:avLst/>
          </a:prstGeom>
          <a:noFill/>
          <a:ln w="6350">
            <a:solidFill>
              <a:srgbClr val="E8EBF0"/>
            </a:solidFill>
            <a:prstDash val="solid"/>
          </a:ln>
        </p:spPr>
      </p:sp>
      <p:sp>
        <p:nvSpPr>
          <p:cNvPr id="66" name="Shape 64"/>
          <p:cNvSpPr/>
          <p:nvPr/>
        </p:nvSpPr>
        <p:spPr>
          <a:xfrm>
            <a:off x="3033153" y="2180844"/>
            <a:ext cx="1449766" cy="132588"/>
          </a:xfrm>
          <a:prstGeom prst="rect">
            <a:avLst/>
          </a:prstGeom>
          <a:solidFill>
            <a:srgbClr val="1F3B73"/>
          </a:solidFill>
          <a:ln/>
        </p:spPr>
      </p:sp>
      <p:sp>
        <p:nvSpPr>
          <p:cNvPr id="67" name="Shape 65"/>
          <p:cNvSpPr/>
          <p:nvPr/>
        </p:nvSpPr>
        <p:spPr>
          <a:xfrm>
            <a:off x="4482920" y="2180844"/>
            <a:ext cx="579907" cy="132588"/>
          </a:xfrm>
          <a:prstGeom prst="rect">
            <a:avLst/>
          </a:prstGeom>
          <a:solidFill>
            <a:srgbClr val="AFC0DD"/>
          </a:solidFill>
          <a:ln/>
        </p:spPr>
      </p:sp>
      <p:sp>
        <p:nvSpPr>
          <p:cNvPr id="68" name="Text 66"/>
          <p:cNvSpPr txBox="1"/>
          <p:nvPr/>
        </p:nvSpPr>
        <p:spPr>
          <a:xfrm>
            <a:off x="5108546" y="2125980"/>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8 Nov</a:t>
            </a:r>
            <a:endParaRPr lang="en-US" sz="1000" dirty="0"/>
          </a:p>
        </p:txBody>
      </p:sp>
      <p:sp>
        <p:nvSpPr>
          <p:cNvPr id="69" name="Text 67"/>
          <p:cNvSpPr txBox="1"/>
          <p:nvPr/>
        </p:nvSpPr>
        <p:spPr>
          <a:xfrm>
            <a:off x="457200" y="2368296"/>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M2 Voice and gaze to arm</a:t>
            </a:r>
            <a:endParaRPr lang="en-US" sz="1100" dirty="0"/>
          </a:p>
        </p:txBody>
      </p:sp>
      <p:sp>
        <p:nvSpPr>
          <p:cNvPr id="70" name="Shape 68"/>
          <p:cNvSpPr/>
          <p:nvPr/>
        </p:nvSpPr>
        <p:spPr>
          <a:xfrm>
            <a:off x="2743200" y="2610612"/>
            <a:ext cx="8988552" cy="0"/>
          </a:xfrm>
          <a:prstGeom prst="line">
            <a:avLst/>
          </a:prstGeom>
          <a:noFill/>
          <a:ln w="6350">
            <a:solidFill>
              <a:srgbClr val="E8EBF0"/>
            </a:solidFill>
            <a:prstDash val="solid"/>
          </a:ln>
        </p:spPr>
      </p:sp>
      <p:sp>
        <p:nvSpPr>
          <p:cNvPr id="71" name="Shape 69"/>
          <p:cNvSpPr/>
          <p:nvPr/>
        </p:nvSpPr>
        <p:spPr>
          <a:xfrm>
            <a:off x="3613060" y="2423160"/>
            <a:ext cx="869860" cy="132588"/>
          </a:xfrm>
          <a:prstGeom prst="rect">
            <a:avLst/>
          </a:prstGeom>
          <a:solidFill>
            <a:srgbClr val="1F3B73"/>
          </a:solidFill>
          <a:ln/>
        </p:spPr>
      </p:sp>
      <p:sp>
        <p:nvSpPr>
          <p:cNvPr id="72" name="Shape 70"/>
          <p:cNvSpPr/>
          <p:nvPr/>
        </p:nvSpPr>
        <p:spPr>
          <a:xfrm>
            <a:off x="4482920" y="2423160"/>
            <a:ext cx="3189486" cy="132588"/>
          </a:xfrm>
          <a:prstGeom prst="rect">
            <a:avLst/>
          </a:prstGeom>
          <a:solidFill>
            <a:srgbClr val="AFC0DD"/>
          </a:solidFill>
          <a:ln/>
        </p:spPr>
      </p:sp>
      <p:sp>
        <p:nvSpPr>
          <p:cNvPr id="73" name="Text 71"/>
          <p:cNvSpPr txBox="1"/>
          <p:nvPr/>
        </p:nvSpPr>
        <p:spPr>
          <a:xfrm>
            <a:off x="7718126" y="2368296"/>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10 Jan</a:t>
            </a:r>
            <a:endParaRPr lang="en-US" sz="1000" dirty="0"/>
          </a:p>
        </p:txBody>
      </p:sp>
      <p:sp>
        <p:nvSpPr>
          <p:cNvPr id="74" name="Text 72"/>
          <p:cNvSpPr txBox="1"/>
          <p:nvPr/>
        </p:nvSpPr>
        <p:spPr>
          <a:xfrm>
            <a:off x="457200" y="2610612"/>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M3 Base navigates</a:t>
            </a:r>
            <a:endParaRPr lang="en-US" sz="1100" dirty="0"/>
          </a:p>
        </p:txBody>
      </p:sp>
      <p:sp>
        <p:nvSpPr>
          <p:cNvPr id="75" name="Shape 73"/>
          <p:cNvSpPr/>
          <p:nvPr/>
        </p:nvSpPr>
        <p:spPr>
          <a:xfrm>
            <a:off x="2743200" y="2852928"/>
            <a:ext cx="8988552" cy="0"/>
          </a:xfrm>
          <a:prstGeom prst="line">
            <a:avLst/>
          </a:prstGeom>
          <a:noFill/>
          <a:ln w="6350">
            <a:solidFill>
              <a:srgbClr val="E8EBF0"/>
            </a:solidFill>
            <a:prstDash val="solid"/>
          </a:ln>
        </p:spPr>
      </p:sp>
      <p:sp>
        <p:nvSpPr>
          <p:cNvPr id="76" name="Shape 74"/>
          <p:cNvSpPr/>
          <p:nvPr/>
        </p:nvSpPr>
        <p:spPr>
          <a:xfrm>
            <a:off x="2743200" y="2665476"/>
            <a:ext cx="1739720" cy="132588"/>
          </a:xfrm>
          <a:prstGeom prst="rect">
            <a:avLst/>
          </a:prstGeom>
          <a:solidFill>
            <a:srgbClr val="1F3B73"/>
          </a:solidFill>
          <a:ln/>
        </p:spPr>
      </p:sp>
      <p:sp>
        <p:nvSpPr>
          <p:cNvPr id="77" name="Shape 75"/>
          <p:cNvSpPr/>
          <p:nvPr/>
        </p:nvSpPr>
        <p:spPr>
          <a:xfrm>
            <a:off x="4482920" y="2665476"/>
            <a:ext cx="3189486" cy="132588"/>
          </a:xfrm>
          <a:prstGeom prst="rect">
            <a:avLst/>
          </a:prstGeom>
          <a:solidFill>
            <a:srgbClr val="AFC0DD"/>
          </a:solidFill>
          <a:ln/>
        </p:spPr>
      </p:sp>
      <p:sp>
        <p:nvSpPr>
          <p:cNvPr id="78" name="Text 76"/>
          <p:cNvSpPr txBox="1"/>
          <p:nvPr/>
        </p:nvSpPr>
        <p:spPr>
          <a:xfrm>
            <a:off x="7718126" y="2610612"/>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10 Jan</a:t>
            </a:r>
            <a:endParaRPr lang="en-US" sz="1000" dirty="0"/>
          </a:p>
        </p:txBody>
      </p:sp>
      <p:sp>
        <p:nvSpPr>
          <p:cNvPr id="79" name="Text 77"/>
          <p:cNvSpPr txBox="1"/>
          <p:nvPr/>
        </p:nvSpPr>
        <p:spPr>
          <a:xfrm>
            <a:off x="457200" y="2852928"/>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M4 Closed loop</a:t>
            </a:r>
            <a:endParaRPr lang="en-US" sz="1100" dirty="0"/>
          </a:p>
        </p:txBody>
      </p:sp>
      <p:sp>
        <p:nvSpPr>
          <p:cNvPr id="80" name="Shape 78"/>
          <p:cNvSpPr/>
          <p:nvPr/>
        </p:nvSpPr>
        <p:spPr>
          <a:xfrm>
            <a:off x="2743200" y="3095244"/>
            <a:ext cx="8988552" cy="0"/>
          </a:xfrm>
          <a:prstGeom prst="line">
            <a:avLst/>
          </a:prstGeom>
          <a:noFill/>
          <a:ln w="6350">
            <a:solidFill>
              <a:srgbClr val="E8EBF0"/>
            </a:solidFill>
            <a:prstDash val="solid"/>
          </a:ln>
        </p:spPr>
      </p:sp>
      <p:sp>
        <p:nvSpPr>
          <p:cNvPr id="81" name="Shape 79"/>
          <p:cNvSpPr/>
          <p:nvPr/>
        </p:nvSpPr>
        <p:spPr>
          <a:xfrm>
            <a:off x="7672406" y="2907792"/>
            <a:ext cx="869860" cy="132588"/>
          </a:xfrm>
          <a:prstGeom prst="rect">
            <a:avLst/>
          </a:prstGeom>
          <a:solidFill>
            <a:srgbClr val="AFC0DD"/>
          </a:solidFill>
          <a:ln/>
        </p:spPr>
      </p:sp>
      <p:sp>
        <p:nvSpPr>
          <p:cNvPr id="82" name="Text 80"/>
          <p:cNvSpPr txBox="1"/>
          <p:nvPr/>
        </p:nvSpPr>
        <p:spPr>
          <a:xfrm>
            <a:off x="8587986" y="2852928"/>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31 Jan</a:t>
            </a:r>
            <a:endParaRPr lang="en-US" sz="1000" dirty="0"/>
          </a:p>
        </p:txBody>
      </p:sp>
      <p:sp>
        <p:nvSpPr>
          <p:cNvPr id="83" name="Text 81"/>
          <p:cNvSpPr txBox="1"/>
          <p:nvPr/>
        </p:nvSpPr>
        <p:spPr>
          <a:xfrm>
            <a:off x="457200" y="3095244"/>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M5 Calibrated base camera</a:t>
            </a:r>
            <a:endParaRPr lang="en-US" sz="1100" dirty="0"/>
          </a:p>
        </p:txBody>
      </p:sp>
      <p:sp>
        <p:nvSpPr>
          <p:cNvPr id="84" name="Shape 82"/>
          <p:cNvSpPr/>
          <p:nvPr/>
        </p:nvSpPr>
        <p:spPr>
          <a:xfrm>
            <a:off x="2743200" y="3337560"/>
            <a:ext cx="8988552" cy="0"/>
          </a:xfrm>
          <a:prstGeom prst="line">
            <a:avLst/>
          </a:prstGeom>
          <a:noFill/>
          <a:ln w="6350">
            <a:solidFill>
              <a:srgbClr val="E8EBF0"/>
            </a:solidFill>
            <a:prstDash val="solid"/>
          </a:ln>
        </p:spPr>
      </p:sp>
      <p:sp>
        <p:nvSpPr>
          <p:cNvPr id="85" name="Shape 83"/>
          <p:cNvSpPr/>
          <p:nvPr/>
        </p:nvSpPr>
        <p:spPr>
          <a:xfrm>
            <a:off x="2743200" y="3150108"/>
            <a:ext cx="1739720" cy="132588"/>
          </a:xfrm>
          <a:prstGeom prst="rect">
            <a:avLst/>
          </a:prstGeom>
          <a:solidFill>
            <a:srgbClr val="1F3B73"/>
          </a:solidFill>
          <a:ln/>
        </p:spPr>
      </p:sp>
      <p:sp>
        <p:nvSpPr>
          <p:cNvPr id="86" name="Shape 84"/>
          <p:cNvSpPr/>
          <p:nvPr/>
        </p:nvSpPr>
        <p:spPr>
          <a:xfrm>
            <a:off x="4482920" y="3150108"/>
            <a:ext cx="3769393" cy="132588"/>
          </a:xfrm>
          <a:prstGeom prst="rect">
            <a:avLst/>
          </a:prstGeom>
          <a:solidFill>
            <a:srgbClr val="AFC0DD"/>
          </a:solidFill>
          <a:ln/>
        </p:spPr>
      </p:sp>
      <p:sp>
        <p:nvSpPr>
          <p:cNvPr id="87" name="Text 85"/>
          <p:cNvSpPr txBox="1"/>
          <p:nvPr/>
        </p:nvSpPr>
        <p:spPr>
          <a:xfrm>
            <a:off x="8298033" y="3095244"/>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24 Jan</a:t>
            </a:r>
            <a:endParaRPr lang="en-US" sz="1000" dirty="0"/>
          </a:p>
        </p:txBody>
      </p:sp>
      <p:sp>
        <p:nvSpPr>
          <p:cNvPr id="88" name="Text 86"/>
          <p:cNvSpPr txBox="1"/>
          <p:nvPr/>
        </p:nvSpPr>
        <p:spPr>
          <a:xfrm>
            <a:off x="457200" y="3337560"/>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M6 Memory graph offline</a:t>
            </a:r>
            <a:endParaRPr lang="en-US" sz="1100" dirty="0"/>
          </a:p>
        </p:txBody>
      </p:sp>
      <p:sp>
        <p:nvSpPr>
          <p:cNvPr id="89" name="Shape 87"/>
          <p:cNvSpPr/>
          <p:nvPr/>
        </p:nvSpPr>
        <p:spPr>
          <a:xfrm>
            <a:off x="2743200" y="3579876"/>
            <a:ext cx="8988552" cy="0"/>
          </a:xfrm>
          <a:prstGeom prst="line">
            <a:avLst/>
          </a:prstGeom>
          <a:noFill/>
          <a:ln w="6350">
            <a:solidFill>
              <a:srgbClr val="E8EBF0"/>
            </a:solidFill>
            <a:prstDash val="solid"/>
          </a:ln>
        </p:spPr>
      </p:sp>
      <p:sp>
        <p:nvSpPr>
          <p:cNvPr id="90" name="Shape 88"/>
          <p:cNvSpPr/>
          <p:nvPr/>
        </p:nvSpPr>
        <p:spPr>
          <a:xfrm>
            <a:off x="3033153" y="3392424"/>
            <a:ext cx="1449766" cy="132588"/>
          </a:xfrm>
          <a:prstGeom prst="rect">
            <a:avLst/>
          </a:prstGeom>
          <a:solidFill>
            <a:srgbClr val="1F3B73"/>
          </a:solidFill>
          <a:ln/>
        </p:spPr>
      </p:sp>
      <p:sp>
        <p:nvSpPr>
          <p:cNvPr id="91" name="Shape 89"/>
          <p:cNvSpPr/>
          <p:nvPr/>
        </p:nvSpPr>
        <p:spPr>
          <a:xfrm>
            <a:off x="4482920" y="3392424"/>
            <a:ext cx="4059346" cy="132588"/>
          </a:xfrm>
          <a:prstGeom prst="rect">
            <a:avLst/>
          </a:prstGeom>
          <a:solidFill>
            <a:srgbClr val="AFC0DD"/>
          </a:solidFill>
          <a:ln/>
        </p:spPr>
      </p:sp>
      <p:sp>
        <p:nvSpPr>
          <p:cNvPr id="92" name="Text 90"/>
          <p:cNvSpPr txBox="1"/>
          <p:nvPr/>
        </p:nvSpPr>
        <p:spPr>
          <a:xfrm>
            <a:off x="8587986" y="3337560"/>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31 Jan</a:t>
            </a:r>
            <a:endParaRPr lang="en-US" sz="1000" dirty="0"/>
          </a:p>
        </p:txBody>
      </p:sp>
      <p:sp>
        <p:nvSpPr>
          <p:cNvPr id="93" name="Text 91"/>
          <p:cNvSpPr txBox="1"/>
          <p:nvPr/>
        </p:nvSpPr>
        <p:spPr>
          <a:xfrm>
            <a:off x="457200" y="3579876"/>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M7 Graph drives the robot</a:t>
            </a:r>
            <a:endParaRPr lang="en-US" sz="1100" dirty="0"/>
          </a:p>
        </p:txBody>
      </p:sp>
      <p:sp>
        <p:nvSpPr>
          <p:cNvPr id="94" name="Shape 92"/>
          <p:cNvSpPr/>
          <p:nvPr/>
        </p:nvSpPr>
        <p:spPr>
          <a:xfrm>
            <a:off x="2743200" y="3822192"/>
            <a:ext cx="8988552" cy="0"/>
          </a:xfrm>
          <a:prstGeom prst="line">
            <a:avLst/>
          </a:prstGeom>
          <a:noFill/>
          <a:ln w="6350">
            <a:solidFill>
              <a:srgbClr val="E8EBF0"/>
            </a:solidFill>
            <a:prstDash val="solid"/>
          </a:ln>
        </p:spPr>
      </p:sp>
      <p:sp>
        <p:nvSpPr>
          <p:cNvPr id="95" name="Shape 93"/>
          <p:cNvSpPr/>
          <p:nvPr/>
        </p:nvSpPr>
        <p:spPr>
          <a:xfrm>
            <a:off x="7962359" y="3634740"/>
            <a:ext cx="1739720" cy="132588"/>
          </a:xfrm>
          <a:prstGeom prst="rect">
            <a:avLst/>
          </a:prstGeom>
          <a:solidFill>
            <a:srgbClr val="AFC0DD"/>
          </a:solidFill>
          <a:ln/>
        </p:spPr>
      </p:sp>
      <p:sp>
        <p:nvSpPr>
          <p:cNvPr id="96" name="Text 94"/>
          <p:cNvSpPr txBox="1"/>
          <p:nvPr/>
        </p:nvSpPr>
        <p:spPr>
          <a:xfrm>
            <a:off x="9747799" y="3579876"/>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28 Feb</a:t>
            </a:r>
            <a:endParaRPr lang="en-US" sz="1000" dirty="0"/>
          </a:p>
        </p:txBody>
      </p:sp>
      <p:sp>
        <p:nvSpPr>
          <p:cNvPr id="97" name="Text 95"/>
          <p:cNvSpPr txBox="1"/>
          <p:nvPr/>
        </p:nvSpPr>
        <p:spPr>
          <a:xfrm>
            <a:off x="457200" y="3822192"/>
            <a:ext cx="2240280" cy="242316"/>
          </a:xfrm>
          <a:prstGeom prst="rect">
            <a:avLst/>
          </a:prstGeom>
          <a:noFill/>
          <a:ln/>
        </p:spPr>
        <p:txBody>
          <a:bodyPr wrap="square" lIns="0" tIns="0" rIns="0" bIns="0" rtlCol="0" anchor="ctr"/>
          <a:lstStyle/>
          <a:p>
            <a:pPr indent="0" marL="0">
              <a:buNone/>
            </a:pPr>
            <a:r>
              <a:rPr lang="en-US" sz="1100" b="1" dirty="0">
                <a:solidFill>
                  <a:srgbClr val="1B2333"/>
                </a:solidFill>
                <a:latin typeface="Calibri" pitchFamily="34" charset="0"/>
                <a:ea typeface="Calibri" pitchFamily="34" charset="-122"/>
                <a:cs typeface="Calibri" pitchFamily="34" charset="-120"/>
              </a:rPr>
              <a:t>M8 Gaze picks the instance</a:t>
            </a:r>
            <a:endParaRPr lang="en-US" sz="1100" dirty="0"/>
          </a:p>
        </p:txBody>
      </p:sp>
      <p:sp>
        <p:nvSpPr>
          <p:cNvPr id="98" name="Shape 96"/>
          <p:cNvSpPr/>
          <p:nvPr/>
        </p:nvSpPr>
        <p:spPr>
          <a:xfrm>
            <a:off x="2743200" y="4064508"/>
            <a:ext cx="8988552" cy="0"/>
          </a:xfrm>
          <a:prstGeom prst="line">
            <a:avLst/>
          </a:prstGeom>
          <a:noFill/>
          <a:ln w="6350">
            <a:solidFill>
              <a:srgbClr val="E8EBF0"/>
            </a:solidFill>
            <a:prstDash val="solid"/>
          </a:ln>
        </p:spPr>
      </p:sp>
      <p:sp>
        <p:nvSpPr>
          <p:cNvPr id="99" name="Shape 97"/>
          <p:cNvSpPr/>
          <p:nvPr/>
        </p:nvSpPr>
        <p:spPr>
          <a:xfrm>
            <a:off x="4192966" y="3877056"/>
            <a:ext cx="289953" cy="132588"/>
          </a:xfrm>
          <a:prstGeom prst="rect">
            <a:avLst/>
          </a:prstGeom>
          <a:solidFill>
            <a:srgbClr val="1F3B73"/>
          </a:solidFill>
          <a:ln/>
        </p:spPr>
      </p:sp>
      <p:sp>
        <p:nvSpPr>
          <p:cNvPr id="100" name="Shape 98"/>
          <p:cNvSpPr/>
          <p:nvPr/>
        </p:nvSpPr>
        <p:spPr>
          <a:xfrm>
            <a:off x="4482920" y="3877056"/>
            <a:ext cx="5799066" cy="132588"/>
          </a:xfrm>
          <a:prstGeom prst="rect">
            <a:avLst/>
          </a:prstGeom>
          <a:solidFill>
            <a:srgbClr val="AFC0DD"/>
          </a:solidFill>
          <a:ln/>
        </p:spPr>
      </p:sp>
      <p:sp>
        <p:nvSpPr>
          <p:cNvPr id="101" name="Text 99"/>
          <p:cNvSpPr txBox="1"/>
          <p:nvPr/>
        </p:nvSpPr>
        <p:spPr>
          <a:xfrm>
            <a:off x="10327706" y="3822192"/>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14 Mar</a:t>
            </a:r>
            <a:endParaRPr lang="en-US" sz="1000" dirty="0"/>
          </a:p>
        </p:txBody>
      </p:sp>
      <p:sp>
        <p:nvSpPr>
          <p:cNvPr id="102" name="Text 100"/>
          <p:cNvSpPr txBox="1"/>
          <p:nvPr/>
        </p:nvSpPr>
        <p:spPr>
          <a:xfrm>
            <a:off x="457200" y="4064508"/>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M9 Frontier scoring (optional)</a:t>
            </a:r>
            <a:endParaRPr lang="en-US" sz="1100" dirty="0"/>
          </a:p>
        </p:txBody>
      </p:sp>
      <p:sp>
        <p:nvSpPr>
          <p:cNvPr id="103" name="Shape 101"/>
          <p:cNvSpPr/>
          <p:nvPr/>
        </p:nvSpPr>
        <p:spPr>
          <a:xfrm>
            <a:off x="2743200" y="4306824"/>
            <a:ext cx="8988552" cy="0"/>
          </a:xfrm>
          <a:prstGeom prst="line">
            <a:avLst/>
          </a:prstGeom>
          <a:noFill/>
          <a:ln w="6350">
            <a:solidFill>
              <a:srgbClr val="E8EBF0"/>
            </a:solidFill>
            <a:prstDash val="solid"/>
          </a:ln>
        </p:spPr>
      </p:sp>
      <p:sp>
        <p:nvSpPr>
          <p:cNvPr id="104" name="Shape 102"/>
          <p:cNvSpPr/>
          <p:nvPr/>
        </p:nvSpPr>
        <p:spPr>
          <a:xfrm>
            <a:off x="7962359" y="4119372"/>
            <a:ext cx="1449766" cy="132588"/>
          </a:xfrm>
          <a:prstGeom prst="rect">
            <a:avLst/>
          </a:prstGeom>
          <a:solidFill>
            <a:srgbClr val="FFFFFF"/>
          </a:solidFill>
          <a:ln w="12700">
            <a:solidFill>
              <a:srgbClr val="8A93A3"/>
            </a:solidFill>
            <a:prstDash val="dash"/>
          </a:ln>
        </p:spPr>
      </p:sp>
      <p:sp>
        <p:nvSpPr>
          <p:cNvPr id="105" name="Text 103"/>
          <p:cNvSpPr txBox="1"/>
          <p:nvPr/>
        </p:nvSpPr>
        <p:spPr>
          <a:xfrm>
            <a:off x="9457846" y="4064508"/>
            <a:ext cx="1463040" cy="242316"/>
          </a:xfrm>
          <a:prstGeom prst="rect">
            <a:avLst/>
          </a:prstGeom>
          <a:noFill/>
          <a:ln/>
        </p:spPr>
        <p:txBody>
          <a:bodyPr wrap="square" lIns="0" tIns="0" rIns="0" bIns="0" rtlCol="0" anchor="ctr"/>
          <a:lstStyle/>
          <a:p>
            <a:pPr indent="0" marL="0">
              <a:buNone/>
            </a:pPr>
            <a:r>
              <a:rPr lang="en-US" sz="1000" i="1" dirty="0">
                <a:solidFill>
                  <a:srgbClr val="8A93A3"/>
                </a:solidFill>
                <a:latin typeface="Calibri" pitchFamily="34" charset="0"/>
                <a:ea typeface="Calibri" pitchFamily="34" charset="-122"/>
                <a:cs typeface="Calibri" pitchFamily="34" charset="-120"/>
              </a:rPr>
              <a:t>21 Feb, if kept</a:t>
            </a:r>
            <a:endParaRPr lang="en-US" sz="1000" dirty="0"/>
          </a:p>
        </p:txBody>
      </p:sp>
      <p:sp>
        <p:nvSpPr>
          <p:cNvPr id="106" name="Text 104"/>
          <p:cNvSpPr txBox="1"/>
          <p:nvPr/>
        </p:nvSpPr>
        <p:spPr>
          <a:xfrm>
            <a:off x="457200" y="4306824"/>
            <a:ext cx="2240280" cy="242316"/>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M10 Demo and paper</a:t>
            </a:r>
            <a:endParaRPr lang="en-US" sz="1100" dirty="0"/>
          </a:p>
        </p:txBody>
      </p:sp>
      <p:sp>
        <p:nvSpPr>
          <p:cNvPr id="107" name="Shape 105"/>
          <p:cNvSpPr/>
          <p:nvPr/>
        </p:nvSpPr>
        <p:spPr>
          <a:xfrm>
            <a:off x="2743200" y="4549140"/>
            <a:ext cx="8988552" cy="0"/>
          </a:xfrm>
          <a:prstGeom prst="line">
            <a:avLst/>
          </a:prstGeom>
          <a:noFill/>
          <a:ln w="6350">
            <a:solidFill>
              <a:srgbClr val="E8EBF0"/>
            </a:solidFill>
            <a:prstDash val="solid"/>
          </a:ln>
        </p:spPr>
      </p:sp>
      <p:sp>
        <p:nvSpPr>
          <p:cNvPr id="108" name="Shape 106"/>
          <p:cNvSpPr/>
          <p:nvPr/>
        </p:nvSpPr>
        <p:spPr>
          <a:xfrm>
            <a:off x="9702079" y="4361688"/>
            <a:ext cx="869860" cy="132588"/>
          </a:xfrm>
          <a:prstGeom prst="rect">
            <a:avLst/>
          </a:prstGeom>
          <a:solidFill>
            <a:srgbClr val="AFC0DD"/>
          </a:solidFill>
          <a:ln/>
        </p:spPr>
      </p:sp>
      <p:sp>
        <p:nvSpPr>
          <p:cNvPr id="109" name="Text 107"/>
          <p:cNvSpPr txBox="1"/>
          <p:nvPr/>
        </p:nvSpPr>
        <p:spPr>
          <a:xfrm>
            <a:off x="10617659" y="4306824"/>
            <a:ext cx="1463040" cy="242316"/>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21 Mar</a:t>
            </a:r>
            <a:endParaRPr lang="en-US" sz="1000" dirty="0"/>
          </a:p>
        </p:txBody>
      </p:sp>
      <p:sp>
        <p:nvSpPr>
          <p:cNvPr id="110" name="Shape 108"/>
          <p:cNvSpPr/>
          <p:nvPr/>
        </p:nvSpPr>
        <p:spPr>
          <a:xfrm>
            <a:off x="4565764" y="1591056"/>
            <a:ext cx="0" cy="2958084"/>
          </a:xfrm>
          <a:prstGeom prst="line">
            <a:avLst/>
          </a:prstGeom>
          <a:noFill/>
          <a:ln w="19050">
            <a:solidFill>
              <a:srgbClr val="B3392F"/>
            </a:solidFill>
            <a:prstDash val="solid"/>
          </a:ln>
        </p:spPr>
      </p:sp>
      <p:sp>
        <p:nvSpPr>
          <p:cNvPr id="111" name="Text 109"/>
          <p:cNvSpPr txBox="1"/>
          <p:nvPr/>
        </p:nvSpPr>
        <p:spPr>
          <a:xfrm>
            <a:off x="4620628" y="1883664"/>
            <a:ext cx="1463040" cy="242316"/>
          </a:xfrm>
          <a:prstGeom prst="rect">
            <a:avLst/>
          </a:prstGeom>
          <a:noFill/>
          <a:ln/>
        </p:spPr>
        <p:txBody>
          <a:bodyPr wrap="square" lIns="0" tIns="0" rIns="0" bIns="0" rtlCol="0" anchor="ctr"/>
          <a:lstStyle/>
          <a:p>
            <a:pPr indent="0" marL="0">
              <a:buNone/>
            </a:pPr>
            <a:r>
              <a:rPr lang="en-US" sz="1000" b="1" dirty="0">
                <a:solidFill>
                  <a:srgbClr val="B3392F"/>
                </a:solidFill>
                <a:latin typeface="Calibri" pitchFamily="34" charset="0"/>
                <a:ea typeface="Calibri" pitchFamily="34" charset="-122"/>
                <a:cs typeface="Calibri" pitchFamily="34" charset="-120"/>
              </a:rPr>
              <a:t>today: interim 28 Oct</a:t>
            </a:r>
            <a:endParaRPr lang="en-US" sz="1000" dirty="0"/>
          </a:p>
        </p:txBody>
      </p:sp>
      <p:sp>
        <p:nvSpPr>
          <p:cNvPr id="112" name="Shape 110"/>
          <p:cNvSpPr/>
          <p:nvPr/>
        </p:nvSpPr>
        <p:spPr>
          <a:xfrm>
            <a:off x="10861892" y="1591056"/>
            <a:ext cx="0" cy="2958084"/>
          </a:xfrm>
          <a:prstGeom prst="line">
            <a:avLst/>
          </a:prstGeom>
          <a:noFill/>
          <a:ln w="15875">
            <a:solidFill>
              <a:srgbClr val="1B2333"/>
            </a:solidFill>
            <a:prstDash val="dash"/>
          </a:ln>
        </p:spPr>
      </p:sp>
      <p:sp>
        <p:nvSpPr>
          <p:cNvPr id="113" name="Text 111"/>
          <p:cNvSpPr txBox="1"/>
          <p:nvPr/>
        </p:nvSpPr>
        <p:spPr>
          <a:xfrm>
            <a:off x="9490292" y="1883664"/>
            <a:ext cx="1316736" cy="242316"/>
          </a:xfrm>
          <a:prstGeom prst="rect">
            <a:avLst/>
          </a:prstGeom>
          <a:noFill/>
          <a:ln/>
        </p:spPr>
        <p:txBody>
          <a:bodyPr wrap="square" lIns="0" tIns="0" rIns="0" bIns="0" rtlCol="0" anchor="ctr"/>
          <a:lstStyle/>
          <a:p>
            <a:pPr algn="r" indent="0" marL="0">
              <a:buNone/>
            </a:pPr>
            <a:r>
              <a:rPr lang="en-US" sz="1000" b="1" dirty="0">
                <a:solidFill>
                  <a:srgbClr val="1B2333"/>
                </a:solidFill>
                <a:latin typeface="Calibri" pitchFamily="34" charset="0"/>
                <a:ea typeface="Calibri" pitchFamily="34" charset="-122"/>
                <a:cs typeface="Calibri" pitchFamily="34" charset="-120"/>
              </a:rPr>
              <a:t>final report 28 Mar</a:t>
            </a:r>
            <a:endParaRPr lang="en-US" sz="1000" dirty="0"/>
          </a:p>
        </p:txBody>
      </p:sp>
      <p:sp>
        <p:nvSpPr>
          <p:cNvPr id="114" name="Shape 112"/>
          <p:cNvSpPr/>
          <p:nvPr/>
        </p:nvSpPr>
        <p:spPr>
          <a:xfrm>
            <a:off x="457200" y="4869180"/>
            <a:ext cx="274320" cy="128016"/>
          </a:xfrm>
          <a:prstGeom prst="rect">
            <a:avLst/>
          </a:prstGeom>
          <a:solidFill>
            <a:srgbClr val="1F3B73"/>
          </a:solidFill>
          <a:ln/>
        </p:spPr>
      </p:sp>
      <p:sp>
        <p:nvSpPr>
          <p:cNvPr id="115" name="Text 113"/>
          <p:cNvSpPr txBox="1"/>
          <p:nvPr/>
        </p:nvSpPr>
        <p:spPr>
          <a:xfrm>
            <a:off x="786384" y="4823460"/>
            <a:ext cx="1188720" cy="219456"/>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actual to 24 Oct</a:t>
            </a:r>
            <a:endParaRPr lang="en-US" sz="1000" dirty="0"/>
          </a:p>
        </p:txBody>
      </p:sp>
      <p:sp>
        <p:nvSpPr>
          <p:cNvPr id="116" name="Shape 114"/>
          <p:cNvSpPr/>
          <p:nvPr/>
        </p:nvSpPr>
        <p:spPr>
          <a:xfrm>
            <a:off x="1965960" y="4869180"/>
            <a:ext cx="274320" cy="128016"/>
          </a:xfrm>
          <a:prstGeom prst="rect">
            <a:avLst/>
          </a:prstGeom>
          <a:solidFill>
            <a:srgbClr val="AFC0DD"/>
          </a:solidFill>
          <a:ln/>
        </p:spPr>
      </p:sp>
      <p:sp>
        <p:nvSpPr>
          <p:cNvPr id="117" name="Text 115"/>
          <p:cNvSpPr txBox="1"/>
          <p:nvPr/>
        </p:nvSpPr>
        <p:spPr>
          <a:xfrm>
            <a:off x="2295144" y="4823460"/>
            <a:ext cx="731520" cy="219456"/>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forecast</a:t>
            </a:r>
            <a:endParaRPr lang="en-US" sz="1000" dirty="0"/>
          </a:p>
        </p:txBody>
      </p:sp>
      <p:sp>
        <p:nvSpPr>
          <p:cNvPr id="118" name="Shape 116"/>
          <p:cNvSpPr/>
          <p:nvPr/>
        </p:nvSpPr>
        <p:spPr>
          <a:xfrm>
            <a:off x="3017520" y="4869180"/>
            <a:ext cx="274320" cy="128016"/>
          </a:xfrm>
          <a:prstGeom prst="rect">
            <a:avLst/>
          </a:prstGeom>
          <a:solidFill>
            <a:srgbClr val="FFFFFF"/>
          </a:solidFill>
          <a:ln w="12700">
            <a:solidFill>
              <a:srgbClr val="8A93A3"/>
            </a:solidFill>
            <a:prstDash val="dash"/>
          </a:ln>
        </p:spPr>
      </p:sp>
      <p:sp>
        <p:nvSpPr>
          <p:cNvPr id="119" name="Text 117"/>
          <p:cNvSpPr txBox="1"/>
          <p:nvPr/>
        </p:nvSpPr>
        <p:spPr>
          <a:xfrm>
            <a:off x="3346704" y="4823460"/>
            <a:ext cx="1371600" cy="219456"/>
          </a:xfrm>
          <a:prstGeom prst="rect">
            <a:avLst/>
          </a:prstGeom>
          <a:noFill/>
          <a:ln/>
        </p:spPr>
        <p:txBody>
          <a:bodyPr wrap="square" lIns="0" tIns="0" rIns="0" bIns="0" rtlCol="0" anchor="t"/>
          <a:lstStyle/>
          <a:p>
            <a:pPr indent="0" marL="0">
              <a:buNone/>
            </a:pPr>
            <a:r>
              <a:rPr lang="en-US" sz="1000" dirty="0">
                <a:solidFill>
                  <a:srgbClr val="5B6577"/>
                </a:solidFill>
                <a:latin typeface="Calibri" pitchFamily="34" charset="0"/>
                <a:ea typeface="Calibri" pitchFamily="34" charset="-122"/>
                <a:cs typeface="Calibri" pitchFamily="34" charset="-120"/>
              </a:rPr>
              <a:t>optional, likely cut</a:t>
            </a:r>
            <a:endParaRPr lang="en-US" sz="1000" dirty="0"/>
          </a:p>
        </p:txBody>
      </p:sp>
      <p:sp>
        <p:nvSpPr>
          <p:cNvPr id="120" name="Text 118"/>
          <p:cNvSpPr txBox="1"/>
          <p:nvPr/>
        </p:nvSpPr>
        <p:spPr>
          <a:xfrm>
            <a:off x="4800600" y="4823460"/>
            <a:ext cx="6931152" cy="219456"/>
          </a:xfrm>
          <a:prstGeom prst="rect">
            <a:avLst/>
          </a:prstGeom>
          <a:noFill/>
          <a:ln/>
        </p:spPr>
        <p:txBody>
          <a:bodyPr wrap="square" lIns="0" tIns="0" rIns="0" bIns="0" rtlCol="0" anchor="t"/>
          <a:lstStyle/>
          <a:p>
            <a:pPr indent="0" marL="0">
              <a:buNone/>
            </a:pPr>
            <a:r>
              <a:rPr lang="en-US" sz="1000" i="1" dirty="0">
                <a:solidFill>
                  <a:srgbClr val="5B6577"/>
                </a:solidFill>
                <a:latin typeface="Calibri" pitchFamily="34" charset="0"/>
                <a:ea typeface="Calibri" pitchFamily="34" charset="-122"/>
                <a:cs typeface="Calibri" pitchFamily="34" charset="-120"/>
              </a:rPr>
              <a:t>Grey bands: no work or half speed. Bars that cross them are calendar time, not working time. Forecasts re-estimated on 24 Oct: estimates, not commitments</a:t>
            </a:r>
            <a:endParaRPr lang="en-US" sz="1000" dirty="0"/>
          </a:p>
        </p:txBody>
      </p:sp>
      <p:sp>
        <p:nvSpPr>
          <p:cNvPr id="121" name="Text 119"/>
          <p:cNvSpPr txBox="1"/>
          <p:nvPr/>
        </p:nvSpPr>
        <p:spPr>
          <a:xfrm>
            <a:off x="457200" y="5152644"/>
            <a:ext cx="3639312" cy="1188720"/>
          </a:xfrm>
          <a:prstGeom prst="rect">
            <a:avLst/>
          </a:prstGeom>
          <a:noFill/>
          <a:ln/>
        </p:spPr>
        <p:txBody>
          <a:bodyPr wrap="square" lIns="0" tIns="0" rIns="0" bIns="0" rtlCol="0" anchor="t"/>
          <a:lstStyle/>
          <a:p>
            <a:pPr indent="0" marL="0">
              <a:spcAft>
                <a:spcPts val="300"/>
              </a:spcAft>
              <a:buNone/>
            </a:pPr>
            <a:r>
              <a:rPr lang="en-US" sz="1300" b="1" dirty="0">
                <a:solidFill>
                  <a:srgbClr val="1F3B73"/>
                </a:solidFill>
                <a:latin typeface="Calibri" pitchFamily="34" charset="0"/>
                <a:ea typeface="Calibri" pitchFamily="34" charset="-122"/>
                <a:cs typeface="Calibri" pitchFamily="34" charset="-120"/>
              </a:rPr>
              <a:t>Against the September plan at week 7</a:t>
            </a:r>
            <a:endParaRPr lang="en-US" sz="1300" dirty="0"/>
          </a:p>
          <a:p>
            <a:pPr indent="0" marL="0">
              <a:spcAft>
                <a:spcPts val="300"/>
              </a:spcAft>
              <a:buNone/>
            </a:pPr>
            <a:r>
              <a:rPr lang="en-US" sz="1300" dirty="0">
                <a:solidFill>
                  <a:srgbClr val="1B2333"/>
                </a:solidFill>
                <a:latin typeface="Calibri" pitchFamily="34" charset="0"/>
                <a:ea typeface="Calibri" pitchFamily="34" charset="-122"/>
                <a:cs typeface="Calibri" pitchFamily="34" charset="-120"/>
              </a:rPr>
              <a:t>Planned: M0 done, M1 and M3 under way</a:t>
            </a:r>
            <a:endParaRPr lang="en-US" sz="1300" dirty="0"/>
          </a:p>
          <a:p>
            <a:pPr indent="0" marL="0">
              <a:spcAft>
                <a:spcPts val="300"/>
              </a:spcAft>
              <a:buNone/>
            </a:pPr>
            <a:r>
              <a:rPr lang="en-US" sz="1300" b="1" dirty="0">
                <a:solidFill>
                  <a:srgbClr val="1B2333"/>
                </a:solidFill>
                <a:latin typeface="Calibri" pitchFamily="34" charset="0"/>
                <a:ea typeface="Calibri" pitchFamily="34" charset="-122"/>
                <a:cs typeface="Calibri" pitchFamily="34" charset="-120"/>
              </a:rPr>
              <a:t>Actual: M0 done. M1 met on the simple path. M3 map and localisation done</a:t>
            </a:r>
            <a:endParaRPr lang="en-US" sz="1300" dirty="0"/>
          </a:p>
        </p:txBody>
      </p:sp>
      <p:sp>
        <p:nvSpPr>
          <p:cNvPr id="122" name="Text 120"/>
          <p:cNvSpPr txBox="1"/>
          <p:nvPr/>
        </p:nvSpPr>
        <p:spPr>
          <a:xfrm>
            <a:off x="4279392" y="5152644"/>
            <a:ext cx="3639312" cy="1188720"/>
          </a:xfrm>
          <a:prstGeom prst="rect">
            <a:avLst/>
          </a:prstGeom>
          <a:noFill/>
          <a:ln/>
        </p:spPr>
        <p:txBody>
          <a:bodyPr wrap="square" lIns="0" tIns="0" rIns="0" bIns="0" rtlCol="0" anchor="t"/>
          <a:lstStyle/>
          <a:p>
            <a:pPr indent="0" marL="0">
              <a:spcAft>
                <a:spcPts val="300"/>
              </a:spcAft>
              <a:buNone/>
            </a:pPr>
            <a:r>
              <a:rPr lang="en-US" sz="1300" b="1" dirty="0">
                <a:solidFill>
                  <a:srgbClr val="1F5C39"/>
                </a:solidFill>
                <a:latin typeface="Calibri" pitchFamily="34" charset="0"/>
                <a:ea typeface="Calibri" pitchFamily="34" charset="-122"/>
                <a:cs typeface="Calibri" pitchFamily="34" charset="-120"/>
              </a:rPr>
              <a:t>Started early: </a:t>
            </a:r>
            <a:pPr indent="0" marL="0">
              <a:spcAft>
                <a:spcPts val="300"/>
              </a:spcAft>
              <a:buNone/>
            </a:pPr>
            <a:r>
              <a:rPr lang="en-US" sz="1300" dirty="0">
                <a:solidFill>
                  <a:srgbClr val="1B2333"/>
                </a:solidFill>
                <a:latin typeface="Calibri" pitchFamily="34" charset="0"/>
                <a:ea typeface="Calibri" pitchFamily="34" charset="-122"/>
                <a:cs typeface="Calibri" pitchFamily="34" charset="-120"/>
              </a:rPr>
              <a:t>M2 (voice and gaze to arm), M6 (memory graph), M8 (gaze picks the instance)</a:t>
            </a:r>
            <a:endParaRPr lang="en-US" sz="1300" dirty="0"/>
          </a:p>
          <a:p>
            <a:pPr indent="0" marL="0">
              <a:spcAft>
                <a:spcPts val="300"/>
              </a:spcAft>
              <a:buNone/>
            </a:pPr>
            <a:r>
              <a:rPr lang="en-US" sz="1300" b="1" dirty="0">
                <a:solidFill>
                  <a:srgbClr val="7A4E0B"/>
                </a:solidFill>
                <a:latin typeface="Calibri" pitchFamily="34" charset="0"/>
                <a:ea typeface="Calibri" pitchFamily="34" charset="-122"/>
                <a:cs typeface="Calibri" pitchFamily="34" charset="-120"/>
              </a:rPr>
              <a:t>Behind: </a:t>
            </a:r>
            <a:pPr indent="0" marL="0">
              <a:spcAft>
                <a:spcPts val="300"/>
              </a:spcAft>
              <a:buNone/>
            </a:pPr>
            <a:r>
              <a:rPr lang="en-US" sz="1300" dirty="0">
                <a:solidFill>
                  <a:srgbClr val="1B2333"/>
                </a:solidFill>
                <a:latin typeface="Calibri" pitchFamily="34" charset="0"/>
                <a:ea typeface="Calibri" pitchFamily="34" charset="-122"/>
                <a:cs typeface="Calibri" pitchFamily="34" charset="-120"/>
              </a:rPr>
              <a:t>base camera calibration (M5) and drive-to-point (M3), one to two weeks</a:t>
            </a:r>
            <a:endParaRPr lang="en-US" sz="1300" dirty="0"/>
          </a:p>
        </p:txBody>
      </p:sp>
      <p:sp>
        <p:nvSpPr>
          <p:cNvPr id="123" name="Text 121"/>
          <p:cNvSpPr txBox="1"/>
          <p:nvPr/>
        </p:nvSpPr>
        <p:spPr>
          <a:xfrm>
            <a:off x="8101584" y="5152644"/>
            <a:ext cx="3611880" cy="1188720"/>
          </a:xfrm>
          <a:prstGeom prst="rect">
            <a:avLst/>
          </a:prstGeom>
          <a:noFill/>
          <a:ln/>
        </p:spPr>
        <p:txBody>
          <a:bodyPr wrap="square" lIns="0" tIns="0" rIns="0" bIns="0" rtlCol="0" anchor="t"/>
          <a:lstStyle/>
          <a:p>
            <a:pPr indent="0" marL="0">
              <a:spcAft>
                <a:spcPts val="200"/>
              </a:spcAft>
              <a:buNone/>
            </a:pPr>
            <a:r>
              <a:rPr lang="en-US" sz="1250" dirty="0">
                <a:solidFill>
                  <a:srgbClr val="1B2333"/>
                </a:solidFill>
                <a:latin typeface="Calibri" pitchFamily="34" charset="0"/>
                <a:ea typeface="Calibri" pitchFamily="34" charset="-122"/>
                <a:cs typeface="Calibri" pitchFamily="34" charset="-120"/>
              </a:rPr>
              <a:t>Each milestone has a written test, </a:t>
            </a:r>
            <a:pPr indent="0" marL="0">
              <a:spcAft>
                <a:spcPts val="200"/>
              </a:spcAft>
              <a:buNone/>
            </a:pPr>
            <a:r>
              <a:rPr lang="en-US" sz="1250" b="1" dirty="0">
                <a:solidFill>
                  <a:srgbClr val="1B2333"/>
                </a:solidFill>
                <a:latin typeface="Calibri" pitchFamily="34" charset="0"/>
                <a:ea typeface="Calibri" pitchFamily="34" charset="-122"/>
                <a:cs typeface="Calibri" pitchFamily="34" charset="-120"/>
              </a:rPr>
              <a:t>for example M2: two boxes, the arm picks the one you looked at, 3 times in 4</a:t>
            </a:r>
            <a:pPr indent="0" marL="0">
              <a:spcAft>
                <a:spcPts val="200"/>
              </a:spcAft>
              <a:buNone/>
            </a:pPr>
            <a:r>
              <a:rPr lang="en-US" sz="1250" dirty="0">
                <a:solidFill>
                  <a:srgbClr val="1B2333"/>
                </a:solidFill>
                <a:latin typeface="Calibri" pitchFamily="34" charset="0"/>
                <a:ea typeface="Calibri" pitchFamily="34" charset="-122"/>
                <a:cs typeface="Calibri" pitchFamily="34" charset="-120"/>
              </a:rPr>
              <a:t>. Full list in A10</a:t>
            </a:r>
            <a:endParaRPr lang="en-US" sz="1250" dirty="0"/>
          </a:p>
          <a:p>
            <a:pPr indent="0" marL="0">
              <a:spcAft>
                <a:spcPts val="200"/>
              </a:spcAft>
              <a:buNone/>
            </a:pPr>
            <a:r>
              <a:rPr lang="en-US" sz="1250" dirty="0">
                <a:solidFill>
                  <a:srgbClr val="1B2333"/>
                </a:solidFill>
                <a:latin typeface="Calibri" pitchFamily="34" charset="0"/>
                <a:ea typeface="Calibri" pitchFamily="34" charset="-122"/>
                <a:cs typeface="Calibri" pitchFamily="34" charset="-120"/>
              </a:rPr>
              <a:t>Progress: 97 of 171 task rows done</a:t>
            </a:r>
            <a:endParaRPr lang="en-US" sz="1250" dirty="0"/>
          </a:p>
          <a:p>
            <a:pPr indent="0" marL="0">
              <a:spcAft>
                <a:spcPts val="200"/>
              </a:spcAft>
              <a:buNone/>
            </a:pPr>
            <a:r>
              <a:rPr lang="en-US" sz="1250" dirty="0">
                <a:solidFill>
                  <a:srgbClr val="1B2333"/>
                </a:solidFill>
                <a:latin typeface="Calibri" pitchFamily="34" charset="0"/>
                <a:ea typeface="Calibri" pitchFamily="34" charset="-122"/>
                <a:cs typeface="Calibri" pitchFamily="34" charset="-120"/>
              </a:rPr>
              <a:t>Final report 28 Mar 2027 (week 28), oral weeks 30 and 31</a:t>
            </a:r>
            <a:endParaRPr lang="en-US" sz="1250" dirty="0"/>
          </a:p>
        </p:txBody>
      </p:sp>
      <p:sp>
        <p:nvSpPr>
          <p:cNvPr id="124" name="Text 122"/>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Sherman</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Budget: SGD 1,500 for compute, approved. Risks are mostly schedule and shared hardware</a:t>
            </a:r>
            <a:endParaRPr lang="en-US" sz="2400" dirty="0"/>
          </a:p>
        </p:txBody>
      </p:sp>
      <p:sp>
        <p:nvSpPr>
          <p:cNvPr id="3" name="Text 1"/>
          <p:cNvSpPr txBox="1"/>
          <p:nvPr/>
        </p:nvSpPr>
        <p:spPr>
          <a:xfrm>
            <a:off x="457200" y="1463040"/>
            <a:ext cx="4023360" cy="310896"/>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Budget in SGD, approved, dated 5 Oct 2026</a:t>
            </a:r>
            <a:endParaRPr lang="en-US" sz="1600" dirty="0"/>
          </a:p>
        </p:txBody>
      </p:sp>
      <p:sp>
        <p:nvSpPr>
          <p:cNvPr id="4" name="Shape 2"/>
          <p:cNvSpPr/>
          <p:nvPr/>
        </p:nvSpPr>
        <p:spPr>
          <a:xfrm>
            <a:off x="4709160" y="1481328"/>
            <a:ext cx="1188720" cy="274320"/>
          </a:xfrm>
          <a:prstGeom prst="rect">
            <a:avLst/>
          </a:prstGeom>
          <a:solidFill>
            <a:srgbClr val="E3F1E8"/>
          </a:solidFill>
          <a:ln w="12700">
            <a:solidFill>
              <a:srgbClr val="2E7D4F"/>
            </a:solidFill>
            <a:prstDash val="solid"/>
          </a:ln>
        </p:spPr>
      </p:sp>
      <p:sp>
        <p:nvSpPr>
          <p:cNvPr id="5" name="Text 3"/>
          <p:cNvSpPr txBox="1"/>
          <p:nvPr/>
        </p:nvSpPr>
        <p:spPr>
          <a:xfrm>
            <a:off x="4709160" y="1481328"/>
            <a:ext cx="1188720" cy="274320"/>
          </a:xfrm>
          <a:prstGeom prst="rect">
            <a:avLst/>
          </a:prstGeom>
          <a:noFill/>
          <a:ln/>
        </p:spPr>
        <p:txBody>
          <a:bodyPr wrap="square" lIns="0" tIns="0" rIns="0" bIns="0" rtlCol="0" anchor="ctr"/>
          <a:lstStyle/>
          <a:p>
            <a:pPr algn="ctr" indent="0" marL="0">
              <a:buNone/>
            </a:pPr>
            <a:r>
              <a:rPr lang="en-US" sz="1200" b="1" dirty="0">
                <a:solidFill>
                  <a:srgbClr val="1F5C39"/>
                </a:solidFill>
                <a:latin typeface="Calibri" pitchFamily="34" charset="0"/>
                <a:ea typeface="Calibri" pitchFamily="34" charset="-122"/>
                <a:cs typeface="Calibri" pitchFamily="34" charset="-120"/>
              </a:rPr>
              <a:t>Approved</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5440680" cy="914400"/>
        </p:xfrm>
        <a:graphic>
          <a:graphicData uri="http://schemas.openxmlformats.org/drawingml/2006/table">
            <a:tbl>
              <a:tblPr/>
              <a:tblGrid>
                <a:gridCol w="411480"/>
                <a:gridCol w="1188720"/>
                <a:gridCol w="960120"/>
                <a:gridCol w="502920"/>
                <a:gridCol w="822960"/>
                <a:gridCol w="1554480"/>
              </a:tblGrid>
              <a:tr h="384048">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algn="r" indent="0" marL="0">
                        <a:buNone/>
                      </a:pPr>
                      <a:r>
                        <a:rPr lang="en-US" sz="1200" b="1" dirty="0">
                          <a:solidFill>
                            <a:srgbClr val="5B6577"/>
                          </a:solidFill>
                          <a:latin typeface="Calibri" pitchFamily="34" charset="0"/>
                          <a:ea typeface="Calibri" pitchFamily="34" charset="-122"/>
                          <a:cs typeface="Calibri" pitchFamily="34" charset="-120"/>
                        </a:rPr>
                        <a:t>Cost per unit</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algn="r" indent="0" marL="0">
                        <a:buNone/>
                      </a:pPr>
                      <a:r>
                        <a:rPr lang="en-US" sz="1200" b="1" dirty="0">
                          <a:solidFill>
                            <a:srgbClr val="5B6577"/>
                          </a:solidFill>
                          <a:latin typeface="Calibri" pitchFamily="34" charset="0"/>
                          <a:ea typeface="Calibri" pitchFamily="34" charset="-122"/>
                          <a:cs typeface="Calibri" pitchFamily="34" charset="-120"/>
                        </a:rPr>
                        <a:t>Units</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algn="r" indent="0" marL="0">
                        <a:buNone/>
                      </a:pPr>
                      <a:r>
                        <a:rPr lang="en-US" sz="1200" b="1" dirty="0">
                          <a:solidFill>
                            <a:srgbClr val="5B6577"/>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Hardware GPU</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dirty="0">
                          <a:solidFill>
                            <a:srgbClr val="1B2333"/>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dirty="0">
                          <a:solidFill>
                            <a:srgbClr val="1B23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dirty="0">
                          <a:solidFill>
                            <a:srgbClr val="1B2333"/>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Compute requirement</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API credits</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dirty="0">
                          <a:solidFill>
                            <a:srgbClr val="1B2333"/>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dirty="0">
                          <a:solidFill>
                            <a:srgbClr val="1B23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dirty="0">
                          <a:solidFill>
                            <a:srgbClr val="1B2333"/>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Compute requirement (AI services)</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b="1" dirty="0">
                          <a:solidFill>
                            <a:srgbClr val="1B2333"/>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algn="r" indent="0" marL="0">
                        <a:buNone/>
                      </a:pPr>
                      <a:r>
                        <a:rPr lang="en-US" sz="1300" b="1" dirty="0">
                          <a:solidFill>
                            <a:srgbClr val="1B2333"/>
                          </a:solidFill>
                          <a:latin typeface="Calibri" pitchFamily="34" charset="0"/>
                          <a:ea typeface="Calibri" pitchFamily="34" charset="-122"/>
                          <a:cs typeface="Calibri" pitchFamily="34" charset="-120"/>
                        </a:rPr>
                        <a:t>1,500.00</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7" name="Text 4"/>
          <p:cNvSpPr txBox="1"/>
          <p:nvPr/>
        </p:nvSpPr>
        <p:spPr>
          <a:xfrm>
            <a:off x="457200" y="4206240"/>
            <a:ext cx="5440680" cy="1188720"/>
          </a:xfrm>
          <a:prstGeom prst="rect">
            <a:avLst/>
          </a:prstGeom>
          <a:noFill/>
          <a:ln/>
        </p:spPr>
        <p:txBody>
          <a:bodyPr wrap="square" lIns="0" tIns="0" rIns="0" bIns="0" rtlCol="0" anchor="t"/>
          <a:lstStyle/>
          <a:p>
            <a:pPr indent="0" marL="0">
              <a:buNone/>
            </a:pPr>
            <a:r>
              <a:rPr lang="en-US" sz="1500" b="1" dirty="0">
                <a:solidFill>
                  <a:srgbClr val="1B2333"/>
                </a:solidFill>
                <a:latin typeface="Calibri" pitchFamily="34" charset="0"/>
                <a:ea typeface="Calibri" pitchFamily="34" charset="-122"/>
                <a:cs typeface="Calibri" pitchFamily="34" charset="-120"/>
              </a:rPr>
              <a:t>Why compute: </a:t>
            </a:r>
            <a:pPr indent="0" marL="0">
              <a:buNone/>
            </a:pPr>
            <a:r>
              <a:rPr lang="en-US" sz="1500" dirty="0">
                <a:solidFill>
                  <a:srgbClr val="1B2333"/>
                </a:solidFill>
                <a:latin typeface="Calibri" pitchFamily="34" charset="0"/>
                <a:ea typeface="Calibri" pitchFamily="34" charset="-122"/>
                <a:cs typeface="Calibri" pitchFamily="34" charset="-120"/>
              </a:rPr>
              <a:t>one shared 16 GB GPU runs SAM 3, AnyGrasp, CLIP, Whisper and two language models for three people and CI. Batched SAM 3 alone peaks at 10.3 GiB. The full set has never run together</a:t>
            </a:r>
            <a:endParaRPr lang="en-US" sz="1500" dirty="0"/>
          </a:p>
        </p:txBody>
      </p:sp>
      <p:sp>
        <p:nvSpPr>
          <p:cNvPr id="8" name="Text 5"/>
          <p:cNvSpPr txBox="1"/>
          <p:nvPr/>
        </p:nvSpPr>
        <p:spPr>
          <a:xfrm>
            <a:off x="6263640" y="1463040"/>
            <a:ext cx="5468112" cy="310896"/>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Risks and status</a:t>
            </a:r>
            <a:endParaRPr lang="en-US" sz="16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263640" y="1920240"/>
          <a:ext cx="5468112" cy="914400"/>
        </p:xfrm>
        <a:graphic>
          <a:graphicData uri="http://schemas.openxmlformats.org/drawingml/2006/table">
            <a:tbl>
              <a:tblPr/>
              <a:tblGrid>
                <a:gridCol w="365760"/>
                <a:gridCol w="2240280"/>
                <a:gridCol w="2862072"/>
              </a:tblGrid>
              <a:tr h="365760">
                <a:tc>
                  <a:txBody>
                    <a:bodyPr/>
                    <a:lstStyle/>
                    <a:p>
                      <a:pPr indent="0" marL="0">
                        <a:buNone/>
                      </a:pP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658368">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AnyGrasp licence bound to a hardware ID</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New licence requested, network ID pinned</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658368">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Shared, throttled lab machine</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Ongoing: CPU throttling, two silent hangs, disk 89 % full</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658368">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No hardware stop on arm or base</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Software stop tested, two people and the power button at every test</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658368">
                <a:tc>
                  <a:txBody>
                    <a:bodyPr/>
                    <a:lstStyle/>
                    <a:p>
                      <a:pPr algn="ctr" indent="0" marL="0">
                        <a:buNone/>
                      </a:pPr>
                      <a:r>
                        <a:rPr lang="en-US" sz="1600" dirty="0">
                          <a:solidFill>
                            <a:srgbClr val="2E7D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Graph duplicates from poor camera poses</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Controlled: 8 to 3 duplicates, 0 false merges</a:t>
                      </a:r>
                      <a:endParaRPr lang="en-US" sz="1300" dirty="0">
                        <a:latin typeface="Calibri" charset="0"/>
                        <a:ea typeface="Calibri" charset="0"/>
                        <a:cs typeface="Calibri" charset="0"/>
                      </a:endParaRPr>
                    </a:p>
                  </a:txBody>
                  <a:tcPr marL="73152" marR="73152" marT="36576" marB="36576"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10" name="Text 6"/>
          <p:cNvSpPr txBox="1"/>
          <p:nvPr/>
        </p:nvSpPr>
        <p:spPr>
          <a:xfrm>
            <a:off x="6263640" y="5074920"/>
            <a:ext cx="2743200" cy="237744"/>
          </a:xfrm>
          <a:prstGeom prst="rect">
            <a:avLst/>
          </a:prstGeom>
          <a:noFill/>
          <a:ln/>
        </p:spPr>
        <p:txBody>
          <a:bodyPr wrap="square" lIns="0" tIns="0" rIns="0" bIns="0" rtlCol="0" anchor="t"/>
          <a:lstStyle/>
          <a:p>
            <a:pPr indent="0" marL="0">
              <a:buNone/>
            </a:pPr>
            <a:r>
              <a:rPr lang="en-US" sz="1150" dirty="0">
                <a:solidFill>
                  <a:srgbClr val="B7791F"/>
                </a:solidFill>
                <a:latin typeface="Calibri" pitchFamily="34" charset="0"/>
                <a:ea typeface="Calibri" pitchFamily="34" charset="-122"/>
                <a:cs typeface="Calibri" pitchFamily="34" charset="-120"/>
              </a:rPr>
              <a:t>● </a:t>
            </a:r>
            <a:pPr indent="0" marL="0">
              <a:buNone/>
            </a:pPr>
            <a:r>
              <a:rPr lang="en-US" sz="1150" dirty="0">
                <a:solidFill>
                  <a:srgbClr val="5B6577"/>
                </a:solidFill>
                <a:latin typeface="Calibri" pitchFamily="34" charset="0"/>
                <a:ea typeface="Calibri" pitchFamily="34" charset="-122"/>
                <a:cs typeface="Calibri" pitchFamily="34" charset="-120"/>
              </a:rPr>
              <a:t>ongoing   </a:t>
            </a:r>
            <a:pPr indent="0" marL="0">
              <a:buNone/>
            </a:pPr>
            <a:r>
              <a:rPr lang="en-US" sz="1150" dirty="0">
                <a:solidFill>
                  <a:srgbClr val="2E7D4F"/>
                </a:solidFill>
                <a:latin typeface="Calibri" pitchFamily="34" charset="0"/>
                <a:ea typeface="Calibri" pitchFamily="34" charset="-122"/>
                <a:cs typeface="Calibri" pitchFamily="34" charset="-120"/>
              </a:rPr>
              <a:t>● </a:t>
            </a:r>
            <a:pPr indent="0" marL="0">
              <a:buNone/>
            </a:pPr>
            <a:r>
              <a:rPr lang="en-US" sz="1150" dirty="0">
                <a:solidFill>
                  <a:srgbClr val="5B6577"/>
                </a:solidFill>
                <a:latin typeface="Calibri" pitchFamily="34" charset="0"/>
                <a:ea typeface="Calibri" pitchFamily="34" charset="-122"/>
                <a:cs typeface="Calibri" pitchFamily="34" charset="-120"/>
              </a:rPr>
              <a:t>controlled</a:t>
            </a:r>
            <a:endParaRPr lang="en-US" sz="1150" dirty="0"/>
          </a:p>
        </p:txBody>
      </p:sp>
      <p:sp>
        <p:nvSpPr>
          <p:cNvPr id="11" name="Shape 7"/>
          <p:cNvSpPr/>
          <p:nvPr/>
        </p:nvSpPr>
        <p:spPr>
          <a:xfrm>
            <a:off x="457200" y="5577840"/>
            <a:ext cx="11274552" cy="685800"/>
          </a:xfrm>
          <a:prstGeom prst="rect">
            <a:avLst/>
          </a:prstGeom>
          <a:solidFill>
            <a:srgbClr val="F2F4F8"/>
          </a:solidFill>
          <a:ln/>
        </p:spPr>
      </p:sp>
      <p:sp>
        <p:nvSpPr>
          <p:cNvPr id="12" name="Text 8"/>
          <p:cNvSpPr txBox="1"/>
          <p:nvPr/>
        </p:nvSpPr>
        <p:spPr>
          <a:xfrm>
            <a:off x="640080" y="5577840"/>
            <a:ext cx="10908792" cy="685800"/>
          </a:xfrm>
          <a:prstGeom prst="rect">
            <a:avLst/>
          </a:prstGeom>
          <a:noFill/>
          <a:ln/>
        </p:spPr>
        <p:txBody>
          <a:bodyPr wrap="square" lIns="0" tIns="0" rIns="0" bIns="0" rtlCol="0" anchor="ctr"/>
          <a:lstStyle/>
          <a:p>
            <a:pPr indent="0" marL="0">
              <a:buNone/>
            </a:pPr>
            <a:r>
              <a:rPr lang="en-US" sz="1450" b="1" dirty="0">
                <a:solidFill>
                  <a:srgbClr val="1B2333"/>
                </a:solidFill>
                <a:latin typeface="Calibri" pitchFamily="34" charset="0"/>
                <a:ea typeface="Calibri" pitchFamily="34" charset="-122"/>
                <a:cs typeface="Calibri" pitchFamily="34" charset="-120"/>
              </a:rPr>
              <a:t>Cut order if late: </a:t>
            </a:r>
            <a:pPr indent="0" marL="0">
              <a:buNone/>
            </a:pPr>
            <a:r>
              <a:rPr lang="en-US" sz="1450" dirty="0">
                <a:solidFill>
                  <a:srgbClr val="1B2333"/>
                </a:solidFill>
                <a:latin typeface="Calibri" pitchFamily="34" charset="0"/>
                <a:ea typeface="Calibri" pitchFamily="34" charset="-122"/>
                <a:cs typeface="Calibri" pitchFamily="34" charset="-120"/>
              </a:rPr>
              <a:t>M9 (smarter exploration order), without-gaze comparison, reasoning layer, graph pruning, two-stage trigger, fewer end-to-end trials</a:t>
            </a:r>
            <a:endParaRPr lang="en-US" sz="1450" dirty="0"/>
          </a:p>
        </p:txBody>
      </p:sp>
      <p:sp>
        <p:nvSpPr>
          <p:cNvPr id="13" name="Text 9"/>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Zongzhe</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749808"/>
          </a:xfrm>
          <a:prstGeom prst="rect">
            <a:avLst/>
          </a:prstGeom>
          <a:noFill/>
          <a:ln/>
        </p:spPr>
        <p:txBody>
          <a:bodyPr wrap="square" lIns="0" tIns="0" rIns="0" bIns="0" rtlCol="0" anchor="t"/>
          <a:lstStyle/>
          <a:p>
            <a:pPr algn="l" indent="0" marL="0">
              <a:buNone/>
            </a:pPr>
            <a:r>
              <a:rPr lang="en-US" sz="2400" b="1" dirty="0">
                <a:solidFill>
                  <a:srgbClr val="1B2333"/>
                </a:solidFill>
                <a:latin typeface="Calibri" pitchFamily="34" charset="0"/>
                <a:ea typeface="Calibri" pitchFamily="34" charset="-122"/>
                <a:cs typeface="Calibri" pitchFamily="34" charset="-120"/>
              </a:rPr>
              <a:t>Next: close the grasp, drive the base, query the graph. Then explore with gaze</a:t>
            </a:r>
            <a:endParaRPr lang="en-US" sz="2400" dirty="0"/>
          </a:p>
        </p:txBody>
      </p:sp>
      <p:sp>
        <p:nvSpPr>
          <p:cNvPr id="3" name="Shape 1"/>
          <p:cNvSpPr/>
          <p:nvPr/>
        </p:nvSpPr>
        <p:spPr>
          <a:xfrm>
            <a:off x="457200" y="1517904"/>
            <a:ext cx="201168" cy="201168"/>
          </a:xfrm>
          <a:prstGeom prst="ellipse">
            <a:avLst/>
          </a:prstGeom>
          <a:solidFill>
            <a:srgbClr val="1F3B73"/>
          </a:solidFill>
          <a:ln w="12700">
            <a:solidFill>
              <a:srgbClr val="1F3B73"/>
            </a:solidFill>
            <a:prstDash val="solid"/>
          </a:ln>
        </p:spPr>
      </p:sp>
      <p:sp>
        <p:nvSpPr>
          <p:cNvPr id="4" name="Text 2"/>
          <p:cNvSpPr txBox="1"/>
          <p:nvPr/>
        </p:nvSpPr>
        <p:spPr>
          <a:xfrm>
            <a:off x="777240" y="1463040"/>
            <a:ext cx="6858000" cy="310896"/>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Weeks 7 to 8, before exams</a:t>
            </a:r>
            <a:endParaRPr lang="en-US" sz="1600" dirty="0"/>
          </a:p>
        </p:txBody>
      </p:sp>
      <p:sp>
        <p:nvSpPr>
          <p:cNvPr id="5" name="Text 3"/>
          <p:cNvSpPr txBox="1"/>
          <p:nvPr/>
        </p:nvSpPr>
        <p:spPr>
          <a:xfrm>
            <a:off x="777240" y="1828800"/>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Refuse weak gaze picks at the glasses, then the gaze-matched grasp on the real arm</a:t>
            </a:r>
            <a:pPr indent="0" marL="0">
              <a:buNone/>
            </a:pPr>
            <a:r>
              <a:rPr lang="en-US" sz="1100" dirty="0">
                <a:solidFill>
                  <a:srgbClr val="8A93A3"/>
                </a:solidFill>
                <a:latin typeface="Calibri" pitchFamily="34" charset="0"/>
                <a:ea typeface="Calibri" pitchFamily="34" charset="-122"/>
                <a:cs typeface="Calibri" pitchFamily="34" charset="-120"/>
              </a:rPr>
              <a:t>   T2.24, T8.9a</a:t>
            </a:r>
            <a:endParaRPr lang="en-US" sz="1350" dirty="0"/>
          </a:p>
        </p:txBody>
      </p:sp>
      <p:sp>
        <p:nvSpPr>
          <p:cNvPr id="6" name="Text 4"/>
          <p:cNvSpPr txBox="1"/>
          <p:nvPr/>
        </p:nvSpPr>
        <p:spPr>
          <a:xfrm>
            <a:off x="777240" y="2249424"/>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New AnyGrasp SDK, fused-view retest, then a 12-trial grasp validation. M1 closes (target 8 Nov)</a:t>
            </a:r>
            <a:pPr indent="0" marL="0">
              <a:buNone/>
            </a:pPr>
            <a:r>
              <a:rPr lang="en-US" sz="1100" dirty="0">
                <a:solidFill>
                  <a:srgbClr val="8A93A3"/>
                </a:solidFill>
                <a:latin typeface="Calibri" pitchFamily="34" charset="0"/>
                <a:ea typeface="Calibri" pitchFamily="34" charset="-122"/>
                <a:cs typeface="Calibri" pitchFamily="34" charset="-120"/>
              </a:rPr>
              <a:t>   T1.45, T1.47, T1.35</a:t>
            </a:r>
            <a:endParaRPr lang="en-US" sz="1350" dirty="0"/>
          </a:p>
        </p:txBody>
      </p:sp>
      <p:sp>
        <p:nvSpPr>
          <p:cNvPr id="7" name="Text 5"/>
          <p:cNvSpPr txBox="1"/>
          <p:nvPr/>
        </p:nvSpPr>
        <p:spPr>
          <a:xfrm>
            <a:off x="777240" y="2670048"/>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Nav2 prerequisites and the first drives to a point</a:t>
            </a:r>
            <a:pPr indent="0" marL="0">
              <a:buNone/>
            </a:pPr>
            <a:r>
              <a:rPr lang="en-US" sz="1100" dirty="0">
                <a:solidFill>
                  <a:srgbClr val="8A93A3"/>
                </a:solidFill>
                <a:latin typeface="Calibri" pitchFamily="34" charset="0"/>
                <a:ea typeface="Calibri" pitchFamily="34" charset="-122"/>
                <a:cs typeface="Calibri" pitchFamily="34" charset="-120"/>
              </a:rPr>
              <a:t>   T3.6</a:t>
            </a:r>
            <a:endParaRPr lang="en-US" sz="1350" dirty="0"/>
          </a:p>
        </p:txBody>
      </p:sp>
      <p:sp>
        <p:nvSpPr>
          <p:cNvPr id="8" name="Text 6"/>
          <p:cNvSpPr txBox="1"/>
          <p:nvPr/>
        </p:nvSpPr>
        <p:spPr>
          <a:xfrm>
            <a:off x="777240" y="3090672"/>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Memory graph query acceptance run on the recorded drive</a:t>
            </a:r>
            <a:pPr indent="0" marL="0">
              <a:buNone/>
            </a:pPr>
            <a:r>
              <a:rPr lang="en-US" sz="1100" dirty="0">
                <a:solidFill>
                  <a:srgbClr val="8A93A3"/>
                </a:solidFill>
                <a:latin typeface="Calibri" pitchFamily="34" charset="0"/>
                <a:ea typeface="Calibri" pitchFamily="34" charset="-122"/>
                <a:cs typeface="Calibri" pitchFamily="34" charset="-120"/>
              </a:rPr>
              <a:t>   T6.8</a:t>
            </a:r>
            <a:endParaRPr lang="en-US" sz="1350" dirty="0"/>
          </a:p>
        </p:txBody>
      </p:sp>
      <p:sp>
        <p:nvSpPr>
          <p:cNvPr id="9" name="Shape 7"/>
          <p:cNvSpPr/>
          <p:nvPr/>
        </p:nvSpPr>
        <p:spPr>
          <a:xfrm>
            <a:off x="557784" y="1783080"/>
            <a:ext cx="0" cy="1819656"/>
          </a:xfrm>
          <a:prstGeom prst="line">
            <a:avLst/>
          </a:prstGeom>
          <a:noFill/>
          <a:ln w="19050">
            <a:solidFill>
              <a:srgbClr val="1F3B73"/>
            </a:solidFill>
            <a:prstDash val="solid"/>
          </a:ln>
        </p:spPr>
      </p:sp>
      <p:sp>
        <p:nvSpPr>
          <p:cNvPr id="10" name="Shape 8"/>
          <p:cNvSpPr/>
          <p:nvPr/>
        </p:nvSpPr>
        <p:spPr>
          <a:xfrm>
            <a:off x="457200" y="3703320"/>
            <a:ext cx="201168" cy="201168"/>
          </a:xfrm>
          <a:prstGeom prst="ellipse">
            <a:avLst/>
          </a:prstGeom>
          <a:solidFill>
            <a:srgbClr val="1F3B73"/>
          </a:solidFill>
          <a:ln w="12700">
            <a:solidFill>
              <a:srgbClr val="1F3B73"/>
            </a:solidFill>
            <a:prstDash val="solid"/>
          </a:ln>
        </p:spPr>
      </p:sp>
      <p:sp>
        <p:nvSpPr>
          <p:cNvPr id="11" name="Text 9"/>
          <p:cNvSpPr txBox="1"/>
          <p:nvPr/>
        </p:nvSpPr>
        <p:spPr>
          <a:xfrm>
            <a:off x="777240" y="3648456"/>
            <a:ext cx="6858000" cy="310896"/>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After the break, January to March 2027</a:t>
            </a:r>
            <a:endParaRPr lang="en-US" sz="1600" dirty="0"/>
          </a:p>
        </p:txBody>
      </p:sp>
      <p:sp>
        <p:nvSpPr>
          <p:cNvPr id="12" name="Text 10"/>
          <p:cNvSpPr txBox="1"/>
          <p:nvPr/>
        </p:nvSpPr>
        <p:spPr>
          <a:xfrm>
            <a:off x="777240" y="4014216"/>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Two-box gaze grasp on hardware (M2), camera calibration (M5)</a:t>
            </a:r>
            <a:pPr indent="0" marL="0">
              <a:buNone/>
            </a:pPr>
            <a:r>
              <a:rPr lang="en-US" sz="1100" dirty="0">
                <a:solidFill>
                  <a:srgbClr val="8A93A3"/>
                </a:solidFill>
                <a:latin typeface="Calibri" pitchFamily="34" charset="0"/>
                <a:ea typeface="Calibri" pitchFamily="34" charset="-122"/>
                <a:cs typeface="Calibri" pitchFamily="34" charset="-120"/>
              </a:rPr>
              <a:t>   T2.5, T5.5, T5.6</a:t>
            </a:r>
            <a:endParaRPr lang="en-US" sz="1350" dirty="0"/>
          </a:p>
        </p:txBody>
      </p:sp>
      <p:sp>
        <p:nvSpPr>
          <p:cNvPr id="13" name="Text 11"/>
          <p:cNvSpPr txBox="1"/>
          <p:nvPr/>
        </p:nvSpPr>
        <p:spPr>
          <a:xfrm>
            <a:off x="777240" y="4434840"/>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Closed loop (M4, January)</a:t>
            </a:r>
            <a:pPr indent="0" marL="0">
              <a:buNone/>
            </a:pPr>
            <a:r>
              <a:rPr lang="en-US" sz="1100" dirty="0">
                <a:solidFill>
                  <a:srgbClr val="8A93A3"/>
                </a:solidFill>
                <a:latin typeface="Calibri" pitchFamily="34" charset="0"/>
                <a:ea typeface="Calibri" pitchFamily="34" charset="-122"/>
                <a:cs typeface="Calibri" pitchFamily="34" charset="-120"/>
              </a:rPr>
              <a:t>   M4</a:t>
            </a:r>
            <a:endParaRPr lang="en-US" sz="1350" dirty="0"/>
          </a:p>
        </p:txBody>
      </p:sp>
      <p:sp>
        <p:nvSpPr>
          <p:cNvPr id="14" name="Text 12"/>
          <p:cNvSpPr txBox="1"/>
          <p:nvPr/>
        </p:nvSpPr>
        <p:spPr>
          <a:xfrm>
            <a:off x="777240" y="4855464"/>
            <a:ext cx="6858000" cy="45720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The robot explores and finds the user (M7, February)</a:t>
            </a:r>
            <a:pPr indent="0" marL="0">
              <a:buNone/>
            </a:pPr>
            <a:r>
              <a:rPr lang="en-US" sz="1100" dirty="0">
                <a:solidFill>
                  <a:srgbClr val="8A93A3"/>
                </a:solidFill>
                <a:latin typeface="Calibri" pitchFamily="34" charset="0"/>
                <a:ea typeface="Calibri" pitchFamily="34" charset="-122"/>
                <a:cs typeface="Calibri" pitchFamily="34" charset="-120"/>
              </a:rPr>
              <a:t>   T7.2, T7.5, T7.6, T7.1</a:t>
            </a:r>
            <a:endParaRPr lang="en-US" sz="1350" dirty="0"/>
          </a:p>
        </p:txBody>
      </p:sp>
      <p:sp>
        <p:nvSpPr>
          <p:cNvPr id="15" name="Text 13"/>
          <p:cNvSpPr txBox="1"/>
          <p:nvPr/>
        </p:nvSpPr>
        <p:spPr>
          <a:xfrm>
            <a:off x="777240" y="5276088"/>
            <a:ext cx="6858000" cy="457200"/>
          </a:xfrm>
          <a:prstGeom prst="rect">
            <a:avLst/>
          </a:prstGeom>
          <a:noFill/>
          <a:ln/>
        </p:spPr>
        <p:txBody>
          <a:bodyPr wrap="square" lIns="0" tIns="0" rIns="0" bIns="0" rtlCol="0" anchor="t"/>
          <a:lstStyle/>
          <a:p>
            <a:pPr indent="0" marL="0">
              <a:buNone/>
            </a:pPr>
            <a:r>
              <a:rPr lang="en-US" sz="1350" b="1" dirty="0">
                <a:solidFill>
                  <a:srgbClr val="1B2333"/>
                </a:solidFill>
                <a:latin typeface="Calibri" pitchFamily="34" charset="0"/>
                <a:ea typeface="Calibri" pitchFamily="34" charset="-122"/>
                <a:cs typeface="Calibri" pitchFamily="34" charset="-120"/>
              </a:rPr>
              <a:t>A gaze match ends exploration, end-to-end trials (M8, March)</a:t>
            </a:r>
            <a:pPr indent="0" marL="0">
              <a:buNone/>
            </a:pPr>
            <a:r>
              <a:rPr lang="en-US" sz="1100" dirty="0">
                <a:solidFill>
                  <a:srgbClr val="8A93A3"/>
                </a:solidFill>
                <a:latin typeface="Calibri" pitchFamily="34" charset="0"/>
                <a:ea typeface="Calibri" pitchFamily="34" charset="-122"/>
                <a:cs typeface="Calibri" pitchFamily="34" charset="-120"/>
              </a:rPr>
              <a:t>   T8.2, T8.3</a:t>
            </a:r>
            <a:endParaRPr lang="en-US" sz="1350" dirty="0"/>
          </a:p>
        </p:txBody>
      </p:sp>
      <p:sp>
        <p:nvSpPr>
          <p:cNvPr id="16" name="Text 14"/>
          <p:cNvSpPr txBox="1"/>
          <p:nvPr/>
        </p:nvSpPr>
        <p:spPr>
          <a:xfrm>
            <a:off x="8001000" y="1463040"/>
            <a:ext cx="3730752" cy="310896"/>
          </a:xfrm>
          <a:prstGeom prst="rect">
            <a:avLst/>
          </a:prstGeom>
          <a:noFill/>
          <a:ln/>
        </p:spPr>
        <p:txBody>
          <a:bodyPr wrap="square" lIns="0" tIns="0" rIns="0" bIns="0" rtlCol="0" anchor="t"/>
          <a:lstStyle/>
          <a:p>
            <a:pPr indent="0" marL="0">
              <a:buNone/>
            </a:pPr>
            <a:r>
              <a:rPr lang="en-US" sz="1600" b="1" dirty="0">
                <a:solidFill>
                  <a:srgbClr val="1F3B73"/>
                </a:solidFill>
                <a:latin typeface="Calibri" pitchFamily="34" charset="0"/>
                <a:ea typeface="Calibri" pitchFamily="34" charset="-122"/>
                <a:cs typeface="Calibri" pitchFamily="34" charset="-120"/>
              </a:rPr>
              <a:t>Three takeaways</a:t>
            </a:r>
            <a:endParaRPr lang="en-US" sz="1600" dirty="0"/>
          </a:p>
        </p:txBody>
      </p:sp>
      <p:sp>
        <p:nvSpPr>
          <p:cNvPr id="17" name="Shape 15"/>
          <p:cNvSpPr/>
          <p:nvPr/>
        </p:nvSpPr>
        <p:spPr>
          <a:xfrm>
            <a:off x="8001000" y="1847088"/>
            <a:ext cx="3730752" cy="1417320"/>
          </a:xfrm>
          <a:prstGeom prst="rect">
            <a:avLst/>
          </a:prstGeom>
          <a:solidFill>
            <a:srgbClr val="E6ECF6"/>
          </a:solidFill>
          <a:ln/>
        </p:spPr>
      </p:sp>
      <p:sp>
        <p:nvSpPr>
          <p:cNvPr id="18" name="Text 16"/>
          <p:cNvSpPr txBox="1"/>
          <p:nvPr/>
        </p:nvSpPr>
        <p:spPr>
          <a:xfrm>
            <a:off x="8110728" y="1920240"/>
            <a:ext cx="365760" cy="457200"/>
          </a:xfrm>
          <a:prstGeom prst="rect">
            <a:avLst/>
          </a:prstGeom>
          <a:noFill/>
          <a:ln/>
        </p:spPr>
        <p:txBody>
          <a:bodyPr wrap="square" lIns="0" tIns="0" rIns="0" bIns="0" rtlCol="0" anchor="t"/>
          <a:lstStyle/>
          <a:p>
            <a:pPr indent="0" marL="0">
              <a:buNone/>
            </a:pPr>
            <a:r>
              <a:rPr lang="en-US" sz="2600" b="1" dirty="0">
                <a:solidFill>
                  <a:srgbClr val="1F3B73"/>
                </a:solidFill>
                <a:latin typeface="Calibri" pitchFamily="34" charset="0"/>
                <a:ea typeface="Calibri" pitchFamily="34" charset="-122"/>
                <a:cs typeface="Calibri" pitchFamily="34" charset="-120"/>
              </a:rPr>
              <a:t>1</a:t>
            </a:r>
            <a:endParaRPr lang="en-US" sz="2600" dirty="0"/>
          </a:p>
        </p:txBody>
      </p:sp>
      <p:sp>
        <p:nvSpPr>
          <p:cNvPr id="19" name="Text 17"/>
          <p:cNvSpPr txBox="1"/>
          <p:nvPr/>
        </p:nvSpPr>
        <p:spPr>
          <a:xfrm>
            <a:off x="8549640" y="1938528"/>
            <a:ext cx="3044952" cy="123444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The hard part is identity across viewpoints. CLIP does it for different objects and now steers the grasp. Gaze geometry is needed for look-alikes</a:t>
            </a:r>
            <a:endParaRPr lang="en-US" sz="1400" dirty="0"/>
          </a:p>
        </p:txBody>
      </p:sp>
      <p:sp>
        <p:nvSpPr>
          <p:cNvPr id="20" name="Shape 18"/>
          <p:cNvSpPr/>
          <p:nvPr/>
        </p:nvSpPr>
        <p:spPr>
          <a:xfrm>
            <a:off x="8001000" y="3374136"/>
            <a:ext cx="3730752" cy="914400"/>
          </a:xfrm>
          <a:prstGeom prst="rect">
            <a:avLst/>
          </a:prstGeom>
          <a:solidFill>
            <a:srgbClr val="E6ECF6"/>
          </a:solidFill>
          <a:ln/>
        </p:spPr>
      </p:sp>
      <p:sp>
        <p:nvSpPr>
          <p:cNvPr id="21" name="Text 19"/>
          <p:cNvSpPr txBox="1"/>
          <p:nvPr/>
        </p:nvSpPr>
        <p:spPr>
          <a:xfrm>
            <a:off x="8110728" y="3447288"/>
            <a:ext cx="365760" cy="457200"/>
          </a:xfrm>
          <a:prstGeom prst="rect">
            <a:avLst/>
          </a:prstGeom>
          <a:noFill/>
          <a:ln/>
        </p:spPr>
        <p:txBody>
          <a:bodyPr wrap="square" lIns="0" tIns="0" rIns="0" bIns="0" rtlCol="0" anchor="t"/>
          <a:lstStyle/>
          <a:p>
            <a:pPr indent="0" marL="0">
              <a:buNone/>
            </a:pPr>
            <a:r>
              <a:rPr lang="en-US" sz="2600" b="1" dirty="0">
                <a:solidFill>
                  <a:srgbClr val="1F3B73"/>
                </a:solidFill>
                <a:latin typeface="Calibri" pitchFamily="34" charset="0"/>
                <a:ea typeface="Calibri" pitchFamily="34" charset="-122"/>
                <a:cs typeface="Calibri" pitchFamily="34" charset="-120"/>
              </a:rPr>
              <a:t>2</a:t>
            </a:r>
            <a:endParaRPr lang="en-US" sz="2600" dirty="0"/>
          </a:p>
        </p:txBody>
      </p:sp>
      <p:sp>
        <p:nvSpPr>
          <p:cNvPr id="22" name="Text 20"/>
          <p:cNvSpPr txBox="1"/>
          <p:nvPr/>
        </p:nvSpPr>
        <p:spPr>
          <a:xfrm>
            <a:off x="8549640" y="3465576"/>
            <a:ext cx="3044952" cy="73152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Every subsystem has measured results on real hardware or real recordings</a:t>
            </a:r>
            <a:endParaRPr lang="en-US" sz="1400" dirty="0"/>
          </a:p>
        </p:txBody>
      </p:sp>
      <p:sp>
        <p:nvSpPr>
          <p:cNvPr id="23" name="Shape 21"/>
          <p:cNvSpPr/>
          <p:nvPr/>
        </p:nvSpPr>
        <p:spPr>
          <a:xfrm>
            <a:off x="8001000" y="4398264"/>
            <a:ext cx="3730752" cy="914400"/>
          </a:xfrm>
          <a:prstGeom prst="rect">
            <a:avLst/>
          </a:prstGeom>
          <a:solidFill>
            <a:srgbClr val="E6ECF6"/>
          </a:solidFill>
          <a:ln/>
        </p:spPr>
      </p:sp>
      <p:sp>
        <p:nvSpPr>
          <p:cNvPr id="24" name="Text 22"/>
          <p:cNvSpPr txBox="1"/>
          <p:nvPr/>
        </p:nvSpPr>
        <p:spPr>
          <a:xfrm>
            <a:off x="8110728" y="4471416"/>
            <a:ext cx="365760" cy="457200"/>
          </a:xfrm>
          <a:prstGeom prst="rect">
            <a:avLst/>
          </a:prstGeom>
          <a:noFill/>
          <a:ln/>
        </p:spPr>
        <p:txBody>
          <a:bodyPr wrap="square" lIns="0" tIns="0" rIns="0" bIns="0" rtlCol="0" anchor="t"/>
          <a:lstStyle/>
          <a:p>
            <a:pPr indent="0" marL="0">
              <a:buNone/>
            </a:pPr>
            <a:r>
              <a:rPr lang="en-US" sz="2600" b="1" dirty="0">
                <a:solidFill>
                  <a:srgbClr val="1F3B73"/>
                </a:solidFill>
                <a:latin typeface="Calibri" pitchFamily="34" charset="0"/>
                <a:ea typeface="Calibri" pitchFamily="34" charset="-122"/>
                <a:cs typeface="Calibri" pitchFamily="34" charset="-120"/>
              </a:rPr>
              <a:t>3</a:t>
            </a:r>
            <a:endParaRPr lang="en-US" sz="2600" dirty="0"/>
          </a:p>
        </p:txBody>
      </p:sp>
      <p:sp>
        <p:nvSpPr>
          <p:cNvPr id="25" name="Text 23"/>
          <p:cNvSpPr txBox="1"/>
          <p:nvPr/>
        </p:nvSpPr>
        <p:spPr>
          <a:xfrm>
            <a:off x="8549640" y="4489704"/>
            <a:ext cx="3044952" cy="73152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The links are scheduled, with a cut list fixed in advance</a:t>
            </a:r>
            <a:endParaRPr lang="en-US" sz="1400" dirty="0"/>
          </a:p>
        </p:txBody>
      </p:sp>
      <p:sp>
        <p:nvSpPr>
          <p:cNvPr id="26" name="Shape 24"/>
          <p:cNvSpPr/>
          <p:nvPr/>
        </p:nvSpPr>
        <p:spPr>
          <a:xfrm>
            <a:off x="457200" y="5806440"/>
            <a:ext cx="1463040" cy="365760"/>
          </a:xfrm>
          <a:prstGeom prst="rect">
            <a:avLst/>
          </a:prstGeom>
          <a:solidFill>
            <a:srgbClr val="FFFFFF"/>
          </a:solidFill>
          <a:ln w="15875">
            <a:solidFill>
              <a:srgbClr val="1F3B73"/>
            </a:solidFill>
            <a:prstDash val="solid"/>
          </a:ln>
        </p:spPr>
      </p:sp>
      <p:sp>
        <p:nvSpPr>
          <p:cNvPr id="27" name="Text 25"/>
          <p:cNvSpPr txBox="1"/>
          <p:nvPr/>
        </p:nvSpPr>
        <p:spPr>
          <a:xfrm>
            <a:off x="457200" y="5806440"/>
            <a:ext cx="1463040" cy="365760"/>
          </a:xfrm>
          <a:prstGeom prst="rect">
            <a:avLst/>
          </a:prstGeom>
          <a:noFill/>
          <a:ln/>
        </p:spPr>
        <p:txBody>
          <a:bodyPr wrap="square" lIns="0" tIns="0" rIns="0" bIns="0" rtlCol="0" anchor="ctr"/>
          <a:lstStyle/>
          <a:p>
            <a:pPr algn="ctr" indent="0" marL="0">
              <a:buNone/>
            </a:pPr>
            <a:r>
              <a:rPr lang="en-US" sz="1100" b="1" dirty="0">
                <a:solidFill>
                  <a:srgbClr val="1F3B73"/>
                </a:solidFill>
                <a:latin typeface="Calibri" pitchFamily="34" charset="0"/>
                <a:ea typeface="Calibri" pitchFamily="34" charset="-122"/>
                <a:cs typeface="Calibri" pitchFamily="34" charset="-120"/>
              </a:rPr>
              <a:t>1 Intent</a:t>
            </a:r>
            <a:endParaRPr lang="en-US" sz="1100" dirty="0"/>
          </a:p>
        </p:txBody>
      </p:sp>
      <p:sp>
        <p:nvSpPr>
          <p:cNvPr id="28" name="Shape 26"/>
          <p:cNvSpPr/>
          <p:nvPr/>
        </p:nvSpPr>
        <p:spPr>
          <a:xfrm>
            <a:off x="1938528" y="5989320"/>
            <a:ext cx="128016" cy="0"/>
          </a:xfrm>
          <a:prstGeom prst="line">
            <a:avLst/>
          </a:prstGeom>
          <a:noFill/>
          <a:ln w="15875">
            <a:solidFill>
              <a:srgbClr val="1F3B73"/>
            </a:solidFill>
            <a:prstDash val="solid"/>
            <a:tailEnd type="triangle"/>
          </a:ln>
        </p:spPr>
      </p:sp>
      <p:sp>
        <p:nvSpPr>
          <p:cNvPr id="29" name="Shape 27"/>
          <p:cNvSpPr/>
          <p:nvPr/>
        </p:nvSpPr>
        <p:spPr>
          <a:xfrm>
            <a:off x="2084832" y="5806440"/>
            <a:ext cx="1463040" cy="365760"/>
          </a:xfrm>
          <a:prstGeom prst="rect">
            <a:avLst/>
          </a:prstGeom>
          <a:solidFill>
            <a:srgbClr val="FFFFFF"/>
          </a:solidFill>
          <a:ln w="15875">
            <a:solidFill>
              <a:srgbClr val="1F3B73"/>
            </a:solidFill>
            <a:prstDash val="solid"/>
          </a:ln>
        </p:spPr>
      </p:sp>
      <p:sp>
        <p:nvSpPr>
          <p:cNvPr id="30" name="Text 28"/>
          <p:cNvSpPr txBox="1"/>
          <p:nvPr/>
        </p:nvSpPr>
        <p:spPr>
          <a:xfrm>
            <a:off x="2084832" y="5806440"/>
            <a:ext cx="1463040" cy="365760"/>
          </a:xfrm>
          <a:prstGeom prst="rect">
            <a:avLst/>
          </a:prstGeom>
          <a:noFill/>
          <a:ln/>
        </p:spPr>
        <p:txBody>
          <a:bodyPr wrap="square" lIns="0" tIns="0" rIns="0" bIns="0" rtlCol="0" anchor="ctr"/>
          <a:lstStyle/>
          <a:p>
            <a:pPr algn="ctr" indent="0" marL="0">
              <a:buNone/>
            </a:pPr>
            <a:r>
              <a:rPr lang="en-US" sz="1100" b="1" dirty="0">
                <a:solidFill>
                  <a:srgbClr val="1F3B73"/>
                </a:solidFill>
                <a:latin typeface="Calibri" pitchFamily="34" charset="0"/>
                <a:ea typeface="Calibri" pitchFamily="34" charset="-122"/>
                <a:cs typeface="Calibri" pitchFamily="34" charset="-120"/>
              </a:rPr>
              <a:t>2 Explore and map</a:t>
            </a:r>
            <a:endParaRPr lang="en-US" sz="1100" dirty="0"/>
          </a:p>
        </p:txBody>
      </p:sp>
      <p:sp>
        <p:nvSpPr>
          <p:cNvPr id="31" name="Shape 29"/>
          <p:cNvSpPr/>
          <p:nvPr/>
        </p:nvSpPr>
        <p:spPr>
          <a:xfrm>
            <a:off x="3566160" y="5989320"/>
            <a:ext cx="128016" cy="0"/>
          </a:xfrm>
          <a:prstGeom prst="line">
            <a:avLst/>
          </a:prstGeom>
          <a:noFill/>
          <a:ln w="15875">
            <a:solidFill>
              <a:srgbClr val="1F3B73"/>
            </a:solidFill>
            <a:prstDash val="solid"/>
            <a:tailEnd type="triangle"/>
          </a:ln>
        </p:spPr>
      </p:sp>
      <p:sp>
        <p:nvSpPr>
          <p:cNvPr id="32" name="Shape 30"/>
          <p:cNvSpPr/>
          <p:nvPr/>
        </p:nvSpPr>
        <p:spPr>
          <a:xfrm>
            <a:off x="3712464" y="5806440"/>
            <a:ext cx="1463040" cy="365760"/>
          </a:xfrm>
          <a:prstGeom prst="rect">
            <a:avLst/>
          </a:prstGeom>
          <a:solidFill>
            <a:srgbClr val="FFFFFF"/>
          </a:solidFill>
          <a:ln w="15875">
            <a:solidFill>
              <a:srgbClr val="1F3B73"/>
            </a:solidFill>
            <a:prstDash val="solid"/>
          </a:ln>
        </p:spPr>
      </p:sp>
      <p:sp>
        <p:nvSpPr>
          <p:cNvPr id="33" name="Text 31"/>
          <p:cNvSpPr txBox="1"/>
          <p:nvPr/>
        </p:nvSpPr>
        <p:spPr>
          <a:xfrm>
            <a:off x="3712464" y="5806440"/>
            <a:ext cx="1463040" cy="365760"/>
          </a:xfrm>
          <a:prstGeom prst="rect">
            <a:avLst/>
          </a:prstGeom>
          <a:noFill/>
          <a:ln/>
        </p:spPr>
        <p:txBody>
          <a:bodyPr wrap="square" lIns="0" tIns="0" rIns="0" bIns="0" rtlCol="0" anchor="ctr"/>
          <a:lstStyle/>
          <a:p>
            <a:pPr algn="ctr" indent="0" marL="0">
              <a:buNone/>
            </a:pPr>
            <a:r>
              <a:rPr lang="en-US" sz="1100" b="1" dirty="0">
                <a:solidFill>
                  <a:srgbClr val="1F3B73"/>
                </a:solidFill>
                <a:latin typeface="Calibri" pitchFamily="34" charset="0"/>
                <a:ea typeface="Calibri" pitchFamily="34" charset="-122"/>
                <a:cs typeface="Calibri" pitchFamily="34" charset="-120"/>
              </a:rPr>
              <a:t>3 Search</a:t>
            </a:r>
            <a:endParaRPr lang="en-US" sz="1100" dirty="0"/>
          </a:p>
        </p:txBody>
      </p:sp>
      <p:sp>
        <p:nvSpPr>
          <p:cNvPr id="34" name="Shape 32"/>
          <p:cNvSpPr/>
          <p:nvPr/>
        </p:nvSpPr>
        <p:spPr>
          <a:xfrm>
            <a:off x="5193792" y="5989320"/>
            <a:ext cx="128016" cy="0"/>
          </a:xfrm>
          <a:prstGeom prst="line">
            <a:avLst/>
          </a:prstGeom>
          <a:noFill/>
          <a:ln w="15875">
            <a:solidFill>
              <a:srgbClr val="1F3B73"/>
            </a:solidFill>
            <a:prstDash val="solid"/>
            <a:tailEnd type="triangle"/>
          </a:ln>
        </p:spPr>
      </p:sp>
      <p:sp>
        <p:nvSpPr>
          <p:cNvPr id="35" name="Shape 33"/>
          <p:cNvSpPr/>
          <p:nvPr/>
        </p:nvSpPr>
        <p:spPr>
          <a:xfrm>
            <a:off x="5340096" y="5806440"/>
            <a:ext cx="1463040" cy="365760"/>
          </a:xfrm>
          <a:prstGeom prst="rect">
            <a:avLst/>
          </a:prstGeom>
          <a:solidFill>
            <a:srgbClr val="FFFFFF"/>
          </a:solidFill>
          <a:ln w="15875">
            <a:solidFill>
              <a:srgbClr val="1F3B73"/>
            </a:solidFill>
            <a:prstDash val="solid"/>
          </a:ln>
        </p:spPr>
      </p:sp>
      <p:sp>
        <p:nvSpPr>
          <p:cNvPr id="36" name="Text 34"/>
          <p:cNvSpPr txBox="1"/>
          <p:nvPr/>
        </p:nvSpPr>
        <p:spPr>
          <a:xfrm>
            <a:off x="5340096" y="5806440"/>
            <a:ext cx="1463040" cy="365760"/>
          </a:xfrm>
          <a:prstGeom prst="rect">
            <a:avLst/>
          </a:prstGeom>
          <a:noFill/>
          <a:ln/>
        </p:spPr>
        <p:txBody>
          <a:bodyPr wrap="square" lIns="0" tIns="0" rIns="0" bIns="0" rtlCol="0" anchor="ctr"/>
          <a:lstStyle/>
          <a:p>
            <a:pPr algn="ctr" indent="0" marL="0">
              <a:buNone/>
            </a:pPr>
            <a:r>
              <a:rPr lang="en-US" sz="1100" b="1" dirty="0">
                <a:solidFill>
                  <a:srgbClr val="1F3B73"/>
                </a:solidFill>
                <a:latin typeface="Calibri" pitchFamily="34" charset="0"/>
                <a:ea typeface="Calibri" pitchFamily="34" charset="-122"/>
                <a:cs typeface="Calibri" pitchFamily="34" charset="-120"/>
              </a:rPr>
              <a:t>4 Approach and confirm</a:t>
            </a:r>
            <a:endParaRPr lang="en-US" sz="1100" dirty="0"/>
          </a:p>
        </p:txBody>
      </p:sp>
      <p:sp>
        <p:nvSpPr>
          <p:cNvPr id="37" name="Shape 35"/>
          <p:cNvSpPr/>
          <p:nvPr/>
        </p:nvSpPr>
        <p:spPr>
          <a:xfrm>
            <a:off x="6821424" y="5989320"/>
            <a:ext cx="128016" cy="0"/>
          </a:xfrm>
          <a:prstGeom prst="line">
            <a:avLst/>
          </a:prstGeom>
          <a:noFill/>
          <a:ln w="15875">
            <a:solidFill>
              <a:srgbClr val="1F3B73"/>
            </a:solidFill>
            <a:prstDash val="solid"/>
            <a:tailEnd type="triangle"/>
          </a:ln>
        </p:spPr>
      </p:sp>
      <p:sp>
        <p:nvSpPr>
          <p:cNvPr id="38" name="Shape 36"/>
          <p:cNvSpPr/>
          <p:nvPr/>
        </p:nvSpPr>
        <p:spPr>
          <a:xfrm>
            <a:off x="6967728" y="5806440"/>
            <a:ext cx="1463040" cy="365760"/>
          </a:xfrm>
          <a:prstGeom prst="rect">
            <a:avLst/>
          </a:prstGeom>
          <a:solidFill>
            <a:srgbClr val="FFFFFF"/>
          </a:solidFill>
          <a:ln w="15875">
            <a:solidFill>
              <a:srgbClr val="1F3B73"/>
            </a:solidFill>
            <a:prstDash val="solid"/>
          </a:ln>
        </p:spPr>
      </p:sp>
      <p:sp>
        <p:nvSpPr>
          <p:cNvPr id="39" name="Text 37"/>
          <p:cNvSpPr txBox="1"/>
          <p:nvPr/>
        </p:nvSpPr>
        <p:spPr>
          <a:xfrm>
            <a:off x="6967728" y="5806440"/>
            <a:ext cx="1463040" cy="365760"/>
          </a:xfrm>
          <a:prstGeom prst="rect">
            <a:avLst/>
          </a:prstGeom>
          <a:noFill/>
          <a:ln/>
        </p:spPr>
        <p:txBody>
          <a:bodyPr wrap="square" lIns="0" tIns="0" rIns="0" bIns="0" rtlCol="0" anchor="ctr"/>
          <a:lstStyle/>
          <a:p>
            <a:pPr algn="ctr" indent="0" marL="0">
              <a:buNone/>
            </a:pPr>
            <a:r>
              <a:rPr lang="en-US" sz="1100" b="1" dirty="0">
                <a:solidFill>
                  <a:srgbClr val="1F3B73"/>
                </a:solidFill>
                <a:latin typeface="Calibri" pitchFamily="34" charset="0"/>
                <a:ea typeface="Calibri" pitchFamily="34" charset="-122"/>
                <a:cs typeface="Calibri" pitchFamily="34" charset="-120"/>
              </a:rPr>
              <a:t>5 Grasp</a:t>
            </a:r>
            <a:endParaRPr lang="en-US" sz="1100" dirty="0"/>
          </a:p>
        </p:txBody>
      </p:sp>
      <p:sp>
        <p:nvSpPr>
          <p:cNvPr id="40" name="Text 38"/>
          <p:cNvSpPr txBox="1"/>
          <p:nvPr/>
        </p:nvSpPr>
        <p:spPr>
          <a:xfrm>
            <a:off x="8595360" y="5806440"/>
            <a:ext cx="3136392" cy="365760"/>
          </a:xfrm>
          <a:prstGeom prst="rect">
            <a:avLst/>
          </a:prstGeom>
          <a:noFill/>
          <a:ln/>
        </p:spPr>
        <p:txBody>
          <a:bodyPr wrap="square" lIns="0" tIns="0" rIns="0" bIns="0" rtlCol="0" anchor="ctr"/>
          <a:lstStyle/>
          <a:p>
            <a:pPr indent="0" marL="0">
              <a:buNone/>
            </a:pPr>
            <a:r>
              <a:rPr lang="en-US" sz="1500" b="1" dirty="0">
                <a:solidFill>
                  <a:srgbClr val="1F3B73"/>
                </a:solidFill>
                <a:latin typeface="Calibri" pitchFamily="34" charset="0"/>
                <a:ea typeface="Calibri" pitchFamily="34" charset="-122"/>
                <a:cs typeface="Calibri" pitchFamily="34" charset="-120"/>
              </a:rPr>
              <a:t>March 2027: end-to-end demonstration</a:t>
            </a:r>
            <a:endParaRPr lang="en-US" sz="1500" dirty="0"/>
          </a:p>
        </p:txBody>
      </p:sp>
      <p:sp>
        <p:nvSpPr>
          <p:cNvPr id="41" name="Text 39"/>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1100" dirty="0">
                <a:solidFill>
                  <a:srgbClr val="8A93A3"/>
                </a:solidFill>
                <a:latin typeface="Calibri" pitchFamily="34" charset="0"/>
                <a:ea typeface="Calibri" pitchFamily="34" charset="-122"/>
                <a:cs typeface="Calibri" pitchFamily="34" charset="-120"/>
              </a:rPr>
              <a:t>Zongzhe</a:t>
            </a:r>
            <a:endParaRPr lang="en-US" sz="11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B73"/>
          </a:solidFill>
          <a:ln/>
        </p:spPr>
      </p:sp>
      <p:sp>
        <p:nvSpPr>
          <p:cNvPr id="3" name="Text 1"/>
          <p:cNvSpPr txBox="1"/>
          <p:nvPr/>
        </p:nvSpPr>
        <p:spPr>
          <a:xfrm>
            <a:off x="731520" y="22860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Appendix</a:t>
            </a:r>
            <a:endParaRPr lang="en-US" sz="4000" dirty="0"/>
          </a:p>
        </p:txBody>
      </p:sp>
      <p:sp>
        <p:nvSpPr>
          <p:cNvPr id="4" name="Text 2"/>
          <p:cNvSpPr txBox="1"/>
          <p:nvPr/>
        </p:nvSpPr>
        <p:spPr>
          <a:xfrm>
            <a:off x="731520" y="3154680"/>
            <a:ext cx="10058400" cy="457200"/>
          </a:xfrm>
          <a:prstGeom prst="rect">
            <a:avLst/>
          </a:prstGeom>
          <a:noFill/>
          <a:ln/>
        </p:spPr>
        <p:txBody>
          <a:bodyPr wrap="square" lIns="0" tIns="0" rIns="0" bIns="0" rtlCol="0" anchor="t"/>
          <a:lstStyle/>
          <a:p>
            <a:pPr indent="0" marL="0">
              <a:buNone/>
            </a:pPr>
            <a:r>
              <a:rPr lang="en-US" sz="2000" dirty="0">
                <a:solidFill>
                  <a:srgbClr val="D6DEEC"/>
                </a:solidFill>
                <a:latin typeface="Calibri" pitchFamily="34" charset="0"/>
                <a:ea typeface="Calibri" pitchFamily="34" charset="-122"/>
                <a:cs typeface="Calibri" pitchFamily="34" charset="-120"/>
              </a:rPr>
              <a:t>Backup slides for questions. Not part of the 20 minutes</a:t>
            </a:r>
            <a:endParaRPr lang="en-US" sz="2000" dirty="0"/>
          </a:p>
        </p:txBody>
      </p:sp>
      <p:sp>
        <p:nvSpPr>
          <p:cNvPr id="5" name="Text 3"/>
          <p:cNvSpPr txBox="1"/>
          <p:nvPr/>
        </p:nvSpPr>
        <p:spPr>
          <a:xfrm>
            <a:off x="731520" y="3931920"/>
            <a:ext cx="10515600" cy="2377440"/>
          </a:xfrm>
          <a:prstGeom prst="rect">
            <a:avLst/>
          </a:prstGeom>
          <a:noFill/>
          <a:ln/>
        </p:spPr>
        <p:txBody>
          <a:bodyPr wrap="square" lIns="0" tIns="0" rIns="0" bIns="0" rtlCol="0" anchor="t"/>
          <a:lstStyle/>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A1 Topic-level wiring today</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A2 Coordinate frames</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A3 Matching rule and thresholds</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A4 Grasp filters and the five options</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A5 FAST-LIVO2 port defects and mid-route accuracy</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A6 Limitations, risks and observed failures</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A7 September plan vs now</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A8 Why gaze, not just a class name</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A9 End-to-end evaluation plan</a:t>
            </a:r>
            <a:endParaRPr lang="en-US" sz="1400" dirty="0"/>
          </a:p>
          <a:p>
            <a:pPr indent="0" marL="0">
              <a:spcAft>
                <a:spcPts val="200"/>
              </a:spcAft>
              <a:buNone/>
            </a:pPr>
            <a:r>
              <a:rPr lang="en-US" sz="1400" dirty="0">
                <a:solidFill>
                  <a:srgbClr val="D6DEEC"/>
                </a:solidFill>
                <a:latin typeface="Calibri" pitchFamily="34" charset="0"/>
                <a:ea typeface="Calibri" pitchFamily="34" charset="-122"/>
                <a:cs typeface="Calibri" pitchFamily="34" charset="-120"/>
              </a:rPr>
              <a:t>A10 Milestone tests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A1  Topic-level wiring today</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"What exactly is connected?" Only links that exist in code. Grey rows exist in code but have not run</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063240"/>
                <a:gridCol w="3017520"/>
                <a:gridCol w="3611880"/>
                <a:gridCol w="1581912"/>
              </a:tblGrid>
              <a:tr h="292608">
                <a:tc>
                  <a:txBody>
                    <a:bodyPr/>
                    <a:lstStyle/>
                    <a:p>
                      <a:pPr indent="0" marL="0">
                        <a:buNone/>
                      </a:pPr>
                      <a:r>
                        <a:rPr lang="en-US" sz="1100" b="1" dirty="0">
                          <a:solidFill>
                            <a:srgbClr val="5B6577"/>
                          </a:solidFill>
                          <a:latin typeface="Calibri" pitchFamily="34" charset="0"/>
                          <a:ea typeface="Calibri" pitchFamily="34" charset="-122"/>
                          <a:cs typeface="Calibri" pitchFamily="34" charset="-120"/>
                        </a:rPr>
                        <a:t>From</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00" b="1" dirty="0">
                          <a:solidFill>
                            <a:srgbClr val="5B6577"/>
                          </a:solidFill>
                          <a:latin typeface="Calibri" pitchFamily="34" charset="0"/>
                          <a:ea typeface="Calibri" pitchFamily="34" charset="-122"/>
                          <a:cs typeface="Calibri" pitchFamily="34" charset="-120"/>
                        </a:rPr>
                        <a:t>To</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00" b="1" dirty="0">
                          <a:solidFill>
                            <a:srgbClr val="5B6577"/>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00" b="1" dirty="0">
                          <a:solidFill>
                            <a:srgbClr val="5B6577"/>
                          </a:solidFill>
                          <a:latin typeface="Calibri" pitchFamily="34" charset="0"/>
                          <a:ea typeface="Calibri" pitchFamily="34" charset="-122"/>
                          <a:cs typeface="Calibri" pitchFamily="34" charset="-120"/>
                        </a:rPr>
                        <a:t>State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Voice: Silero VAD, faster-whisper, Qwen2.5-0.5B</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/aria/audio/prompt (String)</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 (replay)</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Eye model</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/aria/eye_tracking/gaze_estimate (PointStamped)</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 (recording)</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aria_segmentation_client, grasp_segmentation_client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SAM 3 service (one copy on GPU)</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/segmentation/segment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/grasp/target: word, then word plus reference crop</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 on replay (T8.9a)</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/manipulator/grasp_request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grasp_segmentation_client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/object_centroid_2d (pixel plus depth)</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anygrasp_detection_node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/grasp_candidates (state machine sends /pipeline_state back)</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MoveIt and rm_driver</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real arm</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 on the real arm</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Livox MID-360, base D455</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FAST-LIVO2 (container) then fastlivo_odom_bridge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odom to robot_base_link</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 live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fastlivo_odom_bridge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SLAM Toolbox, mapping mode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map to odom, /map</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Ran live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SLAM Toolbox</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Nav2</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frame tree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Never run on this</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object_recognition_pipeline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object_approach_node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/manipulation/goal_pose (call site commented out)</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Not run</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object_approach_node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Nav2</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/goal_pose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Not run</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292608">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Recorded drive handdriven1</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Memory graph S0 to S13, then TargetFinder</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offline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00" dirty="0">
                          <a:solidFill>
                            <a:srgbClr val="8A93A3"/>
                          </a:solidFill>
                          <a:latin typeface="Calibri" pitchFamily="34" charset="0"/>
                          <a:ea typeface="Calibri" pitchFamily="34" charset="-122"/>
                          <a:cs typeface="Calibri" pitchFamily="34" charset="-120"/>
                        </a:rPr>
                        <a:t>Graph built. Query not run on the drive</a:t>
                      </a:r>
                      <a:endParaRPr lang="en-US" sz="11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§3.3</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A2  Coordinate frames</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"How do grasp poses reach the arm?"</a:t>
            </a:r>
            <a:endParaRPr lang="en-US" sz="1300" dirty="0"/>
          </a:p>
        </p:txBody>
      </p:sp>
      <p:sp>
        <p:nvSpPr>
          <p:cNvPr id="5" name="Shape 2"/>
          <p:cNvSpPr/>
          <p:nvPr/>
        </p:nvSpPr>
        <p:spPr>
          <a:xfrm>
            <a:off x="457200" y="1371600"/>
            <a:ext cx="868680" cy="457200"/>
          </a:xfrm>
          <a:prstGeom prst="rect">
            <a:avLst/>
          </a:prstGeom>
          <a:solidFill>
            <a:srgbClr val="E6ECF6"/>
          </a:solidFill>
          <a:ln w="12700">
            <a:solidFill>
              <a:srgbClr val="1F3B73"/>
            </a:solidFill>
            <a:prstDash val="solid"/>
          </a:ln>
        </p:spPr>
      </p:sp>
      <p:sp>
        <p:nvSpPr>
          <p:cNvPr id="6" name="Text 3"/>
          <p:cNvSpPr txBox="1"/>
          <p:nvPr/>
        </p:nvSpPr>
        <p:spPr>
          <a:xfrm>
            <a:off x="457200" y="1371600"/>
            <a:ext cx="86868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map</a:t>
            </a:r>
            <a:endParaRPr lang="en-US" sz="1250" dirty="0"/>
          </a:p>
        </p:txBody>
      </p:sp>
      <p:sp>
        <p:nvSpPr>
          <p:cNvPr id="7" name="Shape 4"/>
          <p:cNvSpPr/>
          <p:nvPr/>
        </p:nvSpPr>
        <p:spPr>
          <a:xfrm>
            <a:off x="1344168" y="1600200"/>
            <a:ext cx="237744" cy="0"/>
          </a:xfrm>
          <a:prstGeom prst="line">
            <a:avLst/>
          </a:prstGeom>
          <a:noFill/>
          <a:ln w="15875">
            <a:solidFill>
              <a:srgbClr val="1B2333"/>
            </a:solidFill>
            <a:prstDash val="solid"/>
            <a:tailEnd type="triangle"/>
          </a:ln>
        </p:spPr>
      </p:sp>
      <p:sp>
        <p:nvSpPr>
          <p:cNvPr id="8" name="Shape 5"/>
          <p:cNvSpPr/>
          <p:nvPr/>
        </p:nvSpPr>
        <p:spPr>
          <a:xfrm>
            <a:off x="1600200" y="1371600"/>
            <a:ext cx="868680" cy="457200"/>
          </a:xfrm>
          <a:prstGeom prst="rect">
            <a:avLst/>
          </a:prstGeom>
          <a:solidFill>
            <a:srgbClr val="E6ECF6"/>
          </a:solidFill>
          <a:ln w="12700">
            <a:solidFill>
              <a:srgbClr val="1F3B73"/>
            </a:solidFill>
            <a:prstDash val="solid"/>
          </a:ln>
        </p:spPr>
      </p:sp>
      <p:sp>
        <p:nvSpPr>
          <p:cNvPr id="9" name="Text 6"/>
          <p:cNvSpPr txBox="1"/>
          <p:nvPr/>
        </p:nvSpPr>
        <p:spPr>
          <a:xfrm>
            <a:off x="1600200" y="1371600"/>
            <a:ext cx="86868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odom</a:t>
            </a:r>
            <a:endParaRPr lang="en-US" sz="1250" dirty="0"/>
          </a:p>
        </p:txBody>
      </p:sp>
      <p:sp>
        <p:nvSpPr>
          <p:cNvPr id="10" name="Shape 7"/>
          <p:cNvSpPr/>
          <p:nvPr/>
        </p:nvSpPr>
        <p:spPr>
          <a:xfrm>
            <a:off x="2487168" y="1600200"/>
            <a:ext cx="237744" cy="0"/>
          </a:xfrm>
          <a:prstGeom prst="line">
            <a:avLst/>
          </a:prstGeom>
          <a:noFill/>
          <a:ln w="15875">
            <a:solidFill>
              <a:srgbClr val="1B2333"/>
            </a:solidFill>
            <a:prstDash val="solid"/>
            <a:tailEnd type="triangle"/>
          </a:ln>
        </p:spPr>
      </p:sp>
      <p:sp>
        <p:nvSpPr>
          <p:cNvPr id="11" name="Shape 8"/>
          <p:cNvSpPr/>
          <p:nvPr/>
        </p:nvSpPr>
        <p:spPr>
          <a:xfrm>
            <a:off x="2743200" y="1371600"/>
            <a:ext cx="1554480" cy="457200"/>
          </a:xfrm>
          <a:prstGeom prst="rect">
            <a:avLst/>
          </a:prstGeom>
          <a:solidFill>
            <a:srgbClr val="E6ECF6"/>
          </a:solidFill>
          <a:ln w="12700">
            <a:solidFill>
              <a:srgbClr val="1F3B73"/>
            </a:solidFill>
            <a:prstDash val="solid"/>
          </a:ln>
        </p:spPr>
      </p:sp>
      <p:sp>
        <p:nvSpPr>
          <p:cNvPr id="12" name="Text 9"/>
          <p:cNvSpPr txBox="1"/>
          <p:nvPr/>
        </p:nvSpPr>
        <p:spPr>
          <a:xfrm>
            <a:off x="2743200" y="1371600"/>
            <a:ext cx="155448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robot_base_link</a:t>
            </a:r>
            <a:endParaRPr lang="en-US" sz="1250" dirty="0"/>
          </a:p>
        </p:txBody>
      </p:sp>
      <p:sp>
        <p:nvSpPr>
          <p:cNvPr id="13" name="Shape 10"/>
          <p:cNvSpPr/>
          <p:nvPr/>
        </p:nvSpPr>
        <p:spPr>
          <a:xfrm>
            <a:off x="4315968" y="1600200"/>
            <a:ext cx="237744" cy="0"/>
          </a:xfrm>
          <a:prstGeom prst="line">
            <a:avLst/>
          </a:prstGeom>
          <a:noFill/>
          <a:ln w="15875">
            <a:solidFill>
              <a:srgbClr val="1B2333"/>
            </a:solidFill>
            <a:prstDash val="solid"/>
            <a:tailEnd type="triangle"/>
          </a:ln>
        </p:spPr>
      </p:sp>
      <p:sp>
        <p:nvSpPr>
          <p:cNvPr id="14" name="Shape 11"/>
          <p:cNvSpPr/>
          <p:nvPr/>
        </p:nvSpPr>
        <p:spPr>
          <a:xfrm>
            <a:off x="3520440" y="1828800"/>
            <a:ext cx="0" cy="320040"/>
          </a:xfrm>
          <a:prstGeom prst="line">
            <a:avLst/>
          </a:prstGeom>
          <a:noFill/>
          <a:ln w="15875">
            <a:solidFill>
              <a:srgbClr val="1B2333"/>
            </a:solidFill>
            <a:prstDash val="solid"/>
            <a:tailEnd type="triangle"/>
          </a:ln>
        </p:spPr>
      </p:sp>
      <p:sp>
        <p:nvSpPr>
          <p:cNvPr id="15" name="Shape 12"/>
          <p:cNvSpPr/>
          <p:nvPr/>
        </p:nvSpPr>
        <p:spPr>
          <a:xfrm>
            <a:off x="2743200" y="2148840"/>
            <a:ext cx="1554480" cy="384048"/>
          </a:xfrm>
          <a:prstGeom prst="rect">
            <a:avLst/>
          </a:prstGeom>
          <a:solidFill>
            <a:srgbClr val="FFFFFF"/>
          </a:solidFill>
          <a:ln w="12700">
            <a:solidFill>
              <a:srgbClr val="1F3B73"/>
            </a:solidFill>
            <a:prstDash val="solid"/>
          </a:ln>
        </p:spPr>
      </p:sp>
      <p:sp>
        <p:nvSpPr>
          <p:cNvPr id="16" name="Text 13"/>
          <p:cNvSpPr txBox="1"/>
          <p:nvPr/>
        </p:nvSpPr>
        <p:spPr>
          <a:xfrm>
            <a:off x="2743200" y="2148840"/>
            <a:ext cx="1554480" cy="384048"/>
          </a:xfrm>
          <a:prstGeom prst="rect">
            <a:avLst/>
          </a:prstGeom>
          <a:noFill/>
          <a:ln/>
        </p:spPr>
        <p:txBody>
          <a:bodyPr wrap="square" lIns="0" tIns="0" rIns="0" bIns="0" rtlCol="0" anchor="ctr"/>
          <a:lstStyle/>
          <a:p>
            <a:pPr algn="ctr" indent="0" marL="0">
              <a:buNone/>
            </a:pPr>
            <a:r>
              <a:rPr lang="en-US" sz="1200" dirty="0">
                <a:solidFill>
                  <a:srgbClr val="1F3B73"/>
                </a:solidFill>
                <a:latin typeface="Calibri" pitchFamily="34" charset="0"/>
                <a:ea typeface="Calibri" pitchFamily="34" charset="-122"/>
                <a:cs typeface="Calibri" pitchFamily="34" charset="-120"/>
              </a:rPr>
              <a:t>livox_frame</a:t>
            </a:r>
            <a:endParaRPr lang="en-US" sz="1200" dirty="0"/>
          </a:p>
        </p:txBody>
      </p:sp>
      <p:sp>
        <p:nvSpPr>
          <p:cNvPr id="17" name="Shape 14"/>
          <p:cNvSpPr/>
          <p:nvPr/>
        </p:nvSpPr>
        <p:spPr>
          <a:xfrm>
            <a:off x="4572000" y="1371600"/>
            <a:ext cx="1143000" cy="457200"/>
          </a:xfrm>
          <a:prstGeom prst="rect">
            <a:avLst/>
          </a:prstGeom>
          <a:solidFill>
            <a:srgbClr val="E6ECF6"/>
          </a:solidFill>
          <a:ln w="12700">
            <a:solidFill>
              <a:srgbClr val="1F3B73"/>
            </a:solidFill>
            <a:prstDash val="solid"/>
          </a:ln>
        </p:spPr>
      </p:sp>
      <p:sp>
        <p:nvSpPr>
          <p:cNvPr id="18" name="Text 15"/>
          <p:cNvSpPr txBox="1"/>
          <p:nvPr/>
        </p:nvSpPr>
        <p:spPr>
          <a:xfrm>
            <a:off x="4572000" y="1371600"/>
            <a:ext cx="114300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base_link</a:t>
            </a:r>
            <a:endParaRPr lang="en-US" sz="1250" dirty="0"/>
          </a:p>
        </p:txBody>
      </p:sp>
      <p:sp>
        <p:nvSpPr>
          <p:cNvPr id="19" name="Shape 16"/>
          <p:cNvSpPr/>
          <p:nvPr/>
        </p:nvSpPr>
        <p:spPr>
          <a:xfrm>
            <a:off x="5733288" y="1600200"/>
            <a:ext cx="237744" cy="0"/>
          </a:xfrm>
          <a:prstGeom prst="line">
            <a:avLst/>
          </a:prstGeom>
          <a:noFill/>
          <a:ln w="15875">
            <a:solidFill>
              <a:srgbClr val="1B2333"/>
            </a:solidFill>
            <a:prstDash val="solid"/>
            <a:tailEnd type="triangle"/>
          </a:ln>
        </p:spPr>
      </p:sp>
      <p:sp>
        <p:nvSpPr>
          <p:cNvPr id="20" name="Shape 17"/>
          <p:cNvSpPr/>
          <p:nvPr/>
        </p:nvSpPr>
        <p:spPr>
          <a:xfrm>
            <a:off x="5989320" y="1371600"/>
            <a:ext cx="1417320" cy="457200"/>
          </a:xfrm>
          <a:prstGeom prst="rect">
            <a:avLst/>
          </a:prstGeom>
          <a:solidFill>
            <a:srgbClr val="E6ECF6"/>
          </a:solidFill>
          <a:ln w="12700">
            <a:solidFill>
              <a:srgbClr val="1F3B73"/>
            </a:solidFill>
            <a:prstDash val="solid"/>
          </a:ln>
        </p:spPr>
      </p:sp>
      <p:sp>
        <p:nvSpPr>
          <p:cNvPr id="21" name="Text 18"/>
          <p:cNvSpPr txBox="1"/>
          <p:nvPr/>
        </p:nvSpPr>
        <p:spPr>
          <a:xfrm>
            <a:off x="5989320" y="1371600"/>
            <a:ext cx="141732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Link1 to Link6</a:t>
            </a:r>
            <a:endParaRPr lang="en-US" sz="1250" dirty="0"/>
          </a:p>
        </p:txBody>
      </p:sp>
      <p:sp>
        <p:nvSpPr>
          <p:cNvPr id="22" name="Shape 19"/>
          <p:cNvSpPr/>
          <p:nvPr/>
        </p:nvSpPr>
        <p:spPr>
          <a:xfrm>
            <a:off x="7424928" y="1600200"/>
            <a:ext cx="237744" cy="0"/>
          </a:xfrm>
          <a:prstGeom prst="line">
            <a:avLst/>
          </a:prstGeom>
          <a:noFill/>
          <a:ln w="15875">
            <a:solidFill>
              <a:srgbClr val="1B2333"/>
            </a:solidFill>
            <a:prstDash val="solid"/>
            <a:tailEnd type="triangle"/>
          </a:ln>
        </p:spPr>
      </p:sp>
      <p:sp>
        <p:nvSpPr>
          <p:cNvPr id="23" name="Shape 20"/>
          <p:cNvSpPr/>
          <p:nvPr/>
        </p:nvSpPr>
        <p:spPr>
          <a:xfrm>
            <a:off x="7680960" y="1371600"/>
            <a:ext cx="1234440" cy="457200"/>
          </a:xfrm>
          <a:prstGeom prst="rect">
            <a:avLst/>
          </a:prstGeom>
          <a:solidFill>
            <a:srgbClr val="E6ECF6"/>
          </a:solidFill>
          <a:ln w="12700">
            <a:solidFill>
              <a:srgbClr val="1F3B73"/>
            </a:solidFill>
            <a:prstDash val="solid"/>
          </a:ln>
        </p:spPr>
      </p:sp>
      <p:sp>
        <p:nvSpPr>
          <p:cNvPr id="24" name="Text 21"/>
          <p:cNvSpPr txBox="1"/>
          <p:nvPr/>
        </p:nvSpPr>
        <p:spPr>
          <a:xfrm>
            <a:off x="7680960" y="1371600"/>
            <a:ext cx="123444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camera_link</a:t>
            </a:r>
            <a:endParaRPr lang="en-US" sz="1250" dirty="0"/>
          </a:p>
        </p:txBody>
      </p:sp>
      <p:sp>
        <p:nvSpPr>
          <p:cNvPr id="25" name="Shape 22"/>
          <p:cNvSpPr/>
          <p:nvPr/>
        </p:nvSpPr>
        <p:spPr>
          <a:xfrm>
            <a:off x="8933688" y="1600200"/>
            <a:ext cx="237744" cy="0"/>
          </a:xfrm>
          <a:prstGeom prst="line">
            <a:avLst/>
          </a:prstGeom>
          <a:noFill/>
          <a:ln w="15875">
            <a:solidFill>
              <a:srgbClr val="1B2333"/>
            </a:solidFill>
            <a:prstDash val="solid"/>
            <a:tailEnd type="triangle"/>
          </a:ln>
        </p:spPr>
      </p:sp>
      <p:sp>
        <p:nvSpPr>
          <p:cNvPr id="26" name="Shape 23"/>
          <p:cNvSpPr/>
          <p:nvPr/>
        </p:nvSpPr>
        <p:spPr>
          <a:xfrm>
            <a:off x="9189720" y="1371600"/>
            <a:ext cx="2514600" cy="457200"/>
          </a:xfrm>
          <a:prstGeom prst="rect">
            <a:avLst/>
          </a:prstGeom>
          <a:solidFill>
            <a:srgbClr val="E6ECF6"/>
          </a:solidFill>
          <a:ln w="12700">
            <a:solidFill>
              <a:srgbClr val="1F3B73"/>
            </a:solidFill>
            <a:prstDash val="solid"/>
          </a:ln>
        </p:spPr>
      </p:sp>
      <p:sp>
        <p:nvSpPr>
          <p:cNvPr id="27" name="Text 24"/>
          <p:cNvSpPr txBox="1"/>
          <p:nvPr/>
        </p:nvSpPr>
        <p:spPr>
          <a:xfrm>
            <a:off x="9189720" y="1371600"/>
            <a:ext cx="2514600" cy="457200"/>
          </a:xfrm>
          <a:prstGeom prst="rect">
            <a:avLst/>
          </a:prstGeom>
          <a:noFill/>
          <a:ln/>
        </p:spPr>
        <p:txBody>
          <a:bodyPr wrap="square" lIns="0" tIns="0" rIns="0" bIns="0" rtlCol="0" anchor="ctr"/>
          <a:lstStyle/>
          <a:p>
            <a:pPr algn="ctr" indent="0" marL="0">
              <a:buNone/>
            </a:pPr>
            <a:r>
              <a:rPr lang="en-US" sz="1250" b="1" dirty="0">
                <a:solidFill>
                  <a:srgbClr val="1F3B73"/>
                </a:solidFill>
                <a:latin typeface="Calibri" pitchFamily="34" charset="0"/>
                <a:ea typeface="Calibri" pitchFamily="34" charset="-122"/>
                <a:cs typeface="Calibri" pitchFamily="34" charset="-120"/>
              </a:rPr>
              <a:t>camera_color_optical_frame</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11274552" cy="914400"/>
        </p:xfrm>
        <a:graphic>
          <a:graphicData uri="http://schemas.openxmlformats.org/drawingml/2006/table">
            <a:tbl>
              <a:tblPr/>
              <a:tblGrid>
                <a:gridCol w="2926080"/>
                <a:gridCol w="3291840"/>
                <a:gridCol w="5056632"/>
              </a:tblGrid>
              <a:tr h="384048">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Parent to child</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Published by</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Value or note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38404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map to odom</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SLAM Toolbox</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Nav2 plans in this map frame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odom to robot_base_link</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Wheel driver, or the FAST-LIVO2 bridge (odom_source:=fastlivo)</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Bridge: T_odom_base(t) = Tb x P0^-1 x P(t) x Tb^-1, Tb = (0.191, 0.02329, 0.15588) m. Refuses to start above 2 deg start tilt</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robot_base_link to base_link</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Static (arm mount)</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(0.18, 0, 0.48) m, yaw 180 deg. Measured, tf2_echo matched</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robot_base_link to livox_frame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LiDAR mount</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base_link through Link1..6 to camera_link</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URDF</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Wrist camera to arm calibrated (Dion, 2026-10-24)</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8404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camera_link to camera_color_optical_frame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RealSense driver</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AnyGrasp candidates arrive in this frame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29" name="Text 25"/>
          <p:cNvSpPr txBox="1"/>
          <p:nvPr/>
        </p:nvSpPr>
        <p:spPr>
          <a:xfrm>
            <a:off x="457200" y="5715000"/>
            <a:ext cx="11274552" cy="685800"/>
          </a:xfrm>
          <a:prstGeom prst="rect">
            <a:avLst/>
          </a:prstGeom>
          <a:noFill/>
          <a:ln/>
        </p:spPr>
        <p:txBody>
          <a:bodyPr wrap="square" lIns="0" tIns="0" rIns="0" bIns="0" rtlCol="0" anchor="t"/>
          <a:lstStyle/>
          <a:p>
            <a:pPr indent="0" marL="0">
              <a:buNone/>
            </a:pPr>
            <a:r>
              <a:rPr lang="en-US" sz="1250" b="1" dirty="0">
                <a:solidFill>
                  <a:srgbClr val="1B2333"/>
                </a:solidFill>
                <a:latin typeface="Calibri" pitchFamily="34" charset="0"/>
                <a:ea typeface="Calibri" pitchFamily="34" charset="-122"/>
                <a:cs typeface="Calibri" pitchFamily="34" charset="-120"/>
              </a:rPr>
              <a:t>Frame question for later: </a:t>
            </a:r>
            <a:pPr indent="0" marL="0">
              <a:buNone/>
            </a:pPr>
            <a:r>
              <a:rPr lang="en-US" sz="1250" dirty="0">
                <a:solidFill>
                  <a:srgbClr val="1B2333"/>
                </a:solidFill>
                <a:latin typeface="Calibri" pitchFamily="34" charset="0"/>
                <a:ea typeface="Calibri" pitchFamily="34" charset="-122"/>
                <a:cs typeface="Calibri" pitchFamily="34" charset="-120"/>
              </a:rPr>
              <a:t>FAST-LIVO2 publishes in camera_init and aft_mapped (its own TF is remapped to /fastlivo/tf). The memory graph stores positions in camera_init, Nav2 drives in SLAM Toolbox’s map. How graph positions reach map at run time is a design question for P2 and T7.1, not a defect</a:t>
            </a:r>
            <a:endParaRPr lang="en-US" sz="1250" dirty="0"/>
          </a:p>
        </p:txBody>
      </p:sp>
      <p:sp>
        <p:nvSpPr>
          <p:cNvPr id="30" name="Text 26"/>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§6.7, §5.4</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A3  Matching rule and thresholds</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"Why 0.56? Is CLIP cosine a probability?"</a:t>
            </a:r>
            <a:endParaRPr lang="en-US" sz="1300" dirty="0"/>
          </a:p>
        </p:txBody>
      </p:sp>
      <p:sp>
        <p:nvSpPr>
          <p:cNvPr id="5" name="Text 2"/>
          <p:cNvSpPr txBox="1"/>
          <p:nvPr/>
        </p:nvSpPr>
        <p:spPr>
          <a:xfrm>
            <a:off x="457200" y="1325880"/>
            <a:ext cx="5486400" cy="1828800"/>
          </a:xfrm>
          <a:prstGeom prst="rect">
            <a:avLst/>
          </a:prstGeom>
          <a:noFill/>
          <a:ln/>
        </p:spPr>
        <p:txBody>
          <a:bodyPr wrap="square" lIns="0" tIns="0" rIns="0" bIns="0" rtlCol="0" anchor="t"/>
          <a:lstStyle/>
          <a:p>
            <a:pPr indent="0" marL="0">
              <a:spcAft>
                <a:spcPts val="600"/>
              </a:spcAft>
              <a:buNone/>
            </a:pPr>
            <a:r>
              <a:rPr lang="en-US" sz="1350" b="1" dirty="0">
                <a:solidFill>
                  <a:srgbClr val="1F3B73"/>
                </a:solidFill>
                <a:latin typeface="Calibri" pitchFamily="34" charset="0"/>
                <a:ea typeface="Calibri" pitchFamily="34" charset="-122"/>
                <a:cs typeface="Calibri" pitchFamily="34" charset="-120"/>
              </a:rPr>
              <a:t>The rule (cross_camera_mask_match_rule.py)</a:t>
            </a:r>
            <a:endParaRPr lang="en-US" sz="1350" dirty="0"/>
          </a:p>
          <a:p>
            <a:pPr indent="0" marL="0">
              <a:spcAft>
                <a:spcPts val="600"/>
              </a:spcAft>
              <a:buNone/>
            </a:pPr>
            <a:r>
              <a:rPr lang="en-US" sz="1350" dirty="0">
                <a:solidFill>
                  <a:srgbClr val="1B2333"/>
                </a:solidFill>
                <a:latin typeface="Calibri" pitchFamily="34" charset="0"/>
                <a:ea typeface="Calibri" pitchFamily="34" charset="-122"/>
                <a:cs typeface="Calibri" pitchFamily="34" charset="-120"/>
              </a:rPr>
              <a:t>Cosine of all pairs between each wrist mask crop (box plus 20 px) and the reference crop. Cutoff 0.56, tuned on 20 pairs (T8.7). Keep masks within 0.01 of the best. A wrist-side tie returns no match</a:t>
            </a:r>
            <a:endParaRPr lang="en-US" sz="1350" dirty="0"/>
          </a:p>
          <a:p>
            <a:pPr indent="0" marL="0">
              <a:spcAft>
                <a:spcPts val="600"/>
              </a:spcAft>
              <a:buNone/>
            </a:pPr>
            <a:r>
              <a:rPr lang="en-US" sz="1350" dirty="0">
                <a:solidFill>
                  <a:srgbClr val="1B2333"/>
                </a:solidFill>
                <a:latin typeface="Calibri" pitchFamily="34" charset="0"/>
                <a:ea typeface="Calibri" pitchFamily="34" charset="-122"/>
                <a:cs typeface="Calibri" pitchFamily="34" charset="-120"/>
              </a:rPr>
              <a:t>Same model in both places: open_clip ViT-B-32 laion2b_s34b_b79k, 512-dimensional, L2-normalised</a:t>
            </a:r>
            <a:endParaRPr lang="en-US" sz="1350" dirty="0"/>
          </a:p>
        </p:txBody>
      </p:sp>
      <p:sp>
        <p:nvSpPr>
          <p:cNvPr id="6" name="Text 3"/>
          <p:cNvSpPr txBox="1"/>
          <p:nvPr/>
        </p:nvSpPr>
        <p:spPr>
          <a:xfrm>
            <a:off x="6245352" y="1325880"/>
            <a:ext cx="5486400" cy="2377440"/>
          </a:xfrm>
          <a:prstGeom prst="rect">
            <a:avLst/>
          </a:prstGeom>
          <a:noFill/>
          <a:ln/>
        </p:spPr>
        <p:txBody>
          <a:bodyPr wrap="square" lIns="0" tIns="0" rIns="0" bIns="0" rtlCol="0" anchor="t"/>
          <a:lstStyle/>
          <a:p>
            <a:pPr indent="0" marL="0">
              <a:spcAft>
                <a:spcPts val="600"/>
              </a:spcAft>
              <a:buNone/>
            </a:pPr>
            <a:r>
              <a:rPr lang="en-US" sz="1350" b="1" dirty="0">
                <a:solidFill>
                  <a:srgbClr val="1F3B73"/>
                </a:solidFill>
                <a:latin typeface="Calibri" pitchFamily="34" charset="0"/>
                <a:ea typeface="Calibri" pitchFamily="34" charset="-122"/>
                <a:cs typeface="Calibri" pitchFamily="34" charset="-120"/>
              </a:rPr>
              <a:t>Not a probability</a:t>
            </a:r>
            <a:endParaRPr lang="en-US" sz="1350" dirty="0"/>
          </a:p>
          <a:p>
            <a:pPr indent="0" marL="0">
              <a:spcAft>
                <a:spcPts val="600"/>
              </a:spcAft>
              <a:buNone/>
            </a:pPr>
            <a:r>
              <a:rPr lang="en-US" sz="1350" dirty="0">
                <a:solidFill>
                  <a:srgbClr val="1B2333"/>
                </a:solidFill>
                <a:latin typeface="Calibri" pitchFamily="34" charset="0"/>
                <a:ea typeface="Calibri" pitchFamily="34" charset="-122"/>
                <a:cs typeface="Calibri" pitchFamily="34" charset="-120"/>
              </a:rPr>
              <a:t>CLIP cosine is not a calibrated probability. Thresholds are empirical: 0.56 for the matcher, 0.6 on the graph’s combined score 1.5 x overlap + 0.5 x appearance (upstream weights)</a:t>
            </a:r>
            <a:endParaRPr lang="en-US" sz="1350" dirty="0"/>
          </a:p>
          <a:p>
            <a:pPr indent="0" marL="0">
              <a:spcAft>
                <a:spcPts val="600"/>
              </a:spcAft>
              <a:buNone/>
            </a:pPr>
            <a:r>
              <a:rPr lang="en-US" sz="1350" dirty="0">
                <a:solidFill>
                  <a:srgbClr val="1B2333"/>
                </a:solidFill>
                <a:latin typeface="Calibri" pitchFamily="34" charset="0"/>
                <a:ea typeface="Calibri" pitchFamily="34" charset="-122"/>
                <a:cs typeface="Calibri" pitchFamily="34" charset="-120"/>
              </a:rPr>
              <a:t>float16 on the GPU shifts a vector by up to 0.0039 when batch size changes. Small against 0.56, but exact scores do not reproduce across batch sizes</a:t>
            </a:r>
            <a:endParaRPr lang="en-US" sz="1350" dirty="0"/>
          </a:p>
          <a:p>
            <a:pPr indent="0" marL="0">
              <a:spcAft>
                <a:spcPts val="600"/>
              </a:spcAft>
              <a:buNone/>
            </a:pPr>
            <a:r>
              <a:rPr lang="en-US" sz="1350" dirty="0">
                <a:solidFill>
                  <a:srgbClr val="1B2333"/>
                </a:solidFill>
                <a:latin typeface="Calibri" pitchFamily="34" charset="0"/>
                <a:ea typeface="Calibri" pitchFamily="34" charset="-122"/>
                <a:cs typeface="Calibri" pitchFamily="34" charset="-120"/>
              </a:rPr>
              <a:t>Crop padding differs: glasses and wrist use box plus a fixed 20 px, the graph pads relative to the box</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11274552" cy="914400"/>
        </p:xfrm>
        <a:graphic>
          <a:graphicData uri="http://schemas.openxmlformats.org/drawingml/2006/table">
            <a:tbl>
              <a:tblPr/>
              <a:tblGrid>
                <a:gridCol w="2377440"/>
                <a:gridCol w="4572000"/>
                <a:gridCol w="4325112"/>
              </a:tblGrid>
              <a:tr h="329184">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Where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Confidence handling</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329184">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Glasses mask</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Gaze vote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Winner needs half the votes, else word only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29184">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Wrist mask (matcher)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CLIP cosine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Cutoff 0.56, wrist tie returns no match</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29184">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Wrist mask (grasp)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CLIP cosine when a reference exists (T8.9a), else SAM 3 score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Cutoff 0.56 and no tie, else nothing published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29184">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Graph association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3D overlap plus CLIP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Score over 0.6, greedy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29184">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Graph query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CLIP text vs image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Ranking only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8" name="Text 4"/>
          <p:cNvSpPr txBox="1"/>
          <p:nvPr/>
        </p:nvSpPr>
        <p:spPr>
          <a:xfrm>
            <a:off x="457200" y="5989320"/>
            <a:ext cx="11274552" cy="274320"/>
          </a:xfrm>
          <a:prstGeom prst="rect">
            <a:avLst/>
          </a:prstGeom>
          <a:noFill/>
          <a:ln/>
        </p:spPr>
        <p:txBody>
          <a:bodyPr wrap="square" lIns="0" tIns="0" rIns="0" bIns="0" rtlCol="0" anchor="t"/>
          <a:lstStyle/>
          <a:p>
            <a:pPr indent="0" marL="0">
              <a:buNone/>
            </a:pPr>
            <a:r>
              <a:rPr lang="en-US" sz="1250" i="1" dirty="0">
                <a:solidFill>
                  <a:srgbClr val="5B6577"/>
                </a:solidFill>
                <a:latin typeface="Calibri" pitchFamily="34" charset="0"/>
                <a:ea typeface="Calibri" pitchFamily="34" charset="-122"/>
                <a:cs typeface="Calibri" pitchFamily="34" charset="-120"/>
              </a:rPr>
              <a:t>No stage carries a confidence forward to the next (see A6)</a:t>
            </a:r>
            <a:endParaRPr lang="en-US" sz="1250" dirty="0"/>
          </a:p>
        </p:txBody>
      </p:sp>
      <p:sp>
        <p:nvSpPr>
          <p:cNvPr id="9" name="Text 5"/>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§5.4, §6.4, §6.6</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A4  Grasp filters and the five options</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"Why not just lower the score floor?"</a:t>
            </a:r>
            <a:endParaRPr lang="en-US" sz="1300" dirty="0"/>
          </a:p>
        </p:txBody>
      </p:sp>
      <p:sp>
        <p:nvSpPr>
          <p:cNvPr id="5" name="Text 2"/>
          <p:cNvSpPr txBox="1"/>
          <p:nvPr/>
        </p:nvSpPr>
        <p:spPr>
          <a:xfrm>
            <a:off x="457200" y="1325880"/>
            <a:ext cx="5486400" cy="274320"/>
          </a:xfrm>
          <a:prstGeom prst="rect">
            <a:avLst/>
          </a:prstGeom>
          <a:noFill/>
          <a:ln/>
        </p:spPr>
        <p:txBody>
          <a:bodyPr wrap="square" lIns="0" tIns="0" rIns="0" bIns="0" rtlCol="0" anchor="t"/>
          <a:lstStyle/>
          <a:p>
            <a:pPr indent="0" marL="0">
              <a:buNone/>
            </a:pPr>
            <a:r>
              <a:rPr lang="en-US" sz="1400" b="1" dirty="0">
                <a:solidFill>
                  <a:srgbClr val="1F3B73"/>
                </a:solidFill>
                <a:latin typeface="Calibri" pitchFamily="34" charset="0"/>
                <a:ea typeface="Calibri" pitchFamily="34" charset="-122"/>
                <a:cs typeface="Calibri" pitchFamily="34" charset="-120"/>
              </a:rPr>
              <a:t>Filters on every AnyGrasp candidate (EXECUTING state)</a:t>
            </a:r>
            <a:endParaRPr lang="en-US" sz="1400" dirty="0"/>
          </a:p>
        </p:txBody>
      </p:sp>
      <p:sp>
        <p:nvSpPr>
          <p:cNvPr id="6" name="Text 3"/>
          <p:cNvSpPr txBox="1"/>
          <p:nvPr/>
        </p:nvSpPr>
        <p:spPr>
          <a:xfrm>
            <a:off x="457200" y="1645920"/>
            <a:ext cx="5303520" cy="2194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On the SAM 3 mask</a:t>
            </a:r>
            <a:endParaRPr lang="en-US" sz="1300" dirty="0"/>
          </a:p>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Inside the approach cone</a:t>
            </a:r>
            <a:endParaRPr lang="en-US" sz="1300" dirty="0"/>
          </a:p>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Score at least 0.3</a:t>
            </a:r>
            <a:endParaRPr lang="en-US" sz="1300" dirty="0"/>
          </a:p>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Width under 68 mm</a:t>
            </a:r>
            <a:endParaRPr lang="en-US" sz="1300" dirty="0"/>
          </a:p>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Fingertips at most 45 mm past the near face</a:t>
            </a:r>
            <a:endParaRPr lang="en-US" sz="1300" dirty="0"/>
          </a:p>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Pose stable for 5 frames</a:t>
            </a:r>
            <a:endParaRPr lang="en-US" sz="1300" dirty="0"/>
          </a:p>
          <a:p>
            <a:pPr marL="342900" indent="-342900">
              <a:spcAft>
                <a:spcPts val="300"/>
              </a:spcAft>
              <a:buSzPct val="100000"/>
              <a:buChar char="•"/>
            </a:pPr>
            <a:r>
              <a:rPr lang="en-US" sz="1300" dirty="0">
                <a:solidFill>
                  <a:srgbClr val="1B2333"/>
                </a:solidFill>
                <a:latin typeface="Calibri" pitchFamily="34" charset="0"/>
                <a:ea typeface="Calibri" pitchFamily="34" charset="-122"/>
                <a:cs typeface="Calibri" pitchFamily="34" charset="-120"/>
              </a:rPr>
              <a:t>Of the 180 deg symmetric twins, the smaller wrist turn (T1.33)</a:t>
            </a:r>
            <a:endParaRPr lang="en-US" sz="1300" dirty="0"/>
          </a:p>
        </p:txBody>
      </p:sp>
      <p:sp>
        <p:nvSpPr>
          <p:cNvPr id="7" name="Shape 4"/>
          <p:cNvSpPr/>
          <p:nvPr/>
        </p:nvSpPr>
        <p:spPr>
          <a:xfrm>
            <a:off x="457200" y="3931920"/>
            <a:ext cx="5303520" cy="1783080"/>
          </a:xfrm>
          <a:prstGeom prst="rect">
            <a:avLst/>
          </a:prstGeom>
          <a:solidFill>
            <a:srgbClr val="FDF4E3"/>
          </a:solidFill>
          <a:ln w="12700">
            <a:solidFill>
              <a:srgbClr val="B7791F"/>
            </a:solidFill>
            <a:prstDash val="solid"/>
          </a:ln>
        </p:spPr>
      </p:sp>
      <p:sp>
        <p:nvSpPr>
          <p:cNvPr id="8" name="Text 5"/>
          <p:cNvSpPr txBox="1"/>
          <p:nvPr/>
        </p:nvSpPr>
        <p:spPr>
          <a:xfrm>
            <a:off x="594360" y="3931920"/>
            <a:ext cx="5029200" cy="1783080"/>
          </a:xfrm>
          <a:prstGeom prst="rect">
            <a:avLst/>
          </a:prstGeom>
          <a:noFill/>
          <a:ln/>
        </p:spPr>
        <p:txBody>
          <a:bodyPr wrap="square" lIns="0" tIns="0" rIns="0" bIns="0" rtlCol="0" anchor="ctr"/>
          <a:lstStyle/>
          <a:p>
            <a:pPr indent="0" marL="0">
              <a:buNone/>
            </a:pPr>
            <a:r>
              <a:rPr lang="en-US" sz="1250" b="1" dirty="0">
                <a:solidFill>
                  <a:srgbClr val="1B2333"/>
                </a:solidFill>
                <a:latin typeface="Calibri" pitchFamily="34" charset="0"/>
                <a:ea typeface="Calibri" pitchFamily="34" charset="-122"/>
                <a:cs typeface="Calibri" pitchFamily="34" charset="-120"/>
              </a:rPr>
              <a:t>Why the floor is not the fix: </a:t>
            </a:r>
            <a:pPr indent="0" marL="0">
              <a:buNone/>
            </a:pPr>
            <a:r>
              <a:rPr lang="en-US" sz="1250" dirty="0">
                <a:solidFill>
                  <a:srgbClr val="1B2333"/>
                </a:solidFill>
                <a:latin typeface="Calibri" pitchFamily="34" charset="0"/>
                <a:ea typeface="Calibri" pitchFamily="34" charset="-122"/>
                <a:cs typeface="Calibri" pitchFamily="34" charset="-120"/>
              </a:rPr>
              <a:t>the top-down grasp scores at most 0.25, but the problem is the view. The 30 deg cone around the camera axis dropped every top-down grasp, because the camera axis is 44 deg from vertical. AnyGrasp was also used against its README: masked points only instead of the whole scene, 0.10 m width instead of the real one</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126480" y="1325880"/>
          <a:ext cx="5605272" cy="914400"/>
        </p:xfrm>
        <a:graphic>
          <a:graphicData uri="http://schemas.openxmlformats.org/drawingml/2006/table">
            <a:tbl>
              <a:tblPr/>
              <a:tblGrid>
                <a:gridCol w="1600200"/>
                <a:gridCol w="2816352"/>
                <a:gridCol w="1188720"/>
              </a:tblGrid>
              <a:tr h="0">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Idea</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0">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A. Grasp from the view pose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AnyGrasp once at 0.4 to 0.5 m with the whole box in view, one planned motion. Steps only as a fallback</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Small. The pieces exist</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B. Fused views (T1.47)</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Several views in one cloud, grasp on that</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Built, retest owed</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C. New AnyGrasp SDK (T1.45)</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Native mask and angle steering</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Waiting on licence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D. Closed-loop tracking</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AnyGrasp’s tracking mode updates the grasp while the arm moves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Medium. Old tracker node parked</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E. Two-phase (shelved, T1.33)</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Move to just before the depth blind zone, set the angle, then a straight move in and close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10" name="Shape 6"/>
          <p:cNvSpPr/>
          <p:nvPr/>
        </p:nvSpPr>
        <p:spPr>
          <a:xfrm>
            <a:off x="6126480" y="5074920"/>
            <a:ext cx="5605272" cy="822960"/>
          </a:xfrm>
          <a:prstGeom prst="rect">
            <a:avLst/>
          </a:prstGeom>
          <a:solidFill>
            <a:srgbClr val="F7F8FA"/>
          </a:solidFill>
          <a:ln w="15875">
            <a:solidFill>
              <a:srgbClr val="9AA3B2"/>
            </a:solidFill>
            <a:prstDash val="dash"/>
          </a:ln>
        </p:spPr>
      </p:sp>
      <p:sp>
        <p:nvSpPr>
          <p:cNvPr id="11" name="Text 7"/>
          <p:cNvSpPr txBox="1"/>
          <p:nvPr/>
        </p:nvSpPr>
        <p:spPr>
          <a:xfrm>
            <a:off x="6263640" y="5166360"/>
            <a:ext cx="5330952" cy="640080"/>
          </a:xfrm>
          <a:prstGeom prst="rect">
            <a:avLst/>
          </a:prstGeom>
          <a:noFill/>
          <a:ln/>
        </p:spPr>
        <p:txBody>
          <a:bodyPr wrap="square" lIns="0" tIns="0" rIns="0" bIns="0" rtlCol="0" anchor="ctr"/>
          <a:lstStyle/>
          <a:p>
            <a:pPr algn="ctr" indent="0" marL="0">
              <a:buNone/>
            </a:pPr>
            <a:r>
              <a:rPr lang="en-US" sz="1100" b="1" dirty="0">
                <a:solidFill>
                  <a:srgbClr val="5B6577"/>
                </a:solidFill>
                <a:latin typeface="Calibri" pitchFamily="34" charset="0"/>
                <a:ea typeface="Calibri" pitchFamily="34" charset="-122"/>
                <a:cs typeface="Calibri" pitchFamily="34" charset="-120"/>
              </a:rPr>
              <a:t>[INSERT OPTIONAL: RVIZ GRASP RECORDING]</a:t>
            </a:r>
            <a:endParaRPr lang="en-US" sz="1800" dirty="0"/>
          </a:p>
          <a:p>
            <a:pPr algn="ctr" indent="0" marL="0">
              <a:buNone/>
            </a:pPr>
            <a:r>
              <a:rPr lang="en-US" sz="1000" dirty="0">
                <a:solidFill>
                  <a:srgbClr val="8A93A3"/>
                </a:solidFill>
                <a:latin typeface="Calibri" pitchFamily="34" charset="0"/>
                <a:ea typeface="Calibri" pitchFamily="34" charset="-122"/>
                <a:cs typeface="Calibri" pitchFamily="34" charset="-120"/>
              </a:rPr>
              <a:t>rviz_grasp_&lt;date&gt;.mp4, if Dion records it</a:t>
            </a:r>
            <a:endParaRPr lang="en-US" sz="1800" dirty="0"/>
          </a:p>
          <a:p>
            <a:pPr algn="ctr" indent="0" marL="0">
              <a:buNone/>
            </a:pPr>
            <a:r>
              <a:rPr lang="en-US" sz="1000" dirty="0">
                <a:solidFill>
                  <a:srgbClr val="8A93A3"/>
                </a:solidFill>
                <a:latin typeface="Calibri" pitchFamily="34" charset="0"/>
                <a:ea typeface="Calibri" pitchFamily="34" charset="-122"/>
                <a:cs typeface="Calibri" pitchFamily="34" charset="-120"/>
              </a:rPr>
              <a:t>Owner: Dion</a:t>
            </a:r>
            <a:endParaRPr lang="en-US" sz="1800" dirty="0"/>
          </a:p>
        </p:txBody>
      </p:sp>
      <p:sp>
        <p:nvSpPr>
          <p:cNvPr id="12" name="Text 8"/>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§5.5. Options: DION_PROGRESS_REPORT_2026-10.md §7 (options marked [inferred])</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A5  FAST-LIVO2 port defects and mid-route accuracy</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"How do you know the map is right?"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480560"/>
                <a:gridCol w="3200400"/>
                <a:gridCol w="3593592"/>
              </a:tblGrid>
              <a:tr h="0">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Defect (found by reading the source, confirmed against a control run)</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After the fix</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Range gate cannot act (F2): blind_sqr never assigned, the port dropped upstream’s line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Median 19,968 points per scan, the full packet</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Median 9,607. Removed fraction 0.5206 against 51.84 % audited zero-range points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LiDAR to IMU offset has the wrong sign (F3)</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About 10.2 cm of geometric inconsistency in every replay before 19 Oct</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Configs carry (-0.011, -0.02329, 0.04412) m. handdriven1 recorded after the fix</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Voxel key mismatch: insertion and retrieval used different arithmetic for negative coordinates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Key hits 1,392,458 against 1,878,707 shadow hits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Hits match, 1,855,269. Accepted retrieval points 112,980 to 128,385</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3703320"/>
            <a:ext cx="6766560" cy="2651760"/>
          </a:xfrm>
          <a:prstGeom prst="rect">
            <a:avLst/>
          </a:prstGeom>
          <a:noFill/>
          <a:ln/>
        </p:spPr>
        <p:txBody>
          <a:bodyPr wrap="square" lIns="0" tIns="0" rIns="0" bIns="0" rtlCol="0" anchor="t"/>
          <a:lstStyle/>
          <a:p>
            <a:pPr indent="0" marL="0">
              <a:spcAft>
                <a:spcPts val="500"/>
              </a:spcAft>
              <a:buNone/>
            </a:pPr>
            <a:r>
              <a:rPr lang="en-US" sz="1250" b="1" dirty="0">
                <a:solidFill>
                  <a:srgbClr val="1F3B73"/>
                </a:solidFill>
                <a:latin typeface="Calibri" pitchFamily="34" charset="0"/>
                <a:ea typeface="Calibri" pitchFamily="34" charset="-122"/>
                <a:cs typeface="Calibri" pitchFamily="34" charset="-120"/>
              </a:rPr>
              <a:t>Mid-route accuracy (T3.5f)</a:t>
            </a:r>
            <a:endParaRPr lang="en-US" sz="1250" dirty="0"/>
          </a:p>
          <a:p>
            <a:pPr marL="342900" indent="-342900">
              <a:spcAft>
                <a:spcPts val="500"/>
              </a:spcAft>
              <a:buSzPct val="100000"/>
              <a:buChar char="•"/>
            </a:pPr>
            <a:r>
              <a:rPr lang="en-US" sz="1250" dirty="0">
                <a:solidFill>
                  <a:srgbClr val="1B2333"/>
                </a:solidFill>
                <a:latin typeface="Calibri" pitchFamily="34" charset="0"/>
                <a:ea typeface="Calibri" pitchFamily="34" charset="-122"/>
                <a:cs typeface="Calibri" pitchFamily="34" charset="-120"/>
              </a:rPr>
              <a:t>Against the handdriven1 map as an independent reference, with the 0.15 s lag removed: within 6.7 cm (run 1) and 6.5 cm (run 2) for the whole route. Uncorrected 12.7 and 11.3 cm. The reference carries about 7 cm of its own error, so 6.7 cm is at the floor</a:t>
            </a:r>
            <a:endParaRPr lang="en-US" sz="1250" dirty="0"/>
          </a:p>
          <a:p>
            <a:pPr marL="342900" indent="-342900">
              <a:spcAft>
                <a:spcPts val="500"/>
              </a:spcAft>
              <a:buSzPct val="100000"/>
              <a:buChar char="•"/>
            </a:pPr>
            <a:r>
              <a:rPr lang="en-US" sz="1250" dirty="0">
                <a:solidFill>
                  <a:srgbClr val="1B2333"/>
                </a:solidFill>
                <a:latin typeface="Calibri" pitchFamily="34" charset="0"/>
                <a:ea typeface="Calibri" pitchFamily="34" charset="-122"/>
                <a:cs typeface="Calibri" pitchFamily="34" charset="-120"/>
              </a:rPr>
              <a:t>The mapper stamps its pose about 0.15 s after the scan. Surfaces smear by speed x 0.15 s, about 4 cm at 0.28 m/s. Fix prepared, off by default (stamp_offset_s)</a:t>
            </a:r>
            <a:endParaRPr lang="en-US" sz="1250" dirty="0"/>
          </a:p>
          <a:p>
            <a:pPr marL="342900" indent="-342900">
              <a:spcAft>
                <a:spcPts val="500"/>
              </a:spcAft>
              <a:buSzPct val="100000"/>
              <a:buChar char="•"/>
            </a:pPr>
            <a:r>
              <a:rPr lang="en-US" sz="1250" dirty="0">
                <a:solidFill>
                  <a:srgbClr val="1B2333"/>
                </a:solidFill>
                <a:latin typeface="Calibri" pitchFamily="34" charset="0"/>
                <a:ea typeface="Calibri" pitchFamily="34" charset="-122"/>
                <a:cs typeface="Calibri" pitchFamily="34" charset="-120"/>
              </a:rPr>
              <a:t>Floor marks did not close as ground truth (AB +0.264 m, BC 0.33 m too long). A tape-measured check is owed</a:t>
            </a:r>
            <a:endParaRPr lang="en-US" sz="1250" dirty="0"/>
          </a:p>
        </p:txBody>
      </p:sp>
      <p:sp>
        <p:nvSpPr>
          <p:cNvPr id="7" name="Shape 3"/>
          <p:cNvSpPr/>
          <p:nvPr/>
        </p:nvSpPr>
        <p:spPr>
          <a:xfrm>
            <a:off x="7498080" y="3749040"/>
            <a:ext cx="4233672" cy="2560320"/>
          </a:xfrm>
          <a:prstGeom prst="rect">
            <a:avLst/>
          </a:prstGeom>
          <a:solidFill>
            <a:srgbClr val="F7F8FA"/>
          </a:solidFill>
          <a:ln w="15875">
            <a:solidFill>
              <a:srgbClr val="9AA3B2"/>
            </a:solidFill>
            <a:prstDash val="dash"/>
          </a:ln>
        </p:spPr>
      </p:sp>
      <p:sp>
        <p:nvSpPr>
          <p:cNvPr id="8" name="Text 4"/>
          <p:cNvSpPr txBox="1"/>
          <p:nvPr/>
        </p:nvSpPr>
        <p:spPr>
          <a:xfrm>
            <a:off x="7635240" y="3840480"/>
            <a:ext cx="3959352" cy="2377440"/>
          </a:xfrm>
          <a:prstGeom prst="rect">
            <a:avLst/>
          </a:prstGeom>
          <a:noFill/>
          <a:ln/>
        </p:spPr>
        <p:txBody>
          <a:bodyPr wrap="square" lIns="0" tIns="0" rIns="0" bIns="0" rtlCol="0" anchor="ctr"/>
          <a:lstStyle/>
          <a:p>
            <a:pPr algn="ctr" indent="0" marL="0">
              <a:buNone/>
            </a:pPr>
            <a:r>
              <a:rPr lang="en-US" sz="1200" b="1" dirty="0">
                <a:solidFill>
                  <a:srgbClr val="5B6577"/>
                </a:solidFill>
                <a:latin typeface="Calibri" pitchFamily="34" charset="0"/>
                <a:ea typeface="Calibri" pitchFamily="34" charset="-122"/>
                <a:cs typeface="Calibri" pitchFamily="34" charset="-120"/>
              </a:rPr>
              <a:t>[INSERT DRIFT PLOT: ERROR VS TIME]</a:t>
            </a:r>
            <a:endParaRPr lang="en-US" sz="1800" dirty="0"/>
          </a:p>
          <a:p>
            <a:pPr algn="ctr" indent="0" marL="0">
              <a:buNone/>
            </a:pPr>
            <a:r>
              <a:rPr lang="en-US" sz="1000" dirty="0">
                <a:solidFill>
                  <a:srgbClr val="8A93A3"/>
                </a:solidFill>
                <a:latin typeface="Calibri" pitchFamily="34" charset="0"/>
                <a:ea typeface="Calibri" pitchFamily="34" charset="-122"/>
                <a:cs typeface="Calibri" pitchFamily="34" charset="-120"/>
              </a:rPr>
              <a:t>nav_t35f_drift_step3_error_vs_time_2026-10-21.png</a:t>
            </a:r>
            <a:endParaRPr lang="en-US" sz="1800" dirty="0"/>
          </a:p>
          <a:p>
            <a:pPr algn="ctr" indent="0" marL="0">
              <a:buNone/>
            </a:pPr>
            <a:r>
              <a:rPr lang="en-US" sz="1000" dirty="0">
                <a:solidFill>
                  <a:srgbClr val="8A93A3"/>
                </a:solidFill>
                <a:latin typeface="Calibri" pitchFamily="34" charset="0"/>
                <a:ea typeface="Calibri" pitchFamily="34" charset="-122"/>
                <a:cs typeface="Calibri" pitchFamily="34" charset="-120"/>
              </a:rPr>
              <a:t>Owner: Sherman</a:t>
            </a:r>
            <a:endParaRPr lang="en-US" sz="1800" dirty="0"/>
          </a:p>
        </p:txBody>
      </p:sp>
      <p:sp>
        <p:nvSpPr>
          <p:cNvPr id="9" name="Text 5"/>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§8.4. SHERMAN_PROGRESS_REPORT_2026-10.md §9.3, §11.4, §11.5</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A6  Limitations (1 of 3): confirmed in the implementation</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"What fails today?" Most are links the plan schedules for later milestones</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669280"/>
                <a:gridCol w="5605272"/>
              </a:tblGrid>
              <a:tr h="0">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Limitation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End-to-end implication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 wrong gaze pick becomes a confident reference (T8.9a replay: at 1.5 m the reference was the mat, the other box scored just over 0.56 twice)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The arm would go for the wrong box if a grasp request were open. T2.24 refuses weak gaze picks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/manipulation/goal_pose has no live publisher (inherited)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Nothing can start navigation to an object yet. T7.1 will publish it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 graph query service, no T7.1 node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The graph cannot drive the robot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 gaze-target trigger on graph objects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The exploring robot cannot yet tell it has found the target. Glasses crop vs base-camera features is untested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Graph built offline from a hand-pushed recording</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 live graph. No depth camera data</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 calibration between any cameras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Graph positions and the gaze ray carry unknown rotation error. About 6.7 px per degree on the base camera</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Software-only stops on arm and base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Every hardware test needs two people and the power button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 automatic grasp success check</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Outcome must be judged by people. A retry loop cannot know when to retry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§9.1</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A6  Limitations (2 of 3): architectural risks to test</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"What could break when the parts join?"</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3108960"/>
                <a:gridCol w="8165592"/>
              </a:tblGrid>
              <a:tr h="0">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What to watch</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 confidence crosses a stage boundary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 wrong gaze pick gives a confident reference, a wrong graph hit gives a goal, a wrong wrist mask gives a grasp. The matcher caught one wrong reference by luck of score (0.51 vs 0.56)</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Crop mismatch</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Fixed 20 px glasses crop against the graph’s relative padding, when the gaze match (P3) lands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Frame of graph positions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camera_init against Nav2’s map frame, to settle when P2 and T7.1 are built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Standoff vs reach</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0.6 m camera standoff against the 35 to 46 cm tested grasp band, to check at the first nav-to-object test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GPU contention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SAM 3 service, batched graph SAM 3 (up to 10.3 GiB), AnyGrasp, CLIP, Whisper, two Qwen models on one 16 GB card. Never run together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0.15 s pose lag</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Anything pairing a scan with a pose by stamp, including graph depth if rendered that way</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Viewpoint change between graph and wrist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Graph features from the base camera at knee height, reference from the glasses, confirmation from the wrist. Glasses to base camera is untested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§9.3</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A6  Limitations (3 of 3): observed failures</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"What has gone wrong on hardware or data?"</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7498080"/>
                <a:gridCol w="2377440"/>
                <a:gridCol w="1399032"/>
              </a:tblGrid>
              <a:tr h="0">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Failure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00" b="1" dirty="0">
                          <a:solidFill>
                            <a:srgbClr val="5B6577"/>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AnyGrasp’s confident grasps are across the too-wide face. Fit check passes edge slices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Wrist, 0.21 m</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T1.44</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Live OK-Robot trials 0 of 4: one pushed the box, two stuck in EXECUTING, one found nothing in 3 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Real arm</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T1.44</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Wrist spun 180 deg and knocked the box off (fixed)</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First AnyGrasp grasp</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T1.33</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Wide wrist twist (j4 146, j5 29, j6 274 deg)</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AnyGrasp grasp B</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T1.40</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Look-alike boxes: 148 of 180, 6 of 12</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Matcher</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T8.5, T8.8</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Gaze landed on the mat stack at 1.5 m</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Glasses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T8.5</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Keypoint matching 0 of 15</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Cross camera</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T8.4</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Mapper teardown aborts 2 of 4. LiDAR driver SIGBUS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S§10.3</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Ethernet flap caused 8.1 s and 15.1 s IMU time jumps</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Base, live</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T3.5d</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Lab box silent hangs (2026-10-06, 2026-10-20)</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Shared box</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S§15</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Glass walls: about 42 % of 5 cm map points are ghosts outside the glass box</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Map</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S§15</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0">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Glass door and both computer towers missed in every graph setting</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Graph</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Z§3.5</a:t>
                      </a:r>
                      <a:endParaRPr lang="en-US" sz="120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6080760"/>
            <a:ext cx="11274552" cy="274320"/>
          </a:xfrm>
          <a:prstGeom prst="rect">
            <a:avLst/>
          </a:prstGeom>
          <a:noFill/>
          <a:ln/>
        </p:spPr>
        <p:txBody>
          <a:bodyPr wrap="square" lIns="0" tIns="0" rIns="0" bIns="0" rtlCol="0" anchor="t"/>
          <a:lstStyle/>
          <a:p>
            <a:pPr indent="0" marL="0">
              <a:buNone/>
            </a:pPr>
            <a:r>
              <a:rPr lang="en-US" sz="1150" i="1" dirty="0">
                <a:solidFill>
                  <a:srgbClr val="5B6577"/>
                </a:solidFill>
                <a:latin typeface="Calibri" pitchFamily="34" charset="0"/>
                <a:ea typeface="Calibri" pitchFamily="34" charset="-122"/>
                <a:cs typeface="Calibri" pitchFamily="34" charset="-120"/>
              </a:rPr>
              <a:t>Lab visitors’ faces appear in Sherman’s coloured map. Cleared for this internal presentation. Re-render before any external showing</a:t>
            </a:r>
            <a:endParaRPr lang="en-US" sz="1150" dirty="0"/>
          </a:p>
        </p:txBody>
      </p:sp>
      <p:sp>
        <p:nvSpPr>
          <p:cNvPr id="7" name="Text 3"/>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§9.2. 148 of 180 (T8.5, matcher on display) is not the same count as 266 of 268 on slide 12 (T8.9a, published targets only)</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A7  September plan vs now</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"How does this compare with your original plan?"</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926080"/>
                <a:gridCol w="2651760"/>
                <a:gridCol w="3108960"/>
                <a:gridCol w="2587752"/>
              </a:tblGrid>
              <a:tr h="365760">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Milestone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September plan window</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Now (actual to 24 Oct, forecast end)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Change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M0 Everyone can build and run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14 to 27 Sep 2026</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Done 24 Sep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On time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M1 The arm picks something up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5 Oct to 1 Nov 2026</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21 Sep. Forecast 8 Nov</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About one week later (AnyGrasp)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M2 Voice and gaze reach the arm</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26 Oct 2026 to 3 Jan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8 Oct. Forecast 10 Jan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early, ends about one week later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M3 The base navigates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12 Oct to 27 Dec 2026</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14 Sep. Forecast 10 Jan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Two weeks later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M4 Closed loop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28 Dec 2026 to 17 Jan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Forecast 11 to 31 Jan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Two weeks later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M5 Calibrated base camera</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5 Oct 2026 to 17 Jan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16 Sep. Forecast 24 Jan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One week later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M6 Memory graph offline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28 Dec 2026 to 7 Feb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21 Sep. Forecast 31 Jan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One week earlier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M7 The graph drives the robot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1 to 28 Feb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Forecast 18 Jan to 28 Feb</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Can start earlier, end unchanged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M8 Gaze picks the instance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8 Feb to 14 Mar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19 Oct. Forecast 14 Mar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Started early, end unchanged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M9 Frontier scoring (optional)</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2 Nov 2026 to 21 Feb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Not started. 18 Jan to 21 Feb if kept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First on the cut list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65760">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M10 Demonstration and paper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1 to 21 Mar 2027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Forecast 1 to 21 Mar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Unchanged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5897880"/>
            <a:ext cx="11274552" cy="457200"/>
          </a:xfrm>
          <a:prstGeom prst="rect">
            <a:avLst/>
          </a:prstGeom>
          <a:noFill/>
          <a:ln/>
        </p:spPr>
        <p:txBody>
          <a:bodyPr wrap="square" lIns="0" tIns="0" rIns="0" bIns="0" rtlCol="0" anchor="t"/>
          <a:lstStyle/>
          <a:p>
            <a:pPr indent="0" marL="0">
              <a:buNone/>
            </a:pPr>
            <a:r>
              <a:rPr lang="en-US" sz="1150" i="1" dirty="0">
                <a:solidFill>
                  <a:srgbClr val="5B6577"/>
                </a:solidFill>
                <a:latin typeface="Calibri" pitchFamily="34" charset="0"/>
                <a:ea typeface="Calibri" pitchFamily="34" charset="-122"/>
                <a:cs typeface="Calibri" pitchFamily="34" charset="-120"/>
              </a:rPr>
              <a:t>September plan windows from the milestone headings of the plan in git at 1cde0ec:docs/PROJECT_PLAN.md. Its §6.6 heading gives M4 as 28 Dec to 17 Jan, while PROJECT_PLAN.md:414 forecasts 11 to 31 Jan</a:t>
            </a:r>
            <a:endParaRPr lang="en-US" sz="1150" dirty="0"/>
          </a:p>
        </p:txBody>
      </p:sp>
      <p:sp>
        <p:nvSpPr>
          <p:cNvPr id="7" name="Text 3"/>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1cde0ec:docs/PROJECT_PLAN.md §5 and §6 headings. COMBINED_PROGRESS_REPORT_2026-10.md §0.2, §0.6</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A8  Why gaze, not just a class name</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"Isn’t identical-object picking niche?"</a:t>
            </a:r>
            <a:endParaRPr lang="en-US" sz="1300" dirty="0"/>
          </a:p>
        </p:txBody>
      </p:sp>
      <p:sp>
        <p:nvSpPr>
          <p:cNvPr id="5" name="Text 2"/>
          <p:cNvSpPr txBox="1"/>
          <p:nvPr/>
        </p:nvSpPr>
        <p:spPr>
          <a:xfrm>
            <a:off x="457200" y="1371600"/>
            <a:ext cx="11274552" cy="731520"/>
          </a:xfrm>
          <a:prstGeom prst="rect">
            <a:avLst/>
          </a:prstGeom>
          <a:noFill/>
          <a:ln/>
        </p:spPr>
        <p:txBody>
          <a:bodyPr wrap="square" lIns="0" tIns="0" rIns="0" bIns="0" rtlCol="0" anchor="t"/>
          <a:lstStyle/>
          <a:p>
            <a:pPr indent="0" marL="0">
              <a:buNone/>
            </a:pPr>
            <a:r>
              <a:rPr lang="en-US" sz="1800" b="1" dirty="0">
                <a:solidFill>
                  <a:srgbClr val="1B2333"/>
                </a:solidFill>
                <a:latin typeface="Calibri" pitchFamily="34" charset="0"/>
                <a:ea typeface="Calibri" pitchFamily="34" charset="-122"/>
                <a:cs typeface="Calibri" pitchFamily="34" charset="-120"/>
              </a:rPr>
              <a:t>Two truly identical objects are the hardest test case, not the pitch.</a:t>
            </a:r>
            <a:endParaRPr lang="en-US" sz="1800" dirty="0"/>
          </a:p>
          <a:p>
            <a:pPr indent="0" marL="0">
              <a:buNone/>
            </a:pPr>
            <a:r>
              <a:rPr lang="en-US" sz="1800" dirty="0">
                <a:solidFill>
                  <a:srgbClr val="1B2333"/>
                </a:solidFill>
                <a:latin typeface="Calibri" pitchFamily="34" charset="0"/>
                <a:ea typeface="Calibri" pitchFamily="34" charset="-122"/>
                <a:cs typeface="Calibri" pitchFamily="34" charset="-120"/>
              </a:rPr>
              <a:t>The capability is knowing where the user is looking in the robot’s own 3D space</a:t>
            </a:r>
            <a:endParaRPr lang="en-US" sz="1800" dirty="0"/>
          </a:p>
        </p:txBody>
      </p:sp>
      <p:sp>
        <p:nvSpPr>
          <p:cNvPr id="6" name="Shape 3"/>
          <p:cNvSpPr/>
          <p:nvPr/>
        </p:nvSpPr>
        <p:spPr>
          <a:xfrm>
            <a:off x="457200" y="2331720"/>
            <a:ext cx="11274552" cy="640080"/>
          </a:xfrm>
          <a:prstGeom prst="rect">
            <a:avLst/>
          </a:prstGeom>
          <a:solidFill>
            <a:srgbClr val="F2F4F8"/>
          </a:solidFill>
          <a:ln/>
        </p:spPr>
      </p:sp>
      <p:sp>
        <p:nvSpPr>
          <p:cNvPr id="7" name="Text 4"/>
          <p:cNvSpPr txBox="1"/>
          <p:nvPr/>
        </p:nvSpPr>
        <p:spPr>
          <a:xfrm>
            <a:off x="640080" y="2331720"/>
            <a:ext cx="3840480" cy="640080"/>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Similar objects</a:t>
            </a:r>
            <a:endParaRPr lang="en-US" sz="1600" dirty="0"/>
          </a:p>
        </p:txBody>
      </p:sp>
      <p:sp>
        <p:nvSpPr>
          <p:cNvPr id="8" name="Text 5"/>
          <p:cNvSpPr txBox="1"/>
          <p:nvPr/>
        </p:nvSpPr>
        <p:spPr>
          <a:xfrm>
            <a:off x="4572000" y="2331720"/>
            <a:ext cx="7040880" cy="6400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Two chairs of the same model score 0.81 to 0.85 in CLIP, close to the same chair at 0.93</a:t>
            </a:r>
            <a:endParaRPr lang="en-US" sz="1500" dirty="0"/>
          </a:p>
        </p:txBody>
      </p:sp>
      <p:sp>
        <p:nvSpPr>
          <p:cNvPr id="9" name="Shape 6"/>
          <p:cNvSpPr/>
          <p:nvPr/>
        </p:nvSpPr>
        <p:spPr>
          <a:xfrm>
            <a:off x="457200" y="3081528"/>
            <a:ext cx="11274552" cy="640080"/>
          </a:xfrm>
          <a:prstGeom prst="rect">
            <a:avLst/>
          </a:prstGeom>
          <a:solidFill>
            <a:srgbClr val="FFFFFF"/>
          </a:solidFill>
          <a:ln/>
        </p:spPr>
      </p:sp>
      <p:sp>
        <p:nvSpPr>
          <p:cNvPr id="10" name="Text 7"/>
          <p:cNvSpPr txBox="1"/>
          <p:nvPr/>
        </p:nvSpPr>
        <p:spPr>
          <a:xfrm>
            <a:off x="640080" y="3081528"/>
            <a:ext cx="3840480" cy="640080"/>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Partly hidden objects</a:t>
            </a:r>
            <a:endParaRPr lang="en-US" sz="1600" dirty="0"/>
          </a:p>
        </p:txBody>
      </p:sp>
      <p:sp>
        <p:nvSpPr>
          <p:cNvPr id="11" name="Text 8"/>
          <p:cNvSpPr txBox="1"/>
          <p:nvPr/>
        </p:nvSpPr>
        <p:spPr>
          <a:xfrm>
            <a:off x="4572000" y="3081528"/>
            <a:ext cx="7040880" cy="6400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The robot may see only part of the object the user sees</a:t>
            </a:r>
            <a:endParaRPr lang="en-US" sz="1500" dirty="0"/>
          </a:p>
        </p:txBody>
      </p:sp>
      <p:sp>
        <p:nvSpPr>
          <p:cNvPr id="12" name="Shape 9"/>
          <p:cNvSpPr/>
          <p:nvPr/>
        </p:nvSpPr>
        <p:spPr>
          <a:xfrm>
            <a:off x="457200" y="3831336"/>
            <a:ext cx="11274552" cy="640080"/>
          </a:xfrm>
          <a:prstGeom prst="rect">
            <a:avLst/>
          </a:prstGeom>
          <a:solidFill>
            <a:srgbClr val="F2F4F8"/>
          </a:solidFill>
          <a:ln/>
        </p:spPr>
      </p:sp>
      <p:sp>
        <p:nvSpPr>
          <p:cNvPr id="13" name="Text 10"/>
          <p:cNvSpPr txBox="1"/>
          <p:nvPr/>
        </p:nvSpPr>
        <p:spPr>
          <a:xfrm>
            <a:off x="640080" y="3831336"/>
            <a:ext cx="3840480" cy="640080"/>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Uncertain image features</a:t>
            </a:r>
            <a:endParaRPr lang="en-US" sz="1600" dirty="0"/>
          </a:p>
        </p:txBody>
      </p:sp>
      <p:sp>
        <p:nvSpPr>
          <p:cNvPr id="14" name="Text 11"/>
          <p:cNvSpPr txBox="1"/>
          <p:nvPr/>
        </p:nvSpPr>
        <p:spPr>
          <a:xfrm>
            <a:off x="4572000" y="3831336"/>
            <a:ext cx="7040880" cy="6400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Appearance alone is not a reliable identity</a:t>
            </a:r>
            <a:endParaRPr lang="en-US" sz="1500" dirty="0"/>
          </a:p>
        </p:txBody>
      </p:sp>
      <p:sp>
        <p:nvSpPr>
          <p:cNvPr id="15" name="Shape 12"/>
          <p:cNvSpPr/>
          <p:nvPr/>
        </p:nvSpPr>
        <p:spPr>
          <a:xfrm>
            <a:off x="457200" y="4581144"/>
            <a:ext cx="11274552" cy="640080"/>
          </a:xfrm>
          <a:prstGeom prst="rect">
            <a:avLst/>
          </a:prstGeom>
          <a:solidFill>
            <a:srgbClr val="FFFFFF"/>
          </a:solidFill>
          <a:ln/>
        </p:spPr>
      </p:sp>
      <p:sp>
        <p:nvSpPr>
          <p:cNvPr id="16" name="Text 13"/>
          <p:cNvSpPr txBox="1"/>
          <p:nvPr/>
        </p:nvSpPr>
        <p:spPr>
          <a:xfrm>
            <a:off x="640080" y="4581144"/>
            <a:ext cx="3840480" cy="640080"/>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A robot that does not see what the user sees</a:t>
            </a:r>
            <a:endParaRPr lang="en-US" sz="1600" dirty="0"/>
          </a:p>
        </p:txBody>
      </p:sp>
      <p:sp>
        <p:nvSpPr>
          <p:cNvPr id="17" name="Text 14"/>
          <p:cNvSpPr txBox="1"/>
          <p:nvPr/>
        </p:nvSpPr>
        <p:spPr>
          <a:xfrm>
            <a:off x="4572000" y="4581144"/>
            <a:ext cx="7040880" cy="6400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The base camera is at knee height, the glasses at eye level</a:t>
            </a:r>
            <a:endParaRPr lang="en-US" sz="1500" dirty="0"/>
          </a:p>
        </p:txBody>
      </p:sp>
      <p:sp>
        <p:nvSpPr>
          <p:cNvPr id="18" name="Shape 15"/>
          <p:cNvSpPr/>
          <p:nvPr/>
        </p:nvSpPr>
        <p:spPr>
          <a:xfrm>
            <a:off x="457200" y="5330952"/>
            <a:ext cx="11274552" cy="640080"/>
          </a:xfrm>
          <a:prstGeom prst="rect">
            <a:avLst/>
          </a:prstGeom>
          <a:solidFill>
            <a:srgbClr val="F2F4F8"/>
          </a:solidFill>
          <a:ln/>
        </p:spPr>
      </p:sp>
      <p:sp>
        <p:nvSpPr>
          <p:cNvPr id="19" name="Text 16"/>
          <p:cNvSpPr txBox="1"/>
          <p:nvPr/>
        </p:nvSpPr>
        <p:spPr>
          <a:xfrm>
            <a:off x="640080" y="5330952"/>
            <a:ext cx="3840480" cy="640080"/>
          </a:xfrm>
          <a:prstGeom prst="rect">
            <a:avLst/>
          </a:prstGeom>
          <a:noFill/>
          <a:ln/>
        </p:spPr>
        <p:txBody>
          <a:bodyPr wrap="square" lIns="0" tIns="0" rIns="0" bIns="0" rtlCol="0" anchor="ctr"/>
          <a:lstStyle/>
          <a:p>
            <a:pPr indent="0" marL="0">
              <a:buNone/>
            </a:pPr>
            <a:r>
              <a:rPr lang="en-US" sz="1600" b="1" dirty="0">
                <a:solidFill>
                  <a:srgbClr val="1F3B73"/>
                </a:solidFill>
                <a:latin typeface="Calibri" pitchFamily="34" charset="0"/>
                <a:ea typeface="Calibri" pitchFamily="34" charset="-122"/>
                <a:cs typeface="Calibri" pitchFamily="34" charset="-120"/>
              </a:rPr>
              <a:t>Assistive use</a:t>
            </a:r>
            <a:endParaRPr lang="en-US" sz="1600" dirty="0"/>
          </a:p>
        </p:txBody>
      </p:sp>
      <p:sp>
        <p:nvSpPr>
          <p:cNvPr id="20" name="Text 17"/>
          <p:cNvSpPr txBox="1"/>
          <p:nvPr/>
        </p:nvSpPr>
        <p:spPr>
          <a:xfrm>
            <a:off x="4572000" y="5330952"/>
            <a:ext cx="7040880" cy="6400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A user who can look but cannot easily point or speak, in a scene full of mugs, pill bottles and cans</a:t>
            </a:r>
            <a:endParaRPr lang="en-US" sz="1500" dirty="0"/>
          </a:p>
        </p:txBody>
      </p:sp>
      <p:sp>
        <p:nvSpPr>
          <p:cNvPr id="21" name="Text 18"/>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§0.3 (D§5.5). CLIP values: §8.5</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A9  End-to-end evaluation plan</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"How will you measure the final system?" Today every measurement is per stage, none end to end</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560320"/>
                <a:gridCol w="6035040"/>
                <a:gridCol w="1600200"/>
                <a:gridCol w="1078992"/>
              </a:tblGrid>
              <a:tr h="347472">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Needs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150" b="1" dirty="0">
                          <a:solidFill>
                            <a:srgbClr val="5B6577"/>
                          </a:solidFill>
                          <a:latin typeface="Calibri" pitchFamily="34" charset="0"/>
                          <a:ea typeface="Calibri" pitchFamily="34" charset="-122"/>
                          <a:cs typeface="Calibri" pitchFamily="34" charset="-120"/>
                        </a:rPr>
                        <a:t>Milestone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Glasses target accuracy</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Reference crop is the intended object, per spoken command, scenes with 2 to 4 objects at 1 to 3 m</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Live glasses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M2</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Wrist confirmation accuracy</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Matcher picks the intended object, with and without look-alikes. Refusals counted apart from wrong picks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P0 item 1</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M2</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False acceptance rate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Wrong object accepted, per stage (glasses, graph, wrist)</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Labelled trials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M2, M8</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Graph target retrieval</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First hit lands on the intended marked object, and distance to it</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T6.8</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M6</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Gaze-target trigger accuracy</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The robot stops exploring at the intended object. Wrong stops and wrist rejects counted</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T8.2</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M8</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User discovery and search distance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User found, and distance driven before the target is matched</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T7.5, T7.6</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M7</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Without gaze (stretch)</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Same trials, voice only</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T8.11</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M8</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Drive-to-point repeatability</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Ten drives, landing error, 10 cm circle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T3.6, T5.8 fixture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M3</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Handover success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Base stops with the object inside the grasp band</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T3.7</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M4</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Grasp success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12-trial grid, pass bar 9 of 12</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T1.35</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M1</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End-to-end success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Speak, look, drive, grasp. Counted only when the intended object is lifted</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All above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M4, M10</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Per-stage timing</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99th percentile per stage</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T4.2</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M4</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47472">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Recovery</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Share of failures that end safely (refusal, ask, reject and retry) instead of a wrong grasp</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P1 items</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M4</a:t>
                      </a:r>
                      <a:endParaRPr lang="en-US" sz="11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§11</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4552" cy="640080"/>
          </a:xfrm>
          <a:prstGeom prst="rect">
            <a:avLst/>
          </a:prstGeom>
          <a:noFill/>
          <a:ln/>
        </p:spPr>
        <p:txBody>
          <a:bodyPr wrap="square" lIns="0" tIns="0" rIns="0" bIns="0" rtlCol="0" anchor="t"/>
          <a:lstStyle/>
          <a:p>
            <a:pPr algn="l" indent="0" marL="0">
              <a:buNone/>
            </a:pPr>
            <a:r>
              <a:rPr lang="en-US" sz="2200" b="1" dirty="0">
                <a:solidFill>
                  <a:srgbClr val="1B2333"/>
                </a:solidFill>
                <a:latin typeface="Calibri" pitchFamily="34" charset="0"/>
                <a:ea typeface="Calibri" pitchFamily="34" charset="-122"/>
                <a:cs typeface="Calibri" pitchFamily="34" charset="-120"/>
              </a:rPr>
              <a:t>A10  Milestone tests</a:t>
            </a:r>
            <a:endParaRPr lang="en-US" sz="22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b="1" i="1" dirty="0">
                <a:solidFill>
                  <a:srgbClr val="5B6577"/>
                </a:solidFill>
                <a:latin typeface="Calibri" pitchFamily="34" charset="0"/>
                <a:ea typeface="Calibri" pitchFamily="34" charset="-122"/>
                <a:cs typeface="Calibri" pitchFamily="34" charset="-120"/>
              </a:rPr>
              <a:t>Answers: </a:t>
            </a:r>
            <a:pPr indent="0" marL="0">
              <a:buNone/>
            </a:pPr>
            <a:r>
              <a:rPr lang="en-US" sz="1300" i="1" dirty="0">
                <a:solidFill>
                  <a:srgbClr val="5B6577"/>
                </a:solidFill>
                <a:latin typeface="Calibri" pitchFamily="34" charset="0"/>
                <a:ea typeface="Calibri" pitchFamily="34" charset="-122"/>
                <a:cs typeface="Calibri" pitchFamily="34" charset="-120"/>
              </a:rPr>
              <a:t>"How do you know a milestone is done?"</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48640"/>
                <a:gridCol w="2743200"/>
                <a:gridCol w="6245352"/>
                <a:gridCol w="1737360"/>
              </a:tblGrid>
              <a:tr h="393192">
                <a:tc>
                  <a:txBody>
                    <a:bodyPr/>
                    <a:lstStyle/>
                    <a:p>
                      <a:pPr indent="0" marL="0">
                        <a:buNone/>
                      </a:pP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Milestone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Done means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c>
                  <a:txBody>
                    <a:bodyPr/>
                    <a:lstStyle/>
                    <a:p>
                      <a:pPr indent="0" marL="0">
                        <a:buNone/>
                      </a:pPr>
                      <a:r>
                        <a:rPr lang="en-US" sz="1250" b="1" dirty="0">
                          <a:solidFill>
                            <a:srgbClr val="5B6577"/>
                          </a:solidFill>
                          <a:latin typeface="Calibri" pitchFamily="34" charset="0"/>
                          <a:ea typeface="Calibri" pitchFamily="34" charset="-122"/>
                          <a:cs typeface="Calibri" pitchFamily="34" charset="-120"/>
                        </a:rPr>
                        <a:t>Lead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solidFill>
                      <a:srgbClr val="F2F4F8"/>
                    </a:solidFill>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M0</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Everyone can build and run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Two people other than Dion clone, build and pass the bench</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Zongzhe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M1</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Arm picks something up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5 grasp attempts on a box, success rate recorded, stop verified first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M2</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Voice and gaze reach the arm</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Two boxes, the arm picks the one you looked at, 3 times in 4</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M3</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Base navigates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Map, localisation, ten drives to a point with error recorded</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Sherman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M4</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Closed loop</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One recorded run: speak, look, drive, grasp, per-stage timing</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M5</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Calibrated base camera</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LiDAR points land on the right objects in the camera image, pose error as a number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Sherman mount, Dion calibration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M6</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Memory graph offline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Objects from a recorded drive, no duplicates, a sentence query returns the right one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Zongzhe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M7</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Graph drives the robot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Object out of view: the robot explores, finds the user, builds the graph live, drives to the object</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M8</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Gaze picks the instance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 gaze match ends exploration. N end-to-end trials, success per phase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M9</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Smarter exploration order (optional)</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The paper’s exploration order beats our nearest-first exploration</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Zongzhe</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r h="393192">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M10</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Demonstration and paper</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Recorded end-to-end run, paper whose central table is the end-to-end trials</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c>
                  <a:txBody>
                    <a:bodyPr/>
                    <a:lstStyle/>
                    <a:p>
                      <a:pPr indent="0" marL="0">
                        <a:buNone/>
                      </a:pPr>
                      <a:r>
                        <a:rPr lang="en-US" sz="1250" dirty="0">
                          <a:solidFill>
                            <a:srgbClr val="1B2333"/>
                          </a:solidFill>
                          <a:latin typeface="Calibri" pitchFamily="34" charset="0"/>
                          <a:ea typeface="Calibri" pitchFamily="34" charset="-122"/>
                          <a:cs typeface="Calibri" pitchFamily="34" charset="-120"/>
                        </a:rPr>
                        <a:t>All</a:t>
                      </a:r>
                      <a:endParaRPr lang="en-US" sz="1250" dirty="0">
                        <a:latin typeface="Calibri" charset="0"/>
                        <a:ea typeface="Calibri" charset="0"/>
                        <a:cs typeface="Calibri" charset="0"/>
                      </a:endParaRPr>
                    </a:p>
                  </a:txBody>
                  <a:tcPr marL="64008" marR="64008" marT="27432" marB="27432" anchor="ctr">
                    <a:lnL w="9525" cap="flat" cmpd="sng" algn="ctr">
                      <a:solidFill>
                        <a:srgbClr val="CDD3DD"/>
                      </a:solidFill>
                      <a:prstDash val="solid"/>
                      <a:round/>
                      <a:headEnd type="none" w="med" len="med"/>
                      <a:tailEnd type="none" w="med" len="med"/>
                    </a:lnL>
                    <a:lnR w="9525" cap="flat" cmpd="sng" algn="ctr">
                      <a:solidFill>
                        <a:srgbClr val="CDD3DD"/>
                      </a:solidFill>
                      <a:prstDash val="solid"/>
                      <a:round/>
                      <a:headEnd type="none" w="med" len="med"/>
                      <a:tailEnd type="none" w="med" len="med"/>
                    </a:lnR>
                    <a:lnT w="9525" cap="flat" cmpd="sng" algn="ctr">
                      <a:solidFill>
                        <a:srgbClr val="CDD3DD"/>
                      </a:solidFill>
                      <a:prstDash val="solid"/>
                      <a:round/>
                      <a:headEnd type="none" w="med" len="med"/>
                      <a:tailEnd type="none" w="med" len="med"/>
                    </a:lnT>
                    <a:lnB w="9525" cap="flat" cmpd="sng" algn="ctr">
                      <a:solidFill>
                        <a:srgbClr val="CDD3DD"/>
                      </a:solidFill>
                      <a:prstDash val="solid"/>
                      <a:round/>
                      <a:headEnd type="none" w="med" len="med"/>
                      <a:tailEnd type="none" w="med" len="med"/>
                    </a:lnB>
                  </a:tcPr>
                </a:tc>
              </a:tr>
            </a:tbl>
          </a:graphicData>
        </a:graphic>
      </p:graphicFrame>
      <p:sp>
        <p:nvSpPr>
          <p:cNvPr id="6" name="Text 2"/>
          <p:cNvSpPr txBox="1"/>
          <p:nvPr/>
        </p:nvSpPr>
        <p:spPr>
          <a:xfrm>
            <a:off x="457200" y="6473952"/>
            <a:ext cx="10058400" cy="228600"/>
          </a:xfrm>
          <a:prstGeom prst="rect">
            <a:avLst/>
          </a:prstGeom>
          <a:noFill/>
          <a:ln/>
        </p:spPr>
        <p:txBody>
          <a:bodyPr wrap="square" lIns="0" tIns="0" rIns="0" bIns="0" rtlCol="0" anchor="t"/>
          <a:lstStyle/>
          <a:p>
            <a:pPr indent="0" marL="0">
              <a:buNone/>
            </a:pPr>
            <a:r>
              <a:rPr lang="en-US" sz="1000" dirty="0">
                <a:solidFill>
                  <a:srgbClr val="8A93A3"/>
                </a:solidFill>
                <a:latin typeface="Calibri" pitchFamily="34" charset="0"/>
                <a:ea typeface="Calibri" pitchFamily="34" charset="-122"/>
                <a:cs typeface="Calibri" pitchFamily="34" charset="-120"/>
              </a:rPr>
              <a:t>Source: COMBINED_PROGRESS_REPORT_2026-10.md §0.2</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8A93A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Gappler interim">
  <a:themeElements>
    <a:clrScheme name="Gappler interim">
      <a:dk1>
        <a:srgbClr val="1B2333"/>
      </a:dk1>
      <a:lt1>
        <a:srgbClr val="FFFFFF"/>
      </a:lt1>
      <a:dk2>
        <a:srgbClr val="1F3B73"/>
      </a:dk2>
      <a:lt2>
        <a:srgbClr val="F2F4F8"/>
      </a:lt2>
      <a:accent1>
        <a:srgbClr val="1F3B73"/>
      </a:accent1>
      <a:accent2>
        <a:srgbClr val="2E7D4F"/>
      </a:accent2>
      <a:accent3>
        <a:srgbClr val="B7791F"/>
      </a:accent3>
      <a:accent4>
        <a:srgbClr val="2B6CB0"/>
      </a:accent4>
      <a:accent5>
        <a:srgbClr val="D9622B"/>
      </a:accent5>
      <a:accent6>
        <a:srgbClr val="8A93A3"/>
      </a:accent6>
      <a:hlink>
        <a:srgbClr val="2B6CB0"/>
      </a:hlink>
      <a:folHlink>
        <a:srgbClr val="5B6577"/>
      </a:folHlink>
    </a:clrScheme>
    <a:fontScheme name="Gappler interi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High-Readiness Mobile Manipulation via Gaze-Speech Interaction and Continuous Pre-Alignment</dc:title>
  <dc:subject>FYP interim assessment, 28 October 2026</dc:subject>
  <dc:creator>Dion, Sherman, Zongzhe</dc:creator>
  <cp:lastModifiedBy>Dion, Sherman, Zongzhe</cp:lastModifiedBy>
  <cp:revision>1</cp:revision>
  <dcterms:created xsi:type="dcterms:W3CDTF">2026-10-24T15:52:58Z</dcterms:created>
  <dcterms:modified xsi:type="dcterms:W3CDTF">2026-10-24T15:52:58Z</dcterms:modified>
</cp:coreProperties>
</file>