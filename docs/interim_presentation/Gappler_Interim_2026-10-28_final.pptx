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320" r:id="rId3"/>
    <p:sldId id="319" r:id="rId4"/>
    <p:sldId id="302" r:id="rId5"/>
    <p:sldId id="260" r:id="rId6"/>
    <p:sldId id="261" r:id="rId7"/>
    <p:sldId id="262" r:id="rId8"/>
    <p:sldId id="322" r:id="rId9"/>
    <p:sldId id="323" r:id="rId10"/>
    <p:sldId id="324" r:id="rId11"/>
    <p:sldId id="263" r:id="rId12"/>
    <p:sldId id="264" r:id="rId13"/>
    <p:sldId id="304" r:id="rId14"/>
    <p:sldId id="328" r:id="rId15"/>
    <p:sldId id="257" r:id="rId16"/>
    <p:sldId id="267" r:id="rId17"/>
    <p:sldId id="268" r:id="rId18"/>
    <p:sldId id="337" r:id="rId19"/>
    <p:sldId id="315" r:id="rId20"/>
    <p:sldId id="316" r:id="rId21"/>
    <p:sldId id="317" r:id="rId22"/>
    <p:sldId id="318" r:id="rId23"/>
    <p:sldId id="272" r:id="rId24"/>
    <p:sldId id="313" r:id="rId25"/>
    <p:sldId id="312" r:id="rId26"/>
    <p:sldId id="325" r:id="rId27"/>
    <p:sldId id="276" r:id="rId28"/>
    <p:sldId id="277" r:id="rId29"/>
    <p:sldId id="338" r:id="rId30"/>
    <p:sldId id="279" r:id="rId31"/>
    <p:sldId id="280" r:id="rId32"/>
    <p:sldId id="281" r:id="rId33"/>
    <p:sldId id="282" r:id="rId34"/>
    <p:sldId id="283" r:id="rId35"/>
    <p:sldId id="297" r:id="rId36"/>
    <p:sldId id="285" r:id="rId37"/>
    <p:sldId id="286" r:id="rId38"/>
    <p:sldId id="287" r:id="rId39"/>
    <p:sldId id="288" r:id="rId40"/>
    <p:sldId id="298" r:id="rId41"/>
    <p:sldId id="299" r:id="rId42"/>
    <p:sldId id="308" r:id="rId43"/>
    <p:sldId id="309" r:id="rId44"/>
    <p:sldId id="310" r:id="rId45"/>
    <p:sldId id="311" r:id="rId46"/>
    <p:sldId id="321" r:id="rId47"/>
    <p:sldId id="329" r:id="rId48"/>
    <p:sldId id="330" r:id="rId49"/>
    <p:sldId id="331" r:id="rId50"/>
    <p:sldId id="332" r:id="rId51"/>
    <p:sldId id="333" r:id="rId52"/>
    <p:sldId id="334" r:id="rId53"/>
    <p:sldId id="335" r:id="rId54"/>
    <p:sldId id="336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E8AA0E9-33EE-AA02-CD58-BE8739468B8C}">
          <p14:sldIdLst>
            <p14:sldId id="256"/>
          </p14:sldIdLst>
        </p14:section>
        <p14:section name="1 Problem and plan" id="{081A55C2-86DE-A4B0-8DF7-34A87735590B}">
          <p14:sldIdLst>
            <p14:sldId id="320"/>
            <p14:sldId id="319"/>
            <p14:sldId id="302"/>
            <p14:sldId id="260"/>
            <p14:sldId id="261"/>
          </p14:sldIdLst>
        </p14:section>
        <p14:section name="2 Results" id="{A2470917-8025-BE42-4F48-935963505615}">
          <p14:sldIdLst>
            <p14:sldId id="262"/>
            <p14:sldId id="322"/>
            <p14:sldId id="323"/>
            <p14:sldId id="324"/>
            <p14:sldId id="263"/>
            <p14:sldId id="264"/>
            <p14:sldId id="304"/>
            <p14:sldId id="328"/>
            <p14:sldId id="257"/>
            <p14:sldId id="267"/>
            <p14:sldId id="268"/>
            <p14:sldId id="337"/>
            <p14:sldId id="315"/>
            <p14:sldId id="316"/>
            <p14:sldId id="317"/>
            <p14:sldId id="318"/>
          </p14:sldIdLst>
        </p14:section>
        <p14:section name="3 Where we stand" id="{29C2C67E-EA05-03AA-2041-0EC450D9C8C7}">
          <p14:sldIdLst>
            <p14:sldId id="272"/>
            <p14:sldId id="313"/>
            <p14:sldId id="312"/>
            <p14:sldId id="325"/>
            <p14:sldId id="276"/>
            <p14:sldId id="277"/>
          </p14:sldIdLst>
        </p14:section>
        <p14:section name="Appendix" id="{511402BA-25AB-CD60-BFF4-31839D6AD8A0}">
          <p14:sldIdLst>
            <p14:sldId id="338"/>
            <p14:sldId id="279"/>
            <p14:sldId id="280"/>
            <p14:sldId id="281"/>
            <p14:sldId id="282"/>
            <p14:sldId id="283"/>
            <p14:sldId id="297"/>
            <p14:sldId id="285"/>
            <p14:sldId id="286"/>
            <p14:sldId id="287"/>
            <p14:sldId id="288"/>
            <p14:sldId id="298"/>
            <p14:sldId id="299"/>
            <p14:sldId id="308"/>
            <p14:sldId id="309"/>
            <p14:sldId id="310"/>
            <p14:sldId id="311"/>
            <p14:sldId id="321"/>
          </p14:sldIdLst>
        </p14:section>
        <p14:section name="Appendix" id="{0598C082-C981-4604-19CB-3C5F5C43AD2E}">
          <p14:sldIdLst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3C8"/>
    <a:srgbClr val="FF793A"/>
    <a:srgbClr val="B45309"/>
    <a:srgbClr val="0368B5"/>
    <a:srgbClr val="D7E5F8"/>
    <a:srgbClr val="C2400B"/>
    <a:srgbClr val="16A449"/>
    <a:srgbClr val="030008"/>
    <a:srgbClr val="DCF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58"/>
    <p:restoredTop sz="94705"/>
  </p:normalViewPr>
  <p:slideViewPr>
    <p:cSldViewPr snapToGrid="0">
      <p:cViewPr varScale="1">
        <p:scale>
          <a:sx n="123" d="100"/>
          <a:sy n="123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98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6D40-4AE4-7AB2-16EA-E2A05B71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4828A-C953-64D5-5AF8-AF872FAA1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B41B1-927D-11A6-9225-B702D97EF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5B569-B5F5-E728-A79F-2C6D1AF7E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83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3A3B-BA65-FD0E-AB67-E4E247183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01DE5-64CA-F04A-1938-62415A69F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A4353-49BF-D662-E70F-825255986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E78D1-E922-03D4-6908-8C29E5EB1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36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E30D-DBE7-05AA-F978-E8DA6336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A34E3-4629-55FA-74B1-4BABE6CF3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4DB1F-38D8-35A0-CDA1-8A65679CD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9FAF5-3DC4-A46F-514C-555948329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24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2E42-8038-97C3-65D2-46D0FA0B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42241-F133-2F6B-2371-2EF37153A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CF114-CEB8-C7BA-2BEE-9ADF080A4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8792A-C36F-EA30-1A7F-F5A6E29BF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3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BDF5-8E25-9CEF-0979-CD33726F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B7626-6C9F-2C11-64A1-20AA50A82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96067-1BEE-60D4-D6C4-BBD39195B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F7F2-FCC7-00FA-783F-13824FC6E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70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851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757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41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4.png"/><Relationship Id="rId3" Type="http://schemas.openxmlformats.org/officeDocument/2006/relationships/image" Target="../media/image17.jpg"/><Relationship Id="rId7" Type="http://schemas.openxmlformats.org/officeDocument/2006/relationships/image" Target="../media/image16.png"/><Relationship Id="rId12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gif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3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9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30.png"/><Relationship Id="rId4" Type="http://schemas.openxmlformats.org/officeDocument/2006/relationships/image" Target="../media/image5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4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E20906B-E30B-BA18-7D6F-C3D4CB37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44556" y="0"/>
            <a:ext cx="9144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BFE378-03A7-1FE3-A9D5-94A92CA0E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344556" y="3454"/>
            <a:ext cx="9112624" cy="68344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ASSESSMENT  ·  28 OCTOBER 2026</a:t>
            </a:r>
            <a:endParaRPr lang="en-US" sz="120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</a:t>
            </a:r>
            <a:endParaRPr lang="en-US" sz="660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41777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High-Readiness Mobile Manipulation via Gaze-Speech Interaction and Continuous Pre-Alignment</a:t>
            </a:r>
            <a:endParaRPr lang="en-US" sz="200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it, name it, and the robot fetches.</a:t>
            </a:r>
            <a:endParaRPr lang="en-US" sz="1800"/>
          </a:p>
        </p:txBody>
      </p:sp>
      <p:sp>
        <p:nvSpPr>
          <p:cNvPr id="10" name="Text 7"/>
          <p:cNvSpPr txBox="1"/>
          <p:nvPr/>
        </p:nvSpPr>
        <p:spPr>
          <a:xfrm>
            <a:off x="548640" y="409575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Dion  ·  Sherman  ·  Zongzhe</a:t>
            </a:r>
            <a:endParaRPr lang="en-US" sz="1800"/>
          </a:p>
        </p:txBody>
      </p:sp>
      <p:sp>
        <p:nvSpPr>
          <p:cNvPr id="11" name="Text 8"/>
          <p:cNvSpPr txBox="1"/>
          <p:nvPr/>
        </p:nvSpPr>
        <p:spPr>
          <a:xfrm>
            <a:off x="548640" y="4892039"/>
            <a:ext cx="5029200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Prof Xie Lihua, Dr Yuan </a:t>
            </a:r>
            <a:r>
              <a:rPr lang="en-US" sz="130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Shenghai</a:t>
            </a:r>
            <a:endParaRPr lang="en-US" sz="130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AB3CCD38-CE15-078E-E119-0079CC284EA3}"/>
              </a:ext>
            </a:extLst>
          </p:cNvPr>
          <p:cNvSpPr/>
          <p:nvPr/>
        </p:nvSpPr>
        <p:spPr>
          <a:xfrm>
            <a:off x="7759318" y="2642616"/>
            <a:ext cx="621792" cy="621792"/>
          </a:xfrm>
          <a:prstGeom prst="ellipse">
            <a:avLst/>
          </a:prstGeom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1159CF05-73AA-98AC-F8B0-C19866828AFD}"/>
              </a:ext>
            </a:extLst>
          </p:cNvPr>
          <p:cNvSpPr/>
          <p:nvPr/>
        </p:nvSpPr>
        <p:spPr>
          <a:xfrm>
            <a:off x="8024494" y="2907792"/>
            <a:ext cx="91440" cy="91440"/>
          </a:xfrm>
          <a:prstGeom prst="ellipse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EAFFBFAB-9A02-3F38-0644-B27DD6278C5C}"/>
              </a:ext>
            </a:extLst>
          </p:cNvPr>
          <p:cNvSpPr/>
          <p:nvPr/>
        </p:nvSpPr>
        <p:spPr>
          <a:xfrm>
            <a:off x="7594726" y="2953512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D88C2E60-5FA7-4A87-92AC-FF9664309032}"/>
              </a:ext>
            </a:extLst>
          </p:cNvPr>
          <p:cNvSpPr/>
          <p:nvPr/>
        </p:nvSpPr>
        <p:spPr>
          <a:xfrm>
            <a:off x="8326246" y="2953512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771A404-82E6-D8E3-838E-2361EFBED67C}"/>
              </a:ext>
            </a:extLst>
          </p:cNvPr>
          <p:cNvSpPr/>
          <p:nvPr/>
        </p:nvSpPr>
        <p:spPr>
          <a:xfrm>
            <a:off x="8070214" y="2478024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EBF0F489-DF0B-56C7-92D3-E011359549B4}"/>
              </a:ext>
            </a:extLst>
          </p:cNvPr>
          <p:cNvSpPr/>
          <p:nvPr/>
        </p:nvSpPr>
        <p:spPr>
          <a:xfrm>
            <a:off x="8070214" y="3209544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FF7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1 / 3  ·  WHY IT MATTERS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older people, the hard part is getting there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Stay put. Look at it, ask for it.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7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in 4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Singapore citizens aged 65+ by 2030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NPTD, Population in Brief 2025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91840" y="3429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7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in 5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29184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seniors aged 65+ fall each year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291840" y="4663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HealthHub, Ministry of Health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FF7A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plan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58568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33415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258568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68496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33415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968496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27064" y="9692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27064" y="9692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 flipH="1">
            <a:off x="11311128" y="9692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768328" y="9692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27064" y="5189220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 flipV="1">
            <a:off x="6227064" y="4732020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 flipH="1">
            <a:off x="11311128" y="5189220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 flipV="1">
            <a:off x="11768328" y="4732020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640080"/>
            <a:ext cx="3021178" cy="292608"/>
          </a:xfrm>
          <a:prstGeom prst="roundRect">
            <a:avLst>
              <a:gd name="adj" fmla="val 15625"/>
            </a:avLst>
          </a:prstGeom>
          <a:solidFill>
            <a:srgbClr val="FF7A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355080" y="640080"/>
            <a:ext cx="3021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HOME  ·  THE BOX IS ROOMS AWAY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355080" y="5317236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She stays seated, looks at the box and asks. The robot makes the trip.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355080" y="5591556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(AI-generated)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4625D01-1205-53B9-6E34-0CDA4176B7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27"/>
          <a:stretch>
            <a:fillRect/>
          </a:stretch>
        </p:blipFill>
        <p:spPr>
          <a:xfrm>
            <a:off x="6355080" y="1081278"/>
            <a:ext cx="5285232" cy="3963924"/>
          </a:xfrm>
          <a:prstGeom prst="rect">
            <a:avLst/>
          </a:prstGeom>
        </p:spPr>
      </p:pic>
      <p:sp>
        <p:nvSpPr>
          <p:cNvPr id="32" name="Shape 8">
            <a:extLst>
              <a:ext uri="{FF2B5EF4-FFF2-40B4-BE49-F238E27FC236}">
                <a16:creationId xmlns:a16="http://schemas.microsoft.com/office/drawing/2014/main" id="{89707B30-7603-CB43-0DA7-12385664EF1C}"/>
              </a:ext>
            </a:extLst>
          </p:cNvPr>
          <p:cNvSpPr/>
          <p:nvPr/>
        </p:nvSpPr>
        <p:spPr>
          <a:xfrm>
            <a:off x="10347713" y="2002536"/>
            <a:ext cx="621792" cy="621792"/>
          </a:xfrm>
          <a:prstGeom prst="ellipse">
            <a:avLst/>
          </a:prstGeom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634A7B60-281C-AADD-9321-A56DD6311DA2}"/>
              </a:ext>
            </a:extLst>
          </p:cNvPr>
          <p:cNvSpPr/>
          <p:nvPr/>
        </p:nvSpPr>
        <p:spPr>
          <a:xfrm>
            <a:off x="10635730" y="2288044"/>
            <a:ext cx="45719" cy="45719"/>
          </a:xfrm>
          <a:prstGeom prst="ellipse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832170A9-AE3D-1574-1887-459BF0D68B6C}"/>
              </a:ext>
            </a:extLst>
          </p:cNvPr>
          <p:cNvSpPr/>
          <p:nvPr/>
        </p:nvSpPr>
        <p:spPr>
          <a:xfrm>
            <a:off x="10183121" y="2313432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FB93A832-D624-0589-1AB2-849A8A1597B7}"/>
              </a:ext>
            </a:extLst>
          </p:cNvPr>
          <p:cNvSpPr/>
          <p:nvPr/>
        </p:nvSpPr>
        <p:spPr>
          <a:xfrm>
            <a:off x="10914641" y="2313432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418CEC7C-9CB5-65FB-9F98-769D6D12557C}"/>
              </a:ext>
            </a:extLst>
          </p:cNvPr>
          <p:cNvSpPr/>
          <p:nvPr/>
        </p:nvSpPr>
        <p:spPr>
          <a:xfrm>
            <a:off x="10658609" y="1837944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B1D4634E-34D2-3BA0-F929-3B9B91A9892E}"/>
              </a:ext>
            </a:extLst>
          </p:cNvPr>
          <p:cNvSpPr/>
          <p:nvPr/>
        </p:nvSpPr>
        <p:spPr>
          <a:xfrm>
            <a:off x="10658609" y="2569464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33705" y="78333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looks at an object and names it. The robot does the rest.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657600" cy="224028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206240" y="1874520"/>
            <a:ext cx="7434072" cy="22402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91672" cy="2240280"/>
          </a:xfrm>
          <a:prstGeom prst="rect">
            <a:avLst/>
          </a:prstGeom>
          <a:ln w="254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206240" y="1874520"/>
            <a:ext cx="914" cy="845820"/>
          </a:xfrm>
          <a:prstGeom prst="line">
            <a:avLst/>
          </a:prstGeom>
          <a:noFill/>
          <a:ln w="508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206240" y="3268980"/>
            <a:ext cx="914" cy="845820"/>
          </a:xfrm>
          <a:prstGeom prst="line">
            <a:avLst/>
          </a:prstGeom>
          <a:noFill/>
          <a:ln w="508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7315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ROBOT'S ROOM</a:t>
            </a:r>
            <a:endParaRPr lang="en-US" sz="1100"/>
          </a:p>
        </p:txBody>
      </p:sp>
      <p:sp>
        <p:nvSpPr>
          <p:cNvPr id="13" name="Text 11"/>
          <p:cNvSpPr txBox="1"/>
          <p:nvPr/>
        </p:nvSpPr>
        <p:spPr>
          <a:xfrm>
            <a:off x="43891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014216" y="2148840"/>
            <a:ext cx="384048" cy="384048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707" y="2233331"/>
            <a:ext cx="215067" cy="21506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331720" y="22311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your room</a:t>
            </a:r>
            <a:endParaRPr lang="en-US" sz="1100"/>
          </a:p>
        </p:txBody>
      </p:sp>
      <p:sp>
        <p:nvSpPr>
          <p:cNvPr id="20" name="Text 16"/>
          <p:cNvSpPr txBox="1"/>
          <p:nvPr/>
        </p:nvSpPr>
        <p:spPr>
          <a:xfrm>
            <a:off x="1097280" y="35890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spot</a:t>
            </a:r>
            <a:endParaRPr lang="en-US" sz="1100"/>
          </a:p>
        </p:txBody>
      </p:sp>
      <p:sp>
        <p:nvSpPr>
          <p:cNvPr id="21" name="Shape 17"/>
          <p:cNvSpPr/>
          <p:nvPr/>
        </p:nvSpPr>
        <p:spPr>
          <a:xfrm>
            <a:off x="6080760" y="2331720"/>
            <a:ext cx="640080" cy="640080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578" y="247253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94960" y="3035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in smart glasses</a:t>
            </a:r>
            <a:endParaRPr lang="en-US" sz="1100"/>
          </a:p>
        </p:txBody>
      </p:sp>
      <p:sp>
        <p:nvSpPr>
          <p:cNvPr id="24" name="Shape 19"/>
          <p:cNvSpPr/>
          <p:nvPr/>
        </p:nvSpPr>
        <p:spPr>
          <a:xfrm>
            <a:off x="6766560" y="2651760"/>
            <a:ext cx="2651760" cy="914"/>
          </a:xfrm>
          <a:prstGeom prst="line">
            <a:avLst/>
          </a:prstGeom>
          <a:noFill/>
          <a:ln w="31750">
            <a:solidFill>
              <a:srgbClr val="0068B5"/>
            </a:solidFill>
            <a:prstDash val="sysDot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9418320" y="2404872"/>
            <a:ext cx="566928" cy="493776"/>
          </a:xfrm>
          <a:prstGeom prst="rect">
            <a:avLst/>
          </a:prstGeom>
          <a:solidFill>
            <a:srgbClr val="B7895B"/>
          </a:solidFill>
          <a:ln w="3810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 txBox="1"/>
          <p:nvPr/>
        </p:nvSpPr>
        <p:spPr>
          <a:xfrm>
            <a:off x="9144000" y="213055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box</a:t>
            </a:r>
            <a:endParaRPr lang="en-US" sz="1100"/>
          </a:p>
        </p:txBody>
      </p:sp>
      <p:sp>
        <p:nvSpPr>
          <p:cNvPr id="27" name="Shape 22"/>
          <p:cNvSpPr/>
          <p:nvPr/>
        </p:nvSpPr>
        <p:spPr>
          <a:xfrm>
            <a:off x="9424521" y="3268980"/>
            <a:ext cx="566928" cy="493776"/>
          </a:xfrm>
          <a:prstGeom prst="rect">
            <a:avLst/>
          </a:prstGeom>
          <a:solidFill>
            <a:srgbClr val="B7895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 txBox="1"/>
          <p:nvPr/>
        </p:nvSpPr>
        <p:spPr>
          <a:xfrm>
            <a:off x="9162288" y="305958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</a:t>
            </a:r>
            <a:endParaRPr lang="en-US" sz="1100"/>
          </a:p>
        </p:txBody>
      </p:sp>
      <p:sp>
        <p:nvSpPr>
          <p:cNvPr id="32" name="Shape 27"/>
          <p:cNvSpPr/>
          <p:nvPr/>
        </p:nvSpPr>
        <p:spPr>
          <a:xfrm>
            <a:off x="978408" y="4800600"/>
            <a:ext cx="694944" cy="69494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296" y="4953488"/>
            <a:ext cx="389169" cy="389169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490472" y="4727448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29"/>
          <p:cNvSpPr txBox="1"/>
          <p:nvPr/>
        </p:nvSpPr>
        <p:spPr>
          <a:xfrm>
            <a:off x="1490472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36" name="Text 30"/>
          <p:cNvSpPr txBox="1"/>
          <p:nvPr/>
        </p:nvSpPr>
        <p:spPr>
          <a:xfrm>
            <a:off x="41148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look and ask</a:t>
            </a:r>
            <a:endParaRPr lang="en-US" sz="1400"/>
          </a:p>
        </p:txBody>
      </p:sp>
      <p:sp>
        <p:nvSpPr>
          <p:cNvPr id="37" name="Text 31"/>
          <p:cNvSpPr txBox="1"/>
          <p:nvPr/>
        </p:nvSpPr>
        <p:spPr>
          <a:xfrm>
            <a:off x="411480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 me the box”</a:t>
            </a:r>
            <a:endParaRPr lang="en-US" sz="1100"/>
          </a:p>
        </p:txBody>
      </p:sp>
      <p:sp>
        <p:nvSpPr>
          <p:cNvPr id="38" name="Shape 32"/>
          <p:cNvSpPr/>
          <p:nvPr/>
        </p:nvSpPr>
        <p:spPr>
          <a:xfrm>
            <a:off x="2885846" y="4800600"/>
            <a:ext cx="694944" cy="69494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734" y="4953488"/>
            <a:ext cx="389169" cy="389169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3397910" y="4727448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4"/>
          <p:cNvSpPr txBox="1"/>
          <p:nvPr/>
        </p:nvSpPr>
        <p:spPr>
          <a:xfrm>
            <a:off x="3397910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42" name="Text 35"/>
          <p:cNvSpPr txBox="1"/>
          <p:nvPr/>
        </p:nvSpPr>
        <p:spPr>
          <a:xfrm>
            <a:off x="2318918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comes over</a:t>
            </a:r>
            <a:endParaRPr lang="en-US" sz="1400"/>
          </a:p>
        </p:txBody>
      </p:sp>
      <p:sp>
        <p:nvSpPr>
          <p:cNvPr id="43" name="Text 36"/>
          <p:cNvSpPr txBox="1"/>
          <p:nvPr/>
        </p:nvSpPr>
        <p:spPr>
          <a:xfrm>
            <a:off x="2318918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another room</a:t>
            </a:r>
            <a:endParaRPr lang="en-US" sz="1100"/>
          </a:p>
        </p:txBody>
      </p:sp>
      <p:sp>
        <p:nvSpPr>
          <p:cNvPr id="44" name="Shape 37"/>
          <p:cNvSpPr/>
          <p:nvPr/>
        </p:nvSpPr>
        <p:spPr>
          <a:xfrm>
            <a:off x="4793285" y="4800600"/>
            <a:ext cx="694944" cy="69494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172" y="4953488"/>
            <a:ext cx="389169" cy="389169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5305349" y="4727448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39"/>
          <p:cNvSpPr txBox="1"/>
          <p:nvPr/>
        </p:nvSpPr>
        <p:spPr>
          <a:xfrm>
            <a:off x="5305349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48" name="Text 40"/>
          <p:cNvSpPr txBox="1"/>
          <p:nvPr/>
        </p:nvSpPr>
        <p:spPr>
          <a:xfrm>
            <a:off x="4226357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room</a:t>
            </a:r>
            <a:endParaRPr lang="en-US" sz="1400"/>
          </a:p>
        </p:txBody>
      </p:sp>
      <p:sp>
        <p:nvSpPr>
          <p:cNvPr id="49" name="Text 41"/>
          <p:cNvSpPr txBox="1"/>
          <p:nvPr/>
        </p:nvSpPr>
        <p:spPr>
          <a:xfrm>
            <a:off x="4226357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can see</a:t>
            </a:r>
            <a:endParaRPr lang="en-US" sz="1100"/>
          </a:p>
        </p:txBody>
      </p:sp>
      <p:sp>
        <p:nvSpPr>
          <p:cNvPr id="50" name="Shape 42"/>
          <p:cNvSpPr/>
          <p:nvPr/>
        </p:nvSpPr>
        <p:spPr>
          <a:xfrm>
            <a:off x="6316675" y="4645152"/>
            <a:ext cx="1463040" cy="1005840"/>
          </a:xfrm>
          <a:prstGeom prst="diamond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3"/>
          <p:cNvSpPr txBox="1"/>
          <p:nvPr/>
        </p:nvSpPr>
        <p:spPr>
          <a:xfrm>
            <a:off x="6408115" y="49926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box?</a:t>
            </a:r>
            <a:endParaRPr lang="en-US" sz="1400"/>
          </a:p>
        </p:txBody>
      </p:sp>
      <p:sp>
        <p:nvSpPr>
          <p:cNvPr id="52" name="Text 44"/>
          <p:cNvSpPr txBox="1"/>
          <p:nvPr/>
        </p:nvSpPr>
        <p:spPr>
          <a:xfrm>
            <a:off x="6133795" y="5641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one you looked at</a:t>
            </a:r>
            <a:endParaRPr lang="en-US" sz="1100"/>
          </a:p>
        </p:txBody>
      </p:sp>
      <p:sp>
        <p:nvSpPr>
          <p:cNvPr id="53" name="Shape 45"/>
          <p:cNvSpPr/>
          <p:nvPr/>
        </p:nvSpPr>
        <p:spPr>
          <a:xfrm>
            <a:off x="8608162" y="4800600"/>
            <a:ext cx="694944" cy="69494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519" y="4953488"/>
            <a:ext cx="389169" cy="389169"/>
          </a:xfrm>
          <a:prstGeom prst="rect">
            <a:avLst/>
          </a:prstGeom>
        </p:spPr>
      </p:pic>
      <p:sp>
        <p:nvSpPr>
          <p:cNvPr id="55" name="Shape 46"/>
          <p:cNvSpPr/>
          <p:nvPr/>
        </p:nvSpPr>
        <p:spPr>
          <a:xfrm>
            <a:off x="9120226" y="4727448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47"/>
          <p:cNvSpPr txBox="1"/>
          <p:nvPr/>
        </p:nvSpPr>
        <p:spPr>
          <a:xfrm>
            <a:off x="9120226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57" name="Text 48"/>
          <p:cNvSpPr txBox="1"/>
          <p:nvPr/>
        </p:nvSpPr>
        <p:spPr>
          <a:xfrm>
            <a:off x="8041234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it up</a:t>
            </a:r>
            <a:endParaRPr lang="en-US" sz="1400"/>
          </a:p>
        </p:txBody>
      </p:sp>
      <p:sp>
        <p:nvSpPr>
          <p:cNvPr id="58" name="Text 49"/>
          <p:cNvSpPr txBox="1"/>
          <p:nvPr/>
        </p:nvSpPr>
        <p:spPr>
          <a:xfrm>
            <a:off x="8041234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its arm</a:t>
            </a:r>
            <a:endParaRPr lang="en-US" sz="1100"/>
          </a:p>
        </p:txBody>
      </p:sp>
      <p:sp>
        <p:nvSpPr>
          <p:cNvPr id="64" name="Text 54"/>
          <p:cNvSpPr txBox="1"/>
          <p:nvPr/>
        </p:nvSpPr>
        <p:spPr>
          <a:xfrm>
            <a:off x="9948672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latin typeface="Calibri" pitchFamily="34" charset="0"/>
                <a:ea typeface="Calibri" pitchFamily="34" charset="-122"/>
                <a:cs typeface="Calibri" pitchFamily="34" charset="-120"/>
              </a:rPr>
              <a:t>Brings it to you</a:t>
            </a:r>
            <a:endParaRPr lang="en-US" sz="1400"/>
          </a:p>
        </p:txBody>
      </p:sp>
      <p:sp>
        <p:nvSpPr>
          <p:cNvPr id="65" name="Text 55"/>
          <p:cNvSpPr txBox="1"/>
          <p:nvPr/>
        </p:nvSpPr>
        <p:spPr>
          <a:xfrm>
            <a:off x="9948672" y="5897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beyond this project</a:t>
            </a:r>
            <a:endParaRPr lang="en-US" sz="1100"/>
          </a:p>
        </p:txBody>
      </p:sp>
      <p:sp>
        <p:nvSpPr>
          <p:cNvPr id="66" name="Shape 56"/>
          <p:cNvSpPr/>
          <p:nvPr/>
        </p:nvSpPr>
        <p:spPr>
          <a:xfrm>
            <a:off x="1783080" y="5148072"/>
            <a:ext cx="993038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57"/>
          <p:cNvSpPr/>
          <p:nvPr/>
        </p:nvSpPr>
        <p:spPr>
          <a:xfrm>
            <a:off x="3690518" y="5148072"/>
            <a:ext cx="993038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58"/>
          <p:cNvSpPr/>
          <p:nvPr/>
        </p:nvSpPr>
        <p:spPr>
          <a:xfrm>
            <a:off x="5597957" y="5148072"/>
            <a:ext cx="60899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59"/>
          <p:cNvSpPr/>
          <p:nvPr/>
        </p:nvSpPr>
        <p:spPr>
          <a:xfrm>
            <a:off x="7889443" y="5148072"/>
            <a:ext cx="60899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1"/>
          <p:cNvSpPr txBox="1"/>
          <p:nvPr/>
        </p:nvSpPr>
        <p:spPr>
          <a:xfrm>
            <a:off x="7889443" y="4855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/>
          </a:p>
        </p:txBody>
      </p:sp>
      <p:sp>
        <p:nvSpPr>
          <p:cNvPr id="72" name="Shape 62"/>
          <p:cNvSpPr/>
          <p:nvPr/>
        </p:nvSpPr>
        <p:spPr>
          <a:xfrm flipV="1">
            <a:off x="7048195" y="4416552"/>
            <a:ext cx="914" cy="22860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63"/>
          <p:cNvSpPr/>
          <p:nvPr/>
        </p:nvSpPr>
        <p:spPr>
          <a:xfrm flipH="1">
            <a:off x="5140757" y="4416552"/>
            <a:ext cx="1907438" cy="914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64"/>
          <p:cNvSpPr/>
          <p:nvPr/>
        </p:nvSpPr>
        <p:spPr>
          <a:xfrm>
            <a:off x="5140757" y="4416552"/>
            <a:ext cx="914" cy="347472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65"/>
          <p:cNvSpPr txBox="1"/>
          <p:nvPr/>
        </p:nvSpPr>
        <p:spPr>
          <a:xfrm>
            <a:off x="5643677" y="4462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keep looking</a:t>
            </a:r>
            <a:endParaRPr lang="en-US" sz="1100"/>
          </a:p>
        </p:txBody>
      </p:sp>
      <p:sp>
        <p:nvSpPr>
          <p:cNvPr id="76" name="Shape 45">
            <a:extLst>
              <a:ext uri="{FF2B5EF4-FFF2-40B4-BE49-F238E27FC236}">
                <a16:creationId xmlns:a16="http://schemas.microsoft.com/office/drawing/2014/main" id="{7957CD7E-E466-E2FC-F282-7FB326148E02}"/>
              </a:ext>
            </a:extLst>
          </p:cNvPr>
          <p:cNvSpPr/>
          <p:nvPr/>
        </p:nvSpPr>
        <p:spPr>
          <a:xfrm>
            <a:off x="10552681" y="4800600"/>
            <a:ext cx="694944" cy="69494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8693" y="4841538"/>
            <a:ext cx="502920" cy="502920"/>
          </a:xfrm>
          <a:prstGeom prst="rect">
            <a:avLst/>
          </a:prstGeom>
        </p:spPr>
      </p:pic>
      <p:sp>
        <p:nvSpPr>
          <p:cNvPr id="79" name="Shape 46">
            <a:extLst>
              <a:ext uri="{FF2B5EF4-FFF2-40B4-BE49-F238E27FC236}">
                <a16:creationId xmlns:a16="http://schemas.microsoft.com/office/drawing/2014/main" id="{04F87E07-EED3-EE7C-67B4-9BC940E2B956}"/>
              </a:ext>
            </a:extLst>
          </p:cNvPr>
          <p:cNvSpPr/>
          <p:nvPr/>
        </p:nvSpPr>
        <p:spPr>
          <a:xfrm>
            <a:off x="11030145" y="4727448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47">
            <a:extLst>
              <a:ext uri="{FF2B5EF4-FFF2-40B4-BE49-F238E27FC236}">
                <a16:creationId xmlns:a16="http://schemas.microsoft.com/office/drawing/2014/main" id="{308FB781-25EF-76AA-AD03-54076923FA19}"/>
              </a:ext>
            </a:extLst>
          </p:cNvPr>
          <p:cNvSpPr txBox="1"/>
          <p:nvPr/>
        </p:nvSpPr>
        <p:spPr>
          <a:xfrm>
            <a:off x="11030145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81" name="Shape 59">
            <a:extLst>
              <a:ext uri="{FF2B5EF4-FFF2-40B4-BE49-F238E27FC236}">
                <a16:creationId xmlns:a16="http://schemas.microsoft.com/office/drawing/2014/main" id="{8D051A9E-D781-51FE-7B36-8D2E0D03B4B1}"/>
              </a:ext>
            </a:extLst>
          </p:cNvPr>
          <p:cNvSpPr/>
          <p:nvPr/>
        </p:nvSpPr>
        <p:spPr>
          <a:xfrm>
            <a:off x="9513481" y="5148072"/>
            <a:ext cx="85478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F730D9EA-A2CE-CED6-074F-7A652318B2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867626">
            <a:off x="6663521" y="2128868"/>
            <a:ext cx="385877" cy="38587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081F6C4-EA2B-206C-20A7-068D84442E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3123" y="3184617"/>
            <a:ext cx="658152" cy="658152"/>
          </a:xfrm>
          <a:prstGeom prst="rect">
            <a:avLst/>
          </a:prstGeom>
        </p:spPr>
      </p:pic>
      <p:pic>
        <p:nvPicPr>
          <p:cNvPr id="70" name="Picture 69" descr="Industrial robot arm gripper holding object icon 48291893 Vector Art at  Vecteezy">
            <a:extLst>
              <a:ext uri="{FF2B5EF4-FFF2-40B4-BE49-F238E27FC236}">
                <a16:creationId xmlns:a16="http://schemas.microsoft.com/office/drawing/2014/main" id="{2AC009D5-7859-6549-AF4E-4E7E87E7EC0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616145" y="944186"/>
            <a:ext cx="2170676" cy="16024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7397CC-C4F8-D745-5776-B25DFD07EC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4723" y="2329707"/>
            <a:ext cx="1078053" cy="12543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36 0.00532 L 0.26041 0.00532 " pathEditMode="relative" ptsTypes="AA">
                                      <p:cBhvr>
                                        <p:cTn id="6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042 0.00532 C 0.26485 0.05 0.26941 0.09467 0.2849 0.11713 C 0.30026 0.13958 0.32969 0.14884 0.353 0.14027 C 0.37631 0.13171 0.38868 0.0743 0.42487 0.06551 C 0.46107 0.05694 0.51563 0.07291 0.57045 0.08865 " pathEditMode="relative" rAng="0" ptsTypes="AAAAA">
                                      <p:cBhvr>
                                        <p:cTn id="9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95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045 0.08865 L 0.50404 0.04861 C 0.48894 0.04027 0.4806 0.02777 0.4806 0.01481 C 0.4806 2.96296E-6 0.48894 -0.01181 0.50404 -0.02014 L 0.57045 -0.05949 " pathEditMode="relative" rAng="5400000" ptsTypes="AAAAA">
                                      <p:cBhvr>
                                        <p:cTn id="1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92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500"/>
                            </p:stCondLst>
                            <p:childTnLst>
                              <p:par>
                                <p:cTn id="1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045 -0.05995 C 0.54375 -0.10648 0.51706 -0.15278 0.47617 -0.15949 C 0.43503 -0.16643 0.32474 -0.10092 0.32474 -0.10069 L 0.32474 -0.10092 " pathEditMode="relative" rAng="0" ptsTypes="AAAA">
                                      <p:cBhvr>
                                        <p:cTn id="19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92" y="-50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07407E-6 C -0.01679 -0.0449 -0.03333 -0.08981 -0.07539 -0.09884 C -0.11731 -0.1081 -0.25208 -0.05486 -0.25208 -0.05463 L -0.25208 -0.05486 " pathEditMode="relative" rAng="0" ptsTypes="AAAA">
                                      <p:cBhvr>
                                        <p:cTn id="19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4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6" grpId="1" animBg="1"/>
      <p:bldP spid="57" grpId="0" animBg="1"/>
      <p:bldP spid="58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9" grpId="0" animBg="1"/>
      <p:bldP spid="80" grpId="0" animBg="1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FE46B-7EF4-2562-FFAF-D1F4EC8F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>
            <a:extLst>
              <a:ext uri="{FF2B5EF4-FFF2-40B4-BE49-F238E27FC236}">
                <a16:creationId xmlns:a16="http://schemas.microsoft.com/office/drawing/2014/main" id="{5929D50D-3EAF-095E-0077-31B07B3CFA2C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68" name="Shape 1">
            <a:extLst>
              <a:ext uri="{FF2B5EF4-FFF2-40B4-BE49-F238E27FC236}">
                <a16:creationId xmlns:a16="http://schemas.microsoft.com/office/drawing/2014/main" id="{872C9743-5B30-4863-4718-4635F7A04752}"/>
              </a:ext>
            </a:extLst>
          </p:cNvPr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2">
            <a:extLst>
              <a:ext uri="{FF2B5EF4-FFF2-40B4-BE49-F238E27FC236}">
                <a16:creationId xmlns:a16="http://schemas.microsoft.com/office/drawing/2014/main" id="{CFEE2D84-1523-985D-29E6-AF12929268E5}"/>
              </a:ext>
            </a:extLst>
          </p:cNvPr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/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B8816FD2-7B95-1354-45E1-29E51F1FCE3D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reach and grasp the object the user looked at</a:t>
            </a:r>
            <a:endParaRPr lang="en-US" sz="3000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4E99D696-E4D8-5EA8-34E4-5C9457170243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system, built on two published ones</a:t>
            </a:r>
            <a:endParaRPr lang="en-US" sz="1700"/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2F3CA94A-1752-794F-D96C-63D4AAA81B8B}"/>
              </a:ext>
            </a:extLst>
          </p:cNvPr>
          <p:cNvSpPr/>
          <p:nvPr/>
        </p:nvSpPr>
        <p:spPr>
          <a:xfrm>
            <a:off x="548640" y="187452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EECDF569-98E7-3738-DC7C-C463B1EA8581}"/>
              </a:ext>
            </a:extLst>
          </p:cNvPr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0" descr="preencoded.png">
            <a:extLst>
              <a:ext uri="{FF2B5EF4-FFF2-40B4-BE49-F238E27FC236}">
                <a16:creationId xmlns:a16="http://schemas.microsoft.com/office/drawing/2014/main" id="{2218620A-31CF-E93F-31DB-888A6DEFB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130552"/>
            <a:ext cx="256032" cy="256032"/>
          </a:xfrm>
          <a:prstGeom prst="rect">
            <a:avLst/>
          </a:prstGeom>
        </p:spPr>
      </p:pic>
      <p:sp>
        <p:nvSpPr>
          <p:cNvPr id="75" name="Text 7">
            <a:extLst>
              <a:ext uri="{FF2B5EF4-FFF2-40B4-BE49-F238E27FC236}">
                <a16:creationId xmlns:a16="http://schemas.microsoft.com/office/drawing/2014/main" id="{2941670B-03E8-9CBF-A9AB-4E9A1D326812}"/>
              </a:ext>
            </a:extLst>
          </p:cNvPr>
          <p:cNvSpPr txBox="1"/>
          <p:nvPr/>
        </p:nvSpPr>
        <p:spPr>
          <a:xfrm>
            <a:off x="1371600" y="2139696"/>
            <a:ext cx="44028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FAM-HRI  ·  LAI ET AL., 2025</a:t>
            </a:r>
            <a:endParaRPr lang="en-US" sz="110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D405D739-DF2B-6642-A3F9-53B555A87513}"/>
              </a:ext>
            </a:extLst>
          </p:cNvPr>
          <p:cNvSpPr txBox="1"/>
          <p:nvPr/>
        </p:nvSpPr>
        <p:spPr>
          <a:xfrm>
            <a:off x="749808" y="2606040"/>
            <a:ext cx="5006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and speech from the glasses tell a table-mounted arm what to pick</a:t>
            </a:r>
            <a:endParaRPr lang="en-US" sz="1500"/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C275F23E-F74B-5B87-5528-D1B207241E8A}"/>
              </a:ext>
            </a:extLst>
          </p:cNvPr>
          <p:cNvSpPr txBox="1"/>
          <p:nvPr/>
        </p:nvSpPr>
        <p:spPr>
          <a:xfrm>
            <a:off x="749808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</a:t>
            </a:r>
            <a:endParaRPr lang="en-US" sz="1100"/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2395E123-A06C-230A-9CAD-A40E8CAAD5DA}"/>
              </a:ext>
            </a:extLst>
          </p:cNvPr>
          <p:cNvSpPr txBox="1"/>
          <p:nvPr/>
        </p:nvSpPr>
        <p:spPr>
          <a:xfrm>
            <a:off x="749808" y="3456432"/>
            <a:ext cx="5006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is unobstructed, in front of the arm (fixed to table)</a:t>
            </a:r>
            <a:endParaRPr lang="en-US" sz="13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cameras: the wrist camera sees what the user sees</a:t>
            </a:r>
            <a:endParaRPr lang="en-US" sz="1300"/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84CF8B3B-1F9A-EDE6-829B-689C0B44134A}"/>
              </a:ext>
            </a:extLst>
          </p:cNvPr>
          <p:cNvSpPr/>
          <p:nvPr/>
        </p:nvSpPr>
        <p:spPr>
          <a:xfrm>
            <a:off x="6231636" y="187452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12">
            <a:extLst>
              <a:ext uri="{FF2B5EF4-FFF2-40B4-BE49-F238E27FC236}">
                <a16:creationId xmlns:a16="http://schemas.microsoft.com/office/drawing/2014/main" id="{635641AA-81FB-0650-AA7A-28D3100C80A8}"/>
              </a:ext>
            </a:extLst>
          </p:cNvPr>
          <p:cNvSpPr/>
          <p:nvPr/>
        </p:nvSpPr>
        <p:spPr>
          <a:xfrm>
            <a:off x="6432804" y="2029968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1" name="Image 1" descr="preencoded.png">
            <a:extLst>
              <a:ext uri="{FF2B5EF4-FFF2-40B4-BE49-F238E27FC236}">
                <a16:creationId xmlns:a16="http://schemas.microsoft.com/office/drawing/2014/main" id="{16E9EEC8-9A8F-3D5F-4544-1DA4C5B09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2130552"/>
            <a:ext cx="256032" cy="256032"/>
          </a:xfrm>
          <a:prstGeom prst="rect">
            <a:avLst/>
          </a:prstGeom>
        </p:spPr>
      </p:pic>
      <p:sp>
        <p:nvSpPr>
          <p:cNvPr id="82" name="Text 13">
            <a:extLst>
              <a:ext uri="{FF2B5EF4-FFF2-40B4-BE49-F238E27FC236}">
                <a16:creationId xmlns:a16="http://schemas.microsoft.com/office/drawing/2014/main" id="{0DF495BF-99CD-D3D0-3B29-A55CE253581E}"/>
              </a:ext>
            </a:extLst>
          </p:cNvPr>
          <p:cNvSpPr txBox="1"/>
          <p:nvPr/>
        </p:nvSpPr>
        <p:spPr>
          <a:xfrm>
            <a:off x="7054596" y="2139696"/>
            <a:ext cx="44028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HICO-NAV  ·  XU ET AL., ICRA 2026</a:t>
            </a:r>
            <a:endParaRPr lang="en-US" sz="1100"/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286B4340-5F65-50B0-84E1-280DD2E4C597}"/>
              </a:ext>
            </a:extLst>
          </p:cNvPr>
          <p:cNvSpPr txBox="1"/>
          <p:nvPr/>
        </p:nvSpPr>
        <p:spPr>
          <a:xfrm>
            <a:off x="6432804" y="2606040"/>
            <a:ext cx="5006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 unseen room and remembers each object's 3D position and image feature</a:t>
            </a:r>
            <a:endParaRPr lang="en-US" sz="1500"/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03D01D22-D436-9AC0-658B-7804DB671959}"/>
              </a:ext>
            </a:extLst>
          </p:cNvPr>
          <p:cNvSpPr txBox="1"/>
          <p:nvPr/>
        </p:nvSpPr>
        <p:spPr>
          <a:xfrm>
            <a:off x="6432804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</a:t>
            </a:r>
            <a:endParaRPr lang="en-US" sz="1100"/>
          </a:p>
        </p:txBody>
      </p:sp>
      <p:sp>
        <p:nvSpPr>
          <p:cNvPr id="85" name="Text 16">
            <a:extLst>
              <a:ext uri="{FF2B5EF4-FFF2-40B4-BE49-F238E27FC236}">
                <a16:creationId xmlns:a16="http://schemas.microsoft.com/office/drawing/2014/main" id="{7A2A38D1-420B-9D4D-CBD4-6415FB738116}"/>
              </a:ext>
            </a:extLst>
          </p:cNvPr>
          <p:cNvSpPr txBox="1"/>
          <p:nvPr/>
        </p:nvSpPr>
        <p:spPr>
          <a:xfrm>
            <a:off x="6432804" y="3456432"/>
            <a:ext cx="5006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is enough: no grasping, speech is the only input</a:t>
            </a:r>
            <a:endParaRPr lang="en-US" sz="13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 box” returns any box, not the one you looked at</a:t>
            </a:r>
            <a:endParaRPr lang="en-US" sz="1300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B1D446D2-6DE6-7D68-1BE8-A10D9F515CC3}"/>
              </a:ext>
            </a:extLst>
          </p:cNvPr>
          <p:cNvSpPr txBox="1"/>
          <p:nvPr/>
        </p:nvSpPr>
        <p:spPr>
          <a:xfrm>
            <a:off x="548640" y="4279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EACH WITH A WRITTEN TEST (APPENDIX A10)</a:t>
            </a:r>
            <a:endParaRPr lang="en-US" sz="1100"/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914B57C7-5323-CBCC-D785-1EEDBDD93756}"/>
              </a:ext>
            </a:extLst>
          </p:cNvPr>
          <p:cNvSpPr/>
          <p:nvPr/>
        </p:nvSpPr>
        <p:spPr>
          <a:xfrm>
            <a:off x="1185672" y="5045202"/>
            <a:ext cx="9811512" cy="914"/>
          </a:xfrm>
          <a:prstGeom prst="line">
            <a:avLst/>
          </a:prstGeom>
          <a:noFill/>
          <a:ln w="254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C3EBC055-96DD-03A6-F1C2-C86528574851}"/>
              </a:ext>
            </a:extLst>
          </p:cNvPr>
          <p:cNvSpPr/>
          <p:nvPr/>
        </p:nvSpPr>
        <p:spPr>
          <a:xfrm>
            <a:off x="883920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DB765D36-3548-34E7-49C6-91FA549A0EE0}"/>
              </a:ext>
            </a:extLst>
          </p:cNvPr>
          <p:cNvSpPr txBox="1"/>
          <p:nvPr/>
        </p:nvSpPr>
        <p:spPr>
          <a:xfrm>
            <a:off x="883920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/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767F3E70-1310-22DA-C969-8D2787AAA3EC}"/>
              </a:ext>
            </a:extLst>
          </p:cNvPr>
          <p:cNvSpPr txBox="1"/>
          <p:nvPr/>
        </p:nvSpPr>
        <p:spPr>
          <a:xfrm>
            <a:off x="582168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picks something up</a:t>
            </a:r>
            <a:endParaRPr lang="en-US" sz="1200"/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2322AC78-2E23-261F-121C-BACB34C56653}"/>
              </a:ext>
            </a:extLst>
          </p:cNvPr>
          <p:cNvSpPr/>
          <p:nvPr/>
        </p:nvSpPr>
        <p:spPr>
          <a:xfrm>
            <a:off x="2110359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880C7BA5-45DB-7C37-F92F-7BA154D710B2}"/>
              </a:ext>
            </a:extLst>
          </p:cNvPr>
          <p:cNvSpPr txBox="1"/>
          <p:nvPr/>
        </p:nvSpPr>
        <p:spPr>
          <a:xfrm>
            <a:off x="2110359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/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FD683C7F-E305-0328-E1A4-1A2CDEBFFEC1}"/>
              </a:ext>
            </a:extLst>
          </p:cNvPr>
          <p:cNvSpPr txBox="1"/>
          <p:nvPr/>
        </p:nvSpPr>
        <p:spPr>
          <a:xfrm>
            <a:off x="1808607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gaze reach the arm</a:t>
            </a:r>
            <a:endParaRPr lang="en-US" sz="1200"/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28CB033E-FDA6-B654-855E-E335554A9BBE}"/>
              </a:ext>
            </a:extLst>
          </p:cNvPr>
          <p:cNvSpPr/>
          <p:nvPr/>
        </p:nvSpPr>
        <p:spPr>
          <a:xfrm>
            <a:off x="3336798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E2525D62-C732-E8A7-3AA1-48DDA272D678}"/>
              </a:ext>
            </a:extLst>
          </p:cNvPr>
          <p:cNvSpPr txBox="1"/>
          <p:nvPr/>
        </p:nvSpPr>
        <p:spPr>
          <a:xfrm>
            <a:off x="3336798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/>
          </a:p>
        </p:txBody>
      </p:sp>
      <p:sp>
        <p:nvSpPr>
          <p:cNvPr id="96" name="Text 27">
            <a:extLst>
              <a:ext uri="{FF2B5EF4-FFF2-40B4-BE49-F238E27FC236}">
                <a16:creationId xmlns:a16="http://schemas.microsoft.com/office/drawing/2014/main" id="{E20DD5F5-8774-08AE-40A0-9102F3C61163}"/>
              </a:ext>
            </a:extLst>
          </p:cNvPr>
          <p:cNvSpPr txBox="1"/>
          <p:nvPr/>
        </p:nvSpPr>
        <p:spPr>
          <a:xfrm>
            <a:off x="3035046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navigates</a:t>
            </a:r>
            <a:endParaRPr lang="en-US" sz="1200"/>
          </a:p>
        </p:txBody>
      </p:sp>
      <p:sp>
        <p:nvSpPr>
          <p:cNvPr id="97" name="Shape 28">
            <a:extLst>
              <a:ext uri="{FF2B5EF4-FFF2-40B4-BE49-F238E27FC236}">
                <a16:creationId xmlns:a16="http://schemas.microsoft.com/office/drawing/2014/main" id="{E516FFDF-F8EA-8475-ED6B-0FFA8E3F8A97}"/>
              </a:ext>
            </a:extLst>
          </p:cNvPr>
          <p:cNvSpPr/>
          <p:nvPr/>
        </p:nvSpPr>
        <p:spPr>
          <a:xfrm>
            <a:off x="4563237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29">
            <a:extLst>
              <a:ext uri="{FF2B5EF4-FFF2-40B4-BE49-F238E27FC236}">
                <a16:creationId xmlns:a16="http://schemas.microsoft.com/office/drawing/2014/main" id="{DD496FD8-2947-DA56-CB40-42D102CEC995}"/>
              </a:ext>
            </a:extLst>
          </p:cNvPr>
          <p:cNvSpPr txBox="1"/>
          <p:nvPr/>
        </p:nvSpPr>
        <p:spPr>
          <a:xfrm>
            <a:off x="4563237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/>
          </a:p>
        </p:txBody>
      </p:sp>
      <p:sp>
        <p:nvSpPr>
          <p:cNvPr id="99" name="Text 30">
            <a:extLst>
              <a:ext uri="{FF2B5EF4-FFF2-40B4-BE49-F238E27FC236}">
                <a16:creationId xmlns:a16="http://schemas.microsoft.com/office/drawing/2014/main" id="{CC72AF42-25D7-3782-555F-9AC449390EE3}"/>
              </a:ext>
            </a:extLst>
          </p:cNvPr>
          <p:cNvSpPr txBox="1"/>
          <p:nvPr/>
        </p:nvSpPr>
        <p:spPr>
          <a:xfrm>
            <a:off x="4261485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graph</a:t>
            </a:r>
            <a:endParaRPr lang="en-US" sz="1200"/>
          </a:p>
        </p:txBody>
      </p:sp>
      <p:sp>
        <p:nvSpPr>
          <p:cNvPr id="100" name="Shape 31">
            <a:extLst>
              <a:ext uri="{FF2B5EF4-FFF2-40B4-BE49-F238E27FC236}">
                <a16:creationId xmlns:a16="http://schemas.microsoft.com/office/drawing/2014/main" id="{C8059E0C-4133-CED9-F2FF-8BFC776A0FBF}"/>
              </a:ext>
            </a:extLst>
          </p:cNvPr>
          <p:cNvSpPr/>
          <p:nvPr/>
        </p:nvSpPr>
        <p:spPr>
          <a:xfrm>
            <a:off x="5789676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32">
            <a:extLst>
              <a:ext uri="{FF2B5EF4-FFF2-40B4-BE49-F238E27FC236}">
                <a16:creationId xmlns:a16="http://schemas.microsoft.com/office/drawing/2014/main" id="{6AF2FEF5-C4F2-1FBA-124A-22329E8A717A}"/>
              </a:ext>
            </a:extLst>
          </p:cNvPr>
          <p:cNvSpPr txBox="1"/>
          <p:nvPr/>
        </p:nvSpPr>
        <p:spPr>
          <a:xfrm>
            <a:off x="5789676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300"/>
          </a:p>
        </p:txBody>
      </p:sp>
      <p:sp>
        <p:nvSpPr>
          <p:cNvPr id="102" name="Text 33">
            <a:extLst>
              <a:ext uri="{FF2B5EF4-FFF2-40B4-BE49-F238E27FC236}">
                <a16:creationId xmlns:a16="http://schemas.microsoft.com/office/drawing/2014/main" id="{32046FA2-13A9-449C-3588-B929CD59FB48}"/>
              </a:ext>
            </a:extLst>
          </p:cNvPr>
          <p:cNvSpPr txBox="1"/>
          <p:nvPr/>
        </p:nvSpPr>
        <p:spPr>
          <a:xfrm>
            <a:off x="5487924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HiCo-Nav steers the search</a:t>
            </a:r>
            <a:endParaRPr lang="en-US" sz="1200"/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18567E13-634C-55FA-643C-7187C50B0589}"/>
              </a:ext>
            </a:extLst>
          </p:cNvPr>
          <p:cNvSpPr/>
          <p:nvPr/>
        </p:nvSpPr>
        <p:spPr>
          <a:xfrm>
            <a:off x="7016115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35">
            <a:extLst>
              <a:ext uri="{FF2B5EF4-FFF2-40B4-BE49-F238E27FC236}">
                <a16:creationId xmlns:a16="http://schemas.microsoft.com/office/drawing/2014/main" id="{D078431A-44BD-8296-7FAE-A4C0AD13759A}"/>
              </a:ext>
            </a:extLst>
          </p:cNvPr>
          <p:cNvSpPr txBox="1"/>
          <p:nvPr/>
        </p:nvSpPr>
        <p:spPr>
          <a:xfrm>
            <a:off x="7016115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300"/>
          </a:p>
        </p:txBody>
      </p:sp>
      <p:sp>
        <p:nvSpPr>
          <p:cNvPr id="105" name="Text 36">
            <a:extLst>
              <a:ext uri="{FF2B5EF4-FFF2-40B4-BE49-F238E27FC236}">
                <a16:creationId xmlns:a16="http://schemas.microsoft.com/office/drawing/2014/main" id="{0F80DB15-E844-5113-7408-DA61C7940A1F}"/>
              </a:ext>
            </a:extLst>
          </p:cNvPr>
          <p:cNvSpPr txBox="1"/>
          <p:nvPr/>
        </p:nvSpPr>
        <p:spPr>
          <a:xfrm>
            <a:off x="6714363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the instance</a:t>
            </a:r>
            <a:endParaRPr lang="en-US" sz="1200"/>
          </a:p>
        </p:txBody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2B5A64C7-D680-4619-CA53-CA8647DA7D77}"/>
              </a:ext>
            </a:extLst>
          </p:cNvPr>
          <p:cNvSpPr/>
          <p:nvPr/>
        </p:nvSpPr>
        <p:spPr>
          <a:xfrm>
            <a:off x="8242554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38">
            <a:extLst>
              <a:ext uri="{FF2B5EF4-FFF2-40B4-BE49-F238E27FC236}">
                <a16:creationId xmlns:a16="http://schemas.microsoft.com/office/drawing/2014/main" id="{EC74D1B6-210C-BAB4-7A98-441884892845}"/>
              </a:ext>
            </a:extLst>
          </p:cNvPr>
          <p:cNvSpPr txBox="1"/>
          <p:nvPr/>
        </p:nvSpPr>
        <p:spPr>
          <a:xfrm>
            <a:off x="8242554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300"/>
          </a:p>
        </p:txBody>
      </p:sp>
      <p:sp>
        <p:nvSpPr>
          <p:cNvPr id="108" name="Text 39">
            <a:extLst>
              <a:ext uri="{FF2B5EF4-FFF2-40B4-BE49-F238E27FC236}">
                <a16:creationId xmlns:a16="http://schemas.microsoft.com/office/drawing/2014/main" id="{F7E82AAF-291B-B224-24EC-A5B4CD693026}"/>
              </a:ext>
            </a:extLst>
          </p:cNvPr>
          <p:cNvSpPr txBox="1"/>
          <p:nvPr/>
        </p:nvSpPr>
        <p:spPr>
          <a:xfrm>
            <a:off x="7940802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runs every phase</a:t>
            </a:r>
            <a:endParaRPr lang="en-US" sz="1200"/>
          </a:p>
        </p:txBody>
      </p:sp>
      <p:sp>
        <p:nvSpPr>
          <p:cNvPr id="109" name="Shape 40">
            <a:extLst>
              <a:ext uri="{FF2B5EF4-FFF2-40B4-BE49-F238E27FC236}">
                <a16:creationId xmlns:a16="http://schemas.microsoft.com/office/drawing/2014/main" id="{91B3BF3C-9948-7090-6BE0-2A129CCAB561}"/>
              </a:ext>
            </a:extLst>
          </p:cNvPr>
          <p:cNvSpPr/>
          <p:nvPr/>
        </p:nvSpPr>
        <p:spPr>
          <a:xfrm>
            <a:off x="9468993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1">
            <a:extLst>
              <a:ext uri="{FF2B5EF4-FFF2-40B4-BE49-F238E27FC236}">
                <a16:creationId xmlns:a16="http://schemas.microsoft.com/office/drawing/2014/main" id="{9CD6C618-CD5A-34A4-ED58-A40606DCB3D5}"/>
              </a:ext>
            </a:extLst>
          </p:cNvPr>
          <p:cNvSpPr txBox="1"/>
          <p:nvPr/>
        </p:nvSpPr>
        <p:spPr>
          <a:xfrm>
            <a:off x="9468993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300"/>
          </a:p>
        </p:txBody>
      </p:sp>
      <p:sp>
        <p:nvSpPr>
          <p:cNvPr id="111" name="Text 42">
            <a:extLst>
              <a:ext uri="{FF2B5EF4-FFF2-40B4-BE49-F238E27FC236}">
                <a16:creationId xmlns:a16="http://schemas.microsoft.com/office/drawing/2014/main" id="{F9954267-C827-DC48-D694-161F607377DB}"/>
              </a:ext>
            </a:extLst>
          </p:cNvPr>
          <p:cNvSpPr txBox="1"/>
          <p:nvPr/>
        </p:nvSpPr>
        <p:spPr>
          <a:xfrm>
            <a:off x="9167241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parks within reach</a:t>
            </a:r>
            <a:endParaRPr lang="en-US" sz="1200"/>
          </a:p>
        </p:txBody>
      </p:sp>
      <p:sp>
        <p:nvSpPr>
          <p:cNvPr id="112" name="Shape 43">
            <a:extLst>
              <a:ext uri="{FF2B5EF4-FFF2-40B4-BE49-F238E27FC236}">
                <a16:creationId xmlns:a16="http://schemas.microsoft.com/office/drawing/2014/main" id="{DBBC5053-2E24-4C94-8EDB-5611F0D033AC}"/>
              </a:ext>
            </a:extLst>
          </p:cNvPr>
          <p:cNvSpPr/>
          <p:nvPr/>
        </p:nvSpPr>
        <p:spPr>
          <a:xfrm>
            <a:off x="10695432" y="4743450"/>
            <a:ext cx="603504" cy="60350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44">
            <a:extLst>
              <a:ext uri="{FF2B5EF4-FFF2-40B4-BE49-F238E27FC236}">
                <a16:creationId xmlns:a16="http://schemas.microsoft.com/office/drawing/2014/main" id="{D977E8D8-D7BD-B130-111E-A88121F14DF8}"/>
              </a:ext>
            </a:extLst>
          </p:cNvPr>
          <p:cNvSpPr txBox="1"/>
          <p:nvPr/>
        </p:nvSpPr>
        <p:spPr>
          <a:xfrm>
            <a:off x="10695432" y="474345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300"/>
          </a:p>
        </p:txBody>
      </p:sp>
      <p:sp>
        <p:nvSpPr>
          <p:cNvPr id="114" name="Text 45">
            <a:extLst>
              <a:ext uri="{FF2B5EF4-FFF2-40B4-BE49-F238E27FC236}">
                <a16:creationId xmlns:a16="http://schemas.microsoft.com/office/drawing/2014/main" id="{74D41EE6-5875-E603-AB93-5DD4D4323BF0}"/>
              </a:ext>
            </a:extLst>
          </p:cNvPr>
          <p:cNvSpPr txBox="1"/>
          <p:nvPr/>
        </p:nvSpPr>
        <p:spPr>
          <a:xfrm>
            <a:off x="10393680" y="542925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and paper</a:t>
            </a:r>
            <a:endParaRPr lang="en-US" sz="1200"/>
          </a:p>
        </p:txBody>
      </p:sp>
      <p:sp>
        <p:nvSpPr>
          <p:cNvPr id="115" name="Text 46">
            <a:extLst>
              <a:ext uri="{FF2B5EF4-FFF2-40B4-BE49-F238E27FC236}">
                <a16:creationId xmlns:a16="http://schemas.microsoft.com/office/drawing/2014/main" id="{0EAB3797-F92D-67CD-0399-24A305DAA1E3}"/>
              </a:ext>
            </a:extLst>
          </p:cNvPr>
          <p:cNvSpPr txBox="1"/>
          <p:nvPr/>
        </p:nvSpPr>
        <p:spPr>
          <a:xfrm>
            <a:off x="545592" y="5913882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end-to-end trials, success per phase. Also M0, M4, M5 and M9.</a:t>
            </a:r>
            <a:endParaRPr lang="en-US" sz="1100"/>
          </a:p>
        </p:txBody>
      </p:sp>
      <p:sp>
        <p:nvSpPr>
          <p:cNvPr id="116" name="Shape 47">
            <a:extLst>
              <a:ext uri="{FF2B5EF4-FFF2-40B4-BE49-F238E27FC236}">
                <a16:creationId xmlns:a16="http://schemas.microsoft.com/office/drawing/2014/main" id="{0B74404A-AEFC-073F-4E7B-A71FBE92B530}"/>
              </a:ext>
            </a:extLst>
          </p:cNvPr>
          <p:cNvSpPr/>
          <p:nvPr/>
        </p:nvSpPr>
        <p:spPr>
          <a:xfrm>
            <a:off x="594360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48">
            <a:extLst>
              <a:ext uri="{FF2B5EF4-FFF2-40B4-BE49-F238E27FC236}">
                <a16:creationId xmlns:a16="http://schemas.microsoft.com/office/drawing/2014/main" id="{8C1295A8-E5D9-7CD6-6EA9-D154134CFC7E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F38566C9-648C-D3B3-B7FF-6A2531DA2D56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50">
            <a:extLst>
              <a:ext uri="{FF2B5EF4-FFF2-40B4-BE49-F238E27FC236}">
                <a16:creationId xmlns:a16="http://schemas.microsoft.com/office/drawing/2014/main" id="{7C6DF3FA-330F-B915-3EA8-ED65AE5A4E35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120" name="Shape 51">
            <a:extLst>
              <a:ext uri="{FF2B5EF4-FFF2-40B4-BE49-F238E27FC236}">
                <a16:creationId xmlns:a16="http://schemas.microsoft.com/office/drawing/2014/main" id="{BEAC8E43-D714-9135-ABA9-763548FFBFE3}"/>
              </a:ext>
            </a:extLst>
          </p:cNvPr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6FBFC914-7BBA-7650-99D8-1366D2276F8C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22" name="Shape 53">
            <a:extLst>
              <a:ext uri="{FF2B5EF4-FFF2-40B4-BE49-F238E27FC236}">
                <a16:creationId xmlns:a16="http://schemas.microsoft.com/office/drawing/2014/main" id="{5AC8D912-197E-4763-81CA-10CF6BB52BFD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54">
            <a:extLst>
              <a:ext uri="{FF2B5EF4-FFF2-40B4-BE49-F238E27FC236}">
                <a16:creationId xmlns:a16="http://schemas.microsoft.com/office/drawing/2014/main" id="{4E10495A-1F3E-BD28-0E1B-DE88747794F2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24" name="Shape 55">
            <a:extLst>
              <a:ext uri="{FF2B5EF4-FFF2-40B4-BE49-F238E27FC236}">
                <a16:creationId xmlns:a16="http://schemas.microsoft.com/office/drawing/2014/main" id="{980A949C-E85B-30CC-2F76-035EFC35F120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56">
            <a:extLst>
              <a:ext uri="{FF2B5EF4-FFF2-40B4-BE49-F238E27FC236}">
                <a16:creationId xmlns:a16="http://schemas.microsoft.com/office/drawing/2014/main" id="{029E52F9-FC8B-6925-8731-D7331252CD5F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26" name="Shape 57">
            <a:extLst>
              <a:ext uri="{FF2B5EF4-FFF2-40B4-BE49-F238E27FC236}">
                <a16:creationId xmlns:a16="http://schemas.microsoft.com/office/drawing/2014/main" id="{78F1D8C3-6AF4-54F6-97C6-7DBFA272B020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58">
            <a:extLst>
              <a:ext uri="{FF2B5EF4-FFF2-40B4-BE49-F238E27FC236}">
                <a16:creationId xmlns:a16="http://schemas.microsoft.com/office/drawing/2014/main" id="{B91E952B-5761-5249-5ECC-F1730A387843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28" name="Shape 59">
            <a:extLst>
              <a:ext uri="{FF2B5EF4-FFF2-40B4-BE49-F238E27FC236}">
                <a16:creationId xmlns:a16="http://schemas.microsoft.com/office/drawing/2014/main" id="{D766D95D-9CA6-1454-659C-EA5126FBBCFF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60">
            <a:extLst>
              <a:ext uri="{FF2B5EF4-FFF2-40B4-BE49-F238E27FC236}">
                <a16:creationId xmlns:a16="http://schemas.microsoft.com/office/drawing/2014/main" id="{07DFF274-4F85-B172-FC1B-C42B63894D8B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30" name="Shape 61">
            <a:extLst>
              <a:ext uri="{FF2B5EF4-FFF2-40B4-BE49-F238E27FC236}">
                <a16:creationId xmlns:a16="http://schemas.microsoft.com/office/drawing/2014/main" id="{08D79DC4-46C4-B949-D579-60A1F91C6B5A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62">
            <a:extLst>
              <a:ext uri="{FF2B5EF4-FFF2-40B4-BE49-F238E27FC236}">
                <a16:creationId xmlns:a16="http://schemas.microsoft.com/office/drawing/2014/main" id="{B16ED13F-A751-0A9E-6BA7-F5FC97B16130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32" name="Text 63">
            <a:extLst>
              <a:ext uri="{FF2B5EF4-FFF2-40B4-BE49-F238E27FC236}">
                <a16:creationId xmlns:a16="http://schemas.microsoft.com/office/drawing/2014/main" id="{5D600A4F-AEB0-263D-3A37-BD0B3A74C1AE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E7F15D10-B211-E816-5572-75204549C60A}"/>
              </a:ext>
            </a:extLst>
          </p:cNvPr>
          <p:cNvSpPr/>
          <p:nvPr/>
        </p:nvSpPr>
        <p:spPr>
          <a:xfrm>
            <a:off x="6231636" y="1856232"/>
            <a:ext cx="5408676" cy="2196846"/>
          </a:xfrm>
          <a:prstGeom prst="roundRect">
            <a:avLst>
              <a:gd name="adj" fmla="val 4255"/>
            </a:avLst>
          </a:prstGeom>
          <a:solidFill>
            <a:schemeClr val="bg1">
              <a:alpha val="68759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0A7E6A5F-9230-9B58-EBFA-2D643727D29F}"/>
              </a:ext>
            </a:extLst>
          </p:cNvPr>
          <p:cNvSpPr/>
          <p:nvPr/>
        </p:nvSpPr>
        <p:spPr>
          <a:xfrm>
            <a:off x="548640" y="1885950"/>
            <a:ext cx="5408676" cy="2196846"/>
          </a:xfrm>
          <a:prstGeom prst="roundRect">
            <a:avLst>
              <a:gd name="adj" fmla="val 4255"/>
            </a:avLst>
          </a:prstGeom>
          <a:solidFill>
            <a:schemeClr val="bg1">
              <a:alpha val="68759"/>
            </a:scheme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07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2" grpId="0" animBg="1"/>
      <p:bldP spid="2" grpId="1" animBg="1"/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7"/>
          <p:cNvSpPr/>
          <p:nvPr/>
        </p:nvSpPr>
        <p:spPr>
          <a:xfrm>
            <a:off x="5076749" y="1874519"/>
            <a:ext cx="2035454" cy="3876953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system works in five phases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spoken word and a glance to a grasp, in a room the robot has not seen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40" y="1874519"/>
            <a:ext cx="2035454" cy="3876953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713232" y="2884146"/>
            <a:ext cx="1761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user prompt from speech and target object from gaze</a:t>
            </a:r>
            <a:endParaRPr lang="en-US" sz="1300"/>
          </a:p>
        </p:txBody>
      </p:sp>
      <p:sp>
        <p:nvSpPr>
          <p:cNvPr id="16" name="Text 13"/>
          <p:cNvSpPr txBox="1"/>
          <p:nvPr/>
        </p:nvSpPr>
        <p:spPr>
          <a:xfrm>
            <a:off x="2584094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2812694" y="1874519"/>
            <a:ext cx="2035454" cy="3876953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 txBox="1"/>
          <p:nvPr/>
        </p:nvSpPr>
        <p:spPr>
          <a:xfrm>
            <a:off x="2977286" y="2884146"/>
            <a:ext cx="1761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map room, remembers objects and finds user</a:t>
            </a:r>
            <a:endParaRPr lang="en-US" sz="1300"/>
          </a:p>
        </p:txBody>
      </p:sp>
      <p:sp>
        <p:nvSpPr>
          <p:cNvPr id="30" name="Text 26"/>
          <p:cNvSpPr txBox="1"/>
          <p:nvPr/>
        </p:nvSpPr>
        <p:spPr>
          <a:xfrm>
            <a:off x="4848149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36" name="Text 31"/>
          <p:cNvSpPr txBox="1"/>
          <p:nvPr/>
        </p:nvSpPr>
        <p:spPr>
          <a:xfrm>
            <a:off x="5241341" y="2884146"/>
            <a:ext cx="1761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stored objects to the target object, output object list and their positions ranked by confidence</a:t>
            </a:r>
            <a:endParaRPr lang="en-US" sz="1300"/>
          </a:p>
        </p:txBody>
      </p:sp>
      <p:sp>
        <p:nvSpPr>
          <p:cNvPr id="42" name="Text 37"/>
          <p:cNvSpPr txBox="1"/>
          <p:nvPr/>
        </p:nvSpPr>
        <p:spPr>
          <a:xfrm>
            <a:off x="7112203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43" name="Shape 38"/>
          <p:cNvSpPr/>
          <p:nvPr/>
        </p:nvSpPr>
        <p:spPr>
          <a:xfrm>
            <a:off x="7340803" y="1874519"/>
            <a:ext cx="2035454" cy="3876953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2"/>
          <p:cNvSpPr txBox="1"/>
          <p:nvPr/>
        </p:nvSpPr>
        <p:spPr>
          <a:xfrm>
            <a:off x="7505395" y="2884146"/>
            <a:ext cx="1761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close to the possible item, wrist camera verifies, repeat until target object verified</a:t>
            </a:r>
            <a:endParaRPr lang="en-US" sz="1300"/>
          </a:p>
        </p:txBody>
      </p:sp>
      <p:sp>
        <p:nvSpPr>
          <p:cNvPr id="54" name="Text 48"/>
          <p:cNvSpPr txBox="1"/>
          <p:nvPr/>
        </p:nvSpPr>
        <p:spPr>
          <a:xfrm>
            <a:off x="9376258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55" name="Shape 49"/>
          <p:cNvSpPr/>
          <p:nvPr/>
        </p:nvSpPr>
        <p:spPr>
          <a:xfrm>
            <a:off x="9604858" y="1874519"/>
            <a:ext cx="2035454" cy="3876953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3"/>
          <p:cNvSpPr txBox="1"/>
          <p:nvPr/>
        </p:nvSpPr>
        <p:spPr>
          <a:xfrm>
            <a:off x="9769450" y="2884146"/>
            <a:ext cx="17611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Choose, plan and execute the grasp if verified</a:t>
            </a:r>
            <a:endParaRPr lang="en-US" sz="1300"/>
          </a:p>
        </p:txBody>
      </p:sp>
      <p:sp>
        <p:nvSpPr>
          <p:cNvPr id="78" name="Shape 68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69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80" name="Shape 70"/>
          <p:cNvSpPr/>
          <p:nvPr/>
        </p:nvSpPr>
        <p:spPr>
          <a:xfrm>
            <a:off x="1980819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1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82" name="Shape 72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73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84" name="Shape 74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75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86" name="Shape 76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77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88" name="Shape 78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Text 79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90" name="Shape 80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Text 81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92" name="Shape 82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Text 83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94" name="Text 84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pic>
        <p:nvPicPr>
          <p:cNvPr id="96" name="Image 0" descr="The user looks and speaks. The robot has to find that one object.">
            <a:extLst>
              <a:ext uri="{FF2B5EF4-FFF2-40B4-BE49-F238E27FC236}">
                <a16:creationId xmlns:a16="http://schemas.microsoft.com/office/drawing/2014/main" id="{CDD534DE-EFF0-5CB3-0782-5518534C9FB4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13232" y="3985402"/>
            <a:ext cx="1728000" cy="162000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CFC9F31-6990-A873-7D16-47CFEC5E7AE1}"/>
              </a:ext>
            </a:extLst>
          </p:cNvPr>
          <p:cNvPicPr>
            <a:picLocks/>
          </p:cNvPicPr>
          <p:nvPr/>
        </p:nvPicPr>
        <p:blipFill>
          <a:blip r:embed="rId4"/>
          <a:srcRect l="6000" r="9338"/>
          <a:stretch/>
        </p:blipFill>
        <p:spPr>
          <a:xfrm>
            <a:off x="5251970" y="3985402"/>
            <a:ext cx="1728000" cy="1620000"/>
          </a:xfrm>
          <a:prstGeom prst="rect">
            <a:avLst/>
          </a:prstGeom>
        </p:spPr>
      </p:pic>
      <p:pic>
        <p:nvPicPr>
          <p:cNvPr id="107" name="Picture 106" descr="A box on a metal surface&#10;&#10;AI-generated content may be incorrect.">
            <a:extLst>
              <a:ext uri="{FF2B5EF4-FFF2-40B4-BE49-F238E27FC236}">
                <a16:creationId xmlns:a16="http://schemas.microsoft.com/office/drawing/2014/main" id="{F0E74EE0-9F0F-39BB-890F-C3B0017F39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29" r="8012"/>
          <a:stretch/>
        </p:blipFill>
        <p:spPr>
          <a:xfrm>
            <a:off x="9755490" y="3985403"/>
            <a:ext cx="1761134" cy="1590453"/>
          </a:xfrm>
          <a:prstGeom prst="rect">
            <a:avLst/>
          </a:prstGeom>
        </p:spPr>
      </p:pic>
      <p:sp>
        <p:nvSpPr>
          <p:cNvPr id="110" name="Shape 6">
            <a:extLst>
              <a:ext uri="{FF2B5EF4-FFF2-40B4-BE49-F238E27FC236}">
                <a16:creationId xmlns:a16="http://schemas.microsoft.com/office/drawing/2014/main" id="{D3773EB6-751D-2119-FCF9-C9CC9C21501B}"/>
              </a:ext>
            </a:extLst>
          </p:cNvPr>
          <p:cNvSpPr/>
          <p:nvPr/>
        </p:nvSpPr>
        <p:spPr>
          <a:xfrm>
            <a:off x="713232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1" name="Image 0" descr="preencoded.png">
            <a:extLst>
              <a:ext uri="{FF2B5EF4-FFF2-40B4-BE49-F238E27FC236}">
                <a16:creationId xmlns:a16="http://schemas.microsoft.com/office/drawing/2014/main" id="{A5F2852D-C115-F2B8-DB71-ABAD569710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723" y="2123603"/>
            <a:ext cx="215067" cy="215067"/>
          </a:xfrm>
          <a:prstGeom prst="rect">
            <a:avLst/>
          </a:prstGeom>
        </p:spPr>
      </p:pic>
      <p:sp>
        <p:nvSpPr>
          <p:cNvPr id="112" name="Shape 15">
            <a:extLst>
              <a:ext uri="{FF2B5EF4-FFF2-40B4-BE49-F238E27FC236}">
                <a16:creationId xmlns:a16="http://schemas.microsoft.com/office/drawing/2014/main" id="{D53B7629-91B8-7F26-E418-4F6B38418295}"/>
              </a:ext>
            </a:extLst>
          </p:cNvPr>
          <p:cNvSpPr/>
          <p:nvPr/>
        </p:nvSpPr>
        <p:spPr>
          <a:xfrm>
            <a:off x="2977286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3" name="Image 1" descr="preencoded.png">
            <a:extLst>
              <a:ext uri="{FF2B5EF4-FFF2-40B4-BE49-F238E27FC236}">
                <a16:creationId xmlns:a16="http://schemas.microsoft.com/office/drawing/2014/main" id="{6A81F2A9-1A77-9219-94D7-D6EB039B4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1777" y="2123603"/>
            <a:ext cx="215067" cy="215067"/>
          </a:xfrm>
          <a:prstGeom prst="rect">
            <a:avLst/>
          </a:prstGeom>
        </p:spPr>
      </p:pic>
      <p:sp>
        <p:nvSpPr>
          <p:cNvPr id="114" name="Shape 24">
            <a:extLst>
              <a:ext uri="{FF2B5EF4-FFF2-40B4-BE49-F238E27FC236}">
                <a16:creationId xmlns:a16="http://schemas.microsoft.com/office/drawing/2014/main" id="{614721E6-747D-6DAD-34BC-796191079122}"/>
              </a:ext>
            </a:extLst>
          </p:cNvPr>
          <p:cNvSpPr/>
          <p:nvPr/>
        </p:nvSpPr>
        <p:spPr>
          <a:xfrm>
            <a:off x="5241341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5" name="Image 2" descr="preencoded.png">
            <a:extLst>
              <a:ext uri="{FF2B5EF4-FFF2-40B4-BE49-F238E27FC236}">
                <a16:creationId xmlns:a16="http://schemas.microsoft.com/office/drawing/2014/main" id="{B49EEE07-00D2-5842-AFD9-A2133E90FF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5831" y="2123603"/>
            <a:ext cx="215067" cy="215067"/>
          </a:xfrm>
          <a:prstGeom prst="rect">
            <a:avLst/>
          </a:prstGeom>
        </p:spPr>
      </p:pic>
      <p:sp>
        <p:nvSpPr>
          <p:cNvPr id="116" name="Shape 33">
            <a:extLst>
              <a:ext uri="{FF2B5EF4-FFF2-40B4-BE49-F238E27FC236}">
                <a16:creationId xmlns:a16="http://schemas.microsoft.com/office/drawing/2014/main" id="{849A76F8-70F2-AC55-35EC-C335A0A82839}"/>
              </a:ext>
            </a:extLst>
          </p:cNvPr>
          <p:cNvSpPr/>
          <p:nvPr/>
        </p:nvSpPr>
        <p:spPr>
          <a:xfrm>
            <a:off x="7505395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7" name="Image 3" descr="preencoded.png">
            <a:extLst>
              <a:ext uri="{FF2B5EF4-FFF2-40B4-BE49-F238E27FC236}">
                <a16:creationId xmlns:a16="http://schemas.microsoft.com/office/drawing/2014/main" id="{63D6B016-6D57-9F4C-CF6B-0B05A5EE6F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886" y="2123603"/>
            <a:ext cx="215067" cy="215067"/>
          </a:xfrm>
          <a:prstGeom prst="rect">
            <a:avLst/>
          </a:prstGeom>
        </p:spPr>
      </p:pic>
      <p:sp>
        <p:nvSpPr>
          <p:cNvPr id="118" name="Shape 42">
            <a:extLst>
              <a:ext uri="{FF2B5EF4-FFF2-40B4-BE49-F238E27FC236}">
                <a16:creationId xmlns:a16="http://schemas.microsoft.com/office/drawing/2014/main" id="{15C41EC5-0B09-4C33-5447-120FE816B7A4}"/>
              </a:ext>
            </a:extLst>
          </p:cNvPr>
          <p:cNvSpPr/>
          <p:nvPr/>
        </p:nvSpPr>
        <p:spPr>
          <a:xfrm>
            <a:off x="9769450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9" name="Image 4" descr="preencoded.png">
            <a:extLst>
              <a:ext uri="{FF2B5EF4-FFF2-40B4-BE49-F238E27FC236}">
                <a16:creationId xmlns:a16="http://schemas.microsoft.com/office/drawing/2014/main" id="{D2B3E24C-CDDF-913E-68BE-B372354C7D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3940" y="2123603"/>
            <a:ext cx="215067" cy="215067"/>
          </a:xfrm>
          <a:prstGeom prst="rect">
            <a:avLst/>
          </a:prstGeom>
        </p:spPr>
      </p:pic>
      <p:sp>
        <p:nvSpPr>
          <p:cNvPr id="122" name="Text 7">
            <a:extLst>
              <a:ext uri="{FF2B5EF4-FFF2-40B4-BE49-F238E27FC236}">
                <a16:creationId xmlns:a16="http://schemas.microsoft.com/office/drawing/2014/main" id="{79FDA1A3-D58C-6B46-E46B-DF9674BD8A47}"/>
              </a:ext>
            </a:extLst>
          </p:cNvPr>
          <p:cNvSpPr txBox="1"/>
          <p:nvPr/>
        </p:nvSpPr>
        <p:spPr>
          <a:xfrm>
            <a:off x="1188720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CAPTURE</a:t>
            </a:r>
            <a:endParaRPr lang="en-US" sz="1100"/>
          </a:p>
        </p:txBody>
      </p:sp>
      <p:sp>
        <p:nvSpPr>
          <p:cNvPr id="123" name="Text 16">
            <a:extLst>
              <a:ext uri="{FF2B5EF4-FFF2-40B4-BE49-F238E27FC236}">
                <a16:creationId xmlns:a16="http://schemas.microsoft.com/office/drawing/2014/main" id="{CA69CA02-51AA-0B2F-9D51-E848BAB671A0}"/>
              </a:ext>
            </a:extLst>
          </p:cNvPr>
          <p:cNvSpPr txBox="1"/>
          <p:nvPr/>
        </p:nvSpPr>
        <p:spPr>
          <a:xfrm>
            <a:off x="3452774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MAP</a:t>
            </a:r>
            <a:endParaRPr lang="en-US" sz="1100"/>
          </a:p>
        </p:txBody>
      </p:sp>
      <p:sp>
        <p:nvSpPr>
          <p:cNvPr id="124" name="Text 25">
            <a:extLst>
              <a:ext uri="{FF2B5EF4-FFF2-40B4-BE49-F238E27FC236}">
                <a16:creationId xmlns:a16="http://schemas.microsoft.com/office/drawing/2014/main" id="{9A46C3D8-EA63-E019-3F26-C81B879C8843}"/>
              </a:ext>
            </a:extLst>
          </p:cNvPr>
          <p:cNvSpPr txBox="1"/>
          <p:nvPr/>
        </p:nvSpPr>
        <p:spPr>
          <a:xfrm>
            <a:off x="5716829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27" name="Text 34">
            <a:extLst>
              <a:ext uri="{FF2B5EF4-FFF2-40B4-BE49-F238E27FC236}">
                <a16:creationId xmlns:a16="http://schemas.microsoft.com/office/drawing/2014/main" id="{A5A5EE1D-D65D-117A-CF34-651AFE2D592C}"/>
              </a:ext>
            </a:extLst>
          </p:cNvPr>
          <p:cNvSpPr txBox="1"/>
          <p:nvPr/>
        </p:nvSpPr>
        <p:spPr>
          <a:xfrm>
            <a:off x="7980883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AND CONFIRM</a:t>
            </a:r>
            <a:endParaRPr lang="en-US" sz="1100"/>
          </a:p>
        </p:txBody>
      </p:sp>
      <p:sp>
        <p:nvSpPr>
          <p:cNvPr id="128" name="Text 43">
            <a:extLst>
              <a:ext uri="{FF2B5EF4-FFF2-40B4-BE49-F238E27FC236}">
                <a16:creationId xmlns:a16="http://schemas.microsoft.com/office/drawing/2014/main" id="{3128EA8A-E39A-7BD0-221D-458DE6BE3F95}"/>
              </a:ext>
            </a:extLst>
          </p:cNvPr>
          <p:cNvSpPr txBox="1"/>
          <p:nvPr/>
        </p:nvSpPr>
        <p:spPr>
          <a:xfrm>
            <a:off x="10244938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29" name="Text 9">
            <a:extLst>
              <a:ext uri="{FF2B5EF4-FFF2-40B4-BE49-F238E27FC236}">
                <a16:creationId xmlns:a16="http://schemas.microsoft.com/office/drawing/2014/main" id="{75B6FC00-B79E-EDD4-0BCF-7CA87FD43965}"/>
              </a:ext>
            </a:extLst>
          </p:cNvPr>
          <p:cNvSpPr txBox="1"/>
          <p:nvPr/>
        </p:nvSpPr>
        <p:spPr>
          <a:xfrm>
            <a:off x="713232" y="2534919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/>
          </a:p>
        </p:txBody>
      </p:sp>
      <p:sp>
        <p:nvSpPr>
          <p:cNvPr id="130" name="Text 18">
            <a:extLst>
              <a:ext uri="{FF2B5EF4-FFF2-40B4-BE49-F238E27FC236}">
                <a16:creationId xmlns:a16="http://schemas.microsoft.com/office/drawing/2014/main" id="{FC3E6A5D-62A0-E6C6-310E-B1907386ED90}"/>
              </a:ext>
            </a:extLst>
          </p:cNvPr>
          <p:cNvSpPr txBox="1"/>
          <p:nvPr/>
        </p:nvSpPr>
        <p:spPr>
          <a:xfrm>
            <a:off x="2977286" y="2534919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/>
          </a:p>
        </p:txBody>
      </p:sp>
      <p:sp>
        <p:nvSpPr>
          <p:cNvPr id="131" name="Text 27">
            <a:extLst>
              <a:ext uri="{FF2B5EF4-FFF2-40B4-BE49-F238E27FC236}">
                <a16:creationId xmlns:a16="http://schemas.microsoft.com/office/drawing/2014/main" id="{746B4428-AA6F-CDA7-EF5A-35AA06DE22AA}"/>
              </a:ext>
            </a:extLst>
          </p:cNvPr>
          <p:cNvSpPr txBox="1"/>
          <p:nvPr/>
        </p:nvSpPr>
        <p:spPr>
          <a:xfrm>
            <a:off x="5241341" y="2534919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/>
          </a:p>
        </p:txBody>
      </p:sp>
      <p:sp>
        <p:nvSpPr>
          <p:cNvPr id="132" name="Text 36">
            <a:extLst>
              <a:ext uri="{FF2B5EF4-FFF2-40B4-BE49-F238E27FC236}">
                <a16:creationId xmlns:a16="http://schemas.microsoft.com/office/drawing/2014/main" id="{83C69858-365D-E773-7C9C-1A027B4114C0}"/>
              </a:ext>
            </a:extLst>
          </p:cNvPr>
          <p:cNvSpPr txBox="1"/>
          <p:nvPr/>
        </p:nvSpPr>
        <p:spPr>
          <a:xfrm>
            <a:off x="7505395" y="2534919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/>
          </a:p>
        </p:txBody>
      </p:sp>
      <p:sp>
        <p:nvSpPr>
          <p:cNvPr id="133" name="Text 45">
            <a:extLst>
              <a:ext uri="{FF2B5EF4-FFF2-40B4-BE49-F238E27FC236}">
                <a16:creationId xmlns:a16="http://schemas.microsoft.com/office/drawing/2014/main" id="{7EA7BA94-B98B-CB05-4359-839BBB79CA9E}"/>
              </a:ext>
            </a:extLst>
          </p:cNvPr>
          <p:cNvSpPr txBox="1"/>
          <p:nvPr/>
        </p:nvSpPr>
        <p:spPr>
          <a:xfrm>
            <a:off x="9769450" y="2534919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8A2456CF-4AD0-D413-65B4-3B5B54B9EA2F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769450" y="3985402"/>
            <a:ext cx="1728000" cy="1620000"/>
          </a:xfrm>
          <a:prstGeom prst="rect">
            <a:avLst/>
          </a:prstGeom>
        </p:spPr>
      </p:pic>
      <p:pic>
        <p:nvPicPr>
          <p:cNvPr id="135" name="Image 1" descr="ROBOT BASE CAMERA  ·  KNEE HEIGHT">
            <a:extLst>
              <a:ext uri="{FF2B5EF4-FFF2-40B4-BE49-F238E27FC236}">
                <a16:creationId xmlns:a16="http://schemas.microsoft.com/office/drawing/2014/main" id="{A0BEB284-C446-C4D8-28F4-55176F8E4110}"/>
              </a:ext>
            </a:extLst>
          </p:cNvPr>
          <p:cNvPicPr>
            <a:picLocks/>
          </p:cNvPicPr>
          <p:nvPr/>
        </p:nvPicPr>
        <p:blipFill>
          <a:blip r:embed="rId12"/>
          <a:srcRect l="11349" r="15719"/>
          <a:stretch/>
        </p:blipFill>
        <p:spPr>
          <a:xfrm>
            <a:off x="7505395" y="3985402"/>
            <a:ext cx="1728000" cy="1620000"/>
          </a:xfrm>
          <a:prstGeom prst="rect">
            <a:avLst/>
          </a:prstGeom>
        </p:spPr>
      </p:pic>
      <p:pic>
        <p:nvPicPr>
          <p:cNvPr id="137" name="Picture 136" descr="A blueprint of a building&#10;&#10;AI-generated content may be incorrect.">
            <a:extLst>
              <a:ext uri="{FF2B5EF4-FFF2-40B4-BE49-F238E27FC236}">
                <a16:creationId xmlns:a16="http://schemas.microsoft.com/office/drawing/2014/main" id="{7FBD9678-02B1-7C2F-A2E1-C8F2D9AF8C80}"/>
              </a:ext>
            </a:extLst>
          </p:cNvPr>
          <p:cNvPicPr>
            <a:picLocks/>
          </p:cNvPicPr>
          <p:nvPr/>
        </p:nvPicPr>
        <p:blipFill>
          <a:blip r:embed="rId13"/>
          <a:srcRect l="6886" t="-86" r="11934" b="86"/>
          <a:stretch/>
        </p:blipFill>
        <p:spPr>
          <a:xfrm>
            <a:off x="2987914" y="3985402"/>
            <a:ext cx="1728000" cy="16200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B27DABF-FC0D-BF34-8DD7-AEAF2E23799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3759" t="13500" r="17892"/>
          <a:stretch>
            <a:fillRect/>
          </a:stretch>
        </p:blipFill>
        <p:spPr>
          <a:xfrm>
            <a:off x="7505394" y="3985400"/>
            <a:ext cx="1728001" cy="1620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SHERMAN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parts, plus what was missing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starts from published work we reviewed. Below each tool is what we added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035454" cy="2606040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3232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23" y="2123603"/>
            <a:ext cx="215067" cy="2150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CAPTURE</a:t>
            </a:r>
            <a:endParaRPr lang="en-US" sz="1100"/>
          </a:p>
        </p:txBody>
      </p:sp>
      <p:sp>
        <p:nvSpPr>
          <p:cNvPr id="11" name="Text 8"/>
          <p:cNvSpPr txBox="1"/>
          <p:nvPr/>
        </p:nvSpPr>
        <p:spPr>
          <a:xfrm>
            <a:off x="713232" y="2587752"/>
            <a:ext cx="17611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SDK, SAM 3</a:t>
            </a:r>
            <a:endParaRPr lang="en-US" sz="1700"/>
          </a:p>
        </p:txBody>
      </p:sp>
      <p:sp>
        <p:nvSpPr>
          <p:cNvPr id="12" name="Text 9"/>
          <p:cNvSpPr txBox="1"/>
          <p:nvPr/>
        </p:nvSpPr>
        <p:spPr>
          <a:xfrm>
            <a:off x="713232" y="3246120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100"/>
          </a:p>
        </p:txBody>
      </p:sp>
      <p:sp>
        <p:nvSpPr>
          <p:cNvPr id="13" name="Text 10"/>
          <p:cNvSpPr txBox="1"/>
          <p:nvPr/>
        </p:nvSpPr>
        <p:spPr>
          <a:xfrm>
            <a:off x="713232" y="3483864"/>
            <a:ext cx="17611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gaze vote picks one object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713232" y="40965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713232" y="4096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SLIDE 8</a:t>
            </a:r>
            <a:endParaRPr lang="en-US" sz="1100"/>
          </a:p>
        </p:txBody>
      </p:sp>
      <p:sp>
        <p:nvSpPr>
          <p:cNvPr id="16" name="Text 13"/>
          <p:cNvSpPr txBox="1"/>
          <p:nvPr/>
        </p:nvSpPr>
        <p:spPr>
          <a:xfrm>
            <a:off x="2584094" y="29489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2812694" y="1874520"/>
            <a:ext cx="2035454" cy="2606040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977286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777" y="2123603"/>
            <a:ext cx="215067" cy="21506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452774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MAP</a:t>
            </a:r>
            <a:endParaRPr lang="en-US" sz="1100"/>
          </a:p>
        </p:txBody>
      </p:sp>
      <p:sp>
        <p:nvSpPr>
          <p:cNvPr id="21" name="Text 17"/>
          <p:cNvSpPr txBox="1"/>
          <p:nvPr/>
        </p:nvSpPr>
        <p:spPr>
          <a:xfrm>
            <a:off x="2977286" y="2587752"/>
            <a:ext cx="17611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FAST-LIVO2,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HiCo-Nav graph</a:t>
            </a:r>
            <a:endParaRPr lang="en-US" sz="1700"/>
          </a:p>
        </p:txBody>
      </p:sp>
      <p:sp>
        <p:nvSpPr>
          <p:cNvPr id="22" name="Text 18"/>
          <p:cNvSpPr txBox="1"/>
          <p:nvPr/>
        </p:nvSpPr>
        <p:spPr>
          <a:xfrm>
            <a:off x="2977286" y="3246120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100"/>
          </a:p>
        </p:txBody>
      </p:sp>
      <p:sp>
        <p:nvSpPr>
          <p:cNvPr id="23" name="Text 19"/>
          <p:cNvSpPr txBox="1"/>
          <p:nvPr/>
        </p:nvSpPr>
        <p:spPr>
          <a:xfrm>
            <a:off x="2977286" y="3483864"/>
            <a:ext cx="17611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port bugs fixed, graph written fresh</a:t>
            </a:r>
            <a:endParaRPr lang="en-US" sz="1300"/>
          </a:p>
        </p:txBody>
      </p:sp>
      <p:sp>
        <p:nvSpPr>
          <p:cNvPr id="24" name="Shape 20"/>
          <p:cNvSpPr/>
          <p:nvPr/>
        </p:nvSpPr>
        <p:spPr>
          <a:xfrm>
            <a:off x="2977286" y="40965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 txBox="1"/>
          <p:nvPr/>
        </p:nvSpPr>
        <p:spPr>
          <a:xfrm>
            <a:off x="2977286" y="4096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SLIDE 9</a:t>
            </a:r>
            <a:endParaRPr lang="en-US" sz="1100"/>
          </a:p>
        </p:txBody>
      </p:sp>
      <p:sp>
        <p:nvSpPr>
          <p:cNvPr id="26" name="Text 22"/>
          <p:cNvSpPr txBox="1"/>
          <p:nvPr/>
        </p:nvSpPr>
        <p:spPr>
          <a:xfrm>
            <a:off x="4848149" y="29489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27" name="Shape 23"/>
          <p:cNvSpPr/>
          <p:nvPr/>
        </p:nvSpPr>
        <p:spPr>
          <a:xfrm>
            <a:off x="5076749" y="1874520"/>
            <a:ext cx="2035454" cy="2606040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4"/>
          <p:cNvSpPr/>
          <p:nvPr/>
        </p:nvSpPr>
        <p:spPr>
          <a:xfrm>
            <a:off x="5241341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831" y="2123603"/>
            <a:ext cx="215067" cy="21506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716829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31" name="Text 26"/>
          <p:cNvSpPr txBox="1"/>
          <p:nvPr/>
        </p:nvSpPr>
        <p:spPr>
          <a:xfrm>
            <a:off x="5241341" y="2587752"/>
            <a:ext cx="17611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HiCo-Nav, CLIP,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</a:t>
            </a:r>
            <a:endParaRPr lang="en-US" sz="1700"/>
          </a:p>
        </p:txBody>
      </p:sp>
      <p:sp>
        <p:nvSpPr>
          <p:cNvPr id="32" name="Text 27"/>
          <p:cNvSpPr txBox="1"/>
          <p:nvPr/>
        </p:nvSpPr>
        <p:spPr>
          <a:xfrm>
            <a:off x="5241341" y="3246120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100"/>
          </a:p>
        </p:txBody>
      </p:sp>
      <p:sp>
        <p:nvSpPr>
          <p:cNvPr id="33" name="Text 28"/>
          <p:cNvSpPr txBox="1"/>
          <p:nvPr/>
        </p:nvSpPr>
        <p:spPr>
          <a:xfrm>
            <a:off x="5241341" y="3483864"/>
            <a:ext cx="17611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 object classes, with a </a:t>
            </a:r>
            <a:r>
              <a:rPr lang="en-US" sz="130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fall-back</a:t>
            </a:r>
            <a:endParaRPr lang="en-US" sz="1300"/>
          </a:p>
        </p:txBody>
      </p:sp>
      <p:sp>
        <p:nvSpPr>
          <p:cNvPr id="34" name="Shape 29"/>
          <p:cNvSpPr/>
          <p:nvPr/>
        </p:nvSpPr>
        <p:spPr>
          <a:xfrm>
            <a:off x="5241341" y="40965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0"/>
          <p:cNvSpPr txBox="1"/>
          <p:nvPr/>
        </p:nvSpPr>
        <p:spPr>
          <a:xfrm>
            <a:off x="5241341" y="4096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SLIDE 13</a:t>
            </a:r>
            <a:endParaRPr lang="en-US" sz="1100"/>
          </a:p>
        </p:txBody>
      </p:sp>
      <p:sp>
        <p:nvSpPr>
          <p:cNvPr id="36" name="Text 31"/>
          <p:cNvSpPr txBox="1"/>
          <p:nvPr/>
        </p:nvSpPr>
        <p:spPr>
          <a:xfrm>
            <a:off x="7112203" y="29489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37" name="Shape 32"/>
          <p:cNvSpPr/>
          <p:nvPr/>
        </p:nvSpPr>
        <p:spPr>
          <a:xfrm>
            <a:off x="7340803" y="1874520"/>
            <a:ext cx="2035454" cy="2606040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3"/>
          <p:cNvSpPr/>
          <p:nvPr/>
        </p:nvSpPr>
        <p:spPr>
          <a:xfrm>
            <a:off x="7505395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886" y="2123603"/>
            <a:ext cx="215067" cy="215067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980883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AND CONFIRM</a:t>
            </a:r>
            <a:endParaRPr lang="en-US" sz="1100"/>
          </a:p>
        </p:txBody>
      </p:sp>
      <p:sp>
        <p:nvSpPr>
          <p:cNvPr id="41" name="Text 35"/>
          <p:cNvSpPr txBox="1"/>
          <p:nvPr/>
        </p:nvSpPr>
        <p:spPr>
          <a:xfrm>
            <a:off x="7505395" y="2587752"/>
            <a:ext cx="17611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700"/>
          </a:p>
        </p:txBody>
      </p:sp>
      <p:sp>
        <p:nvSpPr>
          <p:cNvPr id="42" name="Text 36"/>
          <p:cNvSpPr txBox="1"/>
          <p:nvPr/>
        </p:nvSpPr>
        <p:spPr>
          <a:xfrm>
            <a:off x="7505395" y="3246120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100"/>
          </a:p>
        </p:txBody>
      </p:sp>
      <p:sp>
        <p:nvSpPr>
          <p:cNvPr id="43" name="Text 37"/>
          <p:cNvSpPr txBox="1"/>
          <p:nvPr/>
        </p:nvSpPr>
        <p:spPr>
          <a:xfrm>
            <a:off x="7505395" y="3483864"/>
            <a:ext cx="17611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Glasses-to-wrist match, after keypoints failed</a:t>
            </a:r>
            <a:endParaRPr lang="en-US" sz="1300"/>
          </a:p>
        </p:txBody>
      </p:sp>
      <p:sp>
        <p:nvSpPr>
          <p:cNvPr id="44" name="Shape 38"/>
          <p:cNvSpPr/>
          <p:nvPr/>
        </p:nvSpPr>
        <p:spPr>
          <a:xfrm>
            <a:off x="7505395" y="40965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9"/>
          <p:cNvSpPr txBox="1"/>
          <p:nvPr/>
        </p:nvSpPr>
        <p:spPr>
          <a:xfrm>
            <a:off x="7505395" y="4096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SLIDE 14</a:t>
            </a:r>
            <a:endParaRPr lang="en-US" sz="1100"/>
          </a:p>
        </p:txBody>
      </p:sp>
      <p:sp>
        <p:nvSpPr>
          <p:cNvPr id="46" name="Text 40"/>
          <p:cNvSpPr txBox="1"/>
          <p:nvPr/>
        </p:nvSpPr>
        <p:spPr>
          <a:xfrm>
            <a:off x="9376258" y="29489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/>
          </a:p>
        </p:txBody>
      </p:sp>
      <p:sp>
        <p:nvSpPr>
          <p:cNvPr id="47" name="Shape 41"/>
          <p:cNvSpPr/>
          <p:nvPr/>
        </p:nvSpPr>
        <p:spPr>
          <a:xfrm>
            <a:off x="9604858" y="1874520"/>
            <a:ext cx="2035454" cy="2606040"/>
          </a:xfrm>
          <a:prstGeom prst="roundRect">
            <a:avLst>
              <a:gd name="adj" fmla="val 44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2"/>
          <p:cNvSpPr/>
          <p:nvPr/>
        </p:nvSpPr>
        <p:spPr>
          <a:xfrm>
            <a:off x="9769450" y="2039112"/>
            <a:ext cx="384048" cy="384048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3940" y="2123603"/>
            <a:ext cx="215067" cy="215067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0244938" y="2039112"/>
            <a:ext cx="13039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51" name="Text 44"/>
          <p:cNvSpPr txBox="1"/>
          <p:nvPr/>
        </p:nvSpPr>
        <p:spPr>
          <a:xfrm>
            <a:off x="9769450" y="2587752"/>
            <a:ext cx="17611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AnyGrasp,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</a:t>
            </a:r>
            <a:endParaRPr lang="en-US" sz="1700"/>
          </a:p>
        </p:txBody>
      </p:sp>
      <p:sp>
        <p:nvSpPr>
          <p:cNvPr id="52" name="Text 45"/>
          <p:cNvSpPr txBox="1"/>
          <p:nvPr/>
        </p:nvSpPr>
        <p:spPr>
          <a:xfrm>
            <a:off x="9769450" y="3246120"/>
            <a:ext cx="1761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100"/>
          </a:p>
        </p:txBody>
      </p:sp>
      <p:sp>
        <p:nvSpPr>
          <p:cNvPr id="53" name="Text 46"/>
          <p:cNvSpPr txBox="1"/>
          <p:nvPr/>
        </p:nvSpPr>
        <p:spPr>
          <a:xfrm>
            <a:off x="9769450" y="3483864"/>
            <a:ext cx="17611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filters, safe state machine, stop</a:t>
            </a:r>
            <a:endParaRPr lang="en-US" sz="1300"/>
          </a:p>
        </p:txBody>
      </p:sp>
      <p:sp>
        <p:nvSpPr>
          <p:cNvPr id="54" name="Shape 47"/>
          <p:cNvSpPr/>
          <p:nvPr/>
        </p:nvSpPr>
        <p:spPr>
          <a:xfrm>
            <a:off x="9769450" y="40965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48"/>
          <p:cNvSpPr txBox="1"/>
          <p:nvPr/>
        </p:nvSpPr>
        <p:spPr>
          <a:xfrm>
            <a:off x="9769450" y="4096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SLIDE 15</a:t>
            </a:r>
            <a:endParaRPr lang="en-US" sz="1100"/>
          </a:p>
        </p:txBody>
      </p:sp>
      <p:sp>
        <p:nvSpPr>
          <p:cNvPr id="56" name="Shape 49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0"/>
          <p:cNvSpPr txBox="1"/>
          <p:nvPr/>
        </p:nvSpPr>
        <p:spPr>
          <a:xfrm>
            <a:off x="8229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PARTS</a:t>
            </a:r>
            <a:endParaRPr lang="en-US" sz="1100"/>
          </a:p>
        </p:txBody>
      </p:sp>
      <p:sp>
        <p:nvSpPr>
          <p:cNvPr id="58" name="Shape 51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" y="5277002"/>
            <a:ext cx="281635" cy="281635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1463040" y="5138928"/>
            <a:ext cx="2782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gaze match</a:t>
            </a:r>
            <a:endParaRPr lang="en-US" sz="1500"/>
          </a:p>
        </p:txBody>
      </p:sp>
      <p:sp>
        <p:nvSpPr>
          <p:cNvPr id="61" name="Text 53"/>
          <p:cNvSpPr txBox="1"/>
          <p:nvPr/>
        </p:nvSpPr>
        <p:spPr>
          <a:xfrm>
            <a:off x="1463040" y="544068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two papers</a:t>
            </a:r>
            <a:endParaRPr lang="en-US" sz="1300"/>
          </a:p>
        </p:txBody>
      </p:sp>
      <p:sp>
        <p:nvSpPr>
          <p:cNvPr id="62" name="Shape 54"/>
          <p:cNvSpPr/>
          <p:nvPr/>
        </p:nvSpPr>
        <p:spPr>
          <a:xfrm>
            <a:off x="4337304" y="5166360"/>
            <a:ext cx="502920" cy="50292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7946" y="5277002"/>
            <a:ext cx="281635" cy="281635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4977384" y="5138928"/>
            <a:ext cx="2782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</a:t>
            </a:r>
            <a:endParaRPr lang="en-US" sz="1500"/>
          </a:p>
        </p:txBody>
      </p:sp>
      <p:sp>
        <p:nvSpPr>
          <p:cNvPr id="65" name="Text 56"/>
          <p:cNvSpPr txBox="1"/>
          <p:nvPr/>
        </p:nvSpPr>
        <p:spPr>
          <a:xfrm>
            <a:off x="4977384" y="544068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for every connection</a:t>
            </a:r>
            <a:endParaRPr lang="en-US" sz="1300"/>
          </a:p>
        </p:txBody>
      </p:sp>
      <p:sp>
        <p:nvSpPr>
          <p:cNvPr id="66" name="Shape 57"/>
          <p:cNvSpPr/>
          <p:nvPr/>
        </p:nvSpPr>
        <p:spPr>
          <a:xfrm>
            <a:off x="7851648" y="5166360"/>
            <a:ext cx="502920" cy="50292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2290" y="5277002"/>
            <a:ext cx="281635" cy="281635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8491728" y="5138928"/>
            <a:ext cx="2782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</a:t>
            </a:r>
            <a:endParaRPr lang="en-US" sz="1500"/>
          </a:p>
        </p:txBody>
      </p:sp>
      <p:sp>
        <p:nvSpPr>
          <p:cNvPr id="69" name="Text 59"/>
          <p:cNvSpPr txBox="1"/>
          <p:nvPr/>
        </p:nvSpPr>
        <p:spPr>
          <a:xfrm>
            <a:off x="8491728" y="544068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at the robot</a:t>
            </a:r>
            <a:endParaRPr lang="en-US" sz="1300"/>
          </a:p>
        </p:txBody>
      </p:sp>
      <p:sp>
        <p:nvSpPr>
          <p:cNvPr id="70" name="Shape 60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1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72" name="Shape 62"/>
          <p:cNvSpPr/>
          <p:nvPr/>
        </p:nvSpPr>
        <p:spPr>
          <a:xfrm>
            <a:off x="1980819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63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74" name="Shape 64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65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76" name="Shape 66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67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78" name="Shape 68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69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80" name="Shape 70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1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82" name="Shape 72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73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84" name="Shape 74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75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86" name="Text 76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ide the lab map. Orange: the 26 m hand-pushed path.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868680"/>
            <a:ext cx="5285232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27064" y="7406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6227064" y="7406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 flipH="1">
            <a:off x="11311128" y="7406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1768328" y="7406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227064" y="5522976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 flipV="1">
            <a:off x="6227064" y="5065776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 flipH="1">
            <a:off x="11311128" y="5522976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 flipV="1">
            <a:off x="11768328" y="5065776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037195" y="4266819"/>
            <a:ext cx="621792" cy="621792"/>
          </a:xfrm>
          <a:prstGeom prst="ellipse">
            <a:avLst/>
          </a:prstGeom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8302371" y="4531995"/>
            <a:ext cx="91440" cy="91440"/>
          </a:xfrm>
          <a:prstGeom prst="ellipse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7872603" y="4577715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8604123" y="4577715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348091" y="4102227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8348091" y="4833747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355080" y="411480"/>
            <a:ext cx="2779776" cy="292608"/>
          </a:xfrm>
          <a:prstGeom prst="roundRect">
            <a:avLst>
              <a:gd name="adj" fmla="val 15625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355080" y="4114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  ·  FAST-LIVO2 MAP</a:t>
            </a:r>
            <a:endParaRPr lang="en-US" sz="1100"/>
          </a:p>
        </p:txBody>
      </p:sp>
      <p:sp>
        <p:nvSpPr>
          <p:cNvPr id="19" name="Text 16"/>
          <p:cNvSpPr txBox="1"/>
          <p:nvPr/>
        </p:nvSpPr>
        <p:spPr>
          <a:xfrm>
            <a:off x="6355080" y="565099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lab map. Orange: the 26 m hand-pushed path.</a:t>
            </a:r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548640" y="2626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/ 3</a:t>
            </a:r>
            <a:endParaRPr lang="en-US" sz="1200"/>
          </a:p>
        </p:txBody>
      </p:sp>
      <p:sp>
        <p:nvSpPr>
          <p:cNvPr id="21" name="Text 18"/>
          <p:cNvSpPr txBox="1"/>
          <p:nvPr/>
        </p:nvSpPr>
        <p:spPr>
          <a:xfrm>
            <a:off x="548640" y="2946399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phase by phase</a:t>
            </a:r>
            <a:endParaRPr lang="en-US" sz="4000"/>
          </a:p>
        </p:txBody>
      </p:sp>
      <p:sp>
        <p:nvSpPr>
          <p:cNvPr id="22" name="Text 19"/>
          <p:cNvSpPr txBox="1"/>
          <p:nvPr/>
        </p:nvSpPr>
        <p:spPr>
          <a:xfrm>
            <a:off x="548640" y="3613911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measured on real hardware or real recordings</a:t>
            </a:r>
            <a:endParaRPr lang="en-US" sz="1700"/>
          </a:p>
        </p:txBody>
      </p:sp>
      <p:sp>
        <p:nvSpPr>
          <p:cNvPr id="35" name="Shape 32"/>
          <p:cNvSpPr/>
          <p:nvPr/>
        </p:nvSpPr>
        <p:spPr>
          <a:xfrm>
            <a:off x="548640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 txBox="1"/>
          <p:nvPr/>
        </p:nvSpPr>
        <p:spPr>
          <a:xfrm>
            <a:off x="548640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plan</a:t>
            </a:r>
            <a:endParaRPr lang="en-US" sz="1100"/>
          </a:p>
        </p:txBody>
      </p:sp>
      <p:sp>
        <p:nvSpPr>
          <p:cNvPr id="37" name="Shape 34"/>
          <p:cNvSpPr/>
          <p:nvPr/>
        </p:nvSpPr>
        <p:spPr>
          <a:xfrm>
            <a:off x="2258568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 txBox="1"/>
          <p:nvPr/>
        </p:nvSpPr>
        <p:spPr>
          <a:xfrm>
            <a:off x="2258568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/>
          </a:p>
        </p:txBody>
      </p:sp>
      <p:sp>
        <p:nvSpPr>
          <p:cNvPr id="39" name="Shape 36"/>
          <p:cNvSpPr/>
          <p:nvPr/>
        </p:nvSpPr>
        <p:spPr>
          <a:xfrm>
            <a:off x="3968496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 txBox="1"/>
          <p:nvPr/>
        </p:nvSpPr>
        <p:spPr>
          <a:xfrm>
            <a:off x="3968496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2515B-A495-DEC2-E0C2-8DF7C6AD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63AFD7DF-D0CB-F179-3FE6-9717529C8840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82AE6AA6-2087-8798-CAB0-9838C0E0AA95}"/>
              </a:ext>
            </a:extLst>
          </p:cNvPr>
          <p:cNvSpPr/>
          <p:nvPr/>
        </p:nvSpPr>
        <p:spPr>
          <a:xfrm>
            <a:off x="8595360" y="347472"/>
            <a:ext cx="3044952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E74DDF0E-1AC7-7C30-2E97-39E0641CF9A7}"/>
              </a:ext>
            </a:extLst>
          </p:cNvPr>
          <p:cNvSpPr txBox="1"/>
          <p:nvPr/>
        </p:nvSpPr>
        <p:spPr>
          <a:xfrm>
            <a:off x="8595360" y="34747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INTENT CAPTURE</a:t>
            </a:r>
            <a:endParaRPr lang="en-US" sz="1100"/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6C75AB94-0EF0-0737-DA8D-7C75C4CC8B58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gives the word, gaze picks the object</a:t>
            </a:r>
            <a:endParaRPr lang="en-US" sz="300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02E86EBC-9567-1C72-45B1-F49580A82015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one-second gaze vote over SAM 3 masks makes the reference crop sent to the robot</a:t>
            </a:r>
            <a:endParaRPr lang="en-US" sz="1700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25DB8FC2-4D54-80EC-7C1E-D2FCA8240238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/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235E949F-5A3C-F3E5-AF6E-96D30D3438F5}"/>
              </a:ext>
            </a:extLst>
          </p:cNvPr>
          <p:cNvSpPr/>
          <p:nvPr/>
        </p:nvSpPr>
        <p:spPr>
          <a:xfrm>
            <a:off x="548640" y="2194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1D715D72-3649-875C-22B6-5E07C30CA97C}"/>
              </a:ext>
            </a:extLst>
          </p:cNvPr>
          <p:cNvSpPr txBox="1"/>
          <p:nvPr/>
        </p:nvSpPr>
        <p:spPr>
          <a:xfrm>
            <a:off x="1161288" y="22677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54366A24-B556-B142-9667-6D71091DB240}"/>
              </a:ext>
            </a:extLst>
          </p:cNvPr>
          <p:cNvSpPr txBox="1"/>
          <p:nvPr/>
        </p:nvSpPr>
        <p:spPr>
          <a:xfrm>
            <a:off x="1161288" y="25420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per sentence</a:t>
            </a:r>
            <a:endParaRPr lang="en-US" sz="1100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A43EDE15-9889-1AEC-36E8-6178153D3FDE}"/>
              </a:ext>
            </a:extLst>
          </p:cNvPr>
          <p:cNvSpPr/>
          <p:nvPr/>
        </p:nvSpPr>
        <p:spPr>
          <a:xfrm>
            <a:off x="548640" y="3063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1BD5F85D-748D-76BD-21D1-F1ECBA1FD65B}"/>
              </a:ext>
            </a:extLst>
          </p:cNvPr>
          <p:cNvSpPr txBox="1"/>
          <p:nvPr/>
        </p:nvSpPr>
        <p:spPr>
          <a:xfrm>
            <a:off x="1161288" y="3136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140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5F36F1E8-7EE7-1B5A-D708-8E4201ADBBFF}"/>
              </a:ext>
            </a:extLst>
          </p:cNvPr>
          <p:cNvSpPr txBox="1"/>
          <p:nvPr/>
        </p:nvSpPr>
        <p:spPr>
          <a:xfrm>
            <a:off x="1161288" y="34107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simultaneously</a:t>
            </a:r>
            <a:endParaRPr lang="en-US" sz="1100"/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3EB868B9-2593-2B1E-15F3-14A1B43AAB40}"/>
              </a:ext>
            </a:extLst>
          </p:cNvPr>
          <p:cNvSpPr/>
          <p:nvPr/>
        </p:nvSpPr>
        <p:spPr>
          <a:xfrm>
            <a:off x="548640" y="39319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2E9B2628-CA13-3C94-962A-CF737F2F4205}"/>
              </a:ext>
            </a:extLst>
          </p:cNvPr>
          <p:cNvSpPr txBox="1"/>
          <p:nvPr/>
        </p:nvSpPr>
        <p:spPr>
          <a:xfrm>
            <a:off x="1161288" y="40050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/>
          </a:p>
        </p:txBody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E05338B5-C65D-DB76-D8A3-AD6705FD4B92}"/>
              </a:ext>
            </a:extLst>
          </p:cNvPr>
          <p:cNvSpPr txBox="1"/>
          <p:nvPr/>
        </p:nvSpPr>
        <p:spPr>
          <a:xfrm>
            <a:off x="1161288" y="4279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finds every “box”</a:t>
            </a:r>
            <a:endParaRPr lang="en-US" sz="1100"/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52D1AD29-F05B-6396-2B76-CDE603CF1D6A}"/>
              </a:ext>
            </a:extLst>
          </p:cNvPr>
          <p:cNvSpPr/>
          <p:nvPr/>
        </p:nvSpPr>
        <p:spPr>
          <a:xfrm>
            <a:off x="548640" y="48006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20">
            <a:extLst>
              <a:ext uri="{FF2B5EF4-FFF2-40B4-BE49-F238E27FC236}">
                <a16:creationId xmlns:a16="http://schemas.microsoft.com/office/drawing/2014/main" id="{BD7888E2-36D3-CA28-E713-3CBF9120F2F3}"/>
              </a:ext>
            </a:extLst>
          </p:cNvPr>
          <p:cNvSpPr txBox="1"/>
          <p:nvPr/>
        </p:nvSpPr>
        <p:spPr>
          <a:xfrm>
            <a:off x="1161288" y="48737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/>
          </a:p>
        </p:txBody>
      </p:sp>
      <p:sp>
        <p:nvSpPr>
          <p:cNvPr id="88" name="Text 21">
            <a:extLst>
              <a:ext uri="{FF2B5EF4-FFF2-40B4-BE49-F238E27FC236}">
                <a16:creationId xmlns:a16="http://schemas.microsoft.com/office/drawing/2014/main" id="{D60C1B79-0CB7-3313-9251-F88BA80E14FE}"/>
              </a:ext>
            </a:extLst>
          </p:cNvPr>
          <p:cNvSpPr txBox="1"/>
          <p:nvPr/>
        </p:nvSpPr>
        <p:spPr>
          <a:xfrm>
            <a:off x="1161288" y="514807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a mask, then crop it</a:t>
            </a:r>
            <a:endParaRPr lang="en-US" sz="1100"/>
          </a:p>
        </p:txBody>
      </p:sp>
      <p:sp>
        <p:nvSpPr>
          <p:cNvPr id="101" name="Shape 33">
            <a:extLst>
              <a:ext uri="{FF2B5EF4-FFF2-40B4-BE49-F238E27FC236}">
                <a16:creationId xmlns:a16="http://schemas.microsoft.com/office/drawing/2014/main" id="{6925F971-7B26-56C9-75CD-30FFD95E683F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34">
            <a:extLst>
              <a:ext uri="{FF2B5EF4-FFF2-40B4-BE49-F238E27FC236}">
                <a16:creationId xmlns:a16="http://schemas.microsoft.com/office/drawing/2014/main" id="{D8EAB557-CAD9-2A22-5714-E732A04071C2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103" name="Shape 35">
            <a:extLst>
              <a:ext uri="{FF2B5EF4-FFF2-40B4-BE49-F238E27FC236}">
                <a16:creationId xmlns:a16="http://schemas.microsoft.com/office/drawing/2014/main" id="{D75BAEEF-79F5-8DE8-7353-F52B147FFDE2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36">
            <a:extLst>
              <a:ext uri="{FF2B5EF4-FFF2-40B4-BE49-F238E27FC236}">
                <a16:creationId xmlns:a16="http://schemas.microsoft.com/office/drawing/2014/main" id="{5A8B56B3-9E68-934D-4DF9-CD723868BE04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105" name="Shape 37">
            <a:extLst>
              <a:ext uri="{FF2B5EF4-FFF2-40B4-BE49-F238E27FC236}">
                <a16:creationId xmlns:a16="http://schemas.microsoft.com/office/drawing/2014/main" id="{5E71F3E9-716C-1B87-E196-1092C10DB977}"/>
              </a:ext>
            </a:extLst>
          </p:cNvPr>
          <p:cNvSpPr/>
          <p:nvPr/>
        </p:nvSpPr>
        <p:spPr>
          <a:xfrm>
            <a:off x="3367278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38">
            <a:extLst>
              <a:ext uri="{FF2B5EF4-FFF2-40B4-BE49-F238E27FC236}">
                <a16:creationId xmlns:a16="http://schemas.microsoft.com/office/drawing/2014/main" id="{9664DFE8-D9C9-C5DB-FDD4-B322F6B9735D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07" name="Shape 39">
            <a:extLst>
              <a:ext uri="{FF2B5EF4-FFF2-40B4-BE49-F238E27FC236}">
                <a16:creationId xmlns:a16="http://schemas.microsoft.com/office/drawing/2014/main" id="{161BA216-2CF8-8347-D828-06D07F67E6C0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40">
            <a:extLst>
              <a:ext uri="{FF2B5EF4-FFF2-40B4-BE49-F238E27FC236}">
                <a16:creationId xmlns:a16="http://schemas.microsoft.com/office/drawing/2014/main" id="{6BD4C547-72FF-0FD6-0C84-57232DEE5BCB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09" name="Shape 41">
            <a:extLst>
              <a:ext uri="{FF2B5EF4-FFF2-40B4-BE49-F238E27FC236}">
                <a16:creationId xmlns:a16="http://schemas.microsoft.com/office/drawing/2014/main" id="{BEAB5E36-5C7E-6DA7-720F-100078455FF8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2">
            <a:extLst>
              <a:ext uri="{FF2B5EF4-FFF2-40B4-BE49-F238E27FC236}">
                <a16:creationId xmlns:a16="http://schemas.microsoft.com/office/drawing/2014/main" id="{45AB6082-D8F1-53C3-1B21-351ABFAC48B4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11" name="Shape 43">
            <a:extLst>
              <a:ext uri="{FF2B5EF4-FFF2-40B4-BE49-F238E27FC236}">
                <a16:creationId xmlns:a16="http://schemas.microsoft.com/office/drawing/2014/main" id="{0D101C20-7A66-D136-801A-5A668723BF8D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44">
            <a:extLst>
              <a:ext uri="{FF2B5EF4-FFF2-40B4-BE49-F238E27FC236}">
                <a16:creationId xmlns:a16="http://schemas.microsoft.com/office/drawing/2014/main" id="{7CB02D41-A77D-115D-45A4-845708623A1E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13" name="Shape 45">
            <a:extLst>
              <a:ext uri="{FF2B5EF4-FFF2-40B4-BE49-F238E27FC236}">
                <a16:creationId xmlns:a16="http://schemas.microsoft.com/office/drawing/2014/main" id="{568C2A10-9FD7-95A2-3940-3380CA01A4F6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46">
            <a:extLst>
              <a:ext uri="{FF2B5EF4-FFF2-40B4-BE49-F238E27FC236}">
                <a16:creationId xmlns:a16="http://schemas.microsoft.com/office/drawing/2014/main" id="{D04D042E-3733-BF15-2C33-454C9864D876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15" name="Shape 47">
            <a:extLst>
              <a:ext uri="{FF2B5EF4-FFF2-40B4-BE49-F238E27FC236}">
                <a16:creationId xmlns:a16="http://schemas.microsoft.com/office/drawing/2014/main" id="{227BE679-63DE-5444-5C01-651A314B2739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48">
            <a:extLst>
              <a:ext uri="{FF2B5EF4-FFF2-40B4-BE49-F238E27FC236}">
                <a16:creationId xmlns:a16="http://schemas.microsoft.com/office/drawing/2014/main" id="{8DA072B2-C241-9232-B708-A353F63F0804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17" name="Text 49">
            <a:extLst>
              <a:ext uri="{FF2B5EF4-FFF2-40B4-BE49-F238E27FC236}">
                <a16:creationId xmlns:a16="http://schemas.microsoft.com/office/drawing/2014/main" id="{8868B61F-958D-9A3E-8EA2-5E32DCB83608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118" name="Shape 50">
            <a:extLst>
              <a:ext uri="{FF2B5EF4-FFF2-40B4-BE49-F238E27FC236}">
                <a16:creationId xmlns:a16="http://schemas.microsoft.com/office/drawing/2014/main" id="{E61091EA-1B27-D26C-FA12-8D193AC02901}"/>
              </a:ext>
            </a:extLst>
          </p:cNvPr>
          <p:cNvSpPr/>
          <p:nvPr/>
        </p:nvSpPr>
        <p:spPr>
          <a:xfrm>
            <a:off x="2697480" y="1874520"/>
            <a:ext cx="5486400" cy="3950208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51">
            <a:extLst>
              <a:ext uri="{FF2B5EF4-FFF2-40B4-BE49-F238E27FC236}">
                <a16:creationId xmlns:a16="http://schemas.microsoft.com/office/drawing/2014/main" id="{82DF043B-A682-12AA-00A2-9636F64C853F}"/>
              </a:ext>
            </a:extLst>
          </p:cNvPr>
          <p:cNvSpPr/>
          <p:nvPr/>
        </p:nvSpPr>
        <p:spPr>
          <a:xfrm>
            <a:off x="3886200" y="205740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52">
            <a:extLst>
              <a:ext uri="{FF2B5EF4-FFF2-40B4-BE49-F238E27FC236}">
                <a16:creationId xmlns:a16="http://schemas.microsoft.com/office/drawing/2014/main" id="{BFEA9BB5-7787-4F08-9A15-25537169F809}"/>
              </a:ext>
            </a:extLst>
          </p:cNvPr>
          <p:cNvSpPr txBox="1"/>
          <p:nvPr/>
        </p:nvSpPr>
        <p:spPr>
          <a:xfrm>
            <a:off x="388620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box.”</a:t>
            </a:r>
            <a:endParaRPr lang="en-US" sz="1600"/>
          </a:p>
        </p:txBody>
      </p:sp>
      <p:sp>
        <p:nvSpPr>
          <p:cNvPr id="121" name="Shape 53">
            <a:extLst>
              <a:ext uri="{FF2B5EF4-FFF2-40B4-BE49-F238E27FC236}">
                <a16:creationId xmlns:a16="http://schemas.microsoft.com/office/drawing/2014/main" id="{940045D2-827A-4FE7-C782-91A4D0F13C93}"/>
              </a:ext>
            </a:extLst>
          </p:cNvPr>
          <p:cNvSpPr/>
          <p:nvPr/>
        </p:nvSpPr>
        <p:spPr>
          <a:xfrm>
            <a:off x="5440680" y="2560320"/>
            <a:ext cx="914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54">
            <a:extLst>
              <a:ext uri="{FF2B5EF4-FFF2-40B4-BE49-F238E27FC236}">
                <a16:creationId xmlns:a16="http://schemas.microsoft.com/office/drawing/2014/main" id="{1936E555-D748-36EF-315E-BEABA18D164E}"/>
              </a:ext>
            </a:extLst>
          </p:cNvPr>
          <p:cNvSpPr/>
          <p:nvPr/>
        </p:nvSpPr>
        <p:spPr>
          <a:xfrm>
            <a:off x="3886200" y="283464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55">
            <a:extLst>
              <a:ext uri="{FF2B5EF4-FFF2-40B4-BE49-F238E27FC236}">
                <a16:creationId xmlns:a16="http://schemas.microsoft.com/office/drawing/2014/main" id="{D5828A17-2935-7C1A-53C2-C7B5373AEE0D}"/>
              </a:ext>
            </a:extLst>
          </p:cNvPr>
          <p:cNvSpPr txBox="1"/>
          <p:nvPr/>
        </p:nvSpPr>
        <p:spPr>
          <a:xfrm>
            <a:off x="388620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detector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until you finish</a:t>
            </a:r>
            <a:endParaRPr lang="en-US" sz="1300"/>
          </a:p>
        </p:txBody>
      </p:sp>
      <p:sp>
        <p:nvSpPr>
          <p:cNvPr id="124" name="Shape 56">
            <a:extLst>
              <a:ext uri="{FF2B5EF4-FFF2-40B4-BE49-F238E27FC236}">
                <a16:creationId xmlns:a16="http://schemas.microsoft.com/office/drawing/2014/main" id="{C2F96AE1-E483-23B8-8554-A27A57E9C6BC}"/>
              </a:ext>
            </a:extLst>
          </p:cNvPr>
          <p:cNvSpPr/>
          <p:nvPr/>
        </p:nvSpPr>
        <p:spPr>
          <a:xfrm>
            <a:off x="5440680" y="3383280"/>
            <a:ext cx="914" cy="2286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57">
            <a:extLst>
              <a:ext uri="{FF2B5EF4-FFF2-40B4-BE49-F238E27FC236}">
                <a16:creationId xmlns:a16="http://schemas.microsoft.com/office/drawing/2014/main" id="{FB94F044-AC10-1C8E-420F-86F33AF05636}"/>
              </a:ext>
            </a:extLst>
          </p:cNvPr>
          <p:cNvSpPr/>
          <p:nvPr/>
        </p:nvSpPr>
        <p:spPr>
          <a:xfrm>
            <a:off x="3886200" y="361188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58">
            <a:extLst>
              <a:ext uri="{FF2B5EF4-FFF2-40B4-BE49-F238E27FC236}">
                <a16:creationId xmlns:a16="http://schemas.microsoft.com/office/drawing/2014/main" id="{3A6CD57B-58DF-EEF6-C577-82609179C17A}"/>
              </a:ext>
            </a:extLst>
          </p:cNvPr>
          <p:cNvSpPr txBox="1"/>
          <p:nvPr/>
        </p:nvSpPr>
        <p:spPr>
          <a:xfrm>
            <a:off x="3886200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 text</a:t>
            </a:r>
            <a:endParaRPr lang="en-US" sz="1300"/>
          </a:p>
        </p:txBody>
      </p:sp>
      <p:sp>
        <p:nvSpPr>
          <p:cNvPr id="127" name="Shape 59">
            <a:extLst>
              <a:ext uri="{FF2B5EF4-FFF2-40B4-BE49-F238E27FC236}">
                <a16:creationId xmlns:a16="http://schemas.microsoft.com/office/drawing/2014/main" id="{92032E81-6E9E-98FF-B588-5E620D59E48E}"/>
              </a:ext>
            </a:extLst>
          </p:cNvPr>
          <p:cNvSpPr/>
          <p:nvPr/>
        </p:nvSpPr>
        <p:spPr>
          <a:xfrm>
            <a:off x="5440680" y="4160520"/>
            <a:ext cx="914" cy="2286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60">
            <a:extLst>
              <a:ext uri="{FF2B5EF4-FFF2-40B4-BE49-F238E27FC236}">
                <a16:creationId xmlns:a16="http://schemas.microsoft.com/office/drawing/2014/main" id="{B706472F-5254-D2A1-B1DC-D0AE9668DBE9}"/>
              </a:ext>
            </a:extLst>
          </p:cNvPr>
          <p:cNvSpPr/>
          <p:nvPr/>
        </p:nvSpPr>
        <p:spPr>
          <a:xfrm>
            <a:off x="3886200" y="438912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61">
            <a:extLst>
              <a:ext uri="{FF2B5EF4-FFF2-40B4-BE49-F238E27FC236}">
                <a16:creationId xmlns:a16="http://schemas.microsoft.com/office/drawing/2014/main" id="{FC266AC0-6D72-61AE-8525-2F73C6127727}"/>
              </a:ext>
            </a:extLst>
          </p:cNvPr>
          <p:cNvSpPr txBox="1"/>
          <p:nvPr/>
        </p:nvSpPr>
        <p:spPr>
          <a:xfrm>
            <a:off x="388620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the object name</a:t>
            </a:r>
            <a:endParaRPr lang="en-US" sz="1300"/>
          </a:p>
        </p:txBody>
      </p:sp>
      <p:sp>
        <p:nvSpPr>
          <p:cNvPr id="130" name="Shape 62">
            <a:extLst>
              <a:ext uri="{FF2B5EF4-FFF2-40B4-BE49-F238E27FC236}">
                <a16:creationId xmlns:a16="http://schemas.microsoft.com/office/drawing/2014/main" id="{30657DAE-B31A-232E-E132-21F6C1DC966E}"/>
              </a:ext>
            </a:extLst>
          </p:cNvPr>
          <p:cNvSpPr/>
          <p:nvPr/>
        </p:nvSpPr>
        <p:spPr>
          <a:xfrm>
            <a:off x="5440680" y="4937760"/>
            <a:ext cx="914" cy="1828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63">
            <a:extLst>
              <a:ext uri="{FF2B5EF4-FFF2-40B4-BE49-F238E27FC236}">
                <a16:creationId xmlns:a16="http://schemas.microsoft.com/office/drawing/2014/main" id="{F7011E95-CAE4-C7B8-ECD3-065E4C2BBE13}"/>
              </a:ext>
            </a:extLst>
          </p:cNvPr>
          <p:cNvSpPr/>
          <p:nvPr/>
        </p:nvSpPr>
        <p:spPr>
          <a:xfrm>
            <a:off x="4892040" y="5120640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64">
            <a:extLst>
              <a:ext uri="{FF2B5EF4-FFF2-40B4-BE49-F238E27FC236}">
                <a16:creationId xmlns:a16="http://schemas.microsoft.com/office/drawing/2014/main" id="{6F5C423B-7B8E-655D-0419-30B604496BDF}"/>
              </a:ext>
            </a:extLst>
          </p:cNvPr>
          <p:cNvSpPr txBox="1"/>
          <p:nvPr/>
        </p:nvSpPr>
        <p:spPr>
          <a:xfrm>
            <a:off x="4892040" y="5120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500"/>
          </a:p>
        </p:txBody>
      </p:sp>
      <p:sp>
        <p:nvSpPr>
          <p:cNvPr id="133" name="Shape 7">
            <a:extLst>
              <a:ext uri="{FF2B5EF4-FFF2-40B4-BE49-F238E27FC236}">
                <a16:creationId xmlns:a16="http://schemas.microsoft.com/office/drawing/2014/main" id="{A93BF136-2283-9EBF-2CA1-E39E8CB2F0B2}"/>
              </a:ext>
            </a:extLst>
          </p:cNvPr>
          <p:cNvSpPr/>
          <p:nvPr/>
        </p:nvSpPr>
        <p:spPr>
          <a:xfrm>
            <a:off x="702950" y="24231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Text 8">
            <a:extLst>
              <a:ext uri="{FF2B5EF4-FFF2-40B4-BE49-F238E27FC236}">
                <a16:creationId xmlns:a16="http://schemas.microsoft.com/office/drawing/2014/main" id="{EE177252-DEEB-F671-DF4A-4E895D4B1E44}"/>
              </a:ext>
            </a:extLst>
          </p:cNvPr>
          <p:cNvSpPr txBox="1"/>
          <p:nvPr/>
        </p:nvSpPr>
        <p:spPr>
          <a:xfrm>
            <a:off x="70295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Shape 7">
            <a:extLst>
              <a:ext uri="{FF2B5EF4-FFF2-40B4-BE49-F238E27FC236}">
                <a16:creationId xmlns:a16="http://schemas.microsoft.com/office/drawing/2014/main" id="{836DA459-3C9A-BC6B-49CB-C3EE9DBDE90C}"/>
              </a:ext>
            </a:extLst>
          </p:cNvPr>
          <p:cNvSpPr/>
          <p:nvPr/>
        </p:nvSpPr>
        <p:spPr>
          <a:xfrm>
            <a:off x="702950" y="3300984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Text 8">
            <a:extLst>
              <a:ext uri="{FF2B5EF4-FFF2-40B4-BE49-F238E27FC236}">
                <a16:creationId xmlns:a16="http://schemas.microsoft.com/office/drawing/2014/main" id="{869502CA-B047-F281-8282-45692490B36D}"/>
              </a:ext>
            </a:extLst>
          </p:cNvPr>
          <p:cNvSpPr txBox="1"/>
          <p:nvPr/>
        </p:nvSpPr>
        <p:spPr>
          <a:xfrm>
            <a:off x="70295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7" name="Shape 7">
            <a:extLst>
              <a:ext uri="{FF2B5EF4-FFF2-40B4-BE49-F238E27FC236}">
                <a16:creationId xmlns:a16="http://schemas.microsoft.com/office/drawing/2014/main" id="{32CF6D19-F734-CD27-3AE5-FAE84B65BAF7}"/>
              </a:ext>
            </a:extLst>
          </p:cNvPr>
          <p:cNvSpPr/>
          <p:nvPr/>
        </p:nvSpPr>
        <p:spPr>
          <a:xfrm>
            <a:off x="702950" y="4180163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Text 8">
            <a:extLst>
              <a:ext uri="{FF2B5EF4-FFF2-40B4-BE49-F238E27FC236}">
                <a16:creationId xmlns:a16="http://schemas.microsoft.com/office/drawing/2014/main" id="{C7EAE49C-32D9-C5C7-7A41-938233997B07}"/>
              </a:ext>
            </a:extLst>
          </p:cNvPr>
          <p:cNvSpPr txBox="1"/>
          <p:nvPr/>
        </p:nvSpPr>
        <p:spPr>
          <a:xfrm>
            <a:off x="702950" y="41801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39" name="Shape 7">
            <a:extLst>
              <a:ext uri="{FF2B5EF4-FFF2-40B4-BE49-F238E27FC236}">
                <a16:creationId xmlns:a16="http://schemas.microsoft.com/office/drawing/2014/main" id="{2D49607D-A9E2-B158-B02C-89C900C68781}"/>
              </a:ext>
            </a:extLst>
          </p:cNvPr>
          <p:cNvSpPr/>
          <p:nvPr/>
        </p:nvSpPr>
        <p:spPr>
          <a:xfrm>
            <a:off x="702950" y="50474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Text 8">
            <a:extLst>
              <a:ext uri="{FF2B5EF4-FFF2-40B4-BE49-F238E27FC236}">
                <a16:creationId xmlns:a16="http://schemas.microsoft.com/office/drawing/2014/main" id="{EDE12D8A-5AEE-DC1F-6EB4-A2A85638061C}"/>
              </a:ext>
            </a:extLst>
          </p:cNvPr>
          <p:cNvSpPr txBox="1"/>
          <p:nvPr/>
        </p:nvSpPr>
        <p:spPr>
          <a:xfrm>
            <a:off x="70295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43" name="Shape 22">
            <a:extLst>
              <a:ext uri="{FF2B5EF4-FFF2-40B4-BE49-F238E27FC236}">
                <a16:creationId xmlns:a16="http://schemas.microsoft.com/office/drawing/2014/main" id="{ACFE276E-B9BE-E240-5A1B-0389CF1B5FB9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23">
            <a:extLst>
              <a:ext uri="{FF2B5EF4-FFF2-40B4-BE49-F238E27FC236}">
                <a16:creationId xmlns:a16="http://schemas.microsoft.com/office/drawing/2014/main" id="{43409B3D-53CC-BE08-883A-4555C3C410E9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BOX, STEADY STARE</a:t>
            </a:r>
            <a:endParaRPr lang="en-US" sz="1100"/>
          </a:p>
        </p:txBody>
      </p:sp>
      <p:sp>
        <p:nvSpPr>
          <p:cNvPr id="145" name="Text 24">
            <a:extLst>
              <a:ext uri="{FF2B5EF4-FFF2-40B4-BE49-F238E27FC236}">
                <a16:creationId xmlns:a16="http://schemas.microsoft.com/office/drawing/2014/main" id="{5E473C76-A909-2C83-2461-4C95F1B6272C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61</a:t>
            </a:r>
            <a:endParaRPr lang="en-US" sz="5000"/>
          </a:p>
        </p:txBody>
      </p:sp>
      <p:sp>
        <p:nvSpPr>
          <p:cNvPr id="146" name="Text 25">
            <a:extLst>
              <a:ext uri="{FF2B5EF4-FFF2-40B4-BE49-F238E27FC236}">
                <a16:creationId xmlns:a16="http://schemas.microsoft.com/office/drawing/2014/main" id="{8C831F73-28D0-4390-7F69-4CB8245C1F59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frames, at 1.4 to 2.4 m</a:t>
            </a:r>
            <a:endParaRPr lang="en-US" sz="1300"/>
          </a:p>
        </p:txBody>
      </p:sp>
      <p:sp>
        <p:nvSpPr>
          <p:cNvPr id="147" name="Shape 26">
            <a:extLst>
              <a:ext uri="{FF2B5EF4-FFF2-40B4-BE49-F238E27FC236}">
                <a16:creationId xmlns:a16="http://schemas.microsoft.com/office/drawing/2014/main" id="{77EB087F-6A54-E9E8-087A-D152E9431C08}"/>
              </a:ext>
            </a:extLst>
          </p:cNvPr>
          <p:cNvSpPr/>
          <p:nvPr/>
        </p:nvSpPr>
        <p:spPr>
          <a:xfrm>
            <a:off x="8412480" y="3749040"/>
            <a:ext cx="3227832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27">
            <a:extLst>
              <a:ext uri="{FF2B5EF4-FFF2-40B4-BE49-F238E27FC236}">
                <a16:creationId xmlns:a16="http://schemas.microsoft.com/office/drawing/2014/main" id="{BF199C01-2BF3-66AB-8D48-346D57CA5B7F}"/>
              </a:ext>
            </a:extLst>
          </p:cNvPr>
          <p:cNvSpPr/>
          <p:nvPr/>
        </p:nvSpPr>
        <p:spPr>
          <a:xfrm>
            <a:off x="8577072" y="399288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9" name="Image 4" descr="preencoded.png">
            <a:extLst>
              <a:ext uri="{FF2B5EF4-FFF2-40B4-BE49-F238E27FC236}">
                <a16:creationId xmlns:a16="http://schemas.microsoft.com/office/drawing/2014/main" id="{9C1656F5-928C-1175-426F-6F6469B51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4093464"/>
            <a:ext cx="256032" cy="256032"/>
          </a:xfrm>
          <a:prstGeom prst="rect">
            <a:avLst/>
          </a:prstGeom>
        </p:spPr>
      </p:pic>
      <p:sp>
        <p:nvSpPr>
          <p:cNvPr id="150" name="Text 28">
            <a:extLst>
              <a:ext uri="{FF2B5EF4-FFF2-40B4-BE49-F238E27FC236}">
                <a16:creationId xmlns:a16="http://schemas.microsoft.com/office/drawing/2014/main" id="{6EC647A8-DC64-9B71-0677-AC6D67962226}"/>
              </a:ext>
            </a:extLst>
          </p:cNvPr>
          <p:cNvSpPr txBox="1"/>
          <p:nvPr/>
        </p:nvSpPr>
        <p:spPr>
          <a:xfrm>
            <a:off x="9189720" y="389229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2000"/>
          </a:p>
        </p:txBody>
      </p:sp>
      <p:sp>
        <p:nvSpPr>
          <p:cNvPr id="151" name="Text 29">
            <a:extLst>
              <a:ext uri="{FF2B5EF4-FFF2-40B4-BE49-F238E27FC236}">
                <a16:creationId xmlns:a16="http://schemas.microsoft.com/office/drawing/2014/main" id="{C83ABBFB-1D26-9796-A08A-585C3395A559}"/>
              </a:ext>
            </a:extLst>
          </p:cNvPr>
          <p:cNvSpPr txBox="1"/>
          <p:nvPr/>
        </p:nvSpPr>
        <p:spPr>
          <a:xfrm>
            <a:off x="9189720" y="42397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words at 4 different locations with varying depth and angles found correct crop</a:t>
            </a:r>
            <a:endParaRPr lang="en-US" sz="1200"/>
          </a:p>
        </p:txBody>
      </p:sp>
      <p:sp>
        <p:nvSpPr>
          <p:cNvPr id="152" name="Shape 30">
            <a:extLst>
              <a:ext uri="{FF2B5EF4-FFF2-40B4-BE49-F238E27FC236}">
                <a16:creationId xmlns:a16="http://schemas.microsoft.com/office/drawing/2014/main" id="{76A5D50D-211D-F8D1-1698-4526337A5AB3}"/>
              </a:ext>
            </a:extLst>
          </p:cNvPr>
          <p:cNvSpPr/>
          <p:nvPr/>
        </p:nvSpPr>
        <p:spPr>
          <a:xfrm>
            <a:off x="8412480" y="5047488"/>
            <a:ext cx="3227832" cy="891540"/>
          </a:xfrm>
          <a:prstGeom prst="roundRect">
            <a:avLst>
              <a:gd name="adj" fmla="val 1075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Text 31">
            <a:extLst>
              <a:ext uri="{FF2B5EF4-FFF2-40B4-BE49-F238E27FC236}">
                <a16:creationId xmlns:a16="http://schemas.microsoft.com/office/drawing/2014/main" id="{B48F42CB-5387-CC9E-029A-504C24FE2539}"/>
              </a:ext>
            </a:extLst>
          </p:cNvPr>
          <p:cNvSpPr txBox="1"/>
          <p:nvPr/>
        </p:nvSpPr>
        <p:spPr>
          <a:xfrm>
            <a:off x="8577072" y="51846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54" name="Text 32">
            <a:extLst>
              <a:ext uri="{FF2B5EF4-FFF2-40B4-BE49-F238E27FC236}">
                <a16:creationId xmlns:a16="http://schemas.microsoft.com/office/drawing/2014/main" id="{BD434C6B-B623-BB02-D923-3415DEB8C936}"/>
              </a:ext>
            </a:extLst>
          </p:cNvPr>
          <p:cNvSpPr txBox="1"/>
          <p:nvPr/>
        </p:nvSpPr>
        <p:spPr>
          <a:xfrm>
            <a:off x="8577072" y="54315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gaze at fixed point for a long time and gaze estimation errors.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787685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8B2D-2C8E-461E-7541-2BD10F48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3D1D1A77-17A7-5C60-66A9-83E31B5CFE7E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E8D9FD09-47D0-2B21-C72D-6813E6466509}"/>
              </a:ext>
            </a:extLst>
          </p:cNvPr>
          <p:cNvSpPr/>
          <p:nvPr/>
        </p:nvSpPr>
        <p:spPr>
          <a:xfrm>
            <a:off x="8595360" y="347472"/>
            <a:ext cx="3044952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B463D5E-FD18-B47C-ABB1-BC0773D799B5}"/>
              </a:ext>
            </a:extLst>
          </p:cNvPr>
          <p:cNvSpPr txBox="1"/>
          <p:nvPr/>
        </p:nvSpPr>
        <p:spPr>
          <a:xfrm>
            <a:off x="8595360" y="34747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INTENT CAPTURE</a:t>
            </a:r>
            <a:endParaRPr lang="en-US" sz="110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2937D88B-9DF6-9A89-C577-228279DE27E3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gives the word, gaze picks the object</a:t>
            </a:r>
            <a:endParaRPr lang="en-US" sz="300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2B275C05-A859-E65D-4B5A-0252C8774A85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one-second gaze vote over SAM 3 masks makes the reference crop sent to the robot</a:t>
            </a:r>
            <a:endParaRPr lang="en-US" sz="170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2F87BFF8-491C-EAE2-C2B6-52C9B43D9F47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9960B8C-9B68-40E9-CE61-1F648DF53F24}"/>
              </a:ext>
            </a:extLst>
          </p:cNvPr>
          <p:cNvSpPr/>
          <p:nvPr/>
        </p:nvSpPr>
        <p:spPr>
          <a:xfrm>
            <a:off x="548640" y="2194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A16175E7-19F8-2ABE-64EC-C9C5D7384DC0}"/>
              </a:ext>
            </a:extLst>
          </p:cNvPr>
          <p:cNvSpPr txBox="1"/>
          <p:nvPr/>
        </p:nvSpPr>
        <p:spPr>
          <a:xfrm>
            <a:off x="1161288" y="22677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ED447B82-121A-9169-91F9-FF34455106C5}"/>
              </a:ext>
            </a:extLst>
          </p:cNvPr>
          <p:cNvSpPr txBox="1"/>
          <p:nvPr/>
        </p:nvSpPr>
        <p:spPr>
          <a:xfrm>
            <a:off x="1161288" y="25420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per sentence</a:t>
            </a:r>
            <a:endParaRPr lang="en-US" sz="1100"/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3EF43ADD-DA90-F14B-0060-3A0E403EF5EA}"/>
              </a:ext>
            </a:extLst>
          </p:cNvPr>
          <p:cNvSpPr/>
          <p:nvPr/>
        </p:nvSpPr>
        <p:spPr>
          <a:xfrm>
            <a:off x="548640" y="3063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434A02A3-D01B-B1AF-99EA-D443F7A3DA0F}"/>
              </a:ext>
            </a:extLst>
          </p:cNvPr>
          <p:cNvSpPr txBox="1"/>
          <p:nvPr/>
        </p:nvSpPr>
        <p:spPr>
          <a:xfrm>
            <a:off x="1161288" y="3136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140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57947985-A8EA-8416-B550-2F503644954B}"/>
              </a:ext>
            </a:extLst>
          </p:cNvPr>
          <p:cNvSpPr txBox="1"/>
          <p:nvPr/>
        </p:nvSpPr>
        <p:spPr>
          <a:xfrm>
            <a:off x="1161288" y="34107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simultaneously</a:t>
            </a:r>
            <a:endParaRPr lang="en-US" sz="1100"/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3B85C1DD-D158-97F4-F880-771E77109325}"/>
              </a:ext>
            </a:extLst>
          </p:cNvPr>
          <p:cNvSpPr/>
          <p:nvPr/>
        </p:nvSpPr>
        <p:spPr>
          <a:xfrm>
            <a:off x="548640" y="39319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ED166E0A-703D-CBA2-FA08-57B7CA4827AF}"/>
              </a:ext>
            </a:extLst>
          </p:cNvPr>
          <p:cNvSpPr txBox="1"/>
          <p:nvPr/>
        </p:nvSpPr>
        <p:spPr>
          <a:xfrm>
            <a:off x="1161288" y="40050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/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63012FA4-E060-54C3-9B66-8BE080BA3FFE}"/>
              </a:ext>
            </a:extLst>
          </p:cNvPr>
          <p:cNvSpPr txBox="1"/>
          <p:nvPr/>
        </p:nvSpPr>
        <p:spPr>
          <a:xfrm>
            <a:off x="1161288" y="4279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finds every “box”</a:t>
            </a:r>
            <a:endParaRPr lang="en-US" sz="1100"/>
          </a:p>
        </p:txBody>
      </p:sp>
      <p:sp>
        <p:nvSpPr>
          <p:cNvPr id="78" name="Shape 18">
            <a:extLst>
              <a:ext uri="{FF2B5EF4-FFF2-40B4-BE49-F238E27FC236}">
                <a16:creationId xmlns:a16="http://schemas.microsoft.com/office/drawing/2014/main" id="{D36B13E0-4F9B-6E74-EB72-054FAF3A0158}"/>
              </a:ext>
            </a:extLst>
          </p:cNvPr>
          <p:cNvSpPr/>
          <p:nvPr/>
        </p:nvSpPr>
        <p:spPr>
          <a:xfrm>
            <a:off x="548640" y="48006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08B02E1E-7630-669D-2170-D0BFFCB78561}"/>
              </a:ext>
            </a:extLst>
          </p:cNvPr>
          <p:cNvSpPr txBox="1"/>
          <p:nvPr/>
        </p:nvSpPr>
        <p:spPr>
          <a:xfrm>
            <a:off x="1161288" y="48737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/>
          </a:p>
        </p:txBody>
      </p:sp>
      <p:sp>
        <p:nvSpPr>
          <p:cNvPr id="82" name="Text 21">
            <a:extLst>
              <a:ext uri="{FF2B5EF4-FFF2-40B4-BE49-F238E27FC236}">
                <a16:creationId xmlns:a16="http://schemas.microsoft.com/office/drawing/2014/main" id="{E365AFCF-F88A-0C44-1770-F4B3DEB8FAC2}"/>
              </a:ext>
            </a:extLst>
          </p:cNvPr>
          <p:cNvSpPr txBox="1"/>
          <p:nvPr/>
        </p:nvSpPr>
        <p:spPr>
          <a:xfrm>
            <a:off x="1161288" y="514807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a mask, then crop it</a:t>
            </a:r>
            <a:endParaRPr lang="en-US" sz="1100"/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732BB85F-AC4A-A538-EE5C-71C33902AA28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88BBB659-1226-C512-9C72-F051586F8F0B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97" name="Shape 35">
            <a:extLst>
              <a:ext uri="{FF2B5EF4-FFF2-40B4-BE49-F238E27FC236}">
                <a16:creationId xmlns:a16="http://schemas.microsoft.com/office/drawing/2014/main" id="{30E89945-3861-648E-2C07-F85F1E81AD9A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36">
            <a:extLst>
              <a:ext uri="{FF2B5EF4-FFF2-40B4-BE49-F238E27FC236}">
                <a16:creationId xmlns:a16="http://schemas.microsoft.com/office/drawing/2014/main" id="{AF598769-33F2-9133-8D0C-0F6C3542B0EE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99" name="Shape 37">
            <a:extLst>
              <a:ext uri="{FF2B5EF4-FFF2-40B4-BE49-F238E27FC236}">
                <a16:creationId xmlns:a16="http://schemas.microsoft.com/office/drawing/2014/main" id="{F01F6832-4210-2F91-6840-DDC7ACBFEFC3}"/>
              </a:ext>
            </a:extLst>
          </p:cNvPr>
          <p:cNvSpPr/>
          <p:nvPr/>
        </p:nvSpPr>
        <p:spPr>
          <a:xfrm>
            <a:off x="3367278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38">
            <a:extLst>
              <a:ext uri="{FF2B5EF4-FFF2-40B4-BE49-F238E27FC236}">
                <a16:creationId xmlns:a16="http://schemas.microsoft.com/office/drawing/2014/main" id="{2E16AF1A-B501-CB05-1D9B-353AC71AF41C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01" name="Shape 39">
            <a:extLst>
              <a:ext uri="{FF2B5EF4-FFF2-40B4-BE49-F238E27FC236}">
                <a16:creationId xmlns:a16="http://schemas.microsoft.com/office/drawing/2014/main" id="{46ED9142-D1DA-39B1-C34E-CA5B156E1381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40">
            <a:extLst>
              <a:ext uri="{FF2B5EF4-FFF2-40B4-BE49-F238E27FC236}">
                <a16:creationId xmlns:a16="http://schemas.microsoft.com/office/drawing/2014/main" id="{C718FEAC-860D-C78B-BCAC-56155A8F5777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E55CEC2E-2499-D409-4CF5-3C60A442DE14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BFECB861-A2B7-BA4E-66A0-A2C0A8F64C93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05" name="Shape 43">
            <a:extLst>
              <a:ext uri="{FF2B5EF4-FFF2-40B4-BE49-F238E27FC236}">
                <a16:creationId xmlns:a16="http://schemas.microsoft.com/office/drawing/2014/main" id="{CEA88B0C-8F83-B7F6-A9E4-0A6264EE05C8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44">
            <a:extLst>
              <a:ext uri="{FF2B5EF4-FFF2-40B4-BE49-F238E27FC236}">
                <a16:creationId xmlns:a16="http://schemas.microsoft.com/office/drawing/2014/main" id="{6BDAFCB3-F654-57C6-2496-9F68D74EC2AA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07" name="Shape 45">
            <a:extLst>
              <a:ext uri="{FF2B5EF4-FFF2-40B4-BE49-F238E27FC236}">
                <a16:creationId xmlns:a16="http://schemas.microsoft.com/office/drawing/2014/main" id="{D884119E-E961-743D-A5E7-2651E54E4D26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46">
            <a:extLst>
              <a:ext uri="{FF2B5EF4-FFF2-40B4-BE49-F238E27FC236}">
                <a16:creationId xmlns:a16="http://schemas.microsoft.com/office/drawing/2014/main" id="{09D4F615-191B-24DB-29F3-EBD13461C43E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09" name="Shape 47">
            <a:extLst>
              <a:ext uri="{FF2B5EF4-FFF2-40B4-BE49-F238E27FC236}">
                <a16:creationId xmlns:a16="http://schemas.microsoft.com/office/drawing/2014/main" id="{6F9B8679-1EC7-5C9F-DF6B-BFABAA66A7A3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77478E70-9304-799A-8C6E-623AFEF1BF0B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11" name="Text 49">
            <a:extLst>
              <a:ext uri="{FF2B5EF4-FFF2-40B4-BE49-F238E27FC236}">
                <a16:creationId xmlns:a16="http://schemas.microsoft.com/office/drawing/2014/main" id="{9B2A8002-B5B9-DEFD-259F-4C45A4A3A8EB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112" name="Shape 50">
            <a:extLst>
              <a:ext uri="{FF2B5EF4-FFF2-40B4-BE49-F238E27FC236}">
                <a16:creationId xmlns:a16="http://schemas.microsoft.com/office/drawing/2014/main" id="{19CF4ECD-D7DE-F59A-2516-693703B0B108}"/>
              </a:ext>
            </a:extLst>
          </p:cNvPr>
          <p:cNvSpPr/>
          <p:nvPr/>
        </p:nvSpPr>
        <p:spPr>
          <a:xfrm>
            <a:off x="2697480" y="187452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51">
            <a:extLst>
              <a:ext uri="{FF2B5EF4-FFF2-40B4-BE49-F238E27FC236}">
                <a16:creationId xmlns:a16="http://schemas.microsoft.com/office/drawing/2014/main" id="{A85D2344-D97B-D2BE-8595-40659F8C6B5E}"/>
              </a:ext>
            </a:extLst>
          </p:cNvPr>
          <p:cNvSpPr/>
          <p:nvPr/>
        </p:nvSpPr>
        <p:spPr>
          <a:xfrm>
            <a:off x="2880360" y="205740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52">
            <a:extLst>
              <a:ext uri="{FF2B5EF4-FFF2-40B4-BE49-F238E27FC236}">
                <a16:creationId xmlns:a16="http://schemas.microsoft.com/office/drawing/2014/main" id="{48217128-2FC9-465E-7BA9-09148751E344}"/>
              </a:ext>
            </a:extLst>
          </p:cNvPr>
          <p:cNvSpPr txBox="1"/>
          <p:nvPr/>
        </p:nvSpPr>
        <p:spPr>
          <a:xfrm>
            <a:off x="288036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cameras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pupils</a:t>
            </a:r>
            <a:endParaRPr lang="en-US" sz="1400"/>
          </a:p>
        </p:txBody>
      </p:sp>
      <p:sp>
        <p:nvSpPr>
          <p:cNvPr id="115" name="Shape 53">
            <a:extLst>
              <a:ext uri="{FF2B5EF4-FFF2-40B4-BE49-F238E27FC236}">
                <a16:creationId xmlns:a16="http://schemas.microsoft.com/office/drawing/2014/main" id="{6C8D8A88-F2E2-9454-AE85-B3C7928C0A58}"/>
              </a:ext>
            </a:extLst>
          </p:cNvPr>
          <p:cNvSpPr/>
          <p:nvPr/>
        </p:nvSpPr>
        <p:spPr>
          <a:xfrm>
            <a:off x="5715000" y="205740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54">
            <a:extLst>
              <a:ext uri="{FF2B5EF4-FFF2-40B4-BE49-F238E27FC236}">
                <a16:creationId xmlns:a16="http://schemas.microsoft.com/office/drawing/2014/main" id="{F205FB8D-CB6C-6069-6754-E9597F70F5E3}"/>
              </a:ext>
            </a:extLst>
          </p:cNvPr>
          <p:cNvSpPr txBox="1"/>
          <p:nvPr/>
        </p:nvSpPr>
        <p:spPr>
          <a:xfrm>
            <a:off x="57150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point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looking</a:t>
            </a:r>
            <a:endParaRPr lang="en-US" sz="1400"/>
          </a:p>
        </p:txBody>
      </p:sp>
      <p:sp>
        <p:nvSpPr>
          <p:cNvPr id="117" name="Shape 55">
            <a:extLst>
              <a:ext uri="{FF2B5EF4-FFF2-40B4-BE49-F238E27FC236}">
                <a16:creationId xmlns:a16="http://schemas.microsoft.com/office/drawing/2014/main" id="{86A6BCB3-04FB-656A-F7F7-AD4AE63B7672}"/>
              </a:ext>
            </a:extLst>
          </p:cNvPr>
          <p:cNvSpPr/>
          <p:nvPr/>
        </p:nvSpPr>
        <p:spPr>
          <a:xfrm>
            <a:off x="5212080" y="2400300"/>
            <a:ext cx="457200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56">
            <a:extLst>
              <a:ext uri="{FF2B5EF4-FFF2-40B4-BE49-F238E27FC236}">
                <a16:creationId xmlns:a16="http://schemas.microsoft.com/office/drawing/2014/main" id="{C1C025FB-0A28-D2EF-A5AF-18AC6258CF51}"/>
              </a:ext>
            </a:extLst>
          </p:cNvPr>
          <p:cNvSpPr txBox="1"/>
          <p:nvPr/>
        </p:nvSpPr>
        <p:spPr>
          <a:xfrm>
            <a:off x="2697480" y="5742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gaze point is placed on the RGB image from the glasses, shown here.</a:t>
            </a:r>
            <a:endParaRPr lang="en-US" sz="1100"/>
          </a:p>
        </p:txBody>
      </p:sp>
      <p:pic>
        <p:nvPicPr>
          <p:cNvPr id="120" name="Image 0" descr="The user looks and speaks. The robot has to find that one object.">
            <a:extLst>
              <a:ext uri="{FF2B5EF4-FFF2-40B4-BE49-F238E27FC236}">
                <a16:creationId xmlns:a16="http://schemas.microsoft.com/office/drawing/2014/main" id="{EC4A954E-2F87-373B-35CA-20AA29740C8D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5647563" y="2897136"/>
            <a:ext cx="2353438" cy="265176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6F83CA48-6CB6-6E7D-3298-4592C0930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59" y="2920522"/>
            <a:ext cx="2458905" cy="2651760"/>
          </a:xfrm>
          <a:prstGeom prst="rect">
            <a:avLst/>
          </a:prstGeom>
        </p:spPr>
      </p:pic>
      <p:sp>
        <p:nvSpPr>
          <p:cNvPr id="122" name="Shape 7">
            <a:extLst>
              <a:ext uri="{FF2B5EF4-FFF2-40B4-BE49-F238E27FC236}">
                <a16:creationId xmlns:a16="http://schemas.microsoft.com/office/drawing/2014/main" id="{A1694CFA-A5BB-0ECB-4B9E-C3E37444D874}"/>
              </a:ext>
            </a:extLst>
          </p:cNvPr>
          <p:cNvSpPr/>
          <p:nvPr/>
        </p:nvSpPr>
        <p:spPr>
          <a:xfrm>
            <a:off x="702950" y="33009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Text 8">
            <a:extLst>
              <a:ext uri="{FF2B5EF4-FFF2-40B4-BE49-F238E27FC236}">
                <a16:creationId xmlns:a16="http://schemas.microsoft.com/office/drawing/2014/main" id="{429C1106-4B27-73BF-965D-3C8B8D3E6176}"/>
              </a:ext>
            </a:extLst>
          </p:cNvPr>
          <p:cNvSpPr txBox="1"/>
          <p:nvPr/>
        </p:nvSpPr>
        <p:spPr>
          <a:xfrm>
            <a:off x="70295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Shape 7">
            <a:extLst>
              <a:ext uri="{FF2B5EF4-FFF2-40B4-BE49-F238E27FC236}">
                <a16:creationId xmlns:a16="http://schemas.microsoft.com/office/drawing/2014/main" id="{F448856D-6F2E-EA11-0645-5D5A6D7ECC31}"/>
              </a:ext>
            </a:extLst>
          </p:cNvPr>
          <p:cNvSpPr/>
          <p:nvPr/>
        </p:nvSpPr>
        <p:spPr>
          <a:xfrm>
            <a:off x="702950" y="24231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Text 8">
            <a:extLst>
              <a:ext uri="{FF2B5EF4-FFF2-40B4-BE49-F238E27FC236}">
                <a16:creationId xmlns:a16="http://schemas.microsoft.com/office/drawing/2014/main" id="{40749340-AAB7-460B-F25A-32FC08D72FDF}"/>
              </a:ext>
            </a:extLst>
          </p:cNvPr>
          <p:cNvSpPr txBox="1"/>
          <p:nvPr/>
        </p:nvSpPr>
        <p:spPr>
          <a:xfrm>
            <a:off x="70295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8C852615-9776-32B7-CCFF-CBE03E1ED3AA}"/>
              </a:ext>
            </a:extLst>
          </p:cNvPr>
          <p:cNvSpPr/>
          <p:nvPr/>
        </p:nvSpPr>
        <p:spPr>
          <a:xfrm>
            <a:off x="702950" y="41330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Text 8">
            <a:extLst>
              <a:ext uri="{FF2B5EF4-FFF2-40B4-BE49-F238E27FC236}">
                <a16:creationId xmlns:a16="http://schemas.microsoft.com/office/drawing/2014/main" id="{13501793-8CFC-256B-505A-836836D10DD2}"/>
              </a:ext>
            </a:extLst>
          </p:cNvPr>
          <p:cNvSpPr txBox="1"/>
          <p:nvPr/>
        </p:nvSpPr>
        <p:spPr>
          <a:xfrm>
            <a:off x="70295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28" name="Shape 7">
            <a:extLst>
              <a:ext uri="{FF2B5EF4-FFF2-40B4-BE49-F238E27FC236}">
                <a16:creationId xmlns:a16="http://schemas.microsoft.com/office/drawing/2014/main" id="{372D9B0B-030C-2E8D-6D62-429B785A06E3}"/>
              </a:ext>
            </a:extLst>
          </p:cNvPr>
          <p:cNvSpPr/>
          <p:nvPr/>
        </p:nvSpPr>
        <p:spPr>
          <a:xfrm>
            <a:off x="702950" y="50474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Text 8">
            <a:extLst>
              <a:ext uri="{FF2B5EF4-FFF2-40B4-BE49-F238E27FC236}">
                <a16:creationId xmlns:a16="http://schemas.microsoft.com/office/drawing/2014/main" id="{8409A113-6864-4108-6FD2-0C163BC8FB78}"/>
              </a:ext>
            </a:extLst>
          </p:cNvPr>
          <p:cNvSpPr txBox="1"/>
          <p:nvPr/>
        </p:nvSpPr>
        <p:spPr>
          <a:xfrm>
            <a:off x="70295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30" name="Shape 22">
            <a:extLst>
              <a:ext uri="{FF2B5EF4-FFF2-40B4-BE49-F238E27FC236}">
                <a16:creationId xmlns:a16="http://schemas.microsoft.com/office/drawing/2014/main" id="{D0F6CB76-B68A-69F0-3F43-4097BC3D960A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23">
            <a:extLst>
              <a:ext uri="{FF2B5EF4-FFF2-40B4-BE49-F238E27FC236}">
                <a16:creationId xmlns:a16="http://schemas.microsoft.com/office/drawing/2014/main" id="{7793068F-7B8E-09B5-8D12-3276B0759B9B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BOX, STEADY STARE</a:t>
            </a:r>
            <a:endParaRPr lang="en-US" sz="1100"/>
          </a:p>
        </p:txBody>
      </p:sp>
      <p:sp>
        <p:nvSpPr>
          <p:cNvPr id="132" name="Text 24">
            <a:extLst>
              <a:ext uri="{FF2B5EF4-FFF2-40B4-BE49-F238E27FC236}">
                <a16:creationId xmlns:a16="http://schemas.microsoft.com/office/drawing/2014/main" id="{2B12BBE3-926B-C745-9AA3-7B91974C1087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61</a:t>
            </a:r>
            <a:endParaRPr lang="en-US" sz="5000"/>
          </a:p>
        </p:txBody>
      </p:sp>
      <p:sp>
        <p:nvSpPr>
          <p:cNvPr id="133" name="Text 25">
            <a:extLst>
              <a:ext uri="{FF2B5EF4-FFF2-40B4-BE49-F238E27FC236}">
                <a16:creationId xmlns:a16="http://schemas.microsoft.com/office/drawing/2014/main" id="{48E5281A-040E-6EAC-4240-89B581C13BB7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frames, at 1.4 to 2.4 m</a:t>
            </a:r>
            <a:endParaRPr lang="en-US" sz="1300"/>
          </a:p>
        </p:txBody>
      </p:sp>
      <p:sp>
        <p:nvSpPr>
          <p:cNvPr id="134" name="Shape 26">
            <a:extLst>
              <a:ext uri="{FF2B5EF4-FFF2-40B4-BE49-F238E27FC236}">
                <a16:creationId xmlns:a16="http://schemas.microsoft.com/office/drawing/2014/main" id="{B95942EA-7895-88D1-731E-2ED6EF58FB59}"/>
              </a:ext>
            </a:extLst>
          </p:cNvPr>
          <p:cNvSpPr/>
          <p:nvPr/>
        </p:nvSpPr>
        <p:spPr>
          <a:xfrm>
            <a:off x="8412480" y="3749040"/>
            <a:ext cx="3227832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27">
            <a:extLst>
              <a:ext uri="{FF2B5EF4-FFF2-40B4-BE49-F238E27FC236}">
                <a16:creationId xmlns:a16="http://schemas.microsoft.com/office/drawing/2014/main" id="{F3A9D059-B602-9EEA-33A7-153FDF4F043A}"/>
              </a:ext>
            </a:extLst>
          </p:cNvPr>
          <p:cNvSpPr/>
          <p:nvPr/>
        </p:nvSpPr>
        <p:spPr>
          <a:xfrm>
            <a:off x="8577072" y="399288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6" name="Image 4" descr="preencoded.png">
            <a:extLst>
              <a:ext uri="{FF2B5EF4-FFF2-40B4-BE49-F238E27FC236}">
                <a16:creationId xmlns:a16="http://schemas.microsoft.com/office/drawing/2014/main" id="{0735493B-1205-AF61-6CE0-B196E5CE5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4093464"/>
            <a:ext cx="256032" cy="256032"/>
          </a:xfrm>
          <a:prstGeom prst="rect">
            <a:avLst/>
          </a:prstGeom>
        </p:spPr>
      </p:pic>
      <p:sp>
        <p:nvSpPr>
          <p:cNvPr id="137" name="Text 28">
            <a:extLst>
              <a:ext uri="{FF2B5EF4-FFF2-40B4-BE49-F238E27FC236}">
                <a16:creationId xmlns:a16="http://schemas.microsoft.com/office/drawing/2014/main" id="{90EC99D8-72B3-1E46-A143-1FBF7EF06FDF}"/>
              </a:ext>
            </a:extLst>
          </p:cNvPr>
          <p:cNvSpPr txBox="1"/>
          <p:nvPr/>
        </p:nvSpPr>
        <p:spPr>
          <a:xfrm>
            <a:off x="9189720" y="389229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2000"/>
          </a:p>
        </p:txBody>
      </p:sp>
      <p:sp>
        <p:nvSpPr>
          <p:cNvPr id="138" name="Text 29">
            <a:extLst>
              <a:ext uri="{FF2B5EF4-FFF2-40B4-BE49-F238E27FC236}">
                <a16:creationId xmlns:a16="http://schemas.microsoft.com/office/drawing/2014/main" id="{CAC5820E-D161-46CB-8D97-4FB58108132A}"/>
              </a:ext>
            </a:extLst>
          </p:cNvPr>
          <p:cNvSpPr txBox="1"/>
          <p:nvPr/>
        </p:nvSpPr>
        <p:spPr>
          <a:xfrm>
            <a:off x="9189720" y="42397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words at 4 different locations with varying depth and angles found correct crop</a:t>
            </a:r>
            <a:endParaRPr lang="en-US" sz="1200"/>
          </a:p>
        </p:txBody>
      </p:sp>
      <p:sp>
        <p:nvSpPr>
          <p:cNvPr id="139" name="Shape 30">
            <a:extLst>
              <a:ext uri="{FF2B5EF4-FFF2-40B4-BE49-F238E27FC236}">
                <a16:creationId xmlns:a16="http://schemas.microsoft.com/office/drawing/2014/main" id="{958299CB-5919-190C-1D3D-51ED3B9F0B1E}"/>
              </a:ext>
            </a:extLst>
          </p:cNvPr>
          <p:cNvSpPr/>
          <p:nvPr/>
        </p:nvSpPr>
        <p:spPr>
          <a:xfrm>
            <a:off x="8412480" y="5047488"/>
            <a:ext cx="3227832" cy="891540"/>
          </a:xfrm>
          <a:prstGeom prst="roundRect">
            <a:avLst>
              <a:gd name="adj" fmla="val 1075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31">
            <a:extLst>
              <a:ext uri="{FF2B5EF4-FFF2-40B4-BE49-F238E27FC236}">
                <a16:creationId xmlns:a16="http://schemas.microsoft.com/office/drawing/2014/main" id="{305A5632-30D2-935B-E6FB-A0230CFAEA90}"/>
              </a:ext>
            </a:extLst>
          </p:cNvPr>
          <p:cNvSpPr txBox="1"/>
          <p:nvPr/>
        </p:nvSpPr>
        <p:spPr>
          <a:xfrm>
            <a:off x="8577072" y="51846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41" name="Text 32">
            <a:extLst>
              <a:ext uri="{FF2B5EF4-FFF2-40B4-BE49-F238E27FC236}">
                <a16:creationId xmlns:a16="http://schemas.microsoft.com/office/drawing/2014/main" id="{B716FB6F-5884-CB35-0B60-08E45FF1A3B8}"/>
              </a:ext>
            </a:extLst>
          </p:cNvPr>
          <p:cNvSpPr txBox="1"/>
          <p:nvPr/>
        </p:nvSpPr>
        <p:spPr>
          <a:xfrm>
            <a:off x="8577072" y="54315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gaze at fixed point for a long time and gaze estimation errors.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247284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42B6-947E-6A71-2674-A945C862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738CED87-FC6D-A328-410E-7A1B5449918D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66F83FE5-6846-EF37-6264-44DF4D57E9AD}"/>
              </a:ext>
            </a:extLst>
          </p:cNvPr>
          <p:cNvSpPr/>
          <p:nvPr/>
        </p:nvSpPr>
        <p:spPr>
          <a:xfrm>
            <a:off x="8595360" y="347472"/>
            <a:ext cx="3044952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47DE8FA6-BD56-A732-1904-52AAB9F6E943}"/>
              </a:ext>
            </a:extLst>
          </p:cNvPr>
          <p:cNvSpPr txBox="1"/>
          <p:nvPr/>
        </p:nvSpPr>
        <p:spPr>
          <a:xfrm>
            <a:off x="8595360" y="34747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INTENT CAPTURE</a:t>
            </a:r>
            <a:endParaRPr lang="en-US" sz="110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1F6A3EB-3E92-411B-A385-2A6A776B8AC1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gives the word, gaze picks the object</a:t>
            </a:r>
            <a:endParaRPr lang="en-US" sz="300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0FE62941-065C-D9CF-DFBA-C2FC303A79D1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one-second gaze vote over SAM 3 masks makes the reference crop sent to the robot</a:t>
            </a:r>
            <a:endParaRPr lang="en-US" sz="170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F23D6AA-C9AC-30A2-7ED6-36A9F2FB65E5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A0A470D8-84E7-D404-EA02-C9364FD375E4}"/>
              </a:ext>
            </a:extLst>
          </p:cNvPr>
          <p:cNvSpPr/>
          <p:nvPr/>
        </p:nvSpPr>
        <p:spPr>
          <a:xfrm>
            <a:off x="548640" y="2194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33BC2477-3D70-A3F9-640D-BA032CF5A36A}"/>
              </a:ext>
            </a:extLst>
          </p:cNvPr>
          <p:cNvSpPr txBox="1"/>
          <p:nvPr/>
        </p:nvSpPr>
        <p:spPr>
          <a:xfrm>
            <a:off x="1161288" y="22677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E25F5296-55C0-539E-941C-3CAFB2704547}"/>
              </a:ext>
            </a:extLst>
          </p:cNvPr>
          <p:cNvSpPr txBox="1"/>
          <p:nvPr/>
        </p:nvSpPr>
        <p:spPr>
          <a:xfrm>
            <a:off x="1161288" y="25420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per sentence</a:t>
            </a:r>
            <a:endParaRPr lang="en-US" sz="1100"/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3A01D194-62CD-1448-BA83-19872D99B009}"/>
              </a:ext>
            </a:extLst>
          </p:cNvPr>
          <p:cNvSpPr/>
          <p:nvPr/>
        </p:nvSpPr>
        <p:spPr>
          <a:xfrm>
            <a:off x="548640" y="3063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AEDEA28E-E4A0-6FD2-F865-977E39C3FCFB}"/>
              </a:ext>
            </a:extLst>
          </p:cNvPr>
          <p:cNvSpPr txBox="1"/>
          <p:nvPr/>
        </p:nvSpPr>
        <p:spPr>
          <a:xfrm>
            <a:off x="1161288" y="3136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140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60593FD4-6AB1-5FCA-0F9C-19684D1D86F5}"/>
              </a:ext>
            </a:extLst>
          </p:cNvPr>
          <p:cNvSpPr txBox="1"/>
          <p:nvPr/>
        </p:nvSpPr>
        <p:spPr>
          <a:xfrm>
            <a:off x="1161288" y="34107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simultaneously</a:t>
            </a:r>
            <a:endParaRPr lang="en-US" sz="1100"/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006CAD6B-B65A-550C-3428-4A977E659D48}"/>
              </a:ext>
            </a:extLst>
          </p:cNvPr>
          <p:cNvSpPr/>
          <p:nvPr/>
        </p:nvSpPr>
        <p:spPr>
          <a:xfrm>
            <a:off x="548640" y="39319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8E197C21-B675-D366-9A0B-689FAE6F9A4D}"/>
              </a:ext>
            </a:extLst>
          </p:cNvPr>
          <p:cNvSpPr txBox="1"/>
          <p:nvPr/>
        </p:nvSpPr>
        <p:spPr>
          <a:xfrm>
            <a:off x="1161288" y="40050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/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1853793C-3089-8589-F760-F9BB30A9C362}"/>
              </a:ext>
            </a:extLst>
          </p:cNvPr>
          <p:cNvSpPr txBox="1"/>
          <p:nvPr/>
        </p:nvSpPr>
        <p:spPr>
          <a:xfrm>
            <a:off x="1161288" y="4279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finds every “box”</a:t>
            </a:r>
            <a:endParaRPr lang="en-US" sz="1100"/>
          </a:p>
        </p:txBody>
      </p:sp>
      <p:sp>
        <p:nvSpPr>
          <p:cNvPr id="78" name="Shape 18">
            <a:extLst>
              <a:ext uri="{FF2B5EF4-FFF2-40B4-BE49-F238E27FC236}">
                <a16:creationId xmlns:a16="http://schemas.microsoft.com/office/drawing/2014/main" id="{F0C97EDC-2954-E0E2-8D18-7E7575FE955D}"/>
              </a:ext>
            </a:extLst>
          </p:cNvPr>
          <p:cNvSpPr/>
          <p:nvPr/>
        </p:nvSpPr>
        <p:spPr>
          <a:xfrm>
            <a:off x="548640" y="48006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BA7101D3-68F3-6FF2-3712-3DE9DA5FAA3D}"/>
              </a:ext>
            </a:extLst>
          </p:cNvPr>
          <p:cNvSpPr txBox="1"/>
          <p:nvPr/>
        </p:nvSpPr>
        <p:spPr>
          <a:xfrm>
            <a:off x="1161288" y="48737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/>
          </a:p>
        </p:txBody>
      </p:sp>
      <p:sp>
        <p:nvSpPr>
          <p:cNvPr id="82" name="Text 21">
            <a:extLst>
              <a:ext uri="{FF2B5EF4-FFF2-40B4-BE49-F238E27FC236}">
                <a16:creationId xmlns:a16="http://schemas.microsoft.com/office/drawing/2014/main" id="{ECFCB5EB-6ABE-09DD-A681-741CA867BF02}"/>
              </a:ext>
            </a:extLst>
          </p:cNvPr>
          <p:cNvSpPr txBox="1"/>
          <p:nvPr/>
        </p:nvSpPr>
        <p:spPr>
          <a:xfrm>
            <a:off x="1161288" y="514807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a mask, then crop it</a:t>
            </a:r>
            <a:endParaRPr lang="en-US" sz="1100"/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86887216-8FFF-7361-D87A-FBB75AC516E9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372CF84C-9DB7-9235-6A78-BA46C9A0F47F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97" name="Shape 35">
            <a:extLst>
              <a:ext uri="{FF2B5EF4-FFF2-40B4-BE49-F238E27FC236}">
                <a16:creationId xmlns:a16="http://schemas.microsoft.com/office/drawing/2014/main" id="{B15CB9E4-BE14-1E11-ED84-73C1A1B60F98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36">
            <a:extLst>
              <a:ext uri="{FF2B5EF4-FFF2-40B4-BE49-F238E27FC236}">
                <a16:creationId xmlns:a16="http://schemas.microsoft.com/office/drawing/2014/main" id="{4D42CA84-7D5C-A58F-FC25-EEEC9E9AD0AB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99" name="Shape 37">
            <a:extLst>
              <a:ext uri="{FF2B5EF4-FFF2-40B4-BE49-F238E27FC236}">
                <a16:creationId xmlns:a16="http://schemas.microsoft.com/office/drawing/2014/main" id="{A7DE22EB-234A-F4F9-8D92-4F4BD0227351}"/>
              </a:ext>
            </a:extLst>
          </p:cNvPr>
          <p:cNvSpPr/>
          <p:nvPr/>
        </p:nvSpPr>
        <p:spPr>
          <a:xfrm>
            <a:off x="3367278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38">
            <a:extLst>
              <a:ext uri="{FF2B5EF4-FFF2-40B4-BE49-F238E27FC236}">
                <a16:creationId xmlns:a16="http://schemas.microsoft.com/office/drawing/2014/main" id="{08CC5693-13A2-E26C-8120-3E9E7F3299C2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01" name="Shape 39">
            <a:extLst>
              <a:ext uri="{FF2B5EF4-FFF2-40B4-BE49-F238E27FC236}">
                <a16:creationId xmlns:a16="http://schemas.microsoft.com/office/drawing/2014/main" id="{C4548A9F-48CD-E906-FD51-379225E8E40D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40">
            <a:extLst>
              <a:ext uri="{FF2B5EF4-FFF2-40B4-BE49-F238E27FC236}">
                <a16:creationId xmlns:a16="http://schemas.microsoft.com/office/drawing/2014/main" id="{069A69CA-4067-DC98-CC93-48186CB09203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52C5FD21-7FA2-8A59-BAA3-943DC71A2EAA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FE5A7C4D-EC96-4DAB-75DA-6B6E50ADF37E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05" name="Shape 43">
            <a:extLst>
              <a:ext uri="{FF2B5EF4-FFF2-40B4-BE49-F238E27FC236}">
                <a16:creationId xmlns:a16="http://schemas.microsoft.com/office/drawing/2014/main" id="{6430A86A-2EEE-2DC5-00D7-7F80022427AC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44">
            <a:extLst>
              <a:ext uri="{FF2B5EF4-FFF2-40B4-BE49-F238E27FC236}">
                <a16:creationId xmlns:a16="http://schemas.microsoft.com/office/drawing/2014/main" id="{64A482AB-ACF6-5C44-8A46-97691731457A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07" name="Shape 45">
            <a:extLst>
              <a:ext uri="{FF2B5EF4-FFF2-40B4-BE49-F238E27FC236}">
                <a16:creationId xmlns:a16="http://schemas.microsoft.com/office/drawing/2014/main" id="{780C20DE-1878-DA98-08C6-CAD50DEFB159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46">
            <a:extLst>
              <a:ext uri="{FF2B5EF4-FFF2-40B4-BE49-F238E27FC236}">
                <a16:creationId xmlns:a16="http://schemas.microsoft.com/office/drawing/2014/main" id="{7BB53691-77D4-1723-6DC3-4CF46A995857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09" name="Shape 47">
            <a:extLst>
              <a:ext uri="{FF2B5EF4-FFF2-40B4-BE49-F238E27FC236}">
                <a16:creationId xmlns:a16="http://schemas.microsoft.com/office/drawing/2014/main" id="{6474850C-1F99-5380-6201-B57198D168F6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2022E8C7-4D19-2492-6E06-C1944B850282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11" name="Text 49">
            <a:extLst>
              <a:ext uri="{FF2B5EF4-FFF2-40B4-BE49-F238E27FC236}">
                <a16:creationId xmlns:a16="http://schemas.microsoft.com/office/drawing/2014/main" id="{1D2F1F34-7EEE-2426-BA4D-82B25155FB3D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  <p:pic>
        <p:nvPicPr>
          <p:cNvPr id="112" name="Image 5" descr="SAM 3 masks on every box in the glasses image, each with a score">
            <a:extLst>
              <a:ext uri="{FF2B5EF4-FFF2-40B4-BE49-F238E27FC236}">
                <a16:creationId xmlns:a16="http://schemas.microsoft.com/office/drawing/2014/main" id="{75FD4614-B1BA-F66C-BA49-27F8AFBF3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874520"/>
            <a:ext cx="5486400" cy="2119745"/>
          </a:xfrm>
          <a:prstGeom prst="rect">
            <a:avLst/>
          </a:prstGeom>
        </p:spPr>
      </p:pic>
      <p:sp>
        <p:nvSpPr>
          <p:cNvPr id="113" name="Shape 50">
            <a:extLst>
              <a:ext uri="{FF2B5EF4-FFF2-40B4-BE49-F238E27FC236}">
                <a16:creationId xmlns:a16="http://schemas.microsoft.com/office/drawing/2014/main" id="{40CA1755-9C2B-BEC5-3184-0CA820BAD622}"/>
              </a:ext>
            </a:extLst>
          </p:cNvPr>
          <p:cNvSpPr/>
          <p:nvPr/>
        </p:nvSpPr>
        <p:spPr>
          <a:xfrm>
            <a:off x="2697480" y="3665081"/>
            <a:ext cx="548640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51">
            <a:extLst>
              <a:ext uri="{FF2B5EF4-FFF2-40B4-BE49-F238E27FC236}">
                <a16:creationId xmlns:a16="http://schemas.microsoft.com/office/drawing/2014/main" id="{7DEAEC71-1EA5-0F4C-C984-CB37E59166A8}"/>
              </a:ext>
            </a:extLst>
          </p:cNvPr>
          <p:cNvSpPr txBox="1"/>
          <p:nvPr/>
        </p:nvSpPr>
        <p:spPr>
          <a:xfrm>
            <a:off x="2834640" y="3665081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PROMPT “BOX”  ·  ONE MASK AND SCORE PER BOX</a:t>
            </a:r>
            <a:endParaRPr lang="en-US" sz="1100"/>
          </a:p>
        </p:txBody>
      </p:sp>
      <p:sp>
        <p:nvSpPr>
          <p:cNvPr id="115" name="Shape 52">
            <a:extLst>
              <a:ext uri="{FF2B5EF4-FFF2-40B4-BE49-F238E27FC236}">
                <a16:creationId xmlns:a16="http://schemas.microsoft.com/office/drawing/2014/main" id="{FD4EAD1E-4677-EA88-F6E6-4C4572DAEFC0}"/>
              </a:ext>
            </a:extLst>
          </p:cNvPr>
          <p:cNvSpPr/>
          <p:nvPr/>
        </p:nvSpPr>
        <p:spPr>
          <a:xfrm>
            <a:off x="2697480" y="420624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53">
            <a:extLst>
              <a:ext uri="{FF2B5EF4-FFF2-40B4-BE49-F238E27FC236}">
                <a16:creationId xmlns:a16="http://schemas.microsoft.com/office/drawing/2014/main" id="{E01F4EDC-624E-F2D9-AA5E-586C7CC79565}"/>
              </a:ext>
            </a:extLst>
          </p:cNvPr>
          <p:cNvSpPr txBox="1"/>
          <p:nvPr/>
        </p:nvSpPr>
        <p:spPr>
          <a:xfrm>
            <a:off x="274320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“box”</a:t>
            </a:r>
            <a:endParaRPr lang="en-US" sz="1300"/>
          </a:p>
        </p:txBody>
      </p:sp>
      <p:sp>
        <p:nvSpPr>
          <p:cNvPr id="117" name="Shape 54">
            <a:extLst>
              <a:ext uri="{FF2B5EF4-FFF2-40B4-BE49-F238E27FC236}">
                <a16:creationId xmlns:a16="http://schemas.microsoft.com/office/drawing/2014/main" id="{200D360F-ACB0-BBC4-A7C8-CEF41B164385}"/>
              </a:ext>
            </a:extLst>
          </p:cNvPr>
          <p:cNvSpPr/>
          <p:nvPr/>
        </p:nvSpPr>
        <p:spPr>
          <a:xfrm>
            <a:off x="3931920" y="4526280"/>
            <a:ext cx="152400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55">
            <a:extLst>
              <a:ext uri="{FF2B5EF4-FFF2-40B4-BE49-F238E27FC236}">
                <a16:creationId xmlns:a16="http://schemas.microsoft.com/office/drawing/2014/main" id="{1B9F6826-9B74-64FA-CDE1-AAEB55A6D106}"/>
              </a:ext>
            </a:extLst>
          </p:cNvPr>
          <p:cNvSpPr/>
          <p:nvPr/>
        </p:nvSpPr>
        <p:spPr>
          <a:xfrm>
            <a:off x="4130040" y="420624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56">
            <a:extLst>
              <a:ext uri="{FF2B5EF4-FFF2-40B4-BE49-F238E27FC236}">
                <a16:creationId xmlns:a16="http://schemas.microsoft.com/office/drawing/2014/main" id="{280B6B39-5638-350E-AC1A-0B97F98563F8}"/>
              </a:ext>
            </a:extLst>
          </p:cNvPr>
          <p:cNvSpPr txBox="1"/>
          <p:nvPr/>
        </p:nvSpPr>
        <p:spPr>
          <a:xfrm>
            <a:off x="417576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when you spoke</a:t>
            </a:r>
            <a:endParaRPr lang="en-US" sz="1300"/>
          </a:p>
        </p:txBody>
      </p:sp>
      <p:sp>
        <p:nvSpPr>
          <p:cNvPr id="120" name="Shape 57">
            <a:extLst>
              <a:ext uri="{FF2B5EF4-FFF2-40B4-BE49-F238E27FC236}">
                <a16:creationId xmlns:a16="http://schemas.microsoft.com/office/drawing/2014/main" id="{6836E856-1FAD-9179-889C-6637A849011E}"/>
              </a:ext>
            </a:extLst>
          </p:cNvPr>
          <p:cNvSpPr/>
          <p:nvPr/>
        </p:nvSpPr>
        <p:spPr>
          <a:xfrm>
            <a:off x="5364480" y="4526280"/>
            <a:ext cx="152400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58">
            <a:extLst>
              <a:ext uri="{FF2B5EF4-FFF2-40B4-BE49-F238E27FC236}">
                <a16:creationId xmlns:a16="http://schemas.microsoft.com/office/drawing/2014/main" id="{A0F14A9E-03FD-382B-37CC-3C09E23B825A}"/>
              </a:ext>
            </a:extLst>
          </p:cNvPr>
          <p:cNvSpPr/>
          <p:nvPr/>
        </p:nvSpPr>
        <p:spPr>
          <a:xfrm>
            <a:off x="5562600" y="420624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59">
            <a:extLst>
              <a:ext uri="{FF2B5EF4-FFF2-40B4-BE49-F238E27FC236}">
                <a16:creationId xmlns:a16="http://schemas.microsoft.com/office/drawing/2014/main" id="{D9BCCEFE-D4A9-4F86-1BB0-DFBC7DF688EF}"/>
              </a:ext>
            </a:extLst>
          </p:cNvPr>
          <p:cNvSpPr txBox="1"/>
          <p:nvPr/>
        </p:nvSpPr>
        <p:spPr>
          <a:xfrm>
            <a:off x="560832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model</a:t>
            </a:r>
            <a:endParaRPr lang="en-US" sz="1300"/>
          </a:p>
        </p:txBody>
      </p:sp>
      <p:sp>
        <p:nvSpPr>
          <p:cNvPr id="123" name="Shape 60">
            <a:extLst>
              <a:ext uri="{FF2B5EF4-FFF2-40B4-BE49-F238E27FC236}">
                <a16:creationId xmlns:a16="http://schemas.microsoft.com/office/drawing/2014/main" id="{35AFCD9D-E51A-A5B2-E666-C3CB17D93CEB}"/>
              </a:ext>
            </a:extLst>
          </p:cNvPr>
          <p:cNvSpPr/>
          <p:nvPr/>
        </p:nvSpPr>
        <p:spPr>
          <a:xfrm>
            <a:off x="6797040" y="4526280"/>
            <a:ext cx="152400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61">
            <a:extLst>
              <a:ext uri="{FF2B5EF4-FFF2-40B4-BE49-F238E27FC236}">
                <a16:creationId xmlns:a16="http://schemas.microsoft.com/office/drawing/2014/main" id="{66768EE8-0952-330B-A23F-4FAFFDBBAC72}"/>
              </a:ext>
            </a:extLst>
          </p:cNvPr>
          <p:cNvSpPr/>
          <p:nvPr/>
        </p:nvSpPr>
        <p:spPr>
          <a:xfrm>
            <a:off x="6995160" y="420624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62">
            <a:extLst>
              <a:ext uri="{FF2B5EF4-FFF2-40B4-BE49-F238E27FC236}">
                <a16:creationId xmlns:a16="http://schemas.microsoft.com/office/drawing/2014/main" id="{37FC5D4E-A3C4-7493-0AC3-8264D2DD9D19}"/>
              </a:ext>
            </a:extLst>
          </p:cNvPr>
          <p:cNvSpPr txBox="1"/>
          <p:nvPr/>
        </p:nvSpPr>
        <p:spPr>
          <a:xfrm>
            <a:off x="704088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</a:t>
            </a:r>
            <a:endParaRPr lang="en-US" sz="13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box, with a score</a:t>
            </a:r>
            <a:endParaRPr lang="en-US" sz="1300"/>
          </a:p>
        </p:txBody>
      </p:sp>
      <p:sp>
        <p:nvSpPr>
          <p:cNvPr id="126" name="Shape 63">
            <a:extLst>
              <a:ext uri="{FF2B5EF4-FFF2-40B4-BE49-F238E27FC236}">
                <a16:creationId xmlns:a16="http://schemas.microsoft.com/office/drawing/2014/main" id="{E3E15B5D-0497-6DD5-26B9-1F455A4A364E}"/>
              </a:ext>
            </a:extLst>
          </p:cNvPr>
          <p:cNvSpPr/>
          <p:nvPr/>
        </p:nvSpPr>
        <p:spPr>
          <a:xfrm>
            <a:off x="2697480" y="502920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64">
            <a:extLst>
              <a:ext uri="{FF2B5EF4-FFF2-40B4-BE49-F238E27FC236}">
                <a16:creationId xmlns:a16="http://schemas.microsoft.com/office/drawing/2014/main" id="{AB71BDCF-5451-0C7C-00E3-D9E28B99D6D5}"/>
              </a:ext>
            </a:extLst>
          </p:cNvPr>
          <p:cNvSpPr txBox="1"/>
          <p:nvPr/>
        </p:nvSpPr>
        <p:spPr>
          <a:xfrm>
            <a:off x="2926080" y="5029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boxes in one frame. Which one did the user mean?</a:t>
            </a:r>
            <a:r>
              <a:rPr lang="en-US" sz="150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Next: the gaze vote</a:t>
            </a:r>
            <a:endParaRPr lang="en-US" sz="1500"/>
          </a:p>
        </p:txBody>
      </p:sp>
      <p:sp>
        <p:nvSpPr>
          <p:cNvPr id="128" name="Shape 7">
            <a:extLst>
              <a:ext uri="{FF2B5EF4-FFF2-40B4-BE49-F238E27FC236}">
                <a16:creationId xmlns:a16="http://schemas.microsoft.com/office/drawing/2014/main" id="{F74BF91A-D047-6140-8AA1-3595297A45D2}"/>
              </a:ext>
            </a:extLst>
          </p:cNvPr>
          <p:cNvSpPr/>
          <p:nvPr/>
        </p:nvSpPr>
        <p:spPr>
          <a:xfrm>
            <a:off x="699516" y="414327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Text 8">
            <a:extLst>
              <a:ext uri="{FF2B5EF4-FFF2-40B4-BE49-F238E27FC236}">
                <a16:creationId xmlns:a16="http://schemas.microsoft.com/office/drawing/2014/main" id="{EC6820D3-9242-04D1-C2E1-0604F6289D9A}"/>
              </a:ext>
            </a:extLst>
          </p:cNvPr>
          <p:cNvSpPr txBox="1"/>
          <p:nvPr/>
        </p:nvSpPr>
        <p:spPr>
          <a:xfrm>
            <a:off x="699516" y="41432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EF0E4DDA-9E8D-2551-4E2A-5EF5FCAC566F}"/>
              </a:ext>
            </a:extLst>
          </p:cNvPr>
          <p:cNvSpPr/>
          <p:nvPr/>
        </p:nvSpPr>
        <p:spPr>
          <a:xfrm>
            <a:off x="699516" y="243890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Text 8">
            <a:extLst>
              <a:ext uri="{FF2B5EF4-FFF2-40B4-BE49-F238E27FC236}">
                <a16:creationId xmlns:a16="http://schemas.microsoft.com/office/drawing/2014/main" id="{6868BB17-EC3E-94C8-8DDF-F0D057295020}"/>
              </a:ext>
            </a:extLst>
          </p:cNvPr>
          <p:cNvSpPr txBox="1"/>
          <p:nvPr/>
        </p:nvSpPr>
        <p:spPr>
          <a:xfrm>
            <a:off x="699516" y="24389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32" name="Shape 7">
            <a:extLst>
              <a:ext uri="{FF2B5EF4-FFF2-40B4-BE49-F238E27FC236}">
                <a16:creationId xmlns:a16="http://schemas.microsoft.com/office/drawing/2014/main" id="{BFCE227C-5DA8-967A-BB43-627C671282FF}"/>
              </a:ext>
            </a:extLst>
          </p:cNvPr>
          <p:cNvSpPr/>
          <p:nvPr/>
        </p:nvSpPr>
        <p:spPr>
          <a:xfrm>
            <a:off x="699516" y="332031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Text 8">
            <a:extLst>
              <a:ext uri="{FF2B5EF4-FFF2-40B4-BE49-F238E27FC236}">
                <a16:creationId xmlns:a16="http://schemas.microsoft.com/office/drawing/2014/main" id="{4D65E9CE-5282-BE8E-C9DF-B32ABEFE5A5B}"/>
              </a:ext>
            </a:extLst>
          </p:cNvPr>
          <p:cNvSpPr txBox="1"/>
          <p:nvPr/>
        </p:nvSpPr>
        <p:spPr>
          <a:xfrm>
            <a:off x="699516" y="33203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0FD7EAF6-CBE3-3260-D2FB-CCFA2CE5BF4E}"/>
              </a:ext>
            </a:extLst>
          </p:cNvPr>
          <p:cNvSpPr/>
          <p:nvPr/>
        </p:nvSpPr>
        <p:spPr>
          <a:xfrm>
            <a:off x="686647" y="50474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Text 8">
            <a:extLst>
              <a:ext uri="{FF2B5EF4-FFF2-40B4-BE49-F238E27FC236}">
                <a16:creationId xmlns:a16="http://schemas.microsoft.com/office/drawing/2014/main" id="{71BC3675-E5AA-15A3-F58D-BB06B259AB8B}"/>
              </a:ext>
            </a:extLst>
          </p:cNvPr>
          <p:cNvSpPr txBox="1"/>
          <p:nvPr/>
        </p:nvSpPr>
        <p:spPr>
          <a:xfrm>
            <a:off x="686647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36" name="Shape 22">
            <a:extLst>
              <a:ext uri="{FF2B5EF4-FFF2-40B4-BE49-F238E27FC236}">
                <a16:creationId xmlns:a16="http://schemas.microsoft.com/office/drawing/2014/main" id="{5D1A6A79-3FC9-152E-D1D5-82F69B122F62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23">
            <a:extLst>
              <a:ext uri="{FF2B5EF4-FFF2-40B4-BE49-F238E27FC236}">
                <a16:creationId xmlns:a16="http://schemas.microsoft.com/office/drawing/2014/main" id="{C52E417E-2900-5747-2F4C-BF45D1453321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BOX, STEADY STARE</a:t>
            </a:r>
            <a:endParaRPr lang="en-US" sz="1100"/>
          </a:p>
        </p:txBody>
      </p:sp>
      <p:sp>
        <p:nvSpPr>
          <p:cNvPr id="138" name="Text 24">
            <a:extLst>
              <a:ext uri="{FF2B5EF4-FFF2-40B4-BE49-F238E27FC236}">
                <a16:creationId xmlns:a16="http://schemas.microsoft.com/office/drawing/2014/main" id="{CC94B2C7-2ADF-C0AB-3EF8-F9B87DB1B492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61</a:t>
            </a:r>
            <a:endParaRPr lang="en-US" sz="5000"/>
          </a:p>
        </p:txBody>
      </p:sp>
      <p:sp>
        <p:nvSpPr>
          <p:cNvPr id="139" name="Text 25">
            <a:extLst>
              <a:ext uri="{FF2B5EF4-FFF2-40B4-BE49-F238E27FC236}">
                <a16:creationId xmlns:a16="http://schemas.microsoft.com/office/drawing/2014/main" id="{E9F1D036-4A20-6E55-95FD-F5FF0DCBA588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frames, at 1.4 to 2.4 m</a:t>
            </a:r>
            <a:endParaRPr lang="en-US" sz="1300"/>
          </a:p>
        </p:txBody>
      </p:sp>
      <p:sp>
        <p:nvSpPr>
          <p:cNvPr id="140" name="Shape 26">
            <a:extLst>
              <a:ext uri="{FF2B5EF4-FFF2-40B4-BE49-F238E27FC236}">
                <a16:creationId xmlns:a16="http://schemas.microsoft.com/office/drawing/2014/main" id="{88C6039C-CF33-D103-4BF0-D0C7D1F5095E}"/>
              </a:ext>
            </a:extLst>
          </p:cNvPr>
          <p:cNvSpPr/>
          <p:nvPr/>
        </p:nvSpPr>
        <p:spPr>
          <a:xfrm>
            <a:off x="8412480" y="3749040"/>
            <a:ext cx="3227832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27">
            <a:extLst>
              <a:ext uri="{FF2B5EF4-FFF2-40B4-BE49-F238E27FC236}">
                <a16:creationId xmlns:a16="http://schemas.microsoft.com/office/drawing/2014/main" id="{0F640F74-A737-1194-17BD-7069D0DBEEA5}"/>
              </a:ext>
            </a:extLst>
          </p:cNvPr>
          <p:cNvSpPr/>
          <p:nvPr/>
        </p:nvSpPr>
        <p:spPr>
          <a:xfrm>
            <a:off x="8577072" y="399288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" name="Image 4" descr="preencoded.png">
            <a:extLst>
              <a:ext uri="{FF2B5EF4-FFF2-40B4-BE49-F238E27FC236}">
                <a16:creationId xmlns:a16="http://schemas.microsoft.com/office/drawing/2014/main" id="{54619F76-6EE7-DE67-C052-9ECD0FB36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4093464"/>
            <a:ext cx="256032" cy="256032"/>
          </a:xfrm>
          <a:prstGeom prst="rect">
            <a:avLst/>
          </a:prstGeom>
        </p:spPr>
      </p:pic>
      <p:sp>
        <p:nvSpPr>
          <p:cNvPr id="143" name="Text 28">
            <a:extLst>
              <a:ext uri="{FF2B5EF4-FFF2-40B4-BE49-F238E27FC236}">
                <a16:creationId xmlns:a16="http://schemas.microsoft.com/office/drawing/2014/main" id="{E2BD0348-6E3C-5D8B-F227-CE6ACA36C1C7}"/>
              </a:ext>
            </a:extLst>
          </p:cNvPr>
          <p:cNvSpPr txBox="1"/>
          <p:nvPr/>
        </p:nvSpPr>
        <p:spPr>
          <a:xfrm>
            <a:off x="9189720" y="389229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2000"/>
          </a:p>
        </p:txBody>
      </p:sp>
      <p:sp>
        <p:nvSpPr>
          <p:cNvPr id="144" name="Text 29">
            <a:extLst>
              <a:ext uri="{FF2B5EF4-FFF2-40B4-BE49-F238E27FC236}">
                <a16:creationId xmlns:a16="http://schemas.microsoft.com/office/drawing/2014/main" id="{101CAF23-FC2F-CD36-485A-73B983907A7C}"/>
              </a:ext>
            </a:extLst>
          </p:cNvPr>
          <p:cNvSpPr txBox="1"/>
          <p:nvPr/>
        </p:nvSpPr>
        <p:spPr>
          <a:xfrm>
            <a:off x="9189720" y="42397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words at 4 different locations with varying depth and angles found correct crop</a:t>
            </a:r>
            <a:endParaRPr lang="en-US" sz="1200"/>
          </a:p>
        </p:txBody>
      </p:sp>
      <p:sp>
        <p:nvSpPr>
          <p:cNvPr id="145" name="Shape 30">
            <a:extLst>
              <a:ext uri="{FF2B5EF4-FFF2-40B4-BE49-F238E27FC236}">
                <a16:creationId xmlns:a16="http://schemas.microsoft.com/office/drawing/2014/main" id="{0D4E5BC9-89E0-E568-E4F5-D0B62EBDDFA7}"/>
              </a:ext>
            </a:extLst>
          </p:cNvPr>
          <p:cNvSpPr/>
          <p:nvPr/>
        </p:nvSpPr>
        <p:spPr>
          <a:xfrm>
            <a:off x="8412480" y="5047488"/>
            <a:ext cx="3227832" cy="891540"/>
          </a:xfrm>
          <a:prstGeom prst="roundRect">
            <a:avLst>
              <a:gd name="adj" fmla="val 1075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31">
            <a:extLst>
              <a:ext uri="{FF2B5EF4-FFF2-40B4-BE49-F238E27FC236}">
                <a16:creationId xmlns:a16="http://schemas.microsoft.com/office/drawing/2014/main" id="{CFE4C1EB-034A-A266-624A-619D7A4F58FA}"/>
              </a:ext>
            </a:extLst>
          </p:cNvPr>
          <p:cNvSpPr txBox="1"/>
          <p:nvPr/>
        </p:nvSpPr>
        <p:spPr>
          <a:xfrm>
            <a:off x="8577072" y="51846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47" name="Text 32">
            <a:extLst>
              <a:ext uri="{FF2B5EF4-FFF2-40B4-BE49-F238E27FC236}">
                <a16:creationId xmlns:a16="http://schemas.microsoft.com/office/drawing/2014/main" id="{2B1F817C-9E36-3D11-35C2-E1104598382E}"/>
              </a:ext>
            </a:extLst>
          </p:cNvPr>
          <p:cNvSpPr txBox="1"/>
          <p:nvPr/>
        </p:nvSpPr>
        <p:spPr>
          <a:xfrm>
            <a:off x="8577072" y="54315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gaze at fixed point for a long time and gaze estimation errors.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607604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>
            <a:extLst>
              <a:ext uri="{FF2B5EF4-FFF2-40B4-BE49-F238E27FC236}">
                <a16:creationId xmlns:a16="http://schemas.microsoft.com/office/drawing/2014/main" id="{A246A67F-2329-2457-D5C2-3B33AC600AD8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66" name="Shape 1">
            <a:extLst>
              <a:ext uri="{FF2B5EF4-FFF2-40B4-BE49-F238E27FC236}">
                <a16:creationId xmlns:a16="http://schemas.microsoft.com/office/drawing/2014/main" id="{3F40BB51-454B-956A-A3A5-51BE2B2F4E48}"/>
              </a:ext>
            </a:extLst>
          </p:cNvPr>
          <p:cNvSpPr/>
          <p:nvPr/>
        </p:nvSpPr>
        <p:spPr>
          <a:xfrm>
            <a:off x="8595360" y="347472"/>
            <a:ext cx="3044952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9FD5A42E-7829-A9A4-38AD-9FB4863E730F}"/>
              </a:ext>
            </a:extLst>
          </p:cNvPr>
          <p:cNvSpPr txBox="1"/>
          <p:nvPr/>
        </p:nvSpPr>
        <p:spPr>
          <a:xfrm>
            <a:off x="8595360" y="34747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INTENT CAPTURE</a:t>
            </a:r>
            <a:endParaRPr lang="en-US" sz="110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9064469D-424D-142B-36E6-83B4946E5FE7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gives the word, gaze picks the object</a:t>
            </a:r>
            <a:endParaRPr lang="en-US" sz="300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5548598F-3096-1470-3DCE-DB8FFFF3DA82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one-second gaze vote over SAM 3 masks makes the reference crop sent to the robot</a:t>
            </a:r>
            <a:endParaRPr lang="en-US" sz="1700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345484A3-0A97-9A74-3D9E-303FA6C8DC9C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D871B9B1-8F70-48C3-3093-49C7569C23BC}"/>
              </a:ext>
            </a:extLst>
          </p:cNvPr>
          <p:cNvSpPr/>
          <p:nvPr/>
        </p:nvSpPr>
        <p:spPr>
          <a:xfrm>
            <a:off x="548640" y="2194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EA907097-FE84-1E84-0852-17179376EE84}"/>
              </a:ext>
            </a:extLst>
          </p:cNvPr>
          <p:cNvSpPr txBox="1"/>
          <p:nvPr/>
        </p:nvSpPr>
        <p:spPr>
          <a:xfrm>
            <a:off x="1161288" y="22677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494FE214-BCC3-975E-08C3-4DBF85AF8B7A}"/>
              </a:ext>
            </a:extLst>
          </p:cNvPr>
          <p:cNvSpPr txBox="1"/>
          <p:nvPr/>
        </p:nvSpPr>
        <p:spPr>
          <a:xfrm>
            <a:off x="1161288" y="254203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per sentence</a:t>
            </a:r>
            <a:endParaRPr lang="en-US" sz="1100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B52C3349-79A0-BC0E-2AF1-DD86F89C3A42}"/>
              </a:ext>
            </a:extLst>
          </p:cNvPr>
          <p:cNvSpPr/>
          <p:nvPr/>
        </p:nvSpPr>
        <p:spPr>
          <a:xfrm>
            <a:off x="548640" y="3063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4D1BA2A5-FACC-EB5A-9650-77CA7B52D2B3}"/>
              </a:ext>
            </a:extLst>
          </p:cNvPr>
          <p:cNvSpPr txBox="1"/>
          <p:nvPr/>
        </p:nvSpPr>
        <p:spPr>
          <a:xfrm>
            <a:off x="1161288" y="3136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140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3AEA2D9F-AA4F-B19F-04E4-330570B34E18}"/>
              </a:ext>
            </a:extLst>
          </p:cNvPr>
          <p:cNvSpPr txBox="1"/>
          <p:nvPr/>
        </p:nvSpPr>
        <p:spPr>
          <a:xfrm>
            <a:off x="1161288" y="34107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simultaneously</a:t>
            </a:r>
            <a:endParaRPr lang="en-US" sz="1100"/>
          </a:p>
        </p:txBody>
      </p:sp>
      <p:sp>
        <p:nvSpPr>
          <p:cNvPr id="81" name="Shape 14">
            <a:extLst>
              <a:ext uri="{FF2B5EF4-FFF2-40B4-BE49-F238E27FC236}">
                <a16:creationId xmlns:a16="http://schemas.microsoft.com/office/drawing/2014/main" id="{E4DC32AB-95A7-581E-FAF4-9284CBF15C89}"/>
              </a:ext>
            </a:extLst>
          </p:cNvPr>
          <p:cNvSpPr/>
          <p:nvPr/>
        </p:nvSpPr>
        <p:spPr>
          <a:xfrm>
            <a:off x="548640" y="39319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88C90E1E-558F-1D01-8445-E23037F27F01}"/>
              </a:ext>
            </a:extLst>
          </p:cNvPr>
          <p:cNvSpPr txBox="1"/>
          <p:nvPr/>
        </p:nvSpPr>
        <p:spPr>
          <a:xfrm>
            <a:off x="1161288" y="400507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/>
          </a:p>
        </p:txBody>
      </p:sp>
      <p:sp>
        <p:nvSpPr>
          <p:cNvPr id="85" name="Text 17">
            <a:extLst>
              <a:ext uri="{FF2B5EF4-FFF2-40B4-BE49-F238E27FC236}">
                <a16:creationId xmlns:a16="http://schemas.microsoft.com/office/drawing/2014/main" id="{7A3326CC-5A8C-AD81-0FA7-E4866EF1A590}"/>
              </a:ext>
            </a:extLst>
          </p:cNvPr>
          <p:cNvSpPr txBox="1"/>
          <p:nvPr/>
        </p:nvSpPr>
        <p:spPr>
          <a:xfrm>
            <a:off x="1161288" y="427939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finds every “box”</a:t>
            </a:r>
            <a:endParaRPr lang="en-US" sz="1100"/>
          </a:p>
        </p:txBody>
      </p:sp>
      <p:sp>
        <p:nvSpPr>
          <p:cNvPr id="86" name="Shape 18">
            <a:extLst>
              <a:ext uri="{FF2B5EF4-FFF2-40B4-BE49-F238E27FC236}">
                <a16:creationId xmlns:a16="http://schemas.microsoft.com/office/drawing/2014/main" id="{C5E86A47-1E40-2CA4-466A-C6EA5400A10D}"/>
              </a:ext>
            </a:extLst>
          </p:cNvPr>
          <p:cNvSpPr/>
          <p:nvPr/>
        </p:nvSpPr>
        <p:spPr>
          <a:xfrm>
            <a:off x="548640" y="48006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085E2F07-85F6-7B95-E58E-F2C81457DA96}"/>
              </a:ext>
            </a:extLst>
          </p:cNvPr>
          <p:cNvSpPr txBox="1"/>
          <p:nvPr/>
        </p:nvSpPr>
        <p:spPr>
          <a:xfrm>
            <a:off x="1161288" y="48737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/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80E94CEF-C829-25B7-B334-973CCC1064BA}"/>
              </a:ext>
            </a:extLst>
          </p:cNvPr>
          <p:cNvSpPr txBox="1"/>
          <p:nvPr/>
        </p:nvSpPr>
        <p:spPr>
          <a:xfrm>
            <a:off x="1161288" y="514807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a mask, then crop it</a:t>
            </a:r>
            <a:endParaRPr lang="en-US" sz="1100"/>
          </a:p>
        </p:txBody>
      </p:sp>
      <p:sp>
        <p:nvSpPr>
          <p:cNvPr id="91" name="Shape 22">
            <a:extLst>
              <a:ext uri="{FF2B5EF4-FFF2-40B4-BE49-F238E27FC236}">
                <a16:creationId xmlns:a16="http://schemas.microsoft.com/office/drawing/2014/main" id="{EFB0C515-4374-CD62-E06C-14CCCD733268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D350FFC9-C737-3E9F-3308-250D66094CB6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BOX, STEADY STARE</a:t>
            </a:r>
            <a:endParaRPr lang="en-US" sz="1100"/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7B685543-2F47-2B83-88EC-913CDD15200E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61</a:t>
            </a:r>
            <a:endParaRPr lang="en-US" sz="5000"/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A1E2F737-A92C-39B7-9254-F3E57EC6DCE8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frames, at 1.4 to 2.4 m</a:t>
            </a:r>
            <a:endParaRPr lang="en-US" sz="1300"/>
          </a:p>
        </p:txBody>
      </p:sp>
      <p:sp>
        <p:nvSpPr>
          <p:cNvPr id="95" name="Shape 26">
            <a:extLst>
              <a:ext uri="{FF2B5EF4-FFF2-40B4-BE49-F238E27FC236}">
                <a16:creationId xmlns:a16="http://schemas.microsoft.com/office/drawing/2014/main" id="{4336ABC7-22DA-4CF2-23B7-691B9D058188}"/>
              </a:ext>
            </a:extLst>
          </p:cNvPr>
          <p:cNvSpPr/>
          <p:nvPr/>
        </p:nvSpPr>
        <p:spPr>
          <a:xfrm>
            <a:off x="8412480" y="3749040"/>
            <a:ext cx="3227832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27">
            <a:extLst>
              <a:ext uri="{FF2B5EF4-FFF2-40B4-BE49-F238E27FC236}">
                <a16:creationId xmlns:a16="http://schemas.microsoft.com/office/drawing/2014/main" id="{FF5EE0A7-E3FF-779A-315D-52316F05DA85}"/>
              </a:ext>
            </a:extLst>
          </p:cNvPr>
          <p:cNvSpPr/>
          <p:nvPr/>
        </p:nvSpPr>
        <p:spPr>
          <a:xfrm>
            <a:off x="8577072" y="399288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4" descr="preencoded.png">
            <a:extLst>
              <a:ext uri="{FF2B5EF4-FFF2-40B4-BE49-F238E27FC236}">
                <a16:creationId xmlns:a16="http://schemas.microsoft.com/office/drawing/2014/main" id="{34EF6046-2F4B-7723-4B9D-63473713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4093464"/>
            <a:ext cx="256032" cy="256032"/>
          </a:xfrm>
          <a:prstGeom prst="rect">
            <a:avLst/>
          </a:prstGeom>
        </p:spPr>
      </p:pic>
      <p:sp>
        <p:nvSpPr>
          <p:cNvPr id="98" name="Text 28">
            <a:extLst>
              <a:ext uri="{FF2B5EF4-FFF2-40B4-BE49-F238E27FC236}">
                <a16:creationId xmlns:a16="http://schemas.microsoft.com/office/drawing/2014/main" id="{E5C68BF6-BA76-ED8E-C885-111035CC1189}"/>
              </a:ext>
            </a:extLst>
          </p:cNvPr>
          <p:cNvSpPr txBox="1"/>
          <p:nvPr/>
        </p:nvSpPr>
        <p:spPr>
          <a:xfrm>
            <a:off x="9189720" y="389229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2000"/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DE0B4ABD-6ECB-7DFE-B5B3-9030A56C8179}"/>
              </a:ext>
            </a:extLst>
          </p:cNvPr>
          <p:cNvSpPr txBox="1"/>
          <p:nvPr/>
        </p:nvSpPr>
        <p:spPr>
          <a:xfrm>
            <a:off x="9189720" y="42397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words at 4 different locations with varying depth and angles found correct crop</a:t>
            </a:r>
            <a:endParaRPr lang="en-US" sz="1200"/>
          </a:p>
        </p:txBody>
      </p:sp>
      <p:sp>
        <p:nvSpPr>
          <p:cNvPr id="100" name="Shape 30">
            <a:extLst>
              <a:ext uri="{FF2B5EF4-FFF2-40B4-BE49-F238E27FC236}">
                <a16:creationId xmlns:a16="http://schemas.microsoft.com/office/drawing/2014/main" id="{6BA62F2B-60F3-CEE3-5F36-81B399F68065}"/>
              </a:ext>
            </a:extLst>
          </p:cNvPr>
          <p:cNvSpPr/>
          <p:nvPr/>
        </p:nvSpPr>
        <p:spPr>
          <a:xfrm>
            <a:off x="8412480" y="5047488"/>
            <a:ext cx="3227832" cy="891540"/>
          </a:xfrm>
          <a:prstGeom prst="roundRect">
            <a:avLst>
              <a:gd name="adj" fmla="val 1075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31">
            <a:extLst>
              <a:ext uri="{FF2B5EF4-FFF2-40B4-BE49-F238E27FC236}">
                <a16:creationId xmlns:a16="http://schemas.microsoft.com/office/drawing/2014/main" id="{049E043A-30A6-31F0-2AB0-6ECEFB5E1802}"/>
              </a:ext>
            </a:extLst>
          </p:cNvPr>
          <p:cNvSpPr txBox="1"/>
          <p:nvPr/>
        </p:nvSpPr>
        <p:spPr>
          <a:xfrm>
            <a:off x="8577072" y="51846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02" name="Text 32">
            <a:extLst>
              <a:ext uri="{FF2B5EF4-FFF2-40B4-BE49-F238E27FC236}">
                <a16:creationId xmlns:a16="http://schemas.microsoft.com/office/drawing/2014/main" id="{C9F41E96-3C5C-1A95-CC7C-C39304CA6493}"/>
              </a:ext>
            </a:extLst>
          </p:cNvPr>
          <p:cNvSpPr txBox="1"/>
          <p:nvPr/>
        </p:nvSpPr>
        <p:spPr>
          <a:xfrm>
            <a:off x="8577072" y="5431536"/>
            <a:ext cx="2953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gaze at fixed point for a long time and gaze estimation errors.</a:t>
            </a:r>
            <a:endParaRPr lang="en-US" sz="1300"/>
          </a:p>
        </p:txBody>
      </p:sp>
      <p:sp>
        <p:nvSpPr>
          <p:cNvPr id="103" name="Shape 33">
            <a:extLst>
              <a:ext uri="{FF2B5EF4-FFF2-40B4-BE49-F238E27FC236}">
                <a16:creationId xmlns:a16="http://schemas.microsoft.com/office/drawing/2014/main" id="{A186E874-DD11-68A1-F6AA-E49F71384FE0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3007C55F-9851-28A0-C569-CD947E17CA7C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105" name="Shape 35">
            <a:extLst>
              <a:ext uri="{FF2B5EF4-FFF2-40B4-BE49-F238E27FC236}">
                <a16:creationId xmlns:a16="http://schemas.microsoft.com/office/drawing/2014/main" id="{B871B74C-F5C7-969C-8031-236BDD44E5DB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36">
            <a:extLst>
              <a:ext uri="{FF2B5EF4-FFF2-40B4-BE49-F238E27FC236}">
                <a16:creationId xmlns:a16="http://schemas.microsoft.com/office/drawing/2014/main" id="{71AD0F73-65F4-C413-4025-A53F2EA0289D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107" name="Shape 37">
            <a:extLst>
              <a:ext uri="{FF2B5EF4-FFF2-40B4-BE49-F238E27FC236}">
                <a16:creationId xmlns:a16="http://schemas.microsoft.com/office/drawing/2014/main" id="{B7F7307D-8E84-C148-4CDB-3A76A4A80678}"/>
              </a:ext>
            </a:extLst>
          </p:cNvPr>
          <p:cNvSpPr/>
          <p:nvPr/>
        </p:nvSpPr>
        <p:spPr>
          <a:xfrm>
            <a:off x="3367278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38">
            <a:extLst>
              <a:ext uri="{FF2B5EF4-FFF2-40B4-BE49-F238E27FC236}">
                <a16:creationId xmlns:a16="http://schemas.microsoft.com/office/drawing/2014/main" id="{66F9E6F0-CC3C-3552-0C1A-DBEF9F2778D0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09" name="Shape 39">
            <a:extLst>
              <a:ext uri="{FF2B5EF4-FFF2-40B4-BE49-F238E27FC236}">
                <a16:creationId xmlns:a16="http://schemas.microsoft.com/office/drawing/2014/main" id="{E764F94B-706D-FF5B-1289-B8FB1083C656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0">
            <a:extLst>
              <a:ext uri="{FF2B5EF4-FFF2-40B4-BE49-F238E27FC236}">
                <a16:creationId xmlns:a16="http://schemas.microsoft.com/office/drawing/2014/main" id="{F6B12513-DE02-752B-6B98-EC57D11D7DF6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11" name="Shape 41">
            <a:extLst>
              <a:ext uri="{FF2B5EF4-FFF2-40B4-BE49-F238E27FC236}">
                <a16:creationId xmlns:a16="http://schemas.microsoft.com/office/drawing/2014/main" id="{DF22A650-3DFB-C993-FC0F-6A20FDCDB659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42">
            <a:extLst>
              <a:ext uri="{FF2B5EF4-FFF2-40B4-BE49-F238E27FC236}">
                <a16:creationId xmlns:a16="http://schemas.microsoft.com/office/drawing/2014/main" id="{09B0845C-CF6C-25D3-FADA-4ACC9D2A5343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13" name="Shape 43">
            <a:extLst>
              <a:ext uri="{FF2B5EF4-FFF2-40B4-BE49-F238E27FC236}">
                <a16:creationId xmlns:a16="http://schemas.microsoft.com/office/drawing/2014/main" id="{BA6D8235-E9BC-CF0D-18C8-F928942BB6CF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44">
            <a:extLst>
              <a:ext uri="{FF2B5EF4-FFF2-40B4-BE49-F238E27FC236}">
                <a16:creationId xmlns:a16="http://schemas.microsoft.com/office/drawing/2014/main" id="{DA49B29B-0656-B4EB-89DB-87896DEF659E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15" name="Shape 45">
            <a:extLst>
              <a:ext uri="{FF2B5EF4-FFF2-40B4-BE49-F238E27FC236}">
                <a16:creationId xmlns:a16="http://schemas.microsoft.com/office/drawing/2014/main" id="{EECC6FCE-D9EF-F079-7023-8E1B8E1D68FE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46">
            <a:extLst>
              <a:ext uri="{FF2B5EF4-FFF2-40B4-BE49-F238E27FC236}">
                <a16:creationId xmlns:a16="http://schemas.microsoft.com/office/drawing/2014/main" id="{BE7F1C97-1F51-6C26-5E46-8A5F28DE29F9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17" name="Shape 47">
            <a:extLst>
              <a:ext uri="{FF2B5EF4-FFF2-40B4-BE49-F238E27FC236}">
                <a16:creationId xmlns:a16="http://schemas.microsoft.com/office/drawing/2014/main" id="{5D70D4A9-EFDE-ABA1-41A9-421D98EE74E2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48">
            <a:extLst>
              <a:ext uri="{FF2B5EF4-FFF2-40B4-BE49-F238E27FC236}">
                <a16:creationId xmlns:a16="http://schemas.microsoft.com/office/drawing/2014/main" id="{03D99B90-AC8D-B8EC-B4DE-6E218A462B50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19" name="Text 49">
            <a:extLst>
              <a:ext uri="{FF2B5EF4-FFF2-40B4-BE49-F238E27FC236}">
                <a16:creationId xmlns:a16="http://schemas.microsoft.com/office/drawing/2014/main" id="{2A933344-66E5-EA67-18B5-DF00F70C89B7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  <p:pic>
        <p:nvPicPr>
          <p:cNvPr id="120" name="Image 5" descr="1.0 M  ·  BOX PICKED">
            <a:extLst>
              <a:ext uri="{FF2B5EF4-FFF2-40B4-BE49-F238E27FC236}">
                <a16:creationId xmlns:a16="http://schemas.microsoft.com/office/drawing/2014/main" id="{8AD50819-A0C0-4556-577B-3259D02109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97480" y="2194560"/>
            <a:ext cx="2651760" cy="3337560"/>
          </a:xfrm>
          <a:prstGeom prst="rect">
            <a:avLst/>
          </a:prstGeom>
        </p:spPr>
      </p:pic>
      <p:sp>
        <p:nvSpPr>
          <p:cNvPr id="121" name="Shape 50">
            <a:extLst>
              <a:ext uri="{FF2B5EF4-FFF2-40B4-BE49-F238E27FC236}">
                <a16:creationId xmlns:a16="http://schemas.microsoft.com/office/drawing/2014/main" id="{AD191BB0-F9D6-AD0B-4A9A-F841542A8B67}"/>
              </a:ext>
            </a:extLst>
          </p:cNvPr>
          <p:cNvSpPr/>
          <p:nvPr/>
        </p:nvSpPr>
        <p:spPr>
          <a:xfrm>
            <a:off x="2697480" y="5202936"/>
            <a:ext cx="265176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51">
            <a:extLst>
              <a:ext uri="{FF2B5EF4-FFF2-40B4-BE49-F238E27FC236}">
                <a16:creationId xmlns:a16="http://schemas.microsoft.com/office/drawing/2014/main" id="{A5588BD5-3615-BA96-9BF2-6962F0FDC672}"/>
              </a:ext>
            </a:extLst>
          </p:cNvPr>
          <p:cNvSpPr txBox="1"/>
          <p:nvPr/>
        </p:nvSpPr>
        <p:spPr>
          <a:xfrm>
            <a:off x="2834640" y="5202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M  ·  BOX PICKED</a:t>
            </a:r>
            <a:endParaRPr lang="en-US" sz="1100"/>
          </a:p>
        </p:txBody>
      </p:sp>
      <p:pic>
        <p:nvPicPr>
          <p:cNvPr id="123" name="Image 6" descr="1.5 M  ·  GAZE ON THE MATS">
            <a:extLst>
              <a:ext uri="{FF2B5EF4-FFF2-40B4-BE49-F238E27FC236}">
                <a16:creationId xmlns:a16="http://schemas.microsoft.com/office/drawing/2014/main" id="{44FFD91F-1B1C-25C0-CF88-6B15A3BAE2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32120" y="2194560"/>
            <a:ext cx="2651760" cy="3337560"/>
          </a:xfrm>
          <a:prstGeom prst="rect">
            <a:avLst/>
          </a:prstGeom>
        </p:spPr>
      </p:pic>
      <p:sp>
        <p:nvSpPr>
          <p:cNvPr id="124" name="Shape 52">
            <a:extLst>
              <a:ext uri="{FF2B5EF4-FFF2-40B4-BE49-F238E27FC236}">
                <a16:creationId xmlns:a16="http://schemas.microsoft.com/office/drawing/2014/main" id="{4D2F3AD4-32B1-0EB9-7D79-D8F19FFFADD3}"/>
              </a:ext>
            </a:extLst>
          </p:cNvPr>
          <p:cNvSpPr/>
          <p:nvPr/>
        </p:nvSpPr>
        <p:spPr>
          <a:xfrm>
            <a:off x="5532120" y="5202936"/>
            <a:ext cx="265176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53">
            <a:extLst>
              <a:ext uri="{FF2B5EF4-FFF2-40B4-BE49-F238E27FC236}">
                <a16:creationId xmlns:a16="http://schemas.microsoft.com/office/drawing/2014/main" id="{A4766688-ADBB-59D6-64DB-6637530D0A80}"/>
              </a:ext>
            </a:extLst>
          </p:cNvPr>
          <p:cNvSpPr txBox="1"/>
          <p:nvPr/>
        </p:nvSpPr>
        <p:spPr>
          <a:xfrm>
            <a:off x="5669280" y="5202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  ·  GAZE ON THE MATS</a:t>
            </a:r>
            <a:endParaRPr lang="en-US" sz="1100"/>
          </a:p>
        </p:txBody>
      </p:sp>
      <p:sp>
        <p:nvSpPr>
          <p:cNvPr id="126" name="Text 54">
            <a:extLst>
              <a:ext uri="{FF2B5EF4-FFF2-40B4-BE49-F238E27FC236}">
                <a16:creationId xmlns:a16="http://schemas.microsoft.com/office/drawing/2014/main" id="{81D9CE5C-C621-C24E-CEF3-A87472061368}"/>
              </a:ext>
            </a:extLst>
          </p:cNvPr>
          <p:cNvSpPr txBox="1"/>
          <p:nvPr/>
        </p:nvSpPr>
        <p:spPr>
          <a:xfrm>
            <a:off x="2697480" y="568551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ring: gaze vote window. The mask closest to the gaze point wins the vote.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recordings and replay. Live stream still throttled.</a:t>
            </a:r>
            <a:endParaRPr lang="en-US" sz="110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8E6F982A-26FE-238F-E573-6D3734423908}"/>
              </a:ext>
            </a:extLst>
          </p:cNvPr>
          <p:cNvSpPr/>
          <p:nvPr/>
        </p:nvSpPr>
        <p:spPr>
          <a:xfrm>
            <a:off x="699516" y="5029417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93960CC-5555-62C6-CF12-785EDF059B16}"/>
              </a:ext>
            </a:extLst>
          </p:cNvPr>
          <p:cNvSpPr txBox="1"/>
          <p:nvPr/>
        </p:nvSpPr>
        <p:spPr>
          <a:xfrm>
            <a:off x="699516" y="50294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Shape 7">
            <a:extLst>
              <a:ext uri="{FF2B5EF4-FFF2-40B4-BE49-F238E27FC236}">
                <a16:creationId xmlns:a16="http://schemas.microsoft.com/office/drawing/2014/main" id="{90A73028-4B25-34AD-DCBA-27C756060583}"/>
              </a:ext>
            </a:extLst>
          </p:cNvPr>
          <p:cNvSpPr/>
          <p:nvPr/>
        </p:nvSpPr>
        <p:spPr>
          <a:xfrm>
            <a:off x="699516" y="2436876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Text 8">
            <a:extLst>
              <a:ext uri="{FF2B5EF4-FFF2-40B4-BE49-F238E27FC236}">
                <a16:creationId xmlns:a16="http://schemas.microsoft.com/office/drawing/2014/main" id="{17A874CB-CA7D-0487-5D3E-2BB2D0068406}"/>
              </a:ext>
            </a:extLst>
          </p:cNvPr>
          <p:cNvSpPr txBox="1"/>
          <p:nvPr/>
        </p:nvSpPr>
        <p:spPr>
          <a:xfrm>
            <a:off x="699516" y="24368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29" name="Shape 7">
            <a:extLst>
              <a:ext uri="{FF2B5EF4-FFF2-40B4-BE49-F238E27FC236}">
                <a16:creationId xmlns:a16="http://schemas.microsoft.com/office/drawing/2014/main" id="{7ED05C1A-A5A7-C8A6-5920-62794EAAC1E6}"/>
              </a:ext>
            </a:extLst>
          </p:cNvPr>
          <p:cNvSpPr/>
          <p:nvPr/>
        </p:nvSpPr>
        <p:spPr>
          <a:xfrm>
            <a:off x="699516" y="3300984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Text 8">
            <a:extLst>
              <a:ext uri="{FF2B5EF4-FFF2-40B4-BE49-F238E27FC236}">
                <a16:creationId xmlns:a16="http://schemas.microsoft.com/office/drawing/2014/main" id="{EFDA2D27-5F26-4826-EC47-934C1BFD93FA}"/>
              </a:ext>
            </a:extLst>
          </p:cNvPr>
          <p:cNvSpPr txBox="1"/>
          <p:nvPr/>
        </p:nvSpPr>
        <p:spPr>
          <a:xfrm>
            <a:off x="699516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1" name="Shape 7">
            <a:extLst>
              <a:ext uri="{FF2B5EF4-FFF2-40B4-BE49-F238E27FC236}">
                <a16:creationId xmlns:a16="http://schemas.microsoft.com/office/drawing/2014/main" id="{7DAB960C-8986-46DE-8413-3245C59A63BD}"/>
              </a:ext>
            </a:extLst>
          </p:cNvPr>
          <p:cNvSpPr/>
          <p:nvPr/>
        </p:nvSpPr>
        <p:spPr>
          <a:xfrm>
            <a:off x="699516" y="416052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Text 8">
            <a:extLst>
              <a:ext uri="{FF2B5EF4-FFF2-40B4-BE49-F238E27FC236}">
                <a16:creationId xmlns:a16="http://schemas.microsoft.com/office/drawing/2014/main" id="{0576A77F-91BC-08DD-3723-6FB217A03332}"/>
              </a:ext>
            </a:extLst>
          </p:cNvPr>
          <p:cNvSpPr txBox="1"/>
          <p:nvPr/>
        </p:nvSpPr>
        <p:spPr>
          <a:xfrm>
            <a:off x="699516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SHERMAN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8499348" y="347472"/>
            <a:ext cx="3140964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8499348" y="347472"/>
            <a:ext cx="31409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EXPLORE AND MAP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map that closes within 12 mm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FAST-LIVO2 fuses LiDAR, IMU and colour camera into one 3D pose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SLAM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</a:t>
            </a:r>
            <a:endParaRPr lang="en-US" sz="1400"/>
          </a:p>
        </p:txBody>
      </p:sp>
      <p:sp>
        <p:nvSpPr>
          <p:cNvPr id="21" name="Text 18"/>
          <p:cNvSpPr txBox="1"/>
          <p:nvPr/>
        </p:nvSpPr>
        <p:spPr>
          <a:xfrm>
            <a:off x="2697480" y="5742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Hand-pushed 26 m loop, 20 Oct. Orange = path, ring = start and end.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</a:t>
            </a:r>
            <a:endParaRPr lang="en-US" sz="1100"/>
          </a:p>
        </p:txBody>
      </p:sp>
      <p:sp>
        <p:nvSpPr>
          <p:cNvPr id="24" name="Text 21"/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mm</a:t>
            </a:r>
            <a:endParaRPr lang="en-US" sz="5000"/>
          </a:p>
        </p:txBody>
      </p:sp>
      <p:sp>
        <p:nvSpPr>
          <p:cNvPr id="25" name="Text 22"/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start after 26 m</a:t>
            </a:r>
            <a:endParaRPr lang="en-US" sz="1300"/>
          </a:p>
        </p:txBody>
      </p:sp>
      <p:sp>
        <p:nvSpPr>
          <p:cNvPr id="26" name="Shape 23"/>
          <p:cNvSpPr/>
          <p:nvPr/>
        </p:nvSpPr>
        <p:spPr>
          <a:xfrm>
            <a:off x="8412480" y="3794760"/>
            <a:ext cx="3227832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8577072" y="400050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4101084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9189720" y="389991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cm</a:t>
            </a:r>
            <a:endParaRPr lang="en-US" sz="2000"/>
          </a:p>
        </p:txBody>
      </p:sp>
      <p:sp>
        <p:nvSpPr>
          <p:cNvPr id="30" name="Text 26"/>
          <p:cNvSpPr txBox="1"/>
          <p:nvPr/>
        </p:nvSpPr>
        <p:spPr>
          <a:xfrm>
            <a:off x="9189720" y="42473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error mid-route</a:t>
            </a:r>
            <a:endParaRPr lang="en-US" sz="1200"/>
          </a:p>
        </p:txBody>
      </p:sp>
      <p:sp>
        <p:nvSpPr>
          <p:cNvPr id="31" name="Shape 27"/>
          <p:cNvSpPr/>
          <p:nvPr/>
        </p:nvSpPr>
        <p:spPr>
          <a:xfrm>
            <a:off x="8412480" y="4800600"/>
            <a:ext cx="3227832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8"/>
          <p:cNvSpPr/>
          <p:nvPr/>
        </p:nvSpPr>
        <p:spPr>
          <a:xfrm>
            <a:off x="8577072" y="500634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5106924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189720" y="490575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11–14 ms</a:t>
            </a:r>
            <a:endParaRPr lang="en-US" sz="2000"/>
          </a:p>
        </p:txBody>
      </p:sp>
      <p:sp>
        <p:nvSpPr>
          <p:cNvPr id="35" name="Text 30"/>
          <p:cNvSpPr txBox="1"/>
          <p:nvPr/>
        </p:nvSpPr>
        <p:spPr>
          <a:xfrm>
            <a:off x="9189720" y="52532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 on CPU (budget 100)</a:t>
            </a:r>
            <a:endParaRPr lang="en-US" sz="1200"/>
          </a:p>
        </p:txBody>
      </p:sp>
      <p:sp>
        <p:nvSpPr>
          <p:cNvPr id="36" name="Shape 31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38" name="Shape 33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40" name="Shape 35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6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42" name="Shape 37"/>
          <p:cNvSpPr/>
          <p:nvPr/>
        </p:nvSpPr>
        <p:spPr>
          <a:xfrm>
            <a:off x="4753737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44" name="Shape 39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46" name="Shape 41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2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48" name="Shape 43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50" name="Shape 45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52" name="Text 47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ED0DEC5-1E40-EA1A-CA93-3000599B2E4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8040" t="545" r="12609"/>
          <a:stretch>
            <a:fillRect/>
          </a:stretch>
        </p:blipFill>
        <p:spPr>
          <a:xfrm>
            <a:off x="2697481" y="1874521"/>
            <a:ext cx="5486399" cy="3867912"/>
          </a:xfrm>
          <a:prstGeom prst="rect">
            <a:avLst/>
          </a:prstGeom>
          <a:effectLst>
            <a:reflection stA="0" endPos="65000" dist="50800" dir="5400000" sy="-100000" algn="bl" rotWithShape="0"/>
            <a:softEdge rad="12700"/>
          </a:effectLst>
        </p:spPr>
      </p:pic>
      <p:sp>
        <p:nvSpPr>
          <p:cNvPr id="59" name="Shape 14">
            <a:extLst>
              <a:ext uri="{FF2B5EF4-FFF2-40B4-BE49-F238E27FC236}">
                <a16:creationId xmlns:a16="http://schemas.microsoft.com/office/drawing/2014/main" id="{38FF907A-6177-D972-1BAC-455162464F86}"/>
              </a:ext>
            </a:extLst>
          </p:cNvPr>
          <p:cNvSpPr/>
          <p:nvPr/>
        </p:nvSpPr>
        <p:spPr>
          <a:xfrm>
            <a:off x="548640" y="393192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6EED7AE8-7243-F89C-B78A-5F98CCF07490}"/>
              </a:ext>
            </a:extLst>
          </p:cNvPr>
          <p:cNvSpPr txBox="1"/>
          <p:nvPr/>
        </p:nvSpPr>
        <p:spPr>
          <a:xfrm>
            <a:off x="713232" y="4069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1C3855B1-8630-5730-5021-51531C820190}"/>
              </a:ext>
            </a:extLst>
          </p:cNvPr>
          <p:cNvSpPr txBox="1"/>
          <p:nvPr/>
        </p:nvSpPr>
        <p:spPr>
          <a:xfrm>
            <a:off x="713232" y="4315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by hand, not yet driven by Nav2</a:t>
            </a:r>
            <a:endParaRPr lang="en-US" sz="1300"/>
          </a:p>
        </p:txBody>
      </p:sp>
      <p:sp>
        <p:nvSpPr>
          <p:cNvPr id="62" name="Text 17">
            <a:extLst>
              <a:ext uri="{FF2B5EF4-FFF2-40B4-BE49-F238E27FC236}">
                <a16:creationId xmlns:a16="http://schemas.microsoft.com/office/drawing/2014/main" id="{1CCAFED8-26E3-209A-B008-F966A38CC8F3}"/>
              </a:ext>
            </a:extLst>
          </p:cNvPr>
          <p:cNvSpPr txBox="1"/>
          <p:nvPr/>
        </p:nvSpPr>
        <p:spPr>
          <a:xfrm>
            <a:off x="713232" y="4919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6821EBFA-58AC-C829-67CC-E7D6B9836AE5}"/>
              </a:ext>
            </a:extLst>
          </p:cNvPr>
          <p:cNvSpPr txBox="1"/>
          <p:nvPr/>
        </p:nvSpPr>
        <p:spPr>
          <a:xfrm>
            <a:off x="713232" y="5166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drives it. The memory graph picks where to explore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SHERMAN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8499348" y="347472"/>
            <a:ext cx="3140964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8499348" y="347472"/>
            <a:ext cx="31409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EXPLORE AND MAP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left to calibrate, and the graph depends on it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missing calibration blocks a specific later step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SLAM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713232" y="4069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713232" y="4315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camera not yet calibrated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713232" y="4919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713232" y="5166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on a target, check by overlaying LiDAR points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2697480" y="187452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880360" y="5440680"/>
            <a:ext cx="5120640" cy="914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971800" y="4480560"/>
            <a:ext cx="3017520" cy="658368"/>
          </a:xfrm>
          <a:prstGeom prst="roundRect">
            <a:avLst>
              <a:gd name="adj" fmla="val 13889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971800" y="4480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3246120" y="5120640"/>
            <a:ext cx="329184" cy="32918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349240" y="5120640"/>
            <a:ext cx="329184" cy="32918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120640" y="411480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5120640" y="41148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5989320" y="4617720"/>
            <a:ext cx="256032" cy="274320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309360" y="4645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camera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 flipV="1">
            <a:off x="3611880" y="3246120"/>
            <a:ext cx="914" cy="1234440"/>
          </a:xfrm>
          <a:prstGeom prst="line">
            <a:avLst/>
          </a:prstGeom>
          <a:noFill/>
          <a:ln w="889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 flipV="1">
            <a:off x="3611880" y="2606040"/>
            <a:ext cx="960120" cy="640080"/>
          </a:xfrm>
          <a:prstGeom prst="line">
            <a:avLst/>
          </a:prstGeom>
          <a:noFill/>
          <a:ln w="889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572000" y="2606040"/>
            <a:ext cx="274320" cy="320040"/>
          </a:xfrm>
          <a:prstGeom prst="line">
            <a:avLst/>
          </a:prstGeom>
          <a:noFill/>
          <a:ln w="635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516636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camera</a:t>
            </a:r>
            <a:endParaRPr lang="en-US" sz="1100"/>
          </a:p>
        </p:txBody>
      </p:sp>
      <p:sp>
        <p:nvSpPr>
          <p:cNvPr id="36" name="Text 34"/>
          <p:cNvSpPr txBox="1"/>
          <p:nvPr/>
        </p:nvSpPr>
        <p:spPr>
          <a:xfrm>
            <a:off x="3017520" y="34290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7406640" y="2743200"/>
            <a:ext cx="365760" cy="365760"/>
          </a:xfrm>
          <a:prstGeom prst="ellipse">
            <a:avLst/>
          </a:prstGeom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406640" y="2871216"/>
            <a:ext cx="274320" cy="73152"/>
          </a:xfrm>
          <a:prstGeom prst="rect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589520" y="3108960"/>
            <a:ext cx="914" cy="128016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 flipH="1">
            <a:off x="7315200" y="3383280"/>
            <a:ext cx="274320" cy="50292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7589520" y="3383280"/>
            <a:ext cx="274320" cy="50292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 flipH="1">
            <a:off x="7360920" y="4389120"/>
            <a:ext cx="228600" cy="105156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589520" y="4389120"/>
            <a:ext cx="228600" cy="105156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 txBox="1"/>
          <p:nvPr/>
        </p:nvSpPr>
        <p:spPr>
          <a:xfrm>
            <a:off x="699516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glasses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 flipH="1">
            <a:off x="5715000" y="2926080"/>
            <a:ext cx="1673352" cy="1143000"/>
          </a:xfrm>
          <a:prstGeom prst="line">
            <a:avLst/>
          </a:prstGeom>
          <a:noFill/>
          <a:ln w="254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 flipV="1">
            <a:off x="5641848" y="4069080"/>
            <a:ext cx="594360" cy="22860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 flipH="1">
            <a:off x="6126480" y="4069080"/>
            <a:ext cx="109728" cy="54864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3127248" y="4005072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 txBox="1"/>
          <p:nvPr/>
        </p:nvSpPr>
        <p:spPr>
          <a:xfrm>
            <a:off x="3127248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50" name="Shape 48"/>
          <p:cNvSpPr/>
          <p:nvPr/>
        </p:nvSpPr>
        <p:spPr>
          <a:xfrm>
            <a:off x="4096512" y="3154680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 txBox="1"/>
          <p:nvPr/>
        </p:nvSpPr>
        <p:spPr>
          <a:xfrm>
            <a:off x="4096512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52" name="Shape 50"/>
          <p:cNvSpPr/>
          <p:nvPr/>
        </p:nvSpPr>
        <p:spPr>
          <a:xfrm>
            <a:off x="6446520" y="3310128"/>
            <a:ext cx="329184" cy="329184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 txBox="1"/>
          <p:nvPr/>
        </p:nvSpPr>
        <p:spPr>
          <a:xfrm>
            <a:off x="644652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54" name="Shape 52"/>
          <p:cNvSpPr/>
          <p:nvPr/>
        </p:nvSpPr>
        <p:spPr>
          <a:xfrm>
            <a:off x="6108192" y="3803904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6108192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56" name="Shape 54"/>
          <p:cNvSpPr/>
          <p:nvPr/>
        </p:nvSpPr>
        <p:spPr>
          <a:xfrm>
            <a:off x="2697480" y="578815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 txBox="1"/>
          <p:nvPr/>
        </p:nvSpPr>
        <p:spPr>
          <a:xfrm>
            <a:off x="2898648" y="5742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/>
          </a:p>
        </p:txBody>
      </p:sp>
      <p:sp>
        <p:nvSpPr>
          <p:cNvPr id="58" name="Shape 56"/>
          <p:cNvSpPr/>
          <p:nvPr/>
        </p:nvSpPr>
        <p:spPr>
          <a:xfrm>
            <a:off x="3657600" y="578815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3858768" y="5742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way</a:t>
            </a:r>
            <a:endParaRPr lang="en-US" sz="1100"/>
          </a:p>
        </p:txBody>
      </p:sp>
      <p:sp>
        <p:nvSpPr>
          <p:cNvPr id="60" name="Shape 58"/>
          <p:cNvSpPr/>
          <p:nvPr/>
        </p:nvSpPr>
        <p:spPr>
          <a:xfrm>
            <a:off x="4617720" y="5788152"/>
            <a:ext cx="146304" cy="146304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 txBox="1"/>
          <p:nvPr/>
        </p:nvSpPr>
        <p:spPr>
          <a:xfrm>
            <a:off x="4818888" y="5742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/>
          </a:p>
        </p:txBody>
      </p:sp>
      <p:sp>
        <p:nvSpPr>
          <p:cNvPr id="62" name="Shape 60"/>
          <p:cNvSpPr/>
          <p:nvPr/>
        </p:nvSpPr>
        <p:spPr>
          <a:xfrm>
            <a:off x="8412480" y="1874520"/>
            <a:ext cx="3227832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8549640" y="2011680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 txBox="1"/>
          <p:nvPr/>
        </p:nvSpPr>
        <p:spPr>
          <a:xfrm>
            <a:off x="8549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65" name="Text 63"/>
          <p:cNvSpPr txBox="1"/>
          <p:nvPr/>
        </p:nvSpPr>
        <p:spPr>
          <a:xfrm>
            <a:off x="8979408" y="19659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to arm</a:t>
            </a:r>
            <a:endParaRPr lang="en-US" sz="1400"/>
          </a:p>
        </p:txBody>
      </p:sp>
      <p:sp>
        <p:nvSpPr>
          <p:cNvPr id="66" name="Text 64"/>
          <p:cNvSpPr txBox="1"/>
          <p:nvPr/>
        </p:nvSpPr>
        <p:spPr>
          <a:xfrm>
            <a:off x="8979408" y="221284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100"/>
          </a:p>
        </p:txBody>
      </p:sp>
      <p:sp>
        <p:nvSpPr>
          <p:cNvPr id="67" name="Text 65"/>
          <p:cNvSpPr txBox="1"/>
          <p:nvPr/>
        </p:nvSpPr>
        <p:spPr>
          <a:xfrm>
            <a:off x="8979408" y="240487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and base agree on where things are</a:t>
            </a:r>
            <a:endParaRPr lang="en-US" sz="1100"/>
          </a:p>
        </p:txBody>
      </p:sp>
      <p:sp>
        <p:nvSpPr>
          <p:cNvPr id="68" name="Shape 66"/>
          <p:cNvSpPr/>
          <p:nvPr/>
        </p:nvSpPr>
        <p:spPr>
          <a:xfrm>
            <a:off x="8412480" y="2852928"/>
            <a:ext cx="3227832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8549640" y="2990088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 txBox="1"/>
          <p:nvPr/>
        </p:nvSpPr>
        <p:spPr>
          <a:xfrm>
            <a:off x="85496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71" name="Text 69"/>
          <p:cNvSpPr txBox="1"/>
          <p:nvPr/>
        </p:nvSpPr>
        <p:spPr>
          <a:xfrm>
            <a:off x="8979408" y="29443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camera to arm</a:t>
            </a:r>
            <a:endParaRPr lang="en-US" sz="1400"/>
          </a:p>
        </p:txBody>
      </p:sp>
      <p:sp>
        <p:nvSpPr>
          <p:cNvPr id="72" name="Text 70"/>
          <p:cNvSpPr txBox="1"/>
          <p:nvPr/>
        </p:nvSpPr>
        <p:spPr>
          <a:xfrm>
            <a:off x="8979408" y="319125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100"/>
          </a:p>
        </p:txBody>
      </p:sp>
      <p:sp>
        <p:nvSpPr>
          <p:cNvPr id="73" name="Text 71"/>
          <p:cNvSpPr txBox="1"/>
          <p:nvPr/>
        </p:nvSpPr>
        <p:spPr>
          <a:xfrm>
            <a:off x="8979408" y="33832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grasp the camera sees, the arm can reach</a:t>
            </a:r>
            <a:endParaRPr lang="en-US" sz="1100"/>
          </a:p>
        </p:txBody>
      </p:sp>
      <p:sp>
        <p:nvSpPr>
          <p:cNvPr id="74" name="Shape 72"/>
          <p:cNvSpPr/>
          <p:nvPr/>
        </p:nvSpPr>
        <p:spPr>
          <a:xfrm>
            <a:off x="8412480" y="3831336"/>
            <a:ext cx="3227832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8549640" y="3968496"/>
            <a:ext cx="329184" cy="329184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 txBox="1"/>
          <p:nvPr/>
        </p:nvSpPr>
        <p:spPr>
          <a:xfrm>
            <a:off x="85496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77" name="Text 75"/>
          <p:cNvSpPr txBox="1"/>
          <p:nvPr/>
        </p:nvSpPr>
        <p:spPr>
          <a:xfrm>
            <a:off x="8979408" y="39227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to robot</a:t>
            </a:r>
            <a:endParaRPr lang="en-US" sz="1400"/>
          </a:p>
        </p:txBody>
      </p:sp>
      <p:sp>
        <p:nvSpPr>
          <p:cNvPr id="78" name="Text 76"/>
          <p:cNvSpPr txBox="1"/>
          <p:nvPr/>
        </p:nvSpPr>
        <p:spPr>
          <a:xfrm>
            <a:off x="8979408" y="4169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/>
          </a:p>
        </p:txBody>
      </p:sp>
      <p:sp>
        <p:nvSpPr>
          <p:cNvPr id="79" name="Text 77"/>
          <p:cNvSpPr txBox="1"/>
          <p:nvPr/>
        </p:nvSpPr>
        <p:spPr>
          <a:xfrm>
            <a:off x="8979408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between identical objects</a:t>
            </a:r>
            <a:endParaRPr lang="en-US" sz="1100"/>
          </a:p>
        </p:txBody>
      </p:sp>
      <p:sp>
        <p:nvSpPr>
          <p:cNvPr id="80" name="Shape 78"/>
          <p:cNvSpPr/>
          <p:nvPr/>
        </p:nvSpPr>
        <p:spPr>
          <a:xfrm>
            <a:off x="8412480" y="4809744"/>
            <a:ext cx="3227832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8549640" y="4946904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 txBox="1"/>
          <p:nvPr/>
        </p:nvSpPr>
        <p:spPr>
          <a:xfrm>
            <a:off x="8549640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83" name="Text 81"/>
          <p:cNvSpPr txBox="1"/>
          <p:nvPr/>
        </p:nvSpPr>
        <p:spPr>
          <a:xfrm>
            <a:off x="8979408" y="49011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camera to LiDAR</a:t>
            </a:r>
            <a:endParaRPr lang="en-US" sz="1400"/>
          </a:p>
        </p:txBody>
      </p:sp>
      <p:sp>
        <p:nvSpPr>
          <p:cNvPr id="84" name="Text 82"/>
          <p:cNvSpPr txBox="1"/>
          <p:nvPr/>
        </p:nvSpPr>
        <p:spPr>
          <a:xfrm>
            <a:off x="8979408" y="51480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measured, not calibrated</a:t>
            </a:r>
            <a:endParaRPr lang="en-US" sz="1100"/>
          </a:p>
        </p:txBody>
      </p:sp>
      <p:sp>
        <p:nvSpPr>
          <p:cNvPr id="85" name="Text 83"/>
          <p:cNvSpPr txBox="1"/>
          <p:nvPr/>
        </p:nvSpPr>
        <p:spPr>
          <a:xfrm>
            <a:off x="8979408" y="534009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object its depth in the graph</a:t>
            </a:r>
            <a:endParaRPr lang="en-US" sz="1100"/>
          </a:p>
        </p:txBody>
      </p:sp>
      <p:sp>
        <p:nvSpPr>
          <p:cNvPr id="86" name="Shape 84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88" name="Shape 86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Text 87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90" name="Shape 88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92" name="Shape 90"/>
          <p:cNvSpPr/>
          <p:nvPr/>
        </p:nvSpPr>
        <p:spPr>
          <a:xfrm>
            <a:off x="4753737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94" name="Shape 92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5" name="Text 93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96" name="Shape 94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7" name="Text 95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98" name="Shape 96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00" name="Shape 98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02" name="Text 100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 the robot drives, it builds a memory of objects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gets a 3D position and a CLIP image feature, built from the recorded drive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memory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 memory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13232" y="4572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3232" y="4818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offline from a recorded drive. Not yet live while driving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345168" y="1874520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KEPT PHOTO, FRAME 700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4" name="Image 0" descr="SAM 3 masks on one kept photo, frame 7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2194560"/>
            <a:ext cx="2295144" cy="1709928"/>
          </a:xfrm>
          <a:prstGeom prst="rect">
            <a:avLst/>
          </a:prstGeom>
        </p:spPr>
      </p:pic>
      <p:pic>
        <p:nvPicPr>
          <p:cNvPr id="25" name="Image 1" descr="The same objects placed in 3D on the LiDAR 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4187952"/>
            <a:ext cx="2295144" cy="170992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492740" y="3941064"/>
            <a:ext cx="914" cy="2103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4753737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30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4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 36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 38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 40"/>
          <p:cNvSpPr txBox="1"/>
          <p:nvPr/>
        </p:nvSpPr>
        <p:spPr>
          <a:xfrm>
            <a:off x="269748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THE GRAPH IS BUILT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2697480" y="2194560"/>
            <a:ext cx="635508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2834640" y="2359152"/>
            <a:ext cx="1106424" cy="1682496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3113532" y="2514600"/>
            <a:ext cx="548640" cy="54864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4233" y="2635301"/>
            <a:ext cx="307238" cy="307238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2862072" y="3127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a photo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 45"/>
          <p:cNvSpPr txBox="1"/>
          <p:nvPr/>
        </p:nvSpPr>
        <p:spPr>
          <a:xfrm>
            <a:off x="2880360" y="36118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1 m or 45°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Shape 46"/>
          <p:cNvSpPr/>
          <p:nvPr/>
        </p:nvSpPr>
        <p:spPr>
          <a:xfrm>
            <a:off x="3968496" y="3200400"/>
            <a:ext cx="8229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Shape 47"/>
          <p:cNvSpPr/>
          <p:nvPr/>
        </p:nvSpPr>
        <p:spPr>
          <a:xfrm>
            <a:off x="4078224" y="2359152"/>
            <a:ext cx="1106424" cy="1682496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Shape 48"/>
          <p:cNvSpPr/>
          <p:nvPr/>
        </p:nvSpPr>
        <p:spPr>
          <a:xfrm>
            <a:off x="4357116" y="2514600"/>
            <a:ext cx="548640" cy="54864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817" y="2635301"/>
            <a:ext cx="307238" cy="30723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4105656" y="3127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 objects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 50"/>
          <p:cNvSpPr txBox="1"/>
          <p:nvPr/>
        </p:nvSpPr>
        <p:spPr>
          <a:xfrm>
            <a:off x="4123944" y="36118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 3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Shape 51"/>
          <p:cNvSpPr/>
          <p:nvPr/>
        </p:nvSpPr>
        <p:spPr>
          <a:xfrm>
            <a:off x="5212080" y="3200400"/>
            <a:ext cx="8229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Shape 52"/>
          <p:cNvSpPr/>
          <p:nvPr/>
        </p:nvSpPr>
        <p:spPr>
          <a:xfrm>
            <a:off x="5321808" y="2359152"/>
            <a:ext cx="1106424" cy="1682496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Shape 53"/>
          <p:cNvSpPr/>
          <p:nvPr/>
        </p:nvSpPr>
        <p:spPr>
          <a:xfrm>
            <a:off x="5600700" y="2514600"/>
            <a:ext cx="548640" cy="54864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1401" y="2635301"/>
            <a:ext cx="307238" cy="307238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5349240" y="3127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Place in 3D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 55"/>
          <p:cNvSpPr txBox="1"/>
          <p:nvPr/>
        </p:nvSpPr>
        <p:spPr>
          <a:xfrm>
            <a:off x="5367528" y="36118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LiDAR depth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Shape 56"/>
          <p:cNvSpPr/>
          <p:nvPr/>
        </p:nvSpPr>
        <p:spPr>
          <a:xfrm>
            <a:off x="6455664" y="3200400"/>
            <a:ext cx="8229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Shape 57"/>
          <p:cNvSpPr/>
          <p:nvPr/>
        </p:nvSpPr>
        <p:spPr>
          <a:xfrm>
            <a:off x="6565392" y="2359152"/>
            <a:ext cx="1106424" cy="1682496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Shape 58"/>
          <p:cNvSpPr/>
          <p:nvPr/>
        </p:nvSpPr>
        <p:spPr>
          <a:xfrm>
            <a:off x="6844284" y="2514600"/>
            <a:ext cx="548640" cy="54864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985" y="2635301"/>
            <a:ext cx="307238" cy="307238"/>
          </a:xfrm>
          <a:prstGeom prst="rect">
            <a:avLst/>
          </a:prstGeom>
        </p:spPr>
      </p:pic>
      <p:sp>
        <p:nvSpPr>
          <p:cNvPr id="67" name="Text 59"/>
          <p:cNvSpPr txBox="1"/>
          <p:nvPr/>
        </p:nvSpPr>
        <p:spPr>
          <a:xfrm>
            <a:off x="6592824" y="3127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 60"/>
          <p:cNvSpPr txBox="1"/>
          <p:nvPr/>
        </p:nvSpPr>
        <p:spPr>
          <a:xfrm>
            <a:off x="6611112" y="36118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CLIP feature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7699248" y="3200400"/>
            <a:ext cx="8229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Shape 62"/>
          <p:cNvSpPr/>
          <p:nvPr/>
        </p:nvSpPr>
        <p:spPr>
          <a:xfrm>
            <a:off x="7808976" y="2359152"/>
            <a:ext cx="1106424" cy="1682496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Shape 63"/>
          <p:cNvSpPr/>
          <p:nvPr/>
        </p:nvSpPr>
        <p:spPr>
          <a:xfrm>
            <a:off x="8087868" y="2514600"/>
            <a:ext cx="548640" cy="54864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8569" y="2635301"/>
            <a:ext cx="307238" cy="307238"/>
          </a:xfrm>
          <a:prstGeom prst="rect">
            <a:avLst/>
          </a:prstGeom>
        </p:spPr>
      </p:pic>
      <p:sp>
        <p:nvSpPr>
          <p:cNvPr id="73" name="Text 64"/>
          <p:cNvSpPr txBox="1"/>
          <p:nvPr/>
        </p:nvSpPr>
        <p:spPr>
          <a:xfrm>
            <a:off x="7836408" y="3127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 repeats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 65"/>
          <p:cNvSpPr txBox="1"/>
          <p:nvPr/>
        </p:nvSpPr>
        <p:spPr>
          <a:xfrm>
            <a:off x="7854696" y="36118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mostly by position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Shape 66"/>
          <p:cNvSpPr/>
          <p:nvPr/>
        </p:nvSpPr>
        <p:spPr>
          <a:xfrm>
            <a:off x="2697480" y="4434840"/>
            <a:ext cx="3086100" cy="960120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Shape 67"/>
          <p:cNvSpPr/>
          <p:nvPr/>
        </p:nvSpPr>
        <p:spPr>
          <a:xfrm>
            <a:off x="2862072" y="468630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2656" y="4786884"/>
            <a:ext cx="256032" cy="256032"/>
          </a:xfrm>
          <a:prstGeom prst="rect">
            <a:avLst/>
          </a:prstGeom>
        </p:spPr>
      </p:pic>
      <p:sp>
        <p:nvSpPr>
          <p:cNvPr id="78" name="Text 68"/>
          <p:cNvSpPr txBox="1"/>
          <p:nvPr/>
        </p:nvSpPr>
        <p:spPr>
          <a:xfrm>
            <a:off x="3474720" y="4585716"/>
            <a:ext cx="2171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29 of 3,536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 69"/>
          <p:cNvSpPr txBox="1"/>
          <p:nvPr/>
        </p:nvSpPr>
        <p:spPr>
          <a:xfrm>
            <a:off x="3474720" y="4933188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photos kept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Shape 70"/>
          <p:cNvSpPr/>
          <p:nvPr/>
        </p:nvSpPr>
        <p:spPr>
          <a:xfrm>
            <a:off x="5966460" y="4434840"/>
            <a:ext cx="3086100" cy="960120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Shape 71"/>
          <p:cNvSpPr/>
          <p:nvPr/>
        </p:nvSpPr>
        <p:spPr>
          <a:xfrm>
            <a:off x="6131052" y="468630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1636" y="4786884"/>
            <a:ext cx="256032" cy="256032"/>
          </a:xfrm>
          <a:prstGeom prst="rect">
            <a:avLst/>
          </a:prstGeom>
        </p:spPr>
      </p:pic>
      <p:sp>
        <p:nvSpPr>
          <p:cNvPr id="83" name="Text 72"/>
          <p:cNvSpPr txBox="1"/>
          <p:nvPr/>
        </p:nvSpPr>
        <p:spPr>
          <a:xfrm>
            <a:off x="6743700" y="4585716"/>
            <a:ext cx="2171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5.7× faster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73"/>
          <p:cNvSpPr txBox="1"/>
          <p:nvPr/>
        </p:nvSpPr>
        <p:spPr>
          <a:xfrm>
            <a:off x="6743700" y="4933188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 classes in one SAM 3 pass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74"/>
          <p:cNvSpPr txBox="1"/>
          <p:nvPr/>
        </p:nvSpPr>
        <p:spPr>
          <a:xfrm>
            <a:off x="2697480" y="562356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these are: Check accuracy, two slides 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Shape 1">
            <a:extLst>
              <a:ext uri="{FF2B5EF4-FFF2-40B4-BE49-F238E27FC236}">
                <a16:creationId xmlns:a16="http://schemas.microsoft.com/office/drawing/2014/main" id="{C99ABC6A-41DD-2072-9F19-404C7AA4BF51}"/>
              </a:ext>
            </a:extLst>
          </p:cNvPr>
          <p:cNvSpPr/>
          <p:nvPr/>
        </p:nvSpPr>
        <p:spPr>
          <a:xfrm>
            <a:off x="9363456" y="347472"/>
            <a:ext cx="227685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BA07D756-5ECA-3515-64E5-7B8D5DD4C499}"/>
              </a:ext>
            </a:extLst>
          </p:cNvPr>
          <p:cNvSpPr txBox="1"/>
          <p:nvPr/>
        </p:nvSpPr>
        <p:spPr>
          <a:xfrm>
            <a:off x="9363456" y="34747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SEARCH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 the robot drives, it builds a memory of objects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from the drive, then asked for every new prompt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memory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 memory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13232" y="4572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3232" y="4818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offline from a recorded drive. Not yet live while driving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3737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269748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 BUILDING THE GRAPH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697480" y="21945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697480" y="233172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898648" y="2496312"/>
            <a:ext cx="493776" cy="493776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279" y="2604943"/>
            <a:ext cx="276515" cy="276515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3520440" y="2377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Recorded photos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35204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29 kept from the drive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9262872" y="21945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9262872" y="233172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9464040" y="2496312"/>
            <a:ext cx="493776" cy="493776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71" y="2604943"/>
            <a:ext cx="276515" cy="276515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0085832" y="2377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Objects in 3D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 48"/>
          <p:cNvSpPr txBox="1"/>
          <p:nvPr/>
        </p:nvSpPr>
        <p:spPr>
          <a:xfrm>
            <a:off x="10085832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CLIP feature and position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5148072" y="2743200"/>
            <a:ext cx="466344" cy="914"/>
          </a:xfrm>
          <a:prstGeom prst="line">
            <a:avLst/>
          </a:prstGeom>
          <a:noFill/>
          <a:ln w="34925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8741664" y="2743200"/>
            <a:ext cx="448056" cy="914"/>
          </a:xfrm>
          <a:prstGeom prst="line">
            <a:avLst/>
          </a:prstGeom>
          <a:noFill/>
          <a:ln w="34925">
            <a:solidFill>
              <a:srgbClr val="0891B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 51"/>
          <p:cNvSpPr txBox="1"/>
          <p:nvPr/>
        </p:nvSpPr>
        <p:spPr>
          <a:xfrm>
            <a:off x="269748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 ANSWERING A PROMPT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Shape 52"/>
          <p:cNvSpPr/>
          <p:nvPr/>
        </p:nvSpPr>
        <p:spPr>
          <a:xfrm>
            <a:off x="2697480" y="434340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2697480" y="4480560"/>
            <a:ext cx="54864" cy="822960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Shape 54"/>
          <p:cNvSpPr/>
          <p:nvPr/>
        </p:nvSpPr>
        <p:spPr>
          <a:xfrm>
            <a:off x="2898648" y="4645152"/>
            <a:ext cx="493776" cy="493776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279" y="4753783"/>
            <a:ext cx="276515" cy="276515"/>
          </a:xfrm>
          <a:prstGeom prst="rect">
            <a:avLst/>
          </a:prstGeom>
        </p:spPr>
      </p:pic>
      <p:sp>
        <p:nvSpPr>
          <p:cNvPr id="60" name="Text 55"/>
          <p:cNvSpPr txBox="1"/>
          <p:nvPr/>
        </p:nvSpPr>
        <p:spPr>
          <a:xfrm>
            <a:off x="3520440" y="4526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 56"/>
          <p:cNvSpPr txBox="1"/>
          <p:nvPr/>
        </p:nvSpPr>
        <p:spPr>
          <a:xfrm>
            <a:off x="352044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box”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Shape 57"/>
          <p:cNvSpPr/>
          <p:nvPr/>
        </p:nvSpPr>
        <p:spPr>
          <a:xfrm>
            <a:off x="9262872" y="434340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Shape 58"/>
          <p:cNvSpPr/>
          <p:nvPr/>
        </p:nvSpPr>
        <p:spPr>
          <a:xfrm>
            <a:off x="9262872" y="4480560"/>
            <a:ext cx="54864" cy="822960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Shape 59"/>
          <p:cNvSpPr/>
          <p:nvPr/>
        </p:nvSpPr>
        <p:spPr>
          <a:xfrm>
            <a:off x="9464040" y="4645152"/>
            <a:ext cx="493776" cy="493776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71" y="4753783"/>
            <a:ext cx="276515" cy="276515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10085832" y="4526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62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 61"/>
          <p:cNvSpPr txBox="1"/>
          <p:nvPr/>
        </p:nvSpPr>
        <p:spPr>
          <a:xfrm>
            <a:off x="10085832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objects and their positions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Shape 62"/>
          <p:cNvSpPr/>
          <p:nvPr/>
        </p:nvSpPr>
        <p:spPr>
          <a:xfrm>
            <a:off x="5148072" y="4892040"/>
            <a:ext cx="466344" cy="914"/>
          </a:xfrm>
          <a:prstGeom prst="line">
            <a:avLst/>
          </a:prstGeom>
          <a:noFill/>
          <a:ln w="34925">
            <a:solidFill>
              <a:srgbClr val="0068B5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Shape 63"/>
          <p:cNvSpPr/>
          <p:nvPr/>
        </p:nvSpPr>
        <p:spPr>
          <a:xfrm>
            <a:off x="8741664" y="4892040"/>
            <a:ext cx="448056" cy="914"/>
          </a:xfrm>
          <a:prstGeom prst="line">
            <a:avLst/>
          </a:prstGeom>
          <a:noFill/>
          <a:ln w="34925">
            <a:solidFill>
              <a:srgbClr val="0068B5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Shape 64"/>
          <p:cNvSpPr/>
          <p:nvPr/>
        </p:nvSpPr>
        <p:spPr>
          <a:xfrm>
            <a:off x="5669280" y="2194560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162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 65"/>
          <p:cNvSpPr txBox="1"/>
          <p:nvPr/>
        </p:nvSpPr>
        <p:spPr>
          <a:xfrm>
            <a:off x="5669280" y="2359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MEMORY GRAPH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Shape 66"/>
          <p:cNvSpPr/>
          <p:nvPr/>
        </p:nvSpPr>
        <p:spPr>
          <a:xfrm flipV="1">
            <a:off x="6574536" y="2834640"/>
            <a:ext cx="996696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Shape 67"/>
          <p:cNvSpPr/>
          <p:nvPr/>
        </p:nvSpPr>
        <p:spPr>
          <a:xfrm>
            <a:off x="6574536" y="3063240"/>
            <a:ext cx="996696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Shape 68"/>
          <p:cNvSpPr/>
          <p:nvPr/>
        </p:nvSpPr>
        <p:spPr>
          <a:xfrm flipV="1">
            <a:off x="6574536" y="3520440"/>
            <a:ext cx="996696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Shape 69"/>
          <p:cNvSpPr/>
          <p:nvPr/>
        </p:nvSpPr>
        <p:spPr>
          <a:xfrm>
            <a:off x="6574536" y="3977640"/>
            <a:ext cx="996696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Shape 70"/>
          <p:cNvSpPr/>
          <p:nvPr/>
        </p:nvSpPr>
        <p:spPr>
          <a:xfrm>
            <a:off x="6135624" y="28437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185" y="2940345"/>
            <a:ext cx="245791" cy="245791"/>
          </a:xfrm>
          <a:prstGeom prst="rect">
            <a:avLst/>
          </a:prstGeom>
        </p:spPr>
      </p:pic>
      <p:sp>
        <p:nvSpPr>
          <p:cNvPr id="78" name="Shape 71"/>
          <p:cNvSpPr/>
          <p:nvPr/>
        </p:nvSpPr>
        <p:spPr>
          <a:xfrm>
            <a:off x="6135624" y="37581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185" y="3854745"/>
            <a:ext cx="245791" cy="245791"/>
          </a:xfrm>
          <a:prstGeom prst="rect">
            <a:avLst/>
          </a:prstGeom>
        </p:spPr>
      </p:pic>
      <p:sp>
        <p:nvSpPr>
          <p:cNvPr id="80" name="Shape 72"/>
          <p:cNvSpPr/>
          <p:nvPr/>
        </p:nvSpPr>
        <p:spPr>
          <a:xfrm>
            <a:off x="7571232" y="2679192"/>
            <a:ext cx="310896" cy="31089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 73"/>
          <p:cNvSpPr txBox="1"/>
          <p:nvPr/>
        </p:nvSpPr>
        <p:spPr>
          <a:xfrm>
            <a:off x="7973568" y="2697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Shape 74"/>
          <p:cNvSpPr/>
          <p:nvPr/>
        </p:nvSpPr>
        <p:spPr>
          <a:xfrm>
            <a:off x="7571232" y="3364992"/>
            <a:ext cx="310896" cy="31089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 75"/>
          <p:cNvSpPr txBox="1"/>
          <p:nvPr/>
        </p:nvSpPr>
        <p:spPr>
          <a:xfrm>
            <a:off x="7973568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Shape 76"/>
          <p:cNvSpPr/>
          <p:nvPr/>
        </p:nvSpPr>
        <p:spPr>
          <a:xfrm>
            <a:off x="7571232" y="4050792"/>
            <a:ext cx="310896" cy="310896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77"/>
          <p:cNvSpPr txBox="1"/>
          <p:nvPr/>
        </p:nvSpPr>
        <p:spPr>
          <a:xfrm>
            <a:off x="7973568" y="4069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Shape 78"/>
          <p:cNvSpPr/>
          <p:nvPr/>
        </p:nvSpPr>
        <p:spPr>
          <a:xfrm>
            <a:off x="5943600" y="4681728"/>
            <a:ext cx="246888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Shape 79"/>
          <p:cNvSpPr/>
          <p:nvPr/>
        </p:nvSpPr>
        <p:spPr>
          <a:xfrm>
            <a:off x="5943600" y="480974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7857" y="4854001"/>
            <a:ext cx="112654" cy="112654"/>
          </a:xfrm>
          <a:prstGeom prst="rect">
            <a:avLst/>
          </a:prstGeom>
        </p:spPr>
      </p:pic>
      <p:sp>
        <p:nvSpPr>
          <p:cNvPr id="89" name="Text 80"/>
          <p:cNvSpPr txBox="1"/>
          <p:nvPr/>
        </p:nvSpPr>
        <p:spPr>
          <a:xfrm>
            <a:off x="6217920" y="4791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Anchor: kept photo + camera pose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Shape 81"/>
          <p:cNvSpPr/>
          <p:nvPr/>
        </p:nvSpPr>
        <p:spPr>
          <a:xfrm>
            <a:off x="5971032" y="513892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82"/>
          <p:cNvSpPr txBox="1"/>
          <p:nvPr/>
        </p:nvSpPr>
        <p:spPr>
          <a:xfrm>
            <a:off x="6217920" y="5093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Object: 3D box, CLIP feature, class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Shape 1">
            <a:extLst>
              <a:ext uri="{FF2B5EF4-FFF2-40B4-BE49-F238E27FC236}">
                <a16:creationId xmlns:a16="http://schemas.microsoft.com/office/drawing/2014/main" id="{FA7DFCDC-C41B-9696-2BED-CBF0AEE6D092}"/>
              </a:ext>
            </a:extLst>
          </p:cNvPr>
          <p:cNvSpPr/>
          <p:nvPr/>
        </p:nvSpPr>
        <p:spPr>
          <a:xfrm>
            <a:off x="9363456" y="347472"/>
            <a:ext cx="227685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3" name="Text 2">
            <a:extLst>
              <a:ext uri="{FF2B5EF4-FFF2-40B4-BE49-F238E27FC236}">
                <a16:creationId xmlns:a16="http://schemas.microsoft.com/office/drawing/2014/main" id="{0A83B8A9-EF87-F0B7-B0F4-64B1AB767404}"/>
              </a:ext>
            </a:extLst>
          </p:cNvPr>
          <p:cNvSpPr txBox="1"/>
          <p:nvPr/>
        </p:nvSpPr>
        <p:spPr>
          <a:xfrm>
            <a:off x="9363456" y="34747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SEARCH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>
            <a:extLst>
              <a:ext uri="{FF2B5EF4-FFF2-40B4-BE49-F238E27FC236}">
                <a16:creationId xmlns:a16="http://schemas.microsoft.com/office/drawing/2014/main" id="{CC096EED-B28D-9938-D77A-FB578DA8F3FD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lang="en-US" sz="110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7ADAFB11-418C-EF2E-BBCC-72DE570EBFFA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changes keep the graph accurate when building it</a:t>
            </a:r>
            <a:endParaRPr lang="en-US" sz="3000"/>
          </a:p>
        </p:txBody>
      </p:sp>
      <p:sp>
        <p:nvSpPr>
          <p:cNvPr id="110" name="Text 4">
            <a:extLst>
              <a:ext uri="{FF2B5EF4-FFF2-40B4-BE49-F238E27FC236}">
                <a16:creationId xmlns:a16="http://schemas.microsoft.com/office/drawing/2014/main" id="{A260C028-A671-95D0-29C6-FB2BA73BEA88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departs from </a:t>
            </a:r>
            <a:r>
              <a:rPr lang="en-US" sz="170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</a:t>
            </a: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-Nav and is measured on the lab drive</a:t>
            </a:r>
            <a:endParaRPr lang="en-US" sz="1700"/>
          </a:p>
        </p:txBody>
      </p:sp>
      <p:sp>
        <p:nvSpPr>
          <p:cNvPr id="111" name="Text 5">
            <a:extLst>
              <a:ext uri="{FF2B5EF4-FFF2-40B4-BE49-F238E27FC236}">
                <a16:creationId xmlns:a16="http://schemas.microsoft.com/office/drawing/2014/main" id="{CD32A51E-0F2A-875F-FE08-0277D6458704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/>
          </a:p>
        </p:txBody>
      </p:sp>
      <p:sp>
        <p:nvSpPr>
          <p:cNvPr id="112" name="Shape 6">
            <a:extLst>
              <a:ext uri="{FF2B5EF4-FFF2-40B4-BE49-F238E27FC236}">
                <a16:creationId xmlns:a16="http://schemas.microsoft.com/office/drawing/2014/main" id="{5E338FB7-5F10-7C03-6C66-E6B5F89CC38D}"/>
              </a:ext>
            </a:extLst>
          </p:cNvPr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Shape 7">
            <a:extLst>
              <a:ext uri="{FF2B5EF4-FFF2-40B4-BE49-F238E27FC236}">
                <a16:creationId xmlns:a16="http://schemas.microsoft.com/office/drawing/2014/main" id="{836A6EBB-5C23-CB8B-C71C-315560B6C17D}"/>
              </a:ext>
            </a:extLst>
          </p:cNvPr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8">
            <a:extLst>
              <a:ext uri="{FF2B5EF4-FFF2-40B4-BE49-F238E27FC236}">
                <a16:creationId xmlns:a16="http://schemas.microsoft.com/office/drawing/2014/main" id="{EB9B4055-1F6E-B263-AFD6-31D6CE64CCC0}"/>
              </a:ext>
            </a:extLst>
          </p:cNvPr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5" name="Text 9">
            <a:extLst>
              <a:ext uri="{FF2B5EF4-FFF2-40B4-BE49-F238E27FC236}">
                <a16:creationId xmlns:a16="http://schemas.microsoft.com/office/drawing/2014/main" id="{5A2D0B64-0B3E-719B-0803-0D726DEF7EB3}"/>
              </a:ext>
            </a:extLst>
          </p:cNvPr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Memory</a:t>
            </a:r>
            <a:endParaRPr lang="en-US" sz="1400"/>
          </a:p>
        </p:txBody>
      </p:sp>
      <p:sp>
        <p:nvSpPr>
          <p:cNvPr id="116" name="Shape 10">
            <a:extLst>
              <a:ext uri="{FF2B5EF4-FFF2-40B4-BE49-F238E27FC236}">
                <a16:creationId xmlns:a16="http://schemas.microsoft.com/office/drawing/2014/main" id="{B2D8349E-D658-69C2-D931-E21EE11B423C}"/>
              </a:ext>
            </a:extLst>
          </p:cNvPr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7" name="Shape 11">
            <a:extLst>
              <a:ext uri="{FF2B5EF4-FFF2-40B4-BE49-F238E27FC236}">
                <a16:creationId xmlns:a16="http://schemas.microsoft.com/office/drawing/2014/main" id="{DC9F6298-1302-80C4-4D3D-C8AB03E1FEF5}"/>
              </a:ext>
            </a:extLst>
          </p:cNvPr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2">
            <a:extLst>
              <a:ext uri="{FF2B5EF4-FFF2-40B4-BE49-F238E27FC236}">
                <a16:creationId xmlns:a16="http://schemas.microsoft.com/office/drawing/2014/main" id="{40F2C405-82DB-7936-4B20-4F470003FE40}"/>
              </a:ext>
            </a:extLst>
          </p:cNvPr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244CCAE9-D747-A6A2-DEE0-37508187F50E}"/>
              </a:ext>
            </a:extLst>
          </p:cNvPr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</a:t>
            </a:r>
            <a:endParaRPr lang="en-US" sz="1400"/>
          </a:p>
        </p:txBody>
      </p:sp>
      <p:sp>
        <p:nvSpPr>
          <p:cNvPr id="120" name="Shape 14">
            <a:extLst>
              <a:ext uri="{FF2B5EF4-FFF2-40B4-BE49-F238E27FC236}">
                <a16:creationId xmlns:a16="http://schemas.microsoft.com/office/drawing/2014/main" id="{19875766-139F-EA62-EDBB-05C4E06AB8F7}"/>
              </a:ext>
            </a:extLst>
          </p:cNvPr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1" name="Shape 15">
            <a:extLst>
              <a:ext uri="{FF2B5EF4-FFF2-40B4-BE49-F238E27FC236}">
                <a16:creationId xmlns:a16="http://schemas.microsoft.com/office/drawing/2014/main" id="{156070C3-5B25-AF19-60D6-7E142D8793A6}"/>
              </a:ext>
            </a:extLst>
          </p:cNvPr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Text 16">
            <a:extLst>
              <a:ext uri="{FF2B5EF4-FFF2-40B4-BE49-F238E27FC236}">
                <a16:creationId xmlns:a16="http://schemas.microsoft.com/office/drawing/2014/main" id="{16A9104F-3D74-6B26-9CFE-7E94752380CC}"/>
              </a:ext>
            </a:extLst>
          </p:cNvPr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23" name="Text 17">
            <a:extLst>
              <a:ext uri="{FF2B5EF4-FFF2-40B4-BE49-F238E27FC236}">
                <a16:creationId xmlns:a16="http://schemas.microsoft.com/office/drawing/2014/main" id="{66500200-389E-AEE1-B977-72C1532E8844}"/>
              </a:ext>
            </a:extLst>
          </p:cNvPr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Memory</a:t>
            </a:r>
            <a:endParaRPr lang="en-US" sz="1400"/>
          </a:p>
        </p:txBody>
      </p:sp>
      <p:sp>
        <p:nvSpPr>
          <p:cNvPr id="124" name="Shape 18">
            <a:extLst>
              <a:ext uri="{FF2B5EF4-FFF2-40B4-BE49-F238E27FC236}">
                <a16:creationId xmlns:a16="http://schemas.microsoft.com/office/drawing/2014/main" id="{DEB2BF3E-01F8-8D3F-6758-E1524D3F4326}"/>
              </a:ext>
            </a:extLst>
          </p:cNvPr>
          <p:cNvSpPr/>
          <p:nvPr/>
        </p:nvSpPr>
        <p:spPr>
          <a:xfrm>
            <a:off x="548640" y="4434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5" name="Text 19">
            <a:extLst>
              <a:ext uri="{FF2B5EF4-FFF2-40B4-BE49-F238E27FC236}">
                <a16:creationId xmlns:a16="http://schemas.microsoft.com/office/drawing/2014/main" id="{B52E9137-A456-FDCC-CA11-F749970DAB5B}"/>
              </a:ext>
            </a:extLst>
          </p:cNvPr>
          <p:cNvSpPr txBox="1"/>
          <p:nvPr/>
        </p:nvSpPr>
        <p:spPr>
          <a:xfrm>
            <a:off x="713232" y="4572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26" name="Text 20">
            <a:extLst>
              <a:ext uri="{FF2B5EF4-FFF2-40B4-BE49-F238E27FC236}">
                <a16:creationId xmlns:a16="http://schemas.microsoft.com/office/drawing/2014/main" id="{BE6C7C8D-E5AF-77AC-1716-0BA58B2F516C}"/>
              </a:ext>
            </a:extLst>
          </p:cNvPr>
          <p:cNvSpPr txBox="1"/>
          <p:nvPr/>
        </p:nvSpPr>
        <p:spPr>
          <a:xfrm>
            <a:off x="713232" y="4818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drives, 16 objects: a difference of one is noise</a:t>
            </a:r>
            <a:endParaRPr lang="en-US" sz="1300"/>
          </a:p>
        </p:txBody>
      </p:sp>
      <p:sp>
        <p:nvSpPr>
          <p:cNvPr id="168" name="Shape 62">
            <a:extLst>
              <a:ext uri="{FF2B5EF4-FFF2-40B4-BE49-F238E27FC236}">
                <a16:creationId xmlns:a16="http://schemas.microsoft.com/office/drawing/2014/main" id="{73560750-7CCE-1905-2CDC-2F4D42A0A32E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9" name="Text 63">
            <a:extLst>
              <a:ext uri="{FF2B5EF4-FFF2-40B4-BE49-F238E27FC236}">
                <a16:creationId xmlns:a16="http://schemas.microsoft.com/office/drawing/2014/main" id="{91C90B30-B9DD-DDA5-45A3-757EAA75EA78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AT 10 CM</a:t>
            </a:r>
            <a:endParaRPr lang="en-US" sz="1100"/>
          </a:p>
        </p:txBody>
      </p:sp>
      <p:sp>
        <p:nvSpPr>
          <p:cNvPr id="170" name="Text 64">
            <a:extLst>
              <a:ext uri="{FF2B5EF4-FFF2-40B4-BE49-F238E27FC236}">
                <a16:creationId xmlns:a16="http://schemas.microsoft.com/office/drawing/2014/main" id="{5A75818B-96B9-6B92-6438-34A6FB501528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5000"/>
          </a:p>
        </p:txBody>
      </p:sp>
      <p:sp>
        <p:nvSpPr>
          <p:cNvPr id="171" name="Text 65">
            <a:extLst>
              <a:ext uri="{FF2B5EF4-FFF2-40B4-BE49-F238E27FC236}">
                <a16:creationId xmlns:a16="http://schemas.microsoft.com/office/drawing/2014/main" id="{6B357175-7982-D277-5D8D-6A026AFC5F0B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false merges</a:t>
            </a:r>
            <a:endParaRPr lang="en-US" sz="1300"/>
          </a:p>
        </p:txBody>
      </p:sp>
      <p:sp>
        <p:nvSpPr>
          <p:cNvPr id="172" name="Shape 66">
            <a:extLst>
              <a:ext uri="{FF2B5EF4-FFF2-40B4-BE49-F238E27FC236}">
                <a16:creationId xmlns:a16="http://schemas.microsoft.com/office/drawing/2014/main" id="{45763523-74CA-F8DA-3451-35DA3026BB0F}"/>
              </a:ext>
            </a:extLst>
          </p:cNvPr>
          <p:cNvSpPr/>
          <p:nvPr/>
        </p:nvSpPr>
        <p:spPr>
          <a:xfrm>
            <a:off x="8412480" y="3794760"/>
            <a:ext cx="3227832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3" name="Shape 67">
            <a:extLst>
              <a:ext uri="{FF2B5EF4-FFF2-40B4-BE49-F238E27FC236}">
                <a16:creationId xmlns:a16="http://schemas.microsoft.com/office/drawing/2014/main" id="{D6FBFC95-7C4A-6281-CD13-6A38EF69A453}"/>
              </a:ext>
            </a:extLst>
          </p:cNvPr>
          <p:cNvSpPr/>
          <p:nvPr/>
        </p:nvSpPr>
        <p:spPr>
          <a:xfrm>
            <a:off x="8577072" y="3950208"/>
            <a:ext cx="365760" cy="36576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4" name="Image 0" descr="preencoded.png">
            <a:extLst>
              <a:ext uri="{FF2B5EF4-FFF2-40B4-BE49-F238E27FC236}">
                <a16:creationId xmlns:a16="http://schemas.microsoft.com/office/drawing/2014/main" id="{99EE82C3-DCF4-7D1A-2D4A-56A1846AF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39" y="4030675"/>
            <a:ext cx="204826" cy="204826"/>
          </a:xfrm>
          <a:prstGeom prst="rect">
            <a:avLst/>
          </a:prstGeom>
        </p:spPr>
      </p:pic>
      <p:sp>
        <p:nvSpPr>
          <p:cNvPr id="175" name="Text 68">
            <a:extLst>
              <a:ext uri="{FF2B5EF4-FFF2-40B4-BE49-F238E27FC236}">
                <a16:creationId xmlns:a16="http://schemas.microsoft.com/office/drawing/2014/main" id="{C4BF5EC1-8CCB-6A21-D898-3B640C826A78}"/>
              </a:ext>
            </a:extLst>
          </p:cNvPr>
          <p:cNvSpPr txBox="1"/>
          <p:nvPr/>
        </p:nvSpPr>
        <p:spPr>
          <a:xfrm>
            <a:off x="9070848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merge by look?</a:t>
            </a:r>
            <a:endParaRPr lang="en-US" sz="1400"/>
          </a:p>
        </p:txBody>
      </p:sp>
      <p:sp>
        <p:nvSpPr>
          <p:cNvPr id="176" name="Text 69">
            <a:extLst>
              <a:ext uri="{FF2B5EF4-FFF2-40B4-BE49-F238E27FC236}">
                <a16:creationId xmlns:a16="http://schemas.microsoft.com/office/drawing/2014/main" id="{29F13894-57D0-7173-E3DD-400C51FD46BD}"/>
              </a:ext>
            </a:extLst>
          </p:cNvPr>
          <p:cNvSpPr txBox="1"/>
          <p:nvPr/>
        </p:nvSpPr>
        <p:spPr>
          <a:xfrm>
            <a:off x="8577072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chair</a:t>
            </a:r>
            <a:endParaRPr lang="en-US" sz="1100"/>
          </a:p>
        </p:txBody>
      </p:sp>
      <p:sp>
        <p:nvSpPr>
          <p:cNvPr id="177" name="Shape 70">
            <a:extLst>
              <a:ext uri="{FF2B5EF4-FFF2-40B4-BE49-F238E27FC236}">
                <a16:creationId xmlns:a16="http://schemas.microsoft.com/office/drawing/2014/main" id="{E1545CED-3BFC-C886-0477-95A14588652D}"/>
              </a:ext>
            </a:extLst>
          </p:cNvPr>
          <p:cNvSpPr/>
          <p:nvPr/>
        </p:nvSpPr>
        <p:spPr>
          <a:xfrm>
            <a:off x="9875520" y="4590288"/>
            <a:ext cx="854050" cy="128016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8" name="Text 71">
            <a:extLst>
              <a:ext uri="{FF2B5EF4-FFF2-40B4-BE49-F238E27FC236}">
                <a16:creationId xmlns:a16="http://schemas.microsoft.com/office/drawing/2014/main" id="{B64CC4AB-EBC4-48ED-987B-9D6B192B6436}"/>
              </a:ext>
            </a:extLst>
          </p:cNvPr>
          <p:cNvSpPr txBox="1"/>
          <p:nvPr/>
        </p:nvSpPr>
        <p:spPr>
          <a:xfrm>
            <a:off x="10775290" y="4526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100"/>
          </a:p>
        </p:txBody>
      </p:sp>
      <p:sp>
        <p:nvSpPr>
          <p:cNvPr id="179" name="Text 72">
            <a:extLst>
              <a:ext uri="{FF2B5EF4-FFF2-40B4-BE49-F238E27FC236}">
                <a16:creationId xmlns:a16="http://schemas.microsoft.com/office/drawing/2014/main" id="{BB146897-D0DA-642E-5A1B-A2DE12382B76}"/>
              </a:ext>
            </a:extLst>
          </p:cNvPr>
          <p:cNvSpPr txBox="1"/>
          <p:nvPr/>
        </p:nvSpPr>
        <p:spPr>
          <a:xfrm>
            <a:off x="8577072" y="4892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Same-model chairs</a:t>
            </a:r>
            <a:endParaRPr lang="en-US" sz="1100"/>
          </a:p>
        </p:txBody>
      </p:sp>
      <p:sp>
        <p:nvSpPr>
          <p:cNvPr id="180" name="Shape 73">
            <a:extLst>
              <a:ext uri="{FF2B5EF4-FFF2-40B4-BE49-F238E27FC236}">
                <a16:creationId xmlns:a16="http://schemas.microsoft.com/office/drawing/2014/main" id="{E5A481EE-99BB-5836-2ED1-DDB7AE6AB606}"/>
              </a:ext>
            </a:extLst>
          </p:cNvPr>
          <p:cNvSpPr/>
          <p:nvPr/>
        </p:nvSpPr>
        <p:spPr>
          <a:xfrm>
            <a:off x="9875520" y="4956048"/>
            <a:ext cx="777240" cy="12801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1" name="Text 74">
            <a:extLst>
              <a:ext uri="{FF2B5EF4-FFF2-40B4-BE49-F238E27FC236}">
                <a16:creationId xmlns:a16="http://schemas.microsoft.com/office/drawing/2014/main" id="{E5B3A5CD-7DF0-BF93-15E9-465A9641D859}"/>
              </a:ext>
            </a:extLst>
          </p:cNvPr>
          <p:cNvSpPr txBox="1"/>
          <p:nvPr/>
        </p:nvSpPr>
        <p:spPr>
          <a:xfrm>
            <a:off x="10698480" y="4892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0.81–0.85</a:t>
            </a:r>
            <a:endParaRPr lang="en-US" sz="1100"/>
          </a:p>
        </p:txBody>
      </p:sp>
      <p:sp>
        <p:nvSpPr>
          <p:cNvPr id="182" name="Text 75">
            <a:extLst>
              <a:ext uri="{FF2B5EF4-FFF2-40B4-BE49-F238E27FC236}">
                <a16:creationId xmlns:a16="http://schemas.microsoft.com/office/drawing/2014/main" id="{9A9FD8AC-5C7E-D598-1741-F822E60E7353}"/>
              </a:ext>
            </a:extLst>
          </p:cNvPr>
          <p:cNvSpPr txBox="1"/>
          <p:nvPr/>
        </p:nvSpPr>
        <p:spPr>
          <a:xfrm>
            <a:off x="8577072" y="5257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objects</a:t>
            </a:r>
            <a:endParaRPr lang="en-US" sz="1100"/>
          </a:p>
        </p:txBody>
      </p:sp>
      <p:sp>
        <p:nvSpPr>
          <p:cNvPr id="183" name="Shape 76">
            <a:extLst>
              <a:ext uri="{FF2B5EF4-FFF2-40B4-BE49-F238E27FC236}">
                <a16:creationId xmlns:a16="http://schemas.microsoft.com/office/drawing/2014/main" id="{12AA4F03-83F3-49D8-6976-856BDDBDA2A8}"/>
              </a:ext>
            </a:extLst>
          </p:cNvPr>
          <p:cNvSpPr/>
          <p:nvPr/>
        </p:nvSpPr>
        <p:spPr>
          <a:xfrm>
            <a:off x="9875520" y="5321808"/>
            <a:ext cx="512064" cy="128016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4" name="Text 77">
            <a:extLst>
              <a:ext uri="{FF2B5EF4-FFF2-40B4-BE49-F238E27FC236}">
                <a16:creationId xmlns:a16="http://schemas.microsoft.com/office/drawing/2014/main" id="{3DAABEBB-18C7-B1F0-E6CE-4CBF3EC0552B}"/>
              </a:ext>
            </a:extLst>
          </p:cNvPr>
          <p:cNvSpPr txBox="1"/>
          <p:nvPr/>
        </p:nvSpPr>
        <p:spPr>
          <a:xfrm>
            <a:off x="10433304" y="5257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100"/>
          </a:p>
        </p:txBody>
      </p:sp>
      <p:sp>
        <p:nvSpPr>
          <p:cNvPr id="185" name="Text 78">
            <a:extLst>
              <a:ext uri="{FF2B5EF4-FFF2-40B4-BE49-F238E27FC236}">
                <a16:creationId xmlns:a16="http://schemas.microsoft.com/office/drawing/2014/main" id="{ABB0BE31-4DD1-C57F-B19C-9B1876349844}"/>
              </a:ext>
            </a:extLst>
          </p:cNvPr>
          <p:cNvSpPr txBox="1"/>
          <p:nvPr/>
        </p:nvSpPr>
        <p:spPr>
          <a:xfrm>
            <a:off x="8412480" y="5742432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image similarity, 0 to 1</a:t>
            </a:r>
            <a:endParaRPr lang="en-US" sz="1100"/>
          </a:p>
        </p:txBody>
      </p:sp>
      <p:sp>
        <p:nvSpPr>
          <p:cNvPr id="186" name="Shape 79">
            <a:extLst>
              <a:ext uri="{FF2B5EF4-FFF2-40B4-BE49-F238E27FC236}">
                <a16:creationId xmlns:a16="http://schemas.microsoft.com/office/drawing/2014/main" id="{5BA719F3-9795-CE91-1FE6-23E4A8F26D06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7" name="Text 80">
            <a:extLst>
              <a:ext uri="{FF2B5EF4-FFF2-40B4-BE49-F238E27FC236}">
                <a16:creationId xmlns:a16="http://schemas.microsoft.com/office/drawing/2014/main" id="{30098AF7-629A-9B6B-73B0-DD1432698AE5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188" name="Shape 81">
            <a:extLst>
              <a:ext uri="{FF2B5EF4-FFF2-40B4-BE49-F238E27FC236}">
                <a16:creationId xmlns:a16="http://schemas.microsoft.com/office/drawing/2014/main" id="{A29838E5-E9C0-E0F3-F7FF-81CA53FECAD6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9" name="Text 82">
            <a:extLst>
              <a:ext uri="{FF2B5EF4-FFF2-40B4-BE49-F238E27FC236}">
                <a16:creationId xmlns:a16="http://schemas.microsoft.com/office/drawing/2014/main" id="{3078F5D6-B7E4-4071-E350-6CF63766638C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190" name="Shape 83">
            <a:extLst>
              <a:ext uri="{FF2B5EF4-FFF2-40B4-BE49-F238E27FC236}">
                <a16:creationId xmlns:a16="http://schemas.microsoft.com/office/drawing/2014/main" id="{43037A18-7B8C-1AAE-2CD3-984914DFA5BC}"/>
              </a:ext>
            </a:extLst>
          </p:cNvPr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1" name="Text 84">
            <a:extLst>
              <a:ext uri="{FF2B5EF4-FFF2-40B4-BE49-F238E27FC236}">
                <a16:creationId xmlns:a16="http://schemas.microsoft.com/office/drawing/2014/main" id="{1B143351-7CF3-4E11-ACB7-82069E227E53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92" name="Shape 85">
            <a:extLst>
              <a:ext uri="{FF2B5EF4-FFF2-40B4-BE49-F238E27FC236}">
                <a16:creationId xmlns:a16="http://schemas.microsoft.com/office/drawing/2014/main" id="{DFEDA54B-192D-4653-BC5D-23BB3825E6CB}"/>
              </a:ext>
            </a:extLst>
          </p:cNvPr>
          <p:cNvSpPr/>
          <p:nvPr/>
        </p:nvSpPr>
        <p:spPr>
          <a:xfrm>
            <a:off x="4753737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3" name="Text 86">
            <a:extLst>
              <a:ext uri="{FF2B5EF4-FFF2-40B4-BE49-F238E27FC236}">
                <a16:creationId xmlns:a16="http://schemas.microsoft.com/office/drawing/2014/main" id="{D849654C-60CF-96EA-D909-5BA4197B9A4A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94" name="Shape 87">
            <a:extLst>
              <a:ext uri="{FF2B5EF4-FFF2-40B4-BE49-F238E27FC236}">
                <a16:creationId xmlns:a16="http://schemas.microsoft.com/office/drawing/2014/main" id="{C5F29C60-2CF9-5C11-C83D-5AB3FB46A1B8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5" name="Text 88">
            <a:extLst>
              <a:ext uri="{FF2B5EF4-FFF2-40B4-BE49-F238E27FC236}">
                <a16:creationId xmlns:a16="http://schemas.microsoft.com/office/drawing/2014/main" id="{D9749B2C-2214-6F99-6C84-67E81CFD5872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96" name="Shape 89">
            <a:extLst>
              <a:ext uri="{FF2B5EF4-FFF2-40B4-BE49-F238E27FC236}">
                <a16:creationId xmlns:a16="http://schemas.microsoft.com/office/drawing/2014/main" id="{E498A51D-02D6-6025-6D67-9DBD4E61AD28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7" name="Text 90">
            <a:extLst>
              <a:ext uri="{FF2B5EF4-FFF2-40B4-BE49-F238E27FC236}">
                <a16:creationId xmlns:a16="http://schemas.microsoft.com/office/drawing/2014/main" id="{65A9D780-5C0A-5CE8-94E3-E12D7983E916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98" name="Shape 91">
            <a:extLst>
              <a:ext uri="{FF2B5EF4-FFF2-40B4-BE49-F238E27FC236}">
                <a16:creationId xmlns:a16="http://schemas.microsoft.com/office/drawing/2014/main" id="{CEAE4C7D-A40A-5028-AC6A-AE908C0D086C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9" name="Text 92">
            <a:extLst>
              <a:ext uri="{FF2B5EF4-FFF2-40B4-BE49-F238E27FC236}">
                <a16:creationId xmlns:a16="http://schemas.microsoft.com/office/drawing/2014/main" id="{799DBC1F-F094-4B07-8955-C0452A18880A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200" name="Shape 93">
            <a:extLst>
              <a:ext uri="{FF2B5EF4-FFF2-40B4-BE49-F238E27FC236}">
                <a16:creationId xmlns:a16="http://schemas.microsoft.com/office/drawing/2014/main" id="{2408E7DE-C297-7DD2-784E-9B02EEDA83E5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1" name="Text 94">
            <a:extLst>
              <a:ext uri="{FF2B5EF4-FFF2-40B4-BE49-F238E27FC236}">
                <a16:creationId xmlns:a16="http://schemas.microsoft.com/office/drawing/2014/main" id="{B1E4C593-9F2E-1169-8AFA-579F86BB69F4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202" name="Text 95">
            <a:extLst>
              <a:ext uri="{FF2B5EF4-FFF2-40B4-BE49-F238E27FC236}">
                <a16:creationId xmlns:a16="http://schemas.microsoft.com/office/drawing/2014/main" id="{C245AB37-5248-B717-66D8-64F1A728F961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/>
          </a:p>
        </p:txBody>
      </p:sp>
      <p:sp>
        <p:nvSpPr>
          <p:cNvPr id="203" name="Shape 21">
            <a:extLst>
              <a:ext uri="{FF2B5EF4-FFF2-40B4-BE49-F238E27FC236}">
                <a16:creationId xmlns:a16="http://schemas.microsoft.com/office/drawing/2014/main" id="{2AD70086-728A-D80A-E282-4FC56679D397}"/>
              </a:ext>
            </a:extLst>
          </p:cNvPr>
          <p:cNvSpPr/>
          <p:nvPr/>
        </p:nvSpPr>
        <p:spPr>
          <a:xfrm>
            <a:off x="2697480" y="18745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4" name="Shape 22">
            <a:extLst>
              <a:ext uri="{FF2B5EF4-FFF2-40B4-BE49-F238E27FC236}">
                <a16:creationId xmlns:a16="http://schemas.microsoft.com/office/drawing/2014/main" id="{31EF0211-1162-6151-546A-0D1E42AC9E32}"/>
              </a:ext>
            </a:extLst>
          </p:cNvPr>
          <p:cNvSpPr/>
          <p:nvPr/>
        </p:nvSpPr>
        <p:spPr>
          <a:xfrm>
            <a:off x="2862072" y="2029968"/>
            <a:ext cx="347472" cy="34747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5" name="Text 23">
            <a:extLst>
              <a:ext uri="{FF2B5EF4-FFF2-40B4-BE49-F238E27FC236}">
                <a16:creationId xmlns:a16="http://schemas.microsoft.com/office/drawing/2014/main" id="{709995D0-5AF1-ECE7-E82F-10872926D36B}"/>
              </a:ext>
            </a:extLst>
          </p:cNvPr>
          <p:cNvSpPr txBox="1"/>
          <p:nvPr/>
        </p:nvSpPr>
        <p:spPr>
          <a:xfrm>
            <a:off x="2862072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206" name="Text 24">
            <a:extLst>
              <a:ext uri="{FF2B5EF4-FFF2-40B4-BE49-F238E27FC236}">
                <a16:creationId xmlns:a16="http://schemas.microsoft.com/office/drawing/2014/main" id="{802ECC78-5136-C1AC-0A6F-3441E1BF4CAB}"/>
              </a:ext>
            </a:extLst>
          </p:cNvPr>
          <p:cNvSpPr txBox="1"/>
          <p:nvPr/>
        </p:nvSpPr>
        <p:spPr>
          <a:xfrm>
            <a:off x="3337560" y="19933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Filters</a:t>
            </a:r>
            <a:endParaRPr lang="en-US" sz="1500"/>
          </a:p>
        </p:txBody>
      </p:sp>
      <p:sp>
        <p:nvSpPr>
          <p:cNvPr id="207" name="Text 25">
            <a:extLst>
              <a:ext uri="{FF2B5EF4-FFF2-40B4-BE49-F238E27FC236}">
                <a16:creationId xmlns:a16="http://schemas.microsoft.com/office/drawing/2014/main" id="{B348CDEE-8576-1845-E06D-E04DD4FE7B8F}"/>
              </a:ext>
            </a:extLst>
          </p:cNvPr>
          <p:cNvSpPr txBox="1"/>
          <p:nvPr/>
        </p:nvSpPr>
        <p:spPr>
          <a:xfrm>
            <a:off x="3337560" y="24048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  <a:tabLst>
                <a:tab pos="1506538" algn="l"/>
              </a:tabLst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sees the floor through a chair's gaps</a:t>
            </a:r>
            <a:endParaRPr lang="en-US" sz="1200"/>
          </a:p>
        </p:txBody>
      </p:sp>
      <p:sp>
        <p:nvSpPr>
          <p:cNvPr id="208" name="Text 26">
            <a:extLst>
              <a:ext uri="{FF2B5EF4-FFF2-40B4-BE49-F238E27FC236}">
                <a16:creationId xmlns:a16="http://schemas.microsoft.com/office/drawing/2014/main" id="{00AC2566-9572-5420-6B30-F8B6A07C606B}"/>
              </a:ext>
            </a:extLst>
          </p:cNvPr>
          <p:cNvSpPr txBox="1"/>
          <p:nvPr/>
        </p:nvSpPr>
        <p:spPr>
          <a:xfrm>
            <a:off x="3337559" y="2642616"/>
            <a:ext cx="4189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cs typeface="Calibri" pitchFamily="34" charset="-120"/>
              </a:rPr>
              <a:t>Prevents objects from being mapped to backgrounds or floors</a:t>
            </a:r>
            <a:endParaRPr lang="en-US" sz="1200"/>
          </a:p>
        </p:txBody>
      </p:sp>
      <p:sp>
        <p:nvSpPr>
          <p:cNvPr id="209" name="Text 27">
            <a:extLst>
              <a:ext uri="{FF2B5EF4-FFF2-40B4-BE49-F238E27FC236}">
                <a16:creationId xmlns:a16="http://schemas.microsoft.com/office/drawing/2014/main" id="{C3EA23FC-7CB9-228A-F90B-879EE9AFE257}"/>
              </a:ext>
            </a:extLst>
          </p:cNvPr>
          <p:cNvSpPr txBox="1"/>
          <p:nvPr/>
        </p:nvSpPr>
        <p:spPr>
          <a:xfrm>
            <a:off x="6446520" y="188742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→ seat</a:t>
            </a:r>
            <a:endParaRPr lang="en-US" sz="1800"/>
          </a:p>
        </p:txBody>
      </p:sp>
      <p:sp>
        <p:nvSpPr>
          <p:cNvPr id="210" name="Text 28">
            <a:extLst>
              <a:ext uri="{FF2B5EF4-FFF2-40B4-BE49-F238E27FC236}">
                <a16:creationId xmlns:a16="http://schemas.microsoft.com/office/drawing/2014/main" id="{43471EF7-D477-BA09-0CB3-9ADDFD95489C}"/>
              </a:ext>
            </a:extLst>
          </p:cNvPr>
          <p:cNvSpPr txBox="1"/>
          <p:nvPr/>
        </p:nvSpPr>
        <p:spPr>
          <a:xfrm>
            <a:off x="6446520" y="230804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centre height,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 → 0.58 m</a:t>
            </a:r>
            <a:endParaRPr lang="en-US" sz="1100"/>
          </a:p>
        </p:txBody>
      </p:sp>
      <p:sp>
        <p:nvSpPr>
          <p:cNvPr id="211" name="Shape 29">
            <a:extLst>
              <a:ext uri="{FF2B5EF4-FFF2-40B4-BE49-F238E27FC236}">
                <a16:creationId xmlns:a16="http://schemas.microsoft.com/office/drawing/2014/main" id="{B684CE35-7E56-F835-C071-92480D2B393F}"/>
              </a:ext>
            </a:extLst>
          </p:cNvPr>
          <p:cNvSpPr/>
          <p:nvPr/>
        </p:nvSpPr>
        <p:spPr>
          <a:xfrm>
            <a:off x="2697480" y="31546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2" name="Shape 30">
            <a:extLst>
              <a:ext uri="{FF2B5EF4-FFF2-40B4-BE49-F238E27FC236}">
                <a16:creationId xmlns:a16="http://schemas.microsoft.com/office/drawing/2014/main" id="{1B1245E5-9F38-3FA2-407D-BDAD6870FCF7}"/>
              </a:ext>
            </a:extLst>
          </p:cNvPr>
          <p:cNvSpPr/>
          <p:nvPr/>
        </p:nvSpPr>
        <p:spPr>
          <a:xfrm>
            <a:off x="2862072" y="3310128"/>
            <a:ext cx="347472" cy="34747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3" name="Text 31">
            <a:extLst>
              <a:ext uri="{FF2B5EF4-FFF2-40B4-BE49-F238E27FC236}">
                <a16:creationId xmlns:a16="http://schemas.microsoft.com/office/drawing/2014/main" id="{876320F5-D5B8-D2CB-F4DD-9C91DDD6AF7C}"/>
              </a:ext>
            </a:extLst>
          </p:cNvPr>
          <p:cNvSpPr txBox="1"/>
          <p:nvPr/>
        </p:nvSpPr>
        <p:spPr>
          <a:xfrm>
            <a:off x="286207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214" name="Text 32">
            <a:extLst>
              <a:ext uri="{FF2B5EF4-FFF2-40B4-BE49-F238E27FC236}">
                <a16:creationId xmlns:a16="http://schemas.microsoft.com/office/drawing/2014/main" id="{6122A31F-C17B-4B02-3706-A28B7E3F2DE1}"/>
              </a:ext>
            </a:extLst>
          </p:cNvPr>
          <p:cNvSpPr txBox="1"/>
          <p:nvPr/>
        </p:nvSpPr>
        <p:spPr>
          <a:xfrm>
            <a:off x="3337560" y="32735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pixel, one object</a:t>
            </a:r>
            <a:endParaRPr lang="en-US" sz="1500"/>
          </a:p>
        </p:txBody>
      </p:sp>
      <p:sp>
        <p:nvSpPr>
          <p:cNvPr id="215" name="Text 33">
            <a:extLst>
              <a:ext uri="{FF2B5EF4-FFF2-40B4-BE49-F238E27FC236}">
                <a16:creationId xmlns:a16="http://schemas.microsoft.com/office/drawing/2014/main" id="{0FF0F065-6EB1-A100-56D0-7BB4EC68EE2C}"/>
              </a:ext>
            </a:extLst>
          </p:cNvPr>
          <p:cNvSpPr txBox="1"/>
          <p:nvPr/>
        </p:nvSpPr>
        <p:spPr>
          <a:xfrm>
            <a:off x="3337560" y="36850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decides merges based on overlap</a:t>
            </a:r>
            <a:endParaRPr lang="en-US" sz="1200"/>
          </a:p>
        </p:txBody>
      </p:sp>
      <p:sp>
        <p:nvSpPr>
          <p:cNvPr id="216" name="Text 34">
            <a:extLst>
              <a:ext uri="{FF2B5EF4-FFF2-40B4-BE49-F238E27FC236}">
                <a16:creationId xmlns:a16="http://schemas.microsoft.com/office/drawing/2014/main" id="{AB05D07F-78AF-172A-EB29-CE02C27A8B84}"/>
              </a:ext>
            </a:extLst>
          </p:cNvPr>
          <p:cNvSpPr txBox="1"/>
          <p:nvPr/>
        </p:nvSpPr>
        <p:spPr>
          <a:xfrm>
            <a:off x="3337560" y="39227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overlaps prevents wrong merges</a:t>
            </a:r>
            <a:endParaRPr lang="en-US" sz="1200"/>
          </a:p>
        </p:txBody>
      </p:sp>
      <p:sp>
        <p:nvSpPr>
          <p:cNvPr id="217" name="Text 35">
            <a:extLst>
              <a:ext uri="{FF2B5EF4-FFF2-40B4-BE49-F238E27FC236}">
                <a16:creationId xmlns:a16="http://schemas.microsoft.com/office/drawing/2014/main" id="{1CEB87ED-FDAF-9C2F-937D-EF303B38D4EB}"/>
              </a:ext>
            </a:extLst>
          </p:cNvPr>
          <p:cNvSpPr txBox="1"/>
          <p:nvPr/>
        </p:nvSpPr>
        <p:spPr>
          <a:xfrm>
            <a:off x="6446520" y="33558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5.4 % → 0</a:t>
            </a:r>
            <a:endParaRPr lang="en-US" sz="1800"/>
          </a:p>
        </p:txBody>
      </p:sp>
      <p:sp>
        <p:nvSpPr>
          <p:cNvPr id="218" name="Text 36">
            <a:extLst>
              <a:ext uri="{FF2B5EF4-FFF2-40B4-BE49-F238E27FC236}">
                <a16:creationId xmlns:a16="http://schemas.microsoft.com/office/drawing/2014/main" id="{A670EE7C-29EB-668A-2C5E-A7E13EB5E0A6}"/>
              </a:ext>
            </a:extLst>
          </p:cNvPr>
          <p:cNvSpPr txBox="1"/>
          <p:nvPr/>
        </p:nvSpPr>
        <p:spPr>
          <a:xfrm>
            <a:off x="6446520" y="3776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in two masks</a:t>
            </a:r>
            <a:endParaRPr lang="en-US" sz="1100"/>
          </a:p>
        </p:txBody>
      </p:sp>
      <p:sp>
        <p:nvSpPr>
          <p:cNvPr id="219" name="Shape 37">
            <a:extLst>
              <a:ext uri="{FF2B5EF4-FFF2-40B4-BE49-F238E27FC236}">
                <a16:creationId xmlns:a16="http://schemas.microsoft.com/office/drawing/2014/main" id="{B9F5C370-7F18-FFD8-F540-689231FF9D90}"/>
              </a:ext>
            </a:extLst>
          </p:cNvPr>
          <p:cNvSpPr/>
          <p:nvPr/>
        </p:nvSpPr>
        <p:spPr>
          <a:xfrm>
            <a:off x="2697480" y="44348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0" name="Shape 38">
            <a:extLst>
              <a:ext uri="{FF2B5EF4-FFF2-40B4-BE49-F238E27FC236}">
                <a16:creationId xmlns:a16="http://schemas.microsoft.com/office/drawing/2014/main" id="{58AA8BAF-77B4-6873-4BF9-EA71CCD7C575}"/>
              </a:ext>
            </a:extLst>
          </p:cNvPr>
          <p:cNvSpPr/>
          <p:nvPr/>
        </p:nvSpPr>
        <p:spPr>
          <a:xfrm>
            <a:off x="2862072" y="4590288"/>
            <a:ext cx="347472" cy="34747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1" name="Text 39">
            <a:extLst>
              <a:ext uri="{FF2B5EF4-FFF2-40B4-BE49-F238E27FC236}">
                <a16:creationId xmlns:a16="http://schemas.microsoft.com/office/drawing/2014/main" id="{2A0BEDCC-A94F-C8DC-E80A-38447B887380}"/>
              </a:ext>
            </a:extLst>
          </p:cNvPr>
          <p:cNvSpPr txBox="1"/>
          <p:nvPr/>
        </p:nvSpPr>
        <p:spPr>
          <a:xfrm>
            <a:off x="2862072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22" name="Text 40">
            <a:extLst>
              <a:ext uri="{FF2B5EF4-FFF2-40B4-BE49-F238E27FC236}">
                <a16:creationId xmlns:a16="http://schemas.microsoft.com/office/drawing/2014/main" id="{57A0F640-4D4F-D8EE-3315-0FF31D8C2D53}"/>
              </a:ext>
            </a:extLst>
          </p:cNvPr>
          <p:cNvSpPr txBox="1"/>
          <p:nvPr/>
        </p:nvSpPr>
        <p:spPr>
          <a:xfrm>
            <a:off x="3337560" y="45537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merges</a:t>
            </a:r>
            <a:endParaRPr lang="en-US" sz="1500"/>
          </a:p>
        </p:txBody>
      </p:sp>
      <p:sp>
        <p:nvSpPr>
          <p:cNvPr id="223" name="Text 41">
            <a:extLst>
              <a:ext uri="{FF2B5EF4-FFF2-40B4-BE49-F238E27FC236}">
                <a16:creationId xmlns:a16="http://schemas.microsoft.com/office/drawing/2014/main" id="{8776225D-F9FA-68F0-2647-977433851FC6}"/>
              </a:ext>
            </a:extLst>
          </p:cNvPr>
          <p:cNvSpPr txBox="1"/>
          <p:nvPr/>
        </p:nvSpPr>
        <p:spPr>
          <a:xfrm>
            <a:off x="3337560" y="49651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needs to balance between </a:t>
            </a:r>
            <a:r>
              <a:rPr lang="en-US" sz="120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</a:t>
            </a: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duplicates and preventing wrong merges</a:t>
            </a:r>
            <a:endParaRPr lang="en-US" sz="1200"/>
          </a:p>
        </p:txBody>
      </p:sp>
      <p:sp>
        <p:nvSpPr>
          <p:cNvPr id="224" name="Text 42">
            <a:extLst>
              <a:ext uri="{FF2B5EF4-FFF2-40B4-BE49-F238E27FC236}">
                <a16:creationId xmlns:a16="http://schemas.microsoft.com/office/drawing/2014/main" id="{CD93C25B-27C9-60B6-50F8-B9DCF2A2B14D}"/>
              </a:ext>
            </a:extLst>
          </p:cNvPr>
          <p:cNvSpPr txBox="1"/>
          <p:nvPr/>
        </p:nvSpPr>
        <p:spPr>
          <a:xfrm>
            <a:off x="3337560" y="5394127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 cm, wrong merges occur</a:t>
            </a:r>
            <a:endParaRPr lang="en-US" sz="1200"/>
          </a:p>
        </p:txBody>
      </p:sp>
      <p:sp>
        <p:nvSpPr>
          <p:cNvPr id="225" name="Text 43">
            <a:extLst>
              <a:ext uri="{FF2B5EF4-FFF2-40B4-BE49-F238E27FC236}">
                <a16:creationId xmlns:a16="http://schemas.microsoft.com/office/drawing/2014/main" id="{6B37205C-FBA4-A374-D34E-9422DE786D40}"/>
              </a:ext>
            </a:extLst>
          </p:cNvPr>
          <p:cNvSpPr txBox="1"/>
          <p:nvPr/>
        </p:nvSpPr>
        <p:spPr>
          <a:xfrm>
            <a:off x="6446520" y="45262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by radius (cm)</a:t>
            </a:r>
            <a:endParaRPr lang="en-US" sz="1100"/>
          </a:p>
        </p:txBody>
      </p:sp>
      <p:sp>
        <p:nvSpPr>
          <p:cNvPr id="226" name="Shape 44">
            <a:extLst>
              <a:ext uri="{FF2B5EF4-FFF2-40B4-BE49-F238E27FC236}">
                <a16:creationId xmlns:a16="http://schemas.microsoft.com/office/drawing/2014/main" id="{19EA21A6-72D4-97ED-72C4-D84A418798C8}"/>
              </a:ext>
            </a:extLst>
          </p:cNvPr>
          <p:cNvSpPr/>
          <p:nvPr/>
        </p:nvSpPr>
        <p:spPr>
          <a:xfrm>
            <a:off x="6499860" y="5029200"/>
            <a:ext cx="160020" cy="566928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7" name="Text 45">
            <a:extLst>
              <a:ext uri="{FF2B5EF4-FFF2-40B4-BE49-F238E27FC236}">
                <a16:creationId xmlns:a16="http://schemas.microsoft.com/office/drawing/2014/main" id="{83EC8842-148F-99C7-9558-5816F45B21FB}"/>
              </a:ext>
            </a:extLst>
          </p:cNvPr>
          <p:cNvSpPr txBox="1"/>
          <p:nvPr/>
        </p:nvSpPr>
        <p:spPr>
          <a:xfrm>
            <a:off x="6446520" y="4809744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228" name="Text 46">
            <a:extLst>
              <a:ext uri="{FF2B5EF4-FFF2-40B4-BE49-F238E27FC236}">
                <a16:creationId xmlns:a16="http://schemas.microsoft.com/office/drawing/2014/main" id="{569F3DF4-D0DA-16D6-642B-4938E2ED162C}"/>
              </a:ext>
            </a:extLst>
          </p:cNvPr>
          <p:cNvSpPr txBox="1"/>
          <p:nvPr/>
        </p:nvSpPr>
        <p:spPr>
          <a:xfrm>
            <a:off x="6446520" y="562356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/>
          </a:p>
        </p:txBody>
      </p:sp>
      <p:sp>
        <p:nvSpPr>
          <p:cNvPr id="229" name="Shape 47">
            <a:extLst>
              <a:ext uri="{FF2B5EF4-FFF2-40B4-BE49-F238E27FC236}">
                <a16:creationId xmlns:a16="http://schemas.microsoft.com/office/drawing/2014/main" id="{32F7785B-5A11-1C4F-78A4-C7079CE2A956}"/>
              </a:ext>
            </a:extLst>
          </p:cNvPr>
          <p:cNvSpPr/>
          <p:nvPr/>
        </p:nvSpPr>
        <p:spPr>
          <a:xfrm>
            <a:off x="6766560" y="5312664"/>
            <a:ext cx="160020" cy="283464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0" name="Text 48">
            <a:extLst>
              <a:ext uri="{FF2B5EF4-FFF2-40B4-BE49-F238E27FC236}">
                <a16:creationId xmlns:a16="http://schemas.microsoft.com/office/drawing/2014/main" id="{544D906B-D92B-62F0-179D-C9799895A8EC}"/>
              </a:ext>
            </a:extLst>
          </p:cNvPr>
          <p:cNvSpPr txBox="1"/>
          <p:nvPr/>
        </p:nvSpPr>
        <p:spPr>
          <a:xfrm>
            <a:off x="6713220" y="5093208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31" name="Text 49">
            <a:extLst>
              <a:ext uri="{FF2B5EF4-FFF2-40B4-BE49-F238E27FC236}">
                <a16:creationId xmlns:a16="http://schemas.microsoft.com/office/drawing/2014/main" id="{0200D726-5540-7D96-11B4-A21ECE2BDB03}"/>
              </a:ext>
            </a:extLst>
          </p:cNvPr>
          <p:cNvSpPr txBox="1"/>
          <p:nvPr/>
        </p:nvSpPr>
        <p:spPr>
          <a:xfrm>
            <a:off x="6713220" y="562356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232" name="Shape 50">
            <a:extLst>
              <a:ext uri="{FF2B5EF4-FFF2-40B4-BE49-F238E27FC236}">
                <a16:creationId xmlns:a16="http://schemas.microsoft.com/office/drawing/2014/main" id="{00797A3D-DE05-5F45-4060-791EDE4D3411}"/>
              </a:ext>
            </a:extLst>
          </p:cNvPr>
          <p:cNvSpPr/>
          <p:nvPr/>
        </p:nvSpPr>
        <p:spPr>
          <a:xfrm>
            <a:off x="7033260" y="5312664"/>
            <a:ext cx="160020" cy="283464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3" name="Text 51">
            <a:extLst>
              <a:ext uri="{FF2B5EF4-FFF2-40B4-BE49-F238E27FC236}">
                <a16:creationId xmlns:a16="http://schemas.microsoft.com/office/drawing/2014/main" id="{FEF88A8D-D7CB-3970-8334-63A51602F803}"/>
              </a:ext>
            </a:extLst>
          </p:cNvPr>
          <p:cNvSpPr txBox="1"/>
          <p:nvPr/>
        </p:nvSpPr>
        <p:spPr>
          <a:xfrm>
            <a:off x="6979920" y="5093208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34" name="Text 52">
            <a:extLst>
              <a:ext uri="{FF2B5EF4-FFF2-40B4-BE49-F238E27FC236}">
                <a16:creationId xmlns:a16="http://schemas.microsoft.com/office/drawing/2014/main" id="{C0707B70-AB5C-783E-242F-3C515AC0DF61}"/>
              </a:ext>
            </a:extLst>
          </p:cNvPr>
          <p:cNvSpPr txBox="1"/>
          <p:nvPr/>
        </p:nvSpPr>
        <p:spPr>
          <a:xfrm>
            <a:off x="6979920" y="562356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100"/>
          </a:p>
        </p:txBody>
      </p:sp>
      <p:sp>
        <p:nvSpPr>
          <p:cNvPr id="235" name="Shape 53">
            <a:extLst>
              <a:ext uri="{FF2B5EF4-FFF2-40B4-BE49-F238E27FC236}">
                <a16:creationId xmlns:a16="http://schemas.microsoft.com/office/drawing/2014/main" id="{2993D80F-A5F9-1286-F9F0-4C144781AC48}"/>
              </a:ext>
            </a:extLst>
          </p:cNvPr>
          <p:cNvSpPr/>
          <p:nvPr/>
        </p:nvSpPr>
        <p:spPr>
          <a:xfrm>
            <a:off x="7299960" y="5383530"/>
            <a:ext cx="160020" cy="212598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6" name="Text 54">
            <a:extLst>
              <a:ext uri="{FF2B5EF4-FFF2-40B4-BE49-F238E27FC236}">
                <a16:creationId xmlns:a16="http://schemas.microsoft.com/office/drawing/2014/main" id="{301F4378-80E4-6105-8312-31E2CA6034F9}"/>
              </a:ext>
            </a:extLst>
          </p:cNvPr>
          <p:cNvSpPr txBox="1"/>
          <p:nvPr/>
        </p:nvSpPr>
        <p:spPr>
          <a:xfrm>
            <a:off x="7246620" y="5164074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37" name="Text 55">
            <a:extLst>
              <a:ext uri="{FF2B5EF4-FFF2-40B4-BE49-F238E27FC236}">
                <a16:creationId xmlns:a16="http://schemas.microsoft.com/office/drawing/2014/main" id="{98F1C909-EDFC-DE30-65AD-19A23121CA29}"/>
              </a:ext>
            </a:extLst>
          </p:cNvPr>
          <p:cNvSpPr txBox="1"/>
          <p:nvPr/>
        </p:nvSpPr>
        <p:spPr>
          <a:xfrm>
            <a:off x="7246620" y="562356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  <p:sp>
        <p:nvSpPr>
          <p:cNvPr id="238" name="Shape 56">
            <a:extLst>
              <a:ext uri="{FF2B5EF4-FFF2-40B4-BE49-F238E27FC236}">
                <a16:creationId xmlns:a16="http://schemas.microsoft.com/office/drawing/2014/main" id="{67D5130D-61A2-02C8-5B12-DB4EE257038C}"/>
              </a:ext>
            </a:extLst>
          </p:cNvPr>
          <p:cNvSpPr/>
          <p:nvPr/>
        </p:nvSpPr>
        <p:spPr>
          <a:xfrm>
            <a:off x="7566660" y="5383530"/>
            <a:ext cx="160020" cy="212598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9" name="Text 57">
            <a:extLst>
              <a:ext uri="{FF2B5EF4-FFF2-40B4-BE49-F238E27FC236}">
                <a16:creationId xmlns:a16="http://schemas.microsoft.com/office/drawing/2014/main" id="{F789CAFB-9463-51FA-DDA2-233B417C2806}"/>
              </a:ext>
            </a:extLst>
          </p:cNvPr>
          <p:cNvSpPr txBox="1"/>
          <p:nvPr/>
        </p:nvSpPr>
        <p:spPr>
          <a:xfrm>
            <a:off x="7513320" y="5164074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40" name="Text 58">
            <a:extLst>
              <a:ext uri="{FF2B5EF4-FFF2-40B4-BE49-F238E27FC236}">
                <a16:creationId xmlns:a16="http://schemas.microsoft.com/office/drawing/2014/main" id="{9CE5F694-46ED-51DF-1A22-F62DA0CCFFB4}"/>
              </a:ext>
            </a:extLst>
          </p:cNvPr>
          <p:cNvSpPr txBox="1"/>
          <p:nvPr/>
        </p:nvSpPr>
        <p:spPr>
          <a:xfrm>
            <a:off x="7513320" y="562356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/>
          </a:p>
        </p:txBody>
      </p:sp>
      <p:sp>
        <p:nvSpPr>
          <p:cNvPr id="241" name="Shape 59">
            <a:extLst>
              <a:ext uri="{FF2B5EF4-FFF2-40B4-BE49-F238E27FC236}">
                <a16:creationId xmlns:a16="http://schemas.microsoft.com/office/drawing/2014/main" id="{8C151459-BE19-7D0D-FA1E-08B92878E9D9}"/>
              </a:ext>
            </a:extLst>
          </p:cNvPr>
          <p:cNvSpPr/>
          <p:nvPr/>
        </p:nvSpPr>
        <p:spPr>
          <a:xfrm>
            <a:off x="7833360" y="5454396"/>
            <a:ext cx="160020" cy="1417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2" name="Text 60">
            <a:extLst>
              <a:ext uri="{FF2B5EF4-FFF2-40B4-BE49-F238E27FC236}">
                <a16:creationId xmlns:a16="http://schemas.microsoft.com/office/drawing/2014/main" id="{A24BCC80-504B-7E64-A54D-0F0C8325FC6B}"/>
              </a:ext>
            </a:extLst>
          </p:cNvPr>
          <p:cNvSpPr txBox="1"/>
          <p:nvPr/>
        </p:nvSpPr>
        <p:spPr>
          <a:xfrm>
            <a:off x="7780020" y="523494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243" name="Text 61">
            <a:extLst>
              <a:ext uri="{FF2B5EF4-FFF2-40B4-BE49-F238E27FC236}">
                <a16:creationId xmlns:a16="http://schemas.microsoft.com/office/drawing/2014/main" id="{7C79216A-107A-33E3-3B2C-4034FDFECCAD}"/>
              </a:ext>
            </a:extLst>
          </p:cNvPr>
          <p:cNvSpPr txBox="1"/>
          <p:nvPr/>
        </p:nvSpPr>
        <p:spPr>
          <a:xfrm>
            <a:off x="7780020" y="5623560"/>
            <a:ext cx="266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8DC27870-DCBE-EED3-7A0C-21714A3A1EC7}"/>
              </a:ext>
            </a:extLst>
          </p:cNvPr>
          <p:cNvSpPr/>
          <p:nvPr/>
        </p:nvSpPr>
        <p:spPr>
          <a:xfrm>
            <a:off x="9363456" y="347472"/>
            <a:ext cx="227685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A79FED9-610A-F19D-B1BD-A0FE04FC229F}"/>
              </a:ext>
            </a:extLst>
          </p:cNvPr>
          <p:cNvSpPr txBox="1"/>
          <p:nvPr/>
        </p:nvSpPr>
        <p:spPr>
          <a:xfrm>
            <a:off x="9363456" y="34747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SEARCH</a:t>
            </a:r>
            <a:endParaRPr lang="en-US" sz="1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F477E-C982-3DF4-913A-31E15A03C6D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036982" y="2345436"/>
            <a:ext cx="694436" cy="694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>
            <a:extLst>
              <a:ext uri="{FF2B5EF4-FFF2-40B4-BE49-F238E27FC236}">
                <a16:creationId xmlns:a16="http://schemas.microsoft.com/office/drawing/2014/main" id="{D8804DB1-04E1-7AC9-729A-C30FF15CD0AA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lang="en-US" sz="1100"/>
          </a:p>
        </p:txBody>
      </p:sp>
      <p:sp>
        <p:nvSpPr>
          <p:cNvPr id="80" name="Shape 1">
            <a:extLst>
              <a:ext uri="{FF2B5EF4-FFF2-40B4-BE49-F238E27FC236}">
                <a16:creationId xmlns:a16="http://schemas.microsoft.com/office/drawing/2014/main" id="{06E1F4C2-3C31-43FF-745D-32E8F21982D9}"/>
              </a:ext>
            </a:extLst>
          </p:cNvPr>
          <p:cNvSpPr/>
          <p:nvPr/>
        </p:nvSpPr>
        <p:spPr>
          <a:xfrm>
            <a:off x="9363456" y="347472"/>
            <a:ext cx="227685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2">
            <a:extLst>
              <a:ext uri="{FF2B5EF4-FFF2-40B4-BE49-F238E27FC236}">
                <a16:creationId xmlns:a16="http://schemas.microsoft.com/office/drawing/2014/main" id="{EF4EE2DD-2731-9811-E74F-BC68AEA0D5EC}"/>
              </a:ext>
            </a:extLst>
          </p:cNvPr>
          <p:cNvSpPr txBox="1"/>
          <p:nvPr/>
        </p:nvSpPr>
        <p:spPr>
          <a:xfrm>
            <a:off x="9363456" y="34747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SEARCH</a:t>
            </a:r>
            <a:endParaRPr lang="en-US" sz="1100"/>
          </a:p>
        </p:txBody>
      </p:sp>
      <p:sp>
        <p:nvSpPr>
          <p:cNvPr id="82" name="Text 3">
            <a:extLst>
              <a:ext uri="{FF2B5EF4-FFF2-40B4-BE49-F238E27FC236}">
                <a16:creationId xmlns:a16="http://schemas.microsoft.com/office/drawing/2014/main" id="{3B93CF58-C74E-C03E-23BD-C56B124509FB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then asks its memory where to go</a:t>
            </a:r>
            <a:endParaRPr lang="en-US" sz="3000"/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7CFC0261-1332-DD88-3E1D-C0DAE3ECA49A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query is a sentence. In the full system, the gaze crop is the query (M8)</a:t>
            </a:r>
            <a:endParaRPr lang="en-US" sz="170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363B9468-02FE-0E1C-F737-24D7F733F507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/>
          </a:p>
        </p:txBody>
      </p:sp>
      <p:sp>
        <p:nvSpPr>
          <p:cNvPr id="85" name="Shape 6">
            <a:extLst>
              <a:ext uri="{FF2B5EF4-FFF2-40B4-BE49-F238E27FC236}">
                <a16:creationId xmlns:a16="http://schemas.microsoft.com/office/drawing/2014/main" id="{F36499E6-907A-3D9A-0FC0-938BFA231FFE}"/>
              </a:ext>
            </a:extLst>
          </p:cNvPr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A7F77BE6-4F1C-385B-1B97-9D9E3D6BF746}"/>
              </a:ext>
            </a:extLst>
          </p:cNvPr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60A41E88-EFCD-2010-AE65-F46E9DB57A90}"/>
              </a:ext>
            </a:extLst>
          </p:cNvPr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43A18BB3-AA83-B8DC-D198-7CDFC4A0D0E2}"/>
              </a:ext>
            </a:extLst>
          </p:cNvPr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Memory</a:t>
            </a:r>
            <a:endParaRPr lang="en-US" sz="1400"/>
          </a:p>
        </p:txBody>
      </p:sp>
      <p:sp>
        <p:nvSpPr>
          <p:cNvPr id="89" name="Shape 10">
            <a:extLst>
              <a:ext uri="{FF2B5EF4-FFF2-40B4-BE49-F238E27FC236}">
                <a16:creationId xmlns:a16="http://schemas.microsoft.com/office/drawing/2014/main" id="{A3AF1C4B-A9A5-4ADE-5409-E4F44733E36B}"/>
              </a:ext>
            </a:extLst>
          </p:cNvPr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Shape 11">
            <a:extLst>
              <a:ext uri="{FF2B5EF4-FFF2-40B4-BE49-F238E27FC236}">
                <a16:creationId xmlns:a16="http://schemas.microsoft.com/office/drawing/2014/main" id="{4143CF9E-5F57-D43A-FFB3-9E6570ECB941}"/>
              </a:ext>
            </a:extLst>
          </p:cNvPr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33F35144-D690-42A4-33DE-86FEBB8243E0}"/>
              </a:ext>
            </a:extLst>
          </p:cNvPr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7EB67368-15FC-7CC9-58E8-983234EBFDE3}"/>
              </a:ext>
            </a:extLst>
          </p:cNvPr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</a:t>
            </a:r>
            <a:endParaRPr lang="en-US" sz="1400"/>
          </a:p>
        </p:txBody>
      </p:sp>
      <p:sp>
        <p:nvSpPr>
          <p:cNvPr id="93" name="Shape 14">
            <a:extLst>
              <a:ext uri="{FF2B5EF4-FFF2-40B4-BE49-F238E27FC236}">
                <a16:creationId xmlns:a16="http://schemas.microsoft.com/office/drawing/2014/main" id="{12B0EBCE-5E26-3AF6-1BD4-0560DBC7CC4B}"/>
              </a:ext>
            </a:extLst>
          </p:cNvPr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Shape 15">
            <a:extLst>
              <a:ext uri="{FF2B5EF4-FFF2-40B4-BE49-F238E27FC236}">
                <a16:creationId xmlns:a16="http://schemas.microsoft.com/office/drawing/2014/main" id="{9A637D82-1FB3-F3C6-584F-A0611CA178CF}"/>
              </a:ext>
            </a:extLst>
          </p:cNvPr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16">
            <a:extLst>
              <a:ext uri="{FF2B5EF4-FFF2-40B4-BE49-F238E27FC236}">
                <a16:creationId xmlns:a16="http://schemas.microsoft.com/office/drawing/2014/main" id="{E783CE23-D117-C173-EEEB-A7E7DCF3C7D5}"/>
              </a:ext>
            </a:extLst>
          </p:cNvPr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96" name="Text 17">
            <a:extLst>
              <a:ext uri="{FF2B5EF4-FFF2-40B4-BE49-F238E27FC236}">
                <a16:creationId xmlns:a16="http://schemas.microsoft.com/office/drawing/2014/main" id="{162296D7-9194-331D-E361-92FD33F590D0}"/>
              </a:ext>
            </a:extLst>
          </p:cNvPr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Memory</a:t>
            </a:r>
            <a:endParaRPr lang="en-US" sz="1400"/>
          </a:p>
        </p:txBody>
      </p:sp>
      <p:sp>
        <p:nvSpPr>
          <p:cNvPr id="97" name="Shape 18">
            <a:extLst>
              <a:ext uri="{FF2B5EF4-FFF2-40B4-BE49-F238E27FC236}">
                <a16:creationId xmlns:a16="http://schemas.microsoft.com/office/drawing/2014/main" id="{B89CECC9-7E8D-DDC9-E88D-F83FD5CEECA5}"/>
              </a:ext>
            </a:extLst>
          </p:cNvPr>
          <p:cNvSpPr/>
          <p:nvPr/>
        </p:nvSpPr>
        <p:spPr>
          <a:xfrm>
            <a:off x="548640" y="4434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A16D6641-5549-3A71-96C4-532B95E02A3A}"/>
              </a:ext>
            </a:extLst>
          </p:cNvPr>
          <p:cNvSpPr txBox="1"/>
          <p:nvPr/>
        </p:nvSpPr>
        <p:spPr>
          <a:xfrm>
            <a:off x="713232" y="4572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CF72B21A-250C-35E4-2125-9E984A6300C8}"/>
              </a:ext>
            </a:extLst>
          </p:cNvPr>
          <p:cNvSpPr txBox="1"/>
          <p:nvPr/>
        </p:nvSpPr>
        <p:spPr>
          <a:xfrm>
            <a:off x="713232" y="48188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 on the recorded drive not run yet: T6.8, weeks 7 to 8</a:t>
            </a:r>
            <a:endParaRPr lang="en-US" sz="130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08B61B5-41E3-10AE-AD6C-8F562F9E8D59}"/>
              </a:ext>
            </a:extLst>
          </p:cNvPr>
          <p:cNvGrpSpPr/>
          <p:nvPr/>
        </p:nvGrpSpPr>
        <p:grpSpPr>
          <a:xfrm>
            <a:off x="2697480" y="1874520"/>
            <a:ext cx="5486400" cy="1078992"/>
            <a:chOff x="2697480" y="1874520"/>
            <a:chExt cx="5486400" cy="1078992"/>
          </a:xfrm>
        </p:grpSpPr>
        <p:sp>
          <p:nvSpPr>
            <p:cNvPr id="100" name="Shape 21">
              <a:extLst>
                <a:ext uri="{FF2B5EF4-FFF2-40B4-BE49-F238E27FC236}">
                  <a16:creationId xmlns:a16="http://schemas.microsoft.com/office/drawing/2014/main" id="{5DC82218-0655-D77D-5EF6-8166C814EE0B}"/>
                </a:ext>
              </a:extLst>
            </p:cNvPr>
            <p:cNvSpPr/>
            <p:nvPr/>
          </p:nvSpPr>
          <p:spPr>
            <a:xfrm>
              <a:off x="2697480" y="1874520"/>
              <a:ext cx="5486400" cy="1078992"/>
            </a:xfrm>
            <a:prstGeom prst="roundRect">
              <a:avLst>
                <a:gd name="adj" fmla="val 7519"/>
              </a:avLst>
            </a:prstGeom>
            <a:solidFill>
              <a:srgbClr val="EEF2F7"/>
            </a:solidFill>
            <a:ln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D4762279-D1C5-CB20-A60A-3DB52B3C6016}"/>
                </a:ext>
              </a:extLst>
            </p:cNvPr>
            <p:cNvGrpSpPr/>
            <p:nvPr/>
          </p:nvGrpSpPr>
          <p:grpSpPr>
            <a:xfrm>
              <a:off x="2862072" y="1993392"/>
              <a:ext cx="5138928" cy="841248"/>
              <a:chOff x="2862072" y="2011680"/>
              <a:chExt cx="5138928" cy="841248"/>
            </a:xfrm>
          </p:grpSpPr>
          <p:sp>
            <p:nvSpPr>
              <p:cNvPr id="101" name="Shape 22">
                <a:extLst>
                  <a:ext uri="{FF2B5EF4-FFF2-40B4-BE49-F238E27FC236}">
                    <a16:creationId xmlns:a16="http://schemas.microsoft.com/office/drawing/2014/main" id="{BD5CC7D2-E034-491D-D241-C1979742AF86}"/>
                  </a:ext>
                </a:extLst>
              </p:cNvPr>
              <p:cNvSpPr/>
              <p:nvPr/>
            </p:nvSpPr>
            <p:spPr>
              <a:xfrm>
                <a:off x="2862072" y="2029968"/>
                <a:ext cx="347472" cy="347472"/>
              </a:xfrm>
              <a:prstGeom prst="ellipse">
                <a:avLst/>
              </a:prstGeom>
              <a:solidFill>
                <a:srgbClr val="0068B5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" name="Text 23">
                <a:extLst>
                  <a:ext uri="{FF2B5EF4-FFF2-40B4-BE49-F238E27FC236}">
                    <a16:creationId xmlns:a16="http://schemas.microsoft.com/office/drawing/2014/main" id="{682D2445-C02F-825D-EDB3-A33246E72E29}"/>
                  </a:ext>
                </a:extLst>
              </p:cNvPr>
              <p:cNvSpPr txBox="1"/>
              <p:nvPr/>
            </p:nvSpPr>
            <p:spPr>
              <a:xfrm>
                <a:off x="2862072" y="2029968"/>
                <a:ext cx="347472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</a:t>
                </a:r>
                <a:endParaRPr lang="en-US" sz="1300"/>
              </a:p>
            </p:txBody>
          </p:sp>
          <p:sp>
            <p:nvSpPr>
              <p:cNvPr id="103" name="Text 24">
                <a:extLst>
                  <a:ext uri="{FF2B5EF4-FFF2-40B4-BE49-F238E27FC236}">
                    <a16:creationId xmlns:a16="http://schemas.microsoft.com/office/drawing/2014/main" id="{214E75FA-6355-D3DE-4F0A-B2D53DB6CFAB}"/>
                  </a:ext>
                </a:extLst>
              </p:cNvPr>
              <p:cNvSpPr txBox="1"/>
              <p:nvPr/>
            </p:nvSpPr>
            <p:spPr>
              <a:xfrm>
                <a:off x="3337560" y="2011680"/>
                <a:ext cx="466344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500" b="1">
                    <a:solidFill>
                      <a:srgbClr val="1621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LLM determines target object’s class based on prompt</a:t>
                </a:r>
                <a:endParaRPr lang="en-US" sz="1500"/>
              </a:p>
            </p:txBody>
          </p:sp>
          <p:sp>
            <p:nvSpPr>
              <p:cNvPr id="104" name="Shape 25">
                <a:extLst>
                  <a:ext uri="{FF2B5EF4-FFF2-40B4-BE49-F238E27FC236}">
                    <a16:creationId xmlns:a16="http://schemas.microsoft.com/office/drawing/2014/main" id="{1C930F45-B010-6F26-8C45-F11EA3D34276}"/>
                  </a:ext>
                </a:extLst>
              </p:cNvPr>
              <p:cNvSpPr/>
              <p:nvPr/>
            </p:nvSpPr>
            <p:spPr>
              <a:xfrm>
                <a:off x="3337560" y="2496312"/>
                <a:ext cx="1554480" cy="34747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C5CDD8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Text 26">
                <a:extLst>
                  <a:ext uri="{FF2B5EF4-FFF2-40B4-BE49-F238E27FC236}">
                    <a16:creationId xmlns:a16="http://schemas.microsoft.com/office/drawing/2014/main" id="{02C76250-4538-D0C5-4A3A-02BEA31BE962}"/>
                  </a:ext>
                </a:extLst>
              </p:cNvPr>
              <p:cNvSpPr txBox="1"/>
              <p:nvPr/>
            </p:nvSpPr>
            <p:spPr>
              <a:xfrm>
                <a:off x="3337560" y="2496312"/>
                <a:ext cx="155448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i="1">
                    <a:solidFill>
                      <a:srgbClr val="1621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“Find the chair”</a:t>
                </a:r>
                <a:endParaRPr lang="en-US" sz="1300"/>
              </a:p>
            </p:txBody>
          </p:sp>
          <p:sp>
            <p:nvSpPr>
              <p:cNvPr id="106" name="Text 27">
                <a:extLst>
                  <a:ext uri="{FF2B5EF4-FFF2-40B4-BE49-F238E27FC236}">
                    <a16:creationId xmlns:a16="http://schemas.microsoft.com/office/drawing/2014/main" id="{F168965B-1D5C-23C9-8A84-EC6AC28689E3}"/>
                  </a:ext>
                </a:extLst>
              </p:cNvPr>
              <p:cNvSpPr txBox="1"/>
              <p:nvPr/>
            </p:nvSpPr>
            <p:spPr>
              <a:xfrm>
                <a:off x="4937760" y="2441448"/>
                <a:ext cx="27432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>
                    <a:solidFill>
                      <a:srgbClr val="6B728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›</a:t>
                </a:r>
                <a:endParaRPr lang="en-US" sz="2200"/>
              </a:p>
            </p:txBody>
          </p:sp>
          <p:sp>
            <p:nvSpPr>
              <p:cNvPr id="107" name="Shape 28">
                <a:extLst>
                  <a:ext uri="{FF2B5EF4-FFF2-40B4-BE49-F238E27FC236}">
                    <a16:creationId xmlns:a16="http://schemas.microsoft.com/office/drawing/2014/main" id="{998C6D17-B6E8-7DF7-7F72-70A4E0992BBE}"/>
                  </a:ext>
                </a:extLst>
              </p:cNvPr>
              <p:cNvSpPr/>
              <p:nvPr/>
            </p:nvSpPr>
            <p:spPr>
              <a:xfrm>
                <a:off x="5303520" y="2514600"/>
                <a:ext cx="777240" cy="310896"/>
              </a:xfrm>
              <a:prstGeom prst="roundRect">
                <a:avLst>
                  <a:gd name="adj" fmla="val 50000"/>
                </a:avLst>
              </a:prstGeom>
              <a:solidFill>
                <a:srgbClr val="16213A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8" name="Text 29">
                <a:extLst>
                  <a:ext uri="{FF2B5EF4-FFF2-40B4-BE49-F238E27FC236}">
                    <a16:creationId xmlns:a16="http://schemas.microsoft.com/office/drawing/2014/main" id="{DB92C9F0-6695-4DC5-38B2-6FAD3D54E442}"/>
                  </a:ext>
                </a:extLst>
              </p:cNvPr>
              <p:cNvSpPr txBox="1"/>
              <p:nvPr/>
            </p:nvSpPr>
            <p:spPr>
              <a:xfrm>
                <a:off x="5303520" y="2514600"/>
                <a:ext cx="7772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chair</a:t>
                </a:r>
                <a:endParaRPr lang="en-US" sz="1200"/>
              </a:p>
            </p:txBody>
          </p:sp>
          <p:sp>
            <p:nvSpPr>
              <p:cNvPr id="109" name="Shape 30">
                <a:extLst>
                  <a:ext uri="{FF2B5EF4-FFF2-40B4-BE49-F238E27FC236}">
                    <a16:creationId xmlns:a16="http://schemas.microsoft.com/office/drawing/2014/main" id="{7DEC2CEE-1EEB-9C29-B062-E9730FA743E3}"/>
                  </a:ext>
                </a:extLst>
              </p:cNvPr>
              <p:cNvSpPr/>
              <p:nvPr/>
            </p:nvSpPr>
            <p:spPr>
              <a:xfrm>
                <a:off x="6172200" y="2514600"/>
                <a:ext cx="777240" cy="31089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C5CDD8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0" name="Text 31">
                <a:extLst>
                  <a:ext uri="{FF2B5EF4-FFF2-40B4-BE49-F238E27FC236}">
                    <a16:creationId xmlns:a16="http://schemas.microsoft.com/office/drawing/2014/main" id="{448FE883-017E-D1A0-970F-1F8ADCD4A265}"/>
                  </a:ext>
                </a:extLst>
              </p:cNvPr>
              <p:cNvSpPr txBox="1"/>
              <p:nvPr/>
            </p:nvSpPr>
            <p:spPr>
              <a:xfrm>
                <a:off x="6172200" y="2514600"/>
                <a:ext cx="7772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>
                    <a:solidFill>
                      <a:srgbClr val="4B556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table</a:t>
                </a:r>
                <a:endParaRPr lang="en-US" sz="1200"/>
              </a:p>
            </p:txBody>
          </p:sp>
          <p:sp>
            <p:nvSpPr>
              <p:cNvPr id="111" name="Shape 32">
                <a:extLst>
                  <a:ext uri="{FF2B5EF4-FFF2-40B4-BE49-F238E27FC236}">
                    <a16:creationId xmlns:a16="http://schemas.microsoft.com/office/drawing/2014/main" id="{722F44B4-D563-EC80-5041-A8D873D8990D}"/>
                  </a:ext>
                </a:extLst>
              </p:cNvPr>
              <p:cNvSpPr/>
              <p:nvPr/>
            </p:nvSpPr>
            <p:spPr>
              <a:xfrm>
                <a:off x="7040880" y="2514600"/>
                <a:ext cx="777240" cy="31089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C5CDD8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2" name="Text 33">
                <a:extLst>
                  <a:ext uri="{FF2B5EF4-FFF2-40B4-BE49-F238E27FC236}">
                    <a16:creationId xmlns:a16="http://schemas.microsoft.com/office/drawing/2014/main" id="{C87EF2C6-7561-63E5-BE3F-BC731A552A43}"/>
                  </a:ext>
                </a:extLst>
              </p:cNvPr>
              <p:cNvSpPr txBox="1"/>
              <p:nvPr/>
            </p:nvSpPr>
            <p:spPr>
              <a:xfrm>
                <a:off x="7040880" y="2514600"/>
                <a:ext cx="7772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>
                    <a:solidFill>
                      <a:srgbClr val="4B556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desk</a:t>
                </a:r>
                <a:endParaRPr lang="en-US" sz="1200"/>
              </a:p>
            </p:txBody>
          </p:sp>
        </p:grp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CD02C8F-FB90-1282-9C60-E8643DDAF110}"/>
              </a:ext>
            </a:extLst>
          </p:cNvPr>
          <p:cNvGrpSpPr/>
          <p:nvPr/>
        </p:nvGrpSpPr>
        <p:grpSpPr>
          <a:xfrm>
            <a:off x="2697480" y="3057245"/>
            <a:ext cx="5486400" cy="658368"/>
            <a:chOff x="2697480" y="3054399"/>
            <a:chExt cx="5486400" cy="658368"/>
          </a:xfrm>
        </p:grpSpPr>
        <p:sp>
          <p:nvSpPr>
            <p:cNvPr id="113" name="Shape 34">
              <a:extLst>
                <a:ext uri="{FF2B5EF4-FFF2-40B4-BE49-F238E27FC236}">
                  <a16:creationId xmlns:a16="http://schemas.microsoft.com/office/drawing/2014/main" id="{7735DFD6-D99A-D0A6-65CE-4A1091191DC8}"/>
                </a:ext>
              </a:extLst>
            </p:cNvPr>
            <p:cNvSpPr/>
            <p:nvPr/>
          </p:nvSpPr>
          <p:spPr>
            <a:xfrm>
              <a:off x="2697480" y="3054399"/>
              <a:ext cx="5486400" cy="658368"/>
            </a:xfrm>
            <a:prstGeom prst="roundRect">
              <a:avLst>
                <a:gd name="adj" fmla="val 7519"/>
              </a:avLst>
            </a:prstGeom>
            <a:solidFill>
              <a:srgbClr val="EEF2F7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Shape 35">
              <a:extLst>
                <a:ext uri="{FF2B5EF4-FFF2-40B4-BE49-F238E27FC236}">
                  <a16:creationId xmlns:a16="http://schemas.microsoft.com/office/drawing/2014/main" id="{B3694D42-A31B-FDFA-601D-CAAD9DCF9DBF}"/>
                </a:ext>
              </a:extLst>
            </p:cNvPr>
            <p:cNvSpPr/>
            <p:nvPr/>
          </p:nvSpPr>
          <p:spPr>
            <a:xfrm>
              <a:off x="2862072" y="3209847"/>
              <a:ext cx="347472" cy="347472"/>
            </a:xfrm>
            <a:prstGeom prst="ellipse">
              <a:avLst/>
            </a:prstGeom>
            <a:solidFill>
              <a:srgbClr val="0068B5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Text 36">
              <a:extLst>
                <a:ext uri="{FF2B5EF4-FFF2-40B4-BE49-F238E27FC236}">
                  <a16:creationId xmlns:a16="http://schemas.microsoft.com/office/drawing/2014/main" id="{E499B530-10D8-708D-C208-AA0481CF2BF4}"/>
                </a:ext>
              </a:extLst>
            </p:cNvPr>
            <p:cNvSpPr txBox="1"/>
            <p:nvPr/>
          </p:nvSpPr>
          <p:spPr>
            <a:xfrm>
              <a:off x="2862072" y="3209847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300"/>
            </a:p>
          </p:txBody>
        </p:sp>
        <p:sp>
          <p:nvSpPr>
            <p:cNvPr id="116" name="Text 37">
              <a:extLst>
                <a:ext uri="{FF2B5EF4-FFF2-40B4-BE49-F238E27FC236}">
                  <a16:creationId xmlns:a16="http://schemas.microsoft.com/office/drawing/2014/main" id="{488492DB-8CC7-BE8B-F237-3CF4B23959EB}"/>
                </a:ext>
              </a:extLst>
            </p:cNvPr>
            <p:cNvSpPr txBox="1"/>
            <p:nvPr/>
          </p:nvSpPr>
          <p:spPr>
            <a:xfrm>
              <a:off x="3337560" y="3191559"/>
              <a:ext cx="4663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1621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Obtain prompt embedding</a:t>
              </a:r>
              <a:endParaRPr lang="en-US" sz="1500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40D6EC8-00F9-1CD5-CA60-8D48BB79EF70}"/>
              </a:ext>
            </a:extLst>
          </p:cNvPr>
          <p:cNvGrpSpPr/>
          <p:nvPr/>
        </p:nvGrpSpPr>
        <p:grpSpPr>
          <a:xfrm>
            <a:off x="2697480" y="4786884"/>
            <a:ext cx="5486400" cy="1101852"/>
            <a:chOff x="2697480" y="4786884"/>
            <a:chExt cx="5486400" cy="1101852"/>
          </a:xfrm>
        </p:grpSpPr>
        <p:sp>
          <p:nvSpPr>
            <p:cNvPr id="118" name="Shape 39">
              <a:extLst>
                <a:ext uri="{FF2B5EF4-FFF2-40B4-BE49-F238E27FC236}">
                  <a16:creationId xmlns:a16="http://schemas.microsoft.com/office/drawing/2014/main" id="{481D2611-811C-DB4E-9BD8-C83F148A7346}"/>
                </a:ext>
              </a:extLst>
            </p:cNvPr>
            <p:cNvSpPr/>
            <p:nvPr/>
          </p:nvSpPr>
          <p:spPr>
            <a:xfrm>
              <a:off x="2697480" y="4786884"/>
              <a:ext cx="5486400" cy="1101852"/>
            </a:xfrm>
            <a:prstGeom prst="roundRect">
              <a:avLst>
                <a:gd name="adj" fmla="val 7519"/>
              </a:avLst>
            </a:prstGeom>
            <a:solidFill>
              <a:srgbClr val="EEF2F7"/>
            </a:solidFill>
            <a:ln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778EE44E-F076-7CD3-BEE2-D254D4C3E701}"/>
                </a:ext>
              </a:extLst>
            </p:cNvPr>
            <p:cNvGrpSpPr/>
            <p:nvPr/>
          </p:nvGrpSpPr>
          <p:grpSpPr>
            <a:xfrm>
              <a:off x="2862072" y="4857750"/>
              <a:ext cx="5138928" cy="960120"/>
              <a:chOff x="2862072" y="4809744"/>
              <a:chExt cx="5138928" cy="960120"/>
            </a:xfrm>
          </p:grpSpPr>
          <p:sp>
            <p:nvSpPr>
              <p:cNvPr id="119" name="Shape 40">
                <a:extLst>
                  <a:ext uri="{FF2B5EF4-FFF2-40B4-BE49-F238E27FC236}">
                    <a16:creationId xmlns:a16="http://schemas.microsoft.com/office/drawing/2014/main" id="{AB7C67F3-D0FD-7403-65BD-BE9C5F9AF99D}"/>
                  </a:ext>
                </a:extLst>
              </p:cNvPr>
              <p:cNvSpPr/>
              <p:nvPr/>
            </p:nvSpPr>
            <p:spPr>
              <a:xfrm>
                <a:off x="2862072" y="4828032"/>
                <a:ext cx="347472" cy="347472"/>
              </a:xfrm>
              <a:prstGeom prst="ellipse">
                <a:avLst/>
              </a:prstGeom>
              <a:solidFill>
                <a:srgbClr val="0068B5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0" name="Text 41">
                <a:extLst>
                  <a:ext uri="{FF2B5EF4-FFF2-40B4-BE49-F238E27FC236}">
                    <a16:creationId xmlns:a16="http://schemas.microsoft.com/office/drawing/2014/main" id="{18FDA264-F8D5-2CE6-7F9C-7DBBCC800AF0}"/>
                  </a:ext>
                </a:extLst>
              </p:cNvPr>
              <p:cNvSpPr txBox="1"/>
              <p:nvPr/>
            </p:nvSpPr>
            <p:spPr>
              <a:xfrm>
                <a:off x="2862072" y="4828032"/>
                <a:ext cx="347472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4</a:t>
                </a:r>
                <a:endParaRPr lang="en-US" sz="1300"/>
              </a:p>
            </p:txBody>
          </p:sp>
          <p:sp>
            <p:nvSpPr>
              <p:cNvPr id="121" name="Text 42">
                <a:extLst>
                  <a:ext uri="{FF2B5EF4-FFF2-40B4-BE49-F238E27FC236}">
                    <a16:creationId xmlns:a16="http://schemas.microsoft.com/office/drawing/2014/main" id="{7F60D09E-7416-F054-1102-D54CE91344A3}"/>
                  </a:ext>
                </a:extLst>
              </p:cNvPr>
              <p:cNvSpPr txBox="1"/>
              <p:nvPr/>
            </p:nvSpPr>
            <p:spPr>
              <a:xfrm>
                <a:off x="3337560" y="4809744"/>
                <a:ext cx="466344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>
                    <a:solidFill>
                      <a:srgbClr val="1621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Return 2 ranked lists with respective 3D positions</a:t>
                </a:r>
                <a:endParaRPr lang="en-US" sz="1500"/>
              </a:p>
            </p:txBody>
          </p:sp>
          <p:sp>
            <p:nvSpPr>
              <p:cNvPr id="122" name="Text 43">
                <a:extLst>
                  <a:ext uri="{FF2B5EF4-FFF2-40B4-BE49-F238E27FC236}">
                    <a16:creationId xmlns:a16="http://schemas.microsoft.com/office/drawing/2014/main" id="{B91C8759-71C9-C047-7110-50CE4ED87286}"/>
                  </a:ext>
                </a:extLst>
              </p:cNvPr>
              <p:cNvSpPr txBox="1"/>
              <p:nvPr/>
            </p:nvSpPr>
            <p:spPr>
              <a:xfrm>
                <a:off x="3337560" y="5221224"/>
                <a:ext cx="46634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4B556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Target classes first, related classes second, each by score. Each hit has a 3D </a:t>
                </a:r>
                <a:r>
                  <a:rPr lang="en-US" sz="1300" err="1">
                    <a:solidFill>
                      <a:srgbClr val="4B556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centre</a:t>
                </a:r>
                <a:r>
                  <a:rPr lang="en-US" sz="1300">
                    <a:solidFill>
                      <a:srgbClr val="4B556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and its best photo. A wrong hit can be rejected.</a:t>
                </a:r>
                <a:endParaRPr lang="en-US" sz="1300"/>
              </a:p>
            </p:txBody>
          </p:sp>
        </p:grpSp>
      </p:grpSp>
      <p:sp>
        <p:nvSpPr>
          <p:cNvPr id="123" name="Shape 44">
            <a:extLst>
              <a:ext uri="{FF2B5EF4-FFF2-40B4-BE49-F238E27FC236}">
                <a16:creationId xmlns:a16="http://schemas.microsoft.com/office/drawing/2014/main" id="{0DBB4735-E285-8F31-F096-C555C3D4012C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4" name="Text 45">
            <a:extLst>
              <a:ext uri="{FF2B5EF4-FFF2-40B4-BE49-F238E27FC236}">
                <a16:creationId xmlns:a16="http://schemas.microsoft.com/office/drawing/2014/main" id="{EB2BF20F-A836-F254-C515-B8D7C0339FF9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 CLASSES</a:t>
            </a:r>
            <a:endParaRPr lang="en-US" sz="1100"/>
          </a:p>
        </p:txBody>
      </p:sp>
      <p:sp>
        <p:nvSpPr>
          <p:cNvPr id="125" name="Text 46">
            <a:extLst>
              <a:ext uri="{FF2B5EF4-FFF2-40B4-BE49-F238E27FC236}">
                <a16:creationId xmlns:a16="http://schemas.microsoft.com/office/drawing/2014/main" id="{E94A5560-B2DC-59F5-A683-869FA8B91279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22</a:t>
            </a:r>
            <a:endParaRPr lang="en-US" sz="5000"/>
          </a:p>
        </p:txBody>
      </p:sp>
      <p:sp>
        <p:nvSpPr>
          <p:cNvPr id="126" name="Text 47">
            <a:extLst>
              <a:ext uri="{FF2B5EF4-FFF2-40B4-BE49-F238E27FC236}">
                <a16:creationId xmlns:a16="http://schemas.microsoft.com/office/drawing/2014/main" id="{6E7B1909-CB57-6F00-7721-2A90B7C2D125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instructions, checked by hand</a:t>
            </a:r>
            <a:endParaRPr lang="en-US" sz="1300"/>
          </a:p>
        </p:txBody>
      </p:sp>
      <p:sp>
        <p:nvSpPr>
          <p:cNvPr id="127" name="Shape 48">
            <a:extLst>
              <a:ext uri="{FF2B5EF4-FFF2-40B4-BE49-F238E27FC236}">
                <a16:creationId xmlns:a16="http://schemas.microsoft.com/office/drawing/2014/main" id="{D2D77B94-1095-9140-F8D2-135231EDA1B7}"/>
              </a:ext>
            </a:extLst>
          </p:cNvPr>
          <p:cNvSpPr/>
          <p:nvPr/>
        </p:nvSpPr>
        <p:spPr>
          <a:xfrm>
            <a:off x="8412480" y="3794760"/>
            <a:ext cx="3227832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8" name="Text 49">
            <a:extLst>
              <a:ext uri="{FF2B5EF4-FFF2-40B4-BE49-F238E27FC236}">
                <a16:creationId xmlns:a16="http://schemas.microsoft.com/office/drawing/2014/main" id="{753E6504-178D-0096-4852-2161B0A67D56}"/>
              </a:ext>
            </a:extLst>
          </p:cNvPr>
          <p:cNvSpPr txBox="1"/>
          <p:nvPr/>
        </p:nvSpPr>
        <p:spPr>
          <a:xfrm>
            <a:off x="8577072" y="393192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LANGUAGE MODEL</a:t>
            </a:r>
            <a:endParaRPr lang="en-US" sz="1100"/>
          </a:p>
        </p:txBody>
      </p:sp>
      <p:sp>
        <p:nvSpPr>
          <p:cNvPr id="129" name="Text 50">
            <a:extLst>
              <a:ext uri="{FF2B5EF4-FFF2-40B4-BE49-F238E27FC236}">
                <a16:creationId xmlns:a16="http://schemas.microsoft.com/office/drawing/2014/main" id="{CF1A23FF-647C-948F-94FA-78DEB3C5E202}"/>
              </a:ext>
            </a:extLst>
          </p:cNvPr>
          <p:cNvSpPr txBox="1"/>
          <p:nvPr/>
        </p:nvSpPr>
        <p:spPr>
          <a:xfrm>
            <a:off x="8577072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1.5B (used)</a:t>
            </a:r>
            <a:endParaRPr lang="en-US" sz="1100"/>
          </a:p>
        </p:txBody>
      </p:sp>
      <p:sp>
        <p:nvSpPr>
          <p:cNvPr id="130" name="Shape 51">
            <a:extLst>
              <a:ext uri="{FF2B5EF4-FFF2-40B4-BE49-F238E27FC236}">
                <a16:creationId xmlns:a16="http://schemas.microsoft.com/office/drawing/2014/main" id="{44DAD425-95EA-B455-4BA2-DC65423D8BFE}"/>
              </a:ext>
            </a:extLst>
          </p:cNvPr>
          <p:cNvSpPr/>
          <p:nvPr/>
        </p:nvSpPr>
        <p:spPr>
          <a:xfrm>
            <a:off x="10012680" y="4370832"/>
            <a:ext cx="997527" cy="137160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1" name="Text 52">
            <a:extLst>
              <a:ext uri="{FF2B5EF4-FFF2-40B4-BE49-F238E27FC236}">
                <a16:creationId xmlns:a16="http://schemas.microsoft.com/office/drawing/2014/main" id="{78F9F7AA-60CC-F491-BF51-2170CFC51304}"/>
              </a:ext>
            </a:extLst>
          </p:cNvPr>
          <p:cNvSpPr txBox="1"/>
          <p:nvPr/>
        </p:nvSpPr>
        <p:spPr>
          <a:xfrm>
            <a:off x="11055927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20/22</a:t>
            </a:r>
            <a:endParaRPr lang="en-US" sz="1100"/>
          </a:p>
        </p:txBody>
      </p:sp>
      <p:sp>
        <p:nvSpPr>
          <p:cNvPr id="132" name="Text 53">
            <a:extLst>
              <a:ext uri="{FF2B5EF4-FFF2-40B4-BE49-F238E27FC236}">
                <a16:creationId xmlns:a16="http://schemas.microsoft.com/office/drawing/2014/main" id="{CAB036DE-1E40-1676-7CCB-40FE22CAC25C}"/>
              </a:ext>
            </a:extLst>
          </p:cNvPr>
          <p:cNvSpPr txBox="1"/>
          <p:nvPr/>
        </p:nvSpPr>
        <p:spPr>
          <a:xfrm>
            <a:off x="8577072" y="4736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model, fallback</a:t>
            </a:r>
            <a:endParaRPr lang="en-US" sz="1100"/>
          </a:p>
        </p:txBody>
      </p:sp>
      <p:sp>
        <p:nvSpPr>
          <p:cNvPr id="133" name="Shape 54">
            <a:extLst>
              <a:ext uri="{FF2B5EF4-FFF2-40B4-BE49-F238E27FC236}">
                <a16:creationId xmlns:a16="http://schemas.microsoft.com/office/drawing/2014/main" id="{5504D763-16D9-17F0-3688-A693E222DBE7}"/>
              </a:ext>
            </a:extLst>
          </p:cNvPr>
          <p:cNvSpPr/>
          <p:nvPr/>
        </p:nvSpPr>
        <p:spPr>
          <a:xfrm>
            <a:off x="10012680" y="4809744"/>
            <a:ext cx="748145" cy="137160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4" name="Text 55">
            <a:extLst>
              <a:ext uri="{FF2B5EF4-FFF2-40B4-BE49-F238E27FC236}">
                <a16:creationId xmlns:a16="http://schemas.microsoft.com/office/drawing/2014/main" id="{F874FC38-D82B-5D4C-7A73-746E074EFED2}"/>
              </a:ext>
            </a:extLst>
          </p:cNvPr>
          <p:cNvSpPr txBox="1"/>
          <p:nvPr/>
        </p:nvSpPr>
        <p:spPr>
          <a:xfrm>
            <a:off x="10806545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15/22</a:t>
            </a:r>
            <a:endParaRPr lang="en-US" sz="1100"/>
          </a:p>
        </p:txBody>
      </p:sp>
      <p:sp>
        <p:nvSpPr>
          <p:cNvPr id="135" name="Text 56">
            <a:extLst>
              <a:ext uri="{FF2B5EF4-FFF2-40B4-BE49-F238E27FC236}">
                <a16:creationId xmlns:a16="http://schemas.microsoft.com/office/drawing/2014/main" id="{9F82803A-CDE6-17C8-552B-FE0F0A2D06A0}"/>
              </a:ext>
            </a:extLst>
          </p:cNvPr>
          <p:cNvSpPr txBox="1"/>
          <p:nvPr/>
        </p:nvSpPr>
        <p:spPr>
          <a:xfrm>
            <a:off x="8577072" y="51755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0.5B</a:t>
            </a:r>
            <a:endParaRPr lang="en-US" sz="1100"/>
          </a:p>
        </p:txBody>
      </p:sp>
      <p:sp>
        <p:nvSpPr>
          <p:cNvPr id="136" name="Shape 57">
            <a:extLst>
              <a:ext uri="{FF2B5EF4-FFF2-40B4-BE49-F238E27FC236}">
                <a16:creationId xmlns:a16="http://schemas.microsoft.com/office/drawing/2014/main" id="{59E5EDBC-024C-54FD-DFF3-7CBD39AAD49C}"/>
              </a:ext>
            </a:extLst>
          </p:cNvPr>
          <p:cNvSpPr/>
          <p:nvPr/>
        </p:nvSpPr>
        <p:spPr>
          <a:xfrm>
            <a:off x="10012680" y="5248656"/>
            <a:ext cx="598516" cy="137160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7" name="Text 58">
            <a:extLst>
              <a:ext uri="{FF2B5EF4-FFF2-40B4-BE49-F238E27FC236}">
                <a16:creationId xmlns:a16="http://schemas.microsoft.com/office/drawing/2014/main" id="{13F15DE3-F7F6-D101-646D-0F73AC4B48A2}"/>
              </a:ext>
            </a:extLst>
          </p:cNvPr>
          <p:cNvSpPr txBox="1"/>
          <p:nvPr/>
        </p:nvSpPr>
        <p:spPr>
          <a:xfrm>
            <a:off x="10656916" y="5175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12/22</a:t>
            </a:r>
            <a:endParaRPr lang="en-US" sz="1100"/>
          </a:p>
        </p:txBody>
      </p:sp>
      <p:sp>
        <p:nvSpPr>
          <p:cNvPr id="138" name="Text 59">
            <a:extLst>
              <a:ext uri="{FF2B5EF4-FFF2-40B4-BE49-F238E27FC236}">
                <a16:creationId xmlns:a16="http://schemas.microsoft.com/office/drawing/2014/main" id="{FC2DE41B-F5A2-D726-1C94-F86D20BECAF3}"/>
              </a:ext>
            </a:extLst>
          </p:cNvPr>
          <p:cNvSpPr txBox="1"/>
          <p:nvPr/>
        </p:nvSpPr>
        <p:spPr>
          <a:xfrm>
            <a:off x="8577072" y="557784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 to 0.32 s per reply, on the lab machine</a:t>
            </a:r>
            <a:endParaRPr lang="en-US" sz="1100"/>
          </a:p>
        </p:txBody>
      </p:sp>
      <p:sp>
        <p:nvSpPr>
          <p:cNvPr id="139" name="Shape 60">
            <a:extLst>
              <a:ext uri="{FF2B5EF4-FFF2-40B4-BE49-F238E27FC236}">
                <a16:creationId xmlns:a16="http://schemas.microsoft.com/office/drawing/2014/main" id="{E501000E-2998-F9FC-3F7D-7D9F2091DAE1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0" name="Text 61">
            <a:extLst>
              <a:ext uri="{FF2B5EF4-FFF2-40B4-BE49-F238E27FC236}">
                <a16:creationId xmlns:a16="http://schemas.microsoft.com/office/drawing/2014/main" id="{B8602D4D-FBC1-600F-1BF4-8A72113DE097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141" name="Shape 62">
            <a:extLst>
              <a:ext uri="{FF2B5EF4-FFF2-40B4-BE49-F238E27FC236}">
                <a16:creationId xmlns:a16="http://schemas.microsoft.com/office/drawing/2014/main" id="{BDD43CF1-0DA0-8366-4AB8-B7AE82753005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2" name="Text 63">
            <a:extLst>
              <a:ext uri="{FF2B5EF4-FFF2-40B4-BE49-F238E27FC236}">
                <a16:creationId xmlns:a16="http://schemas.microsoft.com/office/drawing/2014/main" id="{6A32B71F-AA05-A3DA-741A-BA249472BCEF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143" name="Shape 64">
            <a:extLst>
              <a:ext uri="{FF2B5EF4-FFF2-40B4-BE49-F238E27FC236}">
                <a16:creationId xmlns:a16="http://schemas.microsoft.com/office/drawing/2014/main" id="{24EBCFDC-5824-7BA9-F39D-2117ABEC54DC}"/>
              </a:ext>
            </a:extLst>
          </p:cNvPr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4" name="Text 65">
            <a:extLst>
              <a:ext uri="{FF2B5EF4-FFF2-40B4-BE49-F238E27FC236}">
                <a16:creationId xmlns:a16="http://schemas.microsoft.com/office/drawing/2014/main" id="{DF1B528B-08B8-CA04-C223-C76DFA81DF08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45" name="Shape 66">
            <a:extLst>
              <a:ext uri="{FF2B5EF4-FFF2-40B4-BE49-F238E27FC236}">
                <a16:creationId xmlns:a16="http://schemas.microsoft.com/office/drawing/2014/main" id="{3FB21257-13F6-FD83-E744-02367A0F13C2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6" name="Text 67">
            <a:extLst>
              <a:ext uri="{FF2B5EF4-FFF2-40B4-BE49-F238E27FC236}">
                <a16:creationId xmlns:a16="http://schemas.microsoft.com/office/drawing/2014/main" id="{3E3DED7C-8D1F-91D9-2A54-E87C975DA253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47" name="Shape 68">
            <a:extLst>
              <a:ext uri="{FF2B5EF4-FFF2-40B4-BE49-F238E27FC236}">
                <a16:creationId xmlns:a16="http://schemas.microsoft.com/office/drawing/2014/main" id="{9177A039-A253-0E51-9B61-7FDC97196D92}"/>
              </a:ext>
            </a:extLst>
          </p:cNvPr>
          <p:cNvSpPr/>
          <p:nvPr/>
        </p:nvSpPr>
        <p:spPr>
          <a:xfrm>
            <a:off x="6140196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8" name="Text 69">
            <a:extLst>
              <a:ext uri="{FF2B5EF4-FFF2-40B4-BE49-F238E27FC236}">
                <a16:creationId xmlns:a16="http://schemas.microsoft.com/office/drawing/2014/main" id="{B45BEC58-CD9E-DA86-5B1D-E6CAE113703B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49" name="Shape 70">
            <a:extLst>
              <a:ext uri="{FF2B5EF4-FFF2-40B4-BE49-F238E27FC236}">
                <a16:creationId xmlns:a16="http://schemas.microsoft.com/office/drawing/2014/main" id="{449F6AC3-6584-D327-469C-0846144ED94B}"/>
              </a:ext>
            </a:extLst>
          </p:cNvPr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0" name="Text 71">
            <a:extLst>
              <a:ext uri="{FF2B5EF4-FFF2-40B4-BE49-F238E27FC236}">
                <a16:creationId xmlns:a16="http://schemas.microsoft.com/office/drawing/2014/main" id="{6CD456FD-8488-4FDC-1825-CAF2BB676459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51" name="Shape 72">
            <a:extLst>
              <a:ext uri="{FF2B5EF4-FFF2-40B4-BE49-F238E27FC236}">
                <a16:creationId xmlns:a16="http://schemas.microsoft.com/office/drawing/2014/main" id="{600CA4FA-80BD-8B5B-B771-637932EB0F37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2" name="Text 73">
            <a:extLst>
              <a:ext uri="{FF2B5EF4-FFF2-40B4-BE49-F238E27FC236}">
                <a16:creationId xmlns:a16="http://schemas.microsoft.com/office/drawing/2014/main" id="{808041B0-B965-E384-0C1C-8DE2D164D1B5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53" name="Shape 74">
            <a:extLst>
              <a:ext uri="{FF2B5EF4-FFF2-40B4-BE49-F238E27FC236}">
                <a16:creationId xmlns:a16="http://schemas.microsoft.com/office/drawing/2014/main" id="{3771C2A1-5E4D-0125-012F-54EDA71AFCA6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4" name="Text 75">
            <a:extLst>
              <a:ext uri="{FF2B5EF4-FFF2-40B4-BE49-F238E27FC236}">
                <a16:creationId xmlns:a16="http://schemas.microsoft.com/office/drawing/2014/main" id="{2723D96F-1E80-6154-FB8C-18CD1AF1B02C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55" name="Text 76">
            <a:extLst>
              <a:ext uri="{FF2B5EF4-FFF2-40B4-BE49-F238E27FC236}">
                <a16:creationId xmlns:a16="http://schemas.microsoft.com/office/drawing/2014/main" id="{F4C454DF-872A-BE85-A9C2-F5BB9C072685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/>
          </a:p>
        </p:txBody>
      </p:sp>
      <p:sp>
        <p:nvSpPr>
          <p:cNvPr id="156" name="Shape 34">
            <a:extLst>
              <a:ext uri="{FF2B5EF4-FFF2-40B4-BE49-F238E27FC236}">
                <a16:creationId xmlns:a16="http://schemas.microsoft.com/office/drawing/2014/main" id="{ADBE78E0-C653-7970-8B54-423933DC1A90}"/>
              </a:ext>
            </a:extLst>
          </p:cNvPr>
          <p:cNvSpPr/>
          <p:nvPr/>
        </p:nvSpPr>
        <p:spPr>
          <a:xfrm>
            <a:off x="2697480" y="3819346"/>
            <a:ext cx="5486400" cy="863806"/>
          </a:xfrm>
          <a:prstGeom prst="roundRect">
            <a:avLst>
              <a:gd name="adj" fmla="val 751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A607043-FD03-B20D-BB62-42FFA56BE4D2}"/>
              </a:ext>
            </a:extLst>
          </p:cNvPr>
          <p:cNvGrpSpPr/>
          <p:nvPr/>
        </p:nvGrpSpPr>
        <p:grpSpPr>
          <a:xfrm>
            <a:off x="2862072" y="4059225"/>
            <a:ext cx="5138928" cy="384048"/>
            <a:chOff x="2862072" y="3886503"/>
            <a:chExt cx="5138928" cy="384048"/>
          </a:xfrm>
        </p:grpSpPr>
        <p:sp>
          <p:nvSpPr>
            <p:cNvPr id="157" name="Shape 35">
              <a:extLst>
                <a:ext uri="{FF2B5EF4-FFF2-40B4-BE49-F238E27FC236}">
                  <a16:creationId xmlns:a16="http://schemas.microsoft.com/office/drawing/2014/main" id="{DA33930B-B0BE-A113-8D5F-B7ABC430F41E}"/>
                </a:ext>
              </a:extLst>
            </p:cNvPr>
            <p:cNvSpPr/>
            <p:nvPr/>
          </p:nvSpPr>
          <p:spPr>
            <a:xfrm>
              <a:off x="2862072" y="3904791"/>
              <a:ext cx="347472" cy="347472"/>
            </a:xfrm>
            <a:prstGeom prst="ellipse">
              <a:avLst/>
            </a:prstGeom>
            <a:solidFill>
              <a:srgbClr val="0068B5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Text 36">
              <a:extLst>
                <a:ext uri="{FF2B5EF4-FFF2-40B4-BE49-F238E27FC236}">
                  <a16:creationId xmlns:a16="http://schemas.microsoft.com/office/drawing/2014/main" id="{F4FB5136-95DD-6E28-3ECB-69788EEDBEB8}"/>
                </a:ext>
              </a:extLst>
            </p:cNvPr>
            <p:cNvSpPr txBox="1"/>
            <p:nvPr/>
          </p:nvSpPr>
          <p:spPr>
            <a:xfrm>
              <a:off x="2862072" y="3904791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3</a:t>
              </a:r>
              <a:endParaRPr lang="en-US" sz="1300"/>
            </a:p>
          </p:txBody>
        </p:sp>
        <p:sp>
          <p:nvSpPr>
            <p:cNvPr id="159" name="Text 37">
              <a:extLst>
                <a:ext uri="{FF2B5EF4-FFF2-40B4-BE49-F238E27FC236}">
                  <a16:creationId xmlns:a16="http://schemas.microsoft.com/office/drawing/2014/main" id="{0FC13EC2-E09F-77A9-9837-F1F07A554F67}"/>
                </a:ext>
              </a:extLst>
            </p:cNvPr>
            <p:cNvSpPr txBox="1"/>
            <p:nvPr/>
          </p:nvSpPr>
          <p:spPr>
            <a:xfrm>
              <a:off x="3337560" y="3886503"/>
              <a:ext cx="4663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/>
                <a:t>Keep objects of target or related class, and rank by cosine similarity with prompt embedding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1184-FA3E-24E4-E872-5743DC60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34A04B6A-71B7-8283-8EAF-48D04CBB1123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018878E1-43D8-D5E4-7F53-DDEAD9576F88}"/>
              </a:ext>
            </a:extLst>
          </p:cNvPr>
          <p:cNvSpPr/>
          <p:nvPr/>
        </p:nvSpPr>
        <p:spPr>
          <a:xfrm>
            <a:off x="8019288" y="347472"/>
            <a:ext cx="3621024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877C6432-F21D-E129-8207-524E48BE11C1}"/>
              </a:ext>
            </a:extLst>
          </p:cNvPr>
          <p:cNvSpPr txBox="1"/>
          <p:nvPr/>
        </p:nvSpPr>
        <p:spPr>
          <a:xfrm>
            <a:off x="8019288" y="34747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APPROACH AND CONFIRM</a:t>
            </a:r>
            <a:endParaRPr lang="en-US" sz="110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7D4D156C-ADB1-6D89-8ED1-15DBD0797CCD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fail across cameras. CLIP picks the right box</a:t>
            </a:r>
            <a:endParaRPr lang="en-US" sz="300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2905D030-3565-A172-59EC-6BCF4B23A97D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wrist-camera mask is the object in the glasses crop?</a:t>
            </a:r>
            <a:endParaRPr lang="en-US" sz="17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5BDFC318-81AC-D8EC-6EE6-27D657DE1C29}"/>
              </a:ext>
            </a:extLst>
          </p:cNvPr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9E65EC83-D169-5A4F-1D53-75E84279FA49}"/>
              </a:ext>
            </a:extLst>
          </p:cNvPr>
          <p:cNvSpPr/>
          <p:nvPr/>
        </p:nvSpPr>
        <p:spPr>
          <a:xfrm>
            <a:off x="548640" y="219456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7">
            <a:extLst>
              <a:ext uri="{FF2B5EF4-FFF2-40B4-BE49-F238E27FC236}">
                <a16:creationId xmlns:a16="http://schemas.microsoft.com/office/drawing/2014/main" id="{35B59933-C7D2-3EDC-D2CC-B759979E1BC8}"/>
              </a:ext>
            </a:extLst>
          </p:cNvPr>
          <p:cNvSpPr/>
          <p:nvPr/>
        </p:nvSpPr>
        <p:spPr>
          <a:xfrm>
            <a:off x="685800" y="232257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689E35A7-CE78-D6B2-7FA7-8192ABA83339}"/>
              </a:ext>
            </a:extLst>
          </p:cNvPr>
          <p:cNvSpPr txBox="1"/>
          <p:nvPr/>
        </p:nvSpPr>
        <p:spPr>
          <a:xfrm>
            <a:off x="68580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530EAE39-BBD9-F523-58AE-C8756A799E64}"/>
              </a:ext>
            </a:extLst>
          </p:cNvPr>
          <p:cNvSpPr txBox="1"/>
          <p:nvPr/>
        </p:nvSpPr>
        <p:spPr>
          <a:xfrm>
            <a:off x="1115568" y="21945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72" name="Shape 10">
            <a:extLst>
              <a:ext uri="{FF2B5EF4-FFF2-40B4-BE49-F238E27FC236}">
                <a16:creationId xmlns:a16="http://schemas.microsoft.com/office/drawing/2014/main" id="{47BA3AA1-E5AC-6EDC-8C55-DAD8F68903DC}"/>
              </a:ext>
            </a:extLst>
          </p:cNvPr>
          <p:cNvSpPr/>
          <p:nvPr/>
        </p:nvSpPr>
        <p:spPr>
          <a:xfrm>
            <a:off x="548640" y="288036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B7ED2226-C56E-5D9C-1B67-17D86871788B}"/>
              </a:ext>
            </a:extLst>
          </p:cNvPr>
          <p:cNvSpPr/>
          <p:nvPr/>
        </p:nvSpPr>
        <p:spPr>
          <a:xfrm>
            <a:off x="685800" y="3008376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12">
            <a:extLst>
              <a:ext uri="{FF2B5EF4-FFF2-40B4-BE49-F238E27FC236}">
                <a16:creationId xmlns:a16="http://schemas.microsoft.com/office/drawing/2014/main" id="{541DF6E5-931A-E6D2-8829-9E4425B132DD}"/>
              </a:ext>
            </a:extLst>
          </p:cNvPr>
          <p:cNvSpPr txBox="1"/>
          <p:nvPr/>
        </p:nvSpPr>
        <p:spPr>
          <a:xfrm>
            <a:off x="6858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06FD2826-4180-BE0E-23D2-40BFE7572EF1}"/>
              </a:ext>
            </a:extLst>
          </p:cNvPr>
          <p:cNvSpPr txBox="1"/>
          <p:nvPr/>
        </p:nvSpPr>
        <p:spPr>
          <a:xfrm>
            <a:off x="1115568" y="28803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Loop</a:t>
            </a:r>
            <a:endParaRPr lang="en-US" sz="1400"/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A2FA5321-87B6-8573-7172-197D12824AA0}"/>
              </a:ext>
            </a:extLst>
          </p:cNvPr>
          <p:cNvSpPr/>
          <p:nvPr/>
        </p:nvSpPr>
        <p:spPr>
          <a:xfrm>
            <a:off x="548640" y="3886200"/>
            <a:ext cx="1920240" cy="1901952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3904A673-F2A1-A435-9BBE-5FDD9EA1E161}"/>
              </a:ext>
            </a:extLst>
          </p:cNvPr>
          <p:cNvSpPr txBox="1"/>
          <p:nvPr/>
        </p:nvSpPr>
        <p:spPr>
          <a:xfrm>
            <a:off x="713232" y="4005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28B289D7-C1FC-9C6E-73D0-F228D1CFB6FB}"/>
              </a:ext>
            </a:extLst>
          </p:cNvPr>
          <p:cNvSpPr txBox="1"/>
          <p:nvPr/>
        </p:nvSpPr>
        <p:spPr>
          <a:xfrm>
            <a:off x="713232" y="4233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gaze crop gives a wrong match (the mats at 1.5 m)</a:t>
            </a:r>
            <a:endParaRPr lang="en-US" sz="120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FFD9A041-C524-454A-7516-DCE85C6C6BFB}"/>
              </a:ext>
            </a:extLst>
          </p:cNvPr>
          <p:cNvSpPr txBox="1"/>
          <p:nvPr/>
        </p:nvSpPr>
        <p:spPr>
          <a:xfrm>
            <a:off x="713232" y="4873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5C1F8B89-5FC6-D977-DA7A-75B678968339}"/>
              </a:ext>
            </a:extLst>
          </p:cNvPr>
          <p:cNvSpPr txBox="1"/>
          <p:nvPr/>
        </p:nvSpPr>
        <p:spPr>
          <a:xfrm>
            <a:off x="713232" y="5102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refuse weak gaze picks before sending a crop</a:t>
            </a:r>
            <a:endParaRPr lang="en-US" sz="1200"/>
          </a:p>
        </p:txBody>
      </p:sp>
      <p:sp>
        <p:nvSpPr>
          <p:cNvPr id="83" name="Shape 19">
            <a:extLst>
              <a:ext uri="{FF2B5EF4-FFF2-40B4-BE49-F238E27FC236}">
                <a16:creationId xmlns:a16="http://schemas.microsoft.com/office/drawing/2014/main" id="{603DB288-3D8C-56CA-F75A-F42633D38A9D}"/>
              </a:ext>
            </a:extLst>
          </p:cNvPr>
          <p:cNvSpPr/>
          <p:nvPr/>
        </p:nvSpPr>
        <p:spPr>
          <a:xfrm>
            <a:off x="2697480" y="18745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4" name="Image 0" descr="Glasses crop of the box the user looked at">
            <a:extLst>
              <a:ext uri="{FF2B5EF4-FFF2-40B4-BE49-F238E27FC236}">
                <a16:creationId xmlns:a16="http://schemas.microsoft.com/office/drawing/2014/main" id="{7BB3B405-3550-082D-CA34-FBAFEF9914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34640" y="2011680"/>
            <a:ext cx="1508760" cy="1508760"/>
          </a:xfrm>
          <a:prstGeom prst="rect">
            <a:avLst/>
          </a:prstGeom>
        </p:spPr>
      </p:pic>
      <p:sp>
        <p:nvSpPr>
          <p:cNvPr id="85" name="Shape 20">
            <a:extLst>
              <a:ext uri="{FF2B5EF4-FFF2-40B4-BE49-F238E27FC236}">
                <a16:creationId xmlns:a16="http://schemas.microsoft.com/office/drawing/2014/main" id="{1292E37C-A572-D347-F531-847CBAB2D0C4}"/>
              </a:ext>
            </a:extLst>
          </p:cNvPr>
          <p:cNvSpPr/>
          <p:nvPr/>
        </p:nvSpPr>
        <p:spPr>
          <a:xfrm>
            <a:off x="2834640" y="3191256"/>
            <a:ext cx="150876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907E3737-82AE-7BB2-F81D-9EE36EC3DEDA}"/>
              </a:ext>
            </a:extLst>
          </p:cNvPr>
          <p:cNvSpPr txBox="1"/>
          <p:nvPr/>
        </p:nvSpPr>
        <p:spPr>
          <a:xfrm>
            <a:off x="2971800" y="31912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CROP</a:t>
            </a:r>
            <a:endParaRPr lang="en-US" sz="1100"/>
          </a:p>
        </p:txBody>
      </p:sp>
      <p:pic>
        <p:nvPicPr>
          <p:cNvPr id="87" name="Image 1" descr="Wrist-camera mask of a box">
            <a:extLst>
              <a:ext uri="{FF2B5EF4-FFF2-40B4-BE49-F238E27FC236}">
                <a16:creationId xmlns:a16="http://schemas.microsoft.com/office/drawing/2014/main" id="{CE3DD460-70C1-0271-73A5-5D63B37FB4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7960" y="2011680"/>
            <a:ext cx="1508760" cy="1508760"/>
          </a:xfrm>
          <a:prstGeom prst="rect">
            <a:avLst/>
          </a:prstGeom>
        </p:spPr>
      </p:pic>
      <p:sp>
        <p:nvSpPr>
          <p:cNvPr id="88" name="Shape 22">
            <a:extLst>
              <a:ext uri="{FF2B5EF4-FFF2-40B4-BE49-F238E27FC236}">
                <a16:creationId xmlns:a16="http://schemas.microsoft.com/office/drawing/2014/main" id="{D051BC95-56EC-0B19-12A8-AF7EC5458E61}"/>
              </a:ext>
            </a:extLst>
          </p:cNvPr>
          <p:cNvSpPr/>
          <p:nvPr/>
        </p:nvSpPr>
        <p:spPr>
          <a:xfrm>
            <a:off x="6537960" y="3191256"/>
            <a:ext cx="150876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2B4539FB-14AF-E8D8-C814-F54464EAF35A}"/>
              </a:ext>
            </a:extLst>
          </p:cNvPr>
          <p:cNvSpPr txBox="1"/>
          <p:nvPr/>
        </p:nvSpPr>
        <p:spPr>
          <a:xfrm>
            <a:off x="6675120" y="31912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CAMERA</a:t>
            </a:r>
            <a:endParaRPr lang="en-US" sz="1100"/>
          </a:p>
        </p:txBody>
      </p:sp>
      <p:sp>
        <p:nvSpPr>
          <p:cNvPr id="90" name="Text 24">
            <a:extLst>
              <a:ext uri="{FF2B5EF4-FFF2-40B4-BE49-F238E27FC236}">
                <a16:creationId xmlns:a16="http://schemas.microsoft.com/office/drawing/2014/main" id="{151D19B4-7404-7745-D5CA-FC216D40E0F6}"/>
              </a:ext>
            </a:extLst>
          </p:cNvPr>
          <p:cNvSpPr txBox="1"/>
          <p:nvPr/>
        </p:nvSpPr>
        <p:spPr>
          <a:xfrm>
            <a:off x="4434840" y="24505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the same box?</a:t>
            </a:r>
            <a:endParaRPr lang="en-US" sz="2000"/>
          </a:p>
        </p:txBody>
      </p:sp>
      <p:sp>
        <p:nvSpPr>
          <p:cNvPr id="91" name="Text 25">
            <a:extLst>
              <a:ext uri="{FF2B5EF4-FFF2-40B4-BE49-F238E27FC236}">
                <a16:creationId xmlns:a16="http://schemas.microsoft.com/office/drawing/2014/main" id="{807A3A3C-AA8F-15E5-0839-57842EA656BD}"/>
              </a:ext>
            </a:extLst>
          </p:cNvPr>
          <p:cNvSpPr txBox="1"/>
          <p:nvPr/>
        </p:nvSpPr>
        <p:spPr>
          <a:xfrm>
            <a:off x="443484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camera, angle and distance</a:t>
            </a:r>
            <a:endParaRPr lang="en-US" sz="1200"/>
          </a:p>
        </p:txBody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2039C408-0E1B-4687-442A-46FC7BB43B6C}"/>
              </a:ext>
            </a:extLst>
          </p:cNvPr>
          <p:cNvSpPr/>
          <p:nvPr/>
        </p:nvSpPr>
        <p:spPr>
          <a:xfrm>
            <a:off x="443484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/>
          </a:p>
        </p:txBody>
      </p:sp>
      <p:pic>
        <p:nvPicPr>
          <p:cNvPr id="93" name="Image 2" descr="Keypoint matches between glasses and wrist views land on the ceiling and floor">
            <a:extLst>
              <a:ext uri="{FF2B5EF4-FFF2-40B4-BE49-F238E27FC236}">
                <a16:creationId xmlns:a16="http://schemas.microsoft.com/office/drawing/2014/main" id="{96BE7539-4196-F723-D804-5B1F64BE1C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97480" y="3840480"/>
            <a:ext cx="3200400" cy="1371600"/>
          </a:xfrm>
          <a:prstGeom prst="rect">
            <a:avLst/>
          </a:prstGeom>
        </p:spPr>
      </p:pic>
      <p:sp>
        <p:nvSpPr>
          <p:cNvPr id="94" name="Shape 27">
            <a:extLst>
              <a:ext uri="{FF2B5EF4-FFF2-40B4-BE49-F238E27FC236}">
                <a16:creationId xmlns:a16="http://schemas.microsoft.com/office/drawing/2014/main" id="{81C0D9DE-4AAD-FEFF-957D-B985ADE6B90A}"/>
              </a:ext>
            </a:extLst>
          </p:cNvPr>
          <p:cNvSpPr/>
          <p:nvPr/>
        </p:nvSpPr>
        <p:spPr>
          <a:xfrm>
            <a:off x="2697480" y="5209709"/>
            <a:ext cx="320040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28">
            <a:extLst>
              <a:ext uri="{FF2B5EF4-FFF2-40B4-BE49-F238E27FC236}">
                <a16:creationId xmlns:a16="http://schemas.microsoft.com/office/drawing/2014/main" id="{DE19BD97-8840-1A72-6326-62B1FAEDC77C}"/>
              </a:ext>
            </a:extLst>
          </p:cNvPr>
          <p:cNvSpPr txBox="1"/>
          <p:nvPr/>
        </p:nvSpPr>
        <p:spPr>
          <a:xfrm>
            <a:off x="2834640" y="5209709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</a:t>
            </a:r>
            <a:endParaRPr lang="en-US" sz="1100"/>
          </a:p>
        </p:txBody>
      </p:sp>
      <p:pic>
        <p:nvPicPr>
          <p:cNvPr id="96" name="Image 3" descr="Glasses crops above, matched wrist masks below">
            <a:extLst>
              <a:ext uri="{FF2B5EF4-FFF2-40B4-BE49-F238E27FC236}">
                <a16:creationId xmlns:a16="http://schemas.microsoft.com/office/drawing/2014/main" id="{88CDB187-8254-EA86-1C81-C55D04FA62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26480" y="3840480"/>
            <a:ext cx="2057400" cy="1371600"/>
          </a:xfrm>
          <a:prstGeom prst="rect">
            <a:avLst/>
          </a:prstGeom>
        </p:spPr>
      </p:pic>
      <p:sp>
        <p:nvSpPr>
          <p:cNvPr id="97" name="Shape 29">
            <a:extLst>
              <a:ext uri="{FF2B5EF4-FFF2-40B4-BE49-F238E27FC236}">
                <a16:creationId xmlns:a16="http://schemas.microsoft.com/office/drawing/2014/main" id="{E329A782-03C5-E9B9-0261-361B52487220}"/>
              </a:ext>
            </a:extLst>
          </p:cNvPr>
          <p:cNvSpPr/>
          <p:nvPr/>
        </p:nvSpPr>
        <p:spPr>
          <a:xfrm>
            <a:off x="6126480" y="5209709"/>
            <a:ext cx="2057400" cy="329184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30">
            <a:extLst>
              <a:ext uri="{FF2B5EF4-FFF2-40B4-BE49-F238E27FC236}">
                <a16:creationId xmlns:a16="http://schemas.microsoft.com/office/drawing/2014/main" id="{5E1F5831-29A7-8F6E-2619-4DA19BE895CD}"/>
              </a:ext>
            </a:extLst>
          </p:cNvPr>
          <p:cNvSpPr txBox="1"/>
          <p:nvPr/>
        </p:nvSpPr>
        <p:spPr>
          <a:xfrm>
            <a:off x="6274031" y="5209709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Image Embedding</a:t>
            </a:r>
            <a:endParaRPr lang="en-US" sz="1100"/>
          </a:p>
        </p:txBody>
      </p:sp>
      <p:sp>
        <p:nvSpPr>
          <p:cNvPr id="99" name="Shape 31">
            <a:extLst>
              <a:ext uri="{FF2B5EF4-FFF2-40B4-BE49-F238E27FC236}">
                <a16:creationId xmlns:a16="http://schemas.microsoft.com/office/drawing/2014/main" id="{753A31A7-B5F8-725D-0655-7463927A88F3}"/>
              </a:ext>
            </a:extLst>
          </p:cNvPr>
          <p:cNvSpPr/>
          <p:nvPr/>
        </p:nvSpPr>
        <p:spPr>
          <a:xfrm>
            <a:off x="2697480" y="5648621"/>
            <a:ext cx="274320" cy="274320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0" name="Image 4" descr="preencoded.png">
            <a:extLst>
              <a:ext uri="{FF2B5EF4-FFF2-40B4-BE49-F238E27FC236}">
                <a16:creationId xmlns:a16="http://schemas.microsoft.com/office/drawing/2014/main" id="{C47DF786-50A0-24EB-C496-1925BDD58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7830" y="5708971"/>
            <a:ext cx="153619" cy="153619"/>
          </a:xfrm>
          <a:prstGeom prst="rect">
            <a:avLst/>
          </a:prstGeom>
        </p:spPr>
      </p:pic>
      <p:sp>
        <p:nvSpPr>
          <p:cNvPr id="101" name="Text 32">
            <a:extLst>
              <a:ext uri="{FF2B5EF4-FFF2-40B4-BE49-F238E27FC236}">
                <a16:creationId xmlns:a16="http://schemas.microsoft.com/office/drawing/2014/main" id="{AD606B0E-E4B6-4FC4-8AE4-F0A4537D893D}"/>
              </a:ext>
            </a:extLst>
          </p:cNvPr>
          <p:cNvSpPr txBox="1"/>
          <p:nvPr/>
        </p:nvSpPr>
        <p:spPr>
          <a:xfrm>
            <a:off x="3044952" y="5648621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land on the ceiling and floor</a:t>
            </a:r>
            <a:endParaRPr lang="en-US" sz="1200"/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A762771B-8DB0-ED17-81AE-CB8396665423}"/>
              </a:ext>
            </a:extLst>
          </p:cNvPr>
          <p:cNvSpPr/>
          <p:nvPr/>
        </p:nvSpPr>
        <p:spPr>
          <a:xfrm>
            <a:off x="6126480" y="5648621"/>
            <a:ext cx="274320" cy="27432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3" name="Image 5" descr="preencoded.png">
            <a:extLst>
              <a:ext uri="{FF2B5EF4-FFF2-40B4-BE49-F238E27FC236}">
                <a16:creationId xmlns:a16="http://schemas.microsoft.com/office/drawing/2014/main" id="{EB0DE2E9-6045-F417-B4BA-A7598A0EC6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6830" y="5708971"/>
            <a:ext cx="153619" cy="153619"/>
          </a:xfrm>
          <a:prstGeom prst="rect">
            <a:avLst/>
          </a:prstGeom>
        </p:spPr>
      </p:pic>
      <p:sp>
        <p:nvSpPr>
          <p:cNvPr id="104" name="Text 34">
            <a:extLst>
              <a:ext uri="{FF2B5EF4-FFF2-40B4-BE49-F238E27FC236}">
                <a16:creationId xmlns:a16="http://schemas.microsoft.com/office/drawing/2014/main" id="{1EA62137-0886-CED8-F9FC-93DE5C5C445E}"/>
              </a:ext>
            </a:extLst>
          </p:cNvPr>
          <p:cNvSpPr txBox="1"/>
          <p:nvPr/>
        </p:nvSpPr>
        <p:spPr>
          <a:xfrm>
            <a:off x="6473952" y="5648621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box in every pair</a:t>
            </a:r>
            <a:endParaRPr lang="en-US" sz="1200"/>
          </a:p>
        </p:txBody>
      </p:sp>
      <p:sp>
        <p:nvSpPr>
          <p:cNvPr id="105" name="Shape 36">
            <a:extLst>
              <a:ext uri="{FF2B5EF4-FFF2-40B4-BE49-F238E27FC236}">
                <a16:creationId xmlns:a16="http://schemas.microsoft.com/office/drawing/2014/main" id="{3F1D01C3-27C0-3AA2-EE30-AA9CF130FE51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37">
            <a:extLst>
              <a:ext uri="{FF2B5EF4-FFF2-40B4-BE49-F238E27FC236}">
                <a16:creationId xmlns:a16="http://schemas.microsoft.com/office/drawing/2014/main" id="{0F548941-E01C-6DF5-621C-5F3AAADD482C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RANKS THE BOX FIRST</a:t>
            </a:r>
            <a:endParaRPr lang="en-US" sz="1100"/>
          </a:p>
        </p:txBody>
      </p:sp>
      <p:sp>
        <p:nvSpPr>
          <p:cNvPr id="107" name="Text 38">
            <a:extLst>
              <a:ext uri="{FF2B5EF4-FFF2-40B4-BE49-F238E27FC236}">
                <a16:creationId xmlns:a16="http://schemas.microsoft.com/office/drawing/2014/main" id="{10B33D05-00CA-C395-765B-DD49778B3C23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25</a:t>
            </a:r>
            <a:endParaRPr lang="en-US" sz="5000"/>
          </a:p>
        </p:txBody>
      </p:sp>
      <p:sp>
        <p:nvSpPr>
          <p:cNvPr id="108" name="Text 39">
            <a:extLst>
              <a:ext uri="{FF2B5EF4-FFF2-40B4-BE49-F238E27FC236}">
                <a16:creationId xmlns:a16="http://schemas.microsoft.com/office/drawing/2014/main" id="{87A0C5A9-C3E4-E1DD-F758-77E167904C6F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vs wrist pairs, whole-object image features</a:t>
            </a:r>
            <a:endParaRPr lang="en-US" sz="1300"/>
          </a:p>
        </p:txBody>
      </p:sp>
      <p:sp>
        <p:nvSpPr>
          <p:cNvPr id="109" name="Shape 40">
            <a:extLst>
              <a:ext uri="{FF2B5EF4-FFF2-40B4-BE49-F238E27FC236}">
                <a16:creationId xmlns:a16="http://schemas.microsoft.com/office/drawing/2014/main" id="{8C711447-87E6-1B6B-27D9-5DF9E2503FC2}"/>
              </a:ext>
            </a:extLst>
          </p:cNvPr>
          <p:cNvSpPr/>
          <p:nvPr/>
        </p:nvSpPr>
        <p:spPr>
          <a:xfrm>
            <a:off x="8412480" y="3794760"/>
            <a:ext cx="3227832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1">
            <a:extLst>
              <a:ext uri="{FF2B5EF4-FFF2-40B4-BE49-F238E27FC236}">
                <a16:creationId xmlns:a16="http://schemas.microsoft.com/office/drawing/2014/main" id="{6FFFC73B-0C7A-91BD-1173-E93BB85D3754}"/>
              </a:ext>
            </a:extLst>
          </p:cNvPr>
          <p:cNvSpPr txBox="1"/>
          <p:nvPr/>
        </p:nvSpPr>
        <p:spPr>
          <a:xfrm>
            <a:off x="8595360" y="393192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RANKED FIRST, BY METHOD</a:t>
            </a:r>
            <a:endParaRPr lang="en-US" sz="1100"/>
          </a:p>
        </p:txBody>
      </p:sp>
      <p:sp>
        <p:nvSpPr>
          <p:cNvPr id="111" name="Text 42">
            <a:extLst>
              <a:ext uri="{FF2B5EF4-FFF2-40B4-BE49-F238E27FC236}">
                <a16:creationId xmlns:a16="http://schemas.microsoft.com/office/drawing/2014/main" id="{834DA56E-3350-B01B-FE4B-8734DFA2C635}"/>
              </a:ext>
            </a:extLst>
          </p:cNvPr>
          <p:cNvSpPr txBox="1"/>
          <p:nvPr/>
        </p:nvSpPr>
        <p:spPr>
          <a:xfrm>
            <a:off x="8595360" y="4279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</a:t>
            </a:r>
            <a:endParaRPr lang="en-US" sz="1200"/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5DB80E1B-1031-C317-3A6D-822DD6CB84D1}"/>
              </a:ext>
            </a:extLst>
          </p:cNvPr>
          <p:cNvSpPr txBox="1"/>
          <p:nvPr/>
        </p:nvSpPr>
        <p:spPr>
          <a:xfrm>
            <a:off x="9738360" y="42793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15</a:t>
            </a:r>
            <a:endParaRPr lang="en-US" sz="1200"/>
          </a:p>
        </p:txBody>
      </p:sp>
      <p:sp>
        <p:nvSpPr>
          <p:cNvPr id="113" name="Text 44">
            <a:extLst>
              <a:ext uri="{FF2B5EF4-FFF2-40B4-BE49-F238E27FC236}">
                <a16:creationId xmlns:a16="http://schemas.microsoft.com/office/drawing/2014/main" id="{92E76FE6-9B18-8B87-20C6-ADC83CB2C0B4}"/>
              </a:ext>
            </a:extLst>
          </p:cNvPr>
          <p:cNvSpPr txBox="1"/>
          <p:nvPr/>
        </p:nvSpPr>
        <p:spPr>
          <a:xfrm>
            <a:off x="8595360" y="4608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+ text</a:t>
            </a:r>
            <a:endParaRPr lang="en-US" sz="1200"/>
          </a:p>
        </p:txBody>
      </p:sp>
      <p:sp>
        <p:nvSpPr>
          <p:cNvPr id="114" name="Shape 45">
            <a:extLst>
              <a:ext uri="{FF2B5EF4-FFF2-40B4-BE49-F238E27FC236}">
                <a16:creationId xmlns:a16="http://schemas.microsoft.com/office/drawing/2014/main" id="{A2C0ACCD-AE04-584F-EF67-44DA8A46F2B3}"/>
              </a:ext>
            </a:extLst>
          </p:cNvPr>
          <p:cNvSpPr/>
          <p:nvPr/>
        </p:nvSpPr>
        <p:spPr>
          <a:xfrm>
            <a:off x="9692640" y="4681728"/>
            <a:ext cx="268834" cy="137160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46">
            <a:extLst>
              <a:ext uri="{FF2B5EF4-FFF2-40B4-BE49-F238E27FC236}">
                <a16:creationId xmlns:a16="http://schemas.microsoft.com/office/drawing/2014/main" id="{35148976-8C26-D314-6161-85ACEDFBE9D1}"/>
              </a:ext>
            </a:extLst>
          </p:cNvPr>
          <p:cNvSpPr txBox="1"/>
          <p:nvPr/>
        </p:nvSpPr>
        <p:spPr>
          <a:xfrm>
            <a:off x="10007194" y="46085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25</a:t>
            </a:r>
            <a:endParaRPr lang="en-US" sz="1200"/>
          </a:p>
        </p:txBody>
      </p:sp>
      <p:sp>
        <p:nvSpPr>
          <p:cNvPr id="116" name="Text 47">
            <a:extLst>
              <a:ext uri="{FF2B5EF4-FFF2-40B4-BE49-F238E27FC236}">
                <a16:creationId xmlns:a16="http://schemas.microsoft.com/office/drawing/2014/main" id="{D54BBB50-E150-E8BD-FCE1-E8F11C4123D9}"/>
              </a:ext>
            </a:extLst>
          </p:cNvPr>
          <p:cNvSpPr txBox="1"/>
          <p:nvPr/>
        </p:nvSpPr>
        <p:spPr>
          <a:xfrm>
            <a:off x="8595360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image</a:t>
            </a:r>
            <a:endParaRPr lang="en-US" sz="1200"/>
          </a:p>
        </p:txBody>
      </p:sp>
      <p:sp>
        <p:nvSpPr>
          <p:cNvPr id="117" name="Shape 48">
            <a:extLst>
              <a:ext uri="{FF2B5EF4-FFF2-40B4-BE49-F238E27FC236}">
                <a16:creationId xmlns:a16="http://schemas.microsoft.com/office/drawing/2014/main" id="{D75E90EE-7034-2320-B6A9-CA6776A83714}"/>
              </a:ext>
            </a:extLst>
          </p:cNvPr>
          <p:cNvSpPr/>
          <p:nvPr/>
        </p:nvSpPr>
        <p:spPr>
          <a:xfrm>
            <a:off x="9692640" y="5010912"/>
            <a:ext cx="576072" cy="137160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49">
            <a:extLst>
              <a:ext uri="{FF2B5EF4-FFF2-40B4-BE49-F238E27FC236}">
                <a16:creationId xmlns:a16="http://schemas.microsoft.com/office/drawing/2014/main" id="{469939D7-C5D0-38B4-3D8B-331485546D5E}"/>
              </a:ext>
            </a:extLst>
          </p:cNvPr>
          <p:cNvSpPr txBox="1"/>
          <p:nvPr/>
        </p:nvSpPr>
        <p:spPr>
          <a:xfrm>
            <a:off x="10314432" y="4937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25</a:t>
            </a:r>
            <a:endParaRPr lang="en-US" sz="1200"/>
          </a:p>
        </p:txBody>
      </p:sp>
      <p:sp>
        <p:nvSpPr>
          <p:cNvPr id="119" name="Text 50">
            <a:extLst>
              <a:ext uri="{FF2B5EF4-FFF2-40B4-BE49-F238E27FC236}">
                <a16:creationId xmlns:a16="http://schemas.microsoft.com/office/drawing/2014/main" id="{E7B43888-F19C-23C3-4E59-38E8788DE270}"/>
              </a:ext>
            </a:extLst>
          </p:cNvPr>
          <p:cNvSpPr txBox="1"/>
          <p:nvPr/>
        </p:nvSpPr>
        <p:spPr>
          <a:xfrm>
            <a:off x="8595360" y="5266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image</a:t>
            </a:r>
            <a:endParaRPr lang="en-US" sz="1200"/>
          </a:p>
        </p:txBody>
      </p:sp>
      <p:sp>
        <p:nvSpPr>
          <p:cNvPr id="120" name="Shape 51">
            <a:extLst>
              <a:ext uri="{FF2B5EF4-FFF2-40B4-BE49-F238E27FC236}">
                <a16:creationId xmlns:a16="http://schemas.microsoft.com/office/drawing/2014/main" id="{BB9F300A-7925-66D0-E6AC-0102862C5775}"/>
              </a:ext>
            </a:extLst>
          </p:cNvPr>
          <p:cNvSpPr/>
          <p:nvPr/>
        </p:nvSpPr>
        <p:spPr>
          <a:xfrm>
            <a:off x="9692640" y="5340096"/>
            <a:ext cx="960120" cy="137160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52770AE6-D897-8EE9-B26F-5D8DC0A41578}"/>
              </a:ext>
            </a:extLst>
          </p:cNvPr>
          <p:cNvSpPr txBox="1"/>
          <p:nvPr/>
        </p:nvSpPr>
        <p:spPr>
          <a:xfrm>
            <a:off x="10698480" y="5266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of 25</a:t>
            </a:r>
            <a:endParaRPr lang="en-US" sz="1200"/>
          </a:p>
        </p:txBody>
      </p:sp>
      <p:sp>
        <p:nvSpPr>
          <p:cNvPr id="122" name="Shape 53">
            <a:extLst>
              <a:ext uri="{FF2B5EF4-FFF2-40B4-BE49-F238E27FC236}">
                <a16:creationId xmlns:a16="http://schemas.microsoft.com/office/drawing/2014/main" id="{ABFFBC14-67FA-119F-2745-A5C8DBDCE5C0}"/>
              </a:ext>
            </a:extLst>
          </p:cNvPr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54">
            <a:extLst>
              <a:ext uri="{FF2B5EF4-FFF2-40B4-BE49-F238E27FC236}">
                <a16:creationId xmlns:a16="http://schemas.microsoft.com/office/drawing/2014/main" id="{DAB4BBCE-4C36-01FF-E271-FE494BF6272C}"/>
              </a:ext>
            </a:extLst>
          </p:cNvPr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124" name="Shape 55">
            <a:extLst>
              <a:ext uri="{FF2B5EF4-FFF2-40B4-BE49-F238E27FC236}">
                <a16:creationId xmlns:a16="http://schemas.microsoft.com/office/drawing/2014/main" id="{FCB8A218-5C15-AA6E-50EE-8C854B877674}"/>
              </a:ext>
            </a:extLst>
          </p:cNvPr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56">
            <a:extLst>
              <a:ext uri="{FF2B5EF4-FFF2-40B4-BE49-F238E27FC236}">
                <a16:creationId xmlns:a16="http://schemas.microsoft.com/office/drawing/2014/main" id="{B6C5FE70-75F8-8821-7545-F672C11EB6AE}"/>
              </a:ext>
            </a:extLst>
          </p:cNvPr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126" name="Shape 57">
            <a:extLst>
              <a:ext uri="{FF2B5EF4-FFF2-40B4-BE49-F238E27FC236}">
                <a16:creationId xmlns:a16="http://schemas.microsoft.com/office/drawing/2014/main" id="{018FE0D9-3BA4-F829-C914-4354E2570961}"/>
              </a:ext>
            </a:extLst>
          </p:cNvPr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58">
            <a:extLst>
              <a:ext uri="{FF2B5EF4-FFF2-40B4-BE49-F238E27FC236}">
                <a16:creationId xmlns:a16="http://schemas.microsoft.com/office/drawing/2014/main" id="{DB3B43DF-E6DC-3B25-72BC-F39F91D94CB3}"/>
              </a:ext>
            </a:extLst>
          </p:cNvPr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128" name="Shape 59">
            <a:extLst>
              <a:ext uri="{FF2B5EF4-FFF2-40B4-BE49-F238E27FC236}">
                <a16:creationId xmlns:a16="http://schemas.microsoft.com/office/drawing/2014/main" id="{B1022832-5A2F-4017-ACD9-52AF7184F09D}"/>
              </a:ext>
            </a:extLst>
          </p:cNvPr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60">
            <a:extLst>
              <a:ext uri="{FF2B5EF4-FFF2-40B4-BE49-F238E27FC236}">
                <a16:creationId xmlns:a16="http://schemas.microsoft.com/office/drawing/2014/main" id="{1B99269C-89B7-C4C8-972A-85BFF4A34A3C}"/>
              </a:ext>
            </a:extLst>
          </p:cNvPr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130" name="Shape 61">
            <a:extLst>
              <a:ext uri="{FF2B5EF4-FFF2-40B4-BE49-F238E27FC236}">
                <a16:creationId xmlns:a16="http://schemas.microsoft.com/office/drawing/2014/main" id="{27E7557D-516E-FEE7-E234-BC2FC313F5AA}"/>
              </a:ext>
            </a:extLst>
          </p:cNvPr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62">
            <a:extLst>
              <a:ext uri="{FF2B5EF4-FFF2-40B4-BE49-F238E27FC236}">
                <a16:creationId xmlns:a16="http://schemas.microsoft.com/office/drawing/2014/main" id="{DD2A820E-FABE-DD6D-E90C-09B65A7F0999}"/>
              </a:ext>
            </a:extLst>
          </p:cNvPr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132" name="Shape 63">
            <a:extLst>
              <a:ext uri="{FF2B5EF4-FFF2-40B4-BE49-F238E27FC236}">
                <a16:creationId xmlns:a16="http://schemas.microsoft.com/office/drawing/2014/main" id="{2E254143-DDFC-23AE-FB21-F7F5C66E5572}"/>
              </a:ext>
            </a:extLst>
          </p:cNvPr>
          <p:cNvSpPr/>
          <p:nvPr/>
        </p:nvSpPr>
        <p:spPr>
          <a:xfrm>
            <a:off x="7526655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64">
            <a:extLst>
              <a:ext uri="{FF2B5EF4-FFF2-40B4-BE49-F238E27FC236}">
                <a16:creationId xmlns:a16="http://schemas.microsoft.com/office/drawing/2014/main" id="{4B68116E-2B79-697C-780F-DB6880CD535A}"/>
              </a:ext>
            </a:extLst>
          </p:cNvPr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134" name="Shape 65">
            <a:extLst>
              <a:ext uri="{FF2B5EF4-FFF2-40B4-BE49-F238E27FC236}">
                <a16:creationId xmlns:a16="http://schemas.microsoft.com/office/drawing/2014/main" id="{9E039915-3656-26B9-FD6B-471AD6BDD1FA}"/>
              </a:ext>
            </a:extLst>
          </p:cNvPr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66">
            <a:extLst>
              <a:ext uri="{FF2B5EF4-FFF2-40B4-BE49-F238E27FC236}">
                <a16:creationId xmlns:a16="http://schemas.microsoft.com/office/drawing/2014/main" id="{418EE3F7-99CF-2111-2A95-6DD417F4A75F}"/>
              </a:ext>
            </a:extLst>
          </p:cNvPr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136" name="Shape 67">
            <a:extLst>
              <a:ext uri="{FF2B5EF4-FFF2-40B4-BE49-F238E27FC236}">
                <a16:creationId xmlns:a16="http://schemas.microsoft.com/office/drawing/2014/main" id="{C219B22A-AF2E-17E1-B2A3-A2D6659F7C2A}"/>
              </a:ext>
            </a:extLst>
          </p:cNvPr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68">
            <a:extLst>
              <a:ext uri="{FF2B5EF4-FFF2-40B4-BE49-F238E27FC236}">
                <a16:creationId xmlns:a16="http://schemas.microsoft.com/office/drawing/2014/main" id="{59C785E0-85B1-1CC4-3D06-9F506D8B2E08}"/>
              </a:ext>
            </a:extLst>
          </p:cNvPr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138" name="Text 69">
            <a:extLst>
              <a:ext uri="{FF2B5EF4-FFF2-40B4-BE49-F238E27FC236}">
                <a16:creationId xmlns:a16="http://schemas.microsoft.com/office/drawing/2014/main" id="{49859B60-5DF7-6DB9-D188-C3658C6C29CD}"/>
              </a:ext>
            </a:extLst>
          </p:cNvPr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189887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8019288" y="347472"/>
            <a:ext cx="3621024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8019288" y="34747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APPROACH AND CONFIRM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grasp loop, the arm goes for the box you looked at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now picks the grasp target, not SAM 3's most confident mask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154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Selection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Loop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713232" y="4069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713232" y="43159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boxes: 6 of 12. Appearance alone can't separate them</a:t>
            </a:r>
            <a:endParaRPr lang="en-US" sz="1200"/>
          </a:p>
        </p:txBody>
      </p:sp>
      <p:sp>
        <p:nvSpPr>
          <p:cNvPr id="19" name="Text 17"/>
          <p:cNvSpPr txBox="1"/>
          <p:nvPr/>
        </p:nvSpPr>
        <p:spPr>
          <a:xfrm>
            <a:off x="713232" y="4919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713232" y="5166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the real arm, then add the gaze ray in the robot's frame</a:t>
            </a:r>
            <a:endParaRPr lang="en-US" sz="1200"/>
          </a:p>
        </p:txBody>
      </p:sp>
      <p:sp>
        <p:nvSpPr>
          <p:cNvPr id="29" name="Shape 25"/>
          <p:cNvSpPr/>
          <p:nvPr/>
        </p:nvSpPr>
        <p:spPr>
          <a:xfrm>
            <a:off x="2697480" y="4043371"/>
            <a:ext cx="1463040" cy="813816"/>
          </a:xfrm>
          <a:prstGeom prst="roundRect">
            <a:avLst>
              <a:gd name="adj" fmla="val 1123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2770632" y="4134811"/>
            <a:ext cx="237744" cy="23774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 txBox="1"/>
          <p:nvPr/>
        </p:nvSpPr>
        <p:spPr>
          <a:xfrm>
            <a:off x="2770632" y="413481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32" name="Text 28"/>
          <p:cNvSpPr txBox="1"/>
          <p:nvPr/>
        </p:nvSpPr>
        <p:spPr>
          <a:xfrm>
            <a:off x="3044952" y="4107379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/>
          </a:p>
        </p:txBody>
      </p:sp>
      <p:sp>
        <p:nvSpPr>
          <p:cNvPr id="33" name="Text 29"/>
          <p:cNvSpPr txBox="1"/>
          <p:nvPr/>
        </p:nvSpPr>
        <p:spPr>
          <a:xfrm>
            <a:off x="2788920" y="4427419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mask the user looked at</a:t>
            </a:r>
            <a:endParaRPr lang="en-US" sz="1050"/>
          </a:p>
        </p:txBody>
      </p:sp>
      <p:sp>
        <p:nvSpPr>
          <p:cNvPr id="34" name="Shape 30"/>
          <p:cNvSpPr/>
          <p:nvPr/>
        </p:nvSpPr>
        <p:spPr>
          <a:xfrm>
            <a:off x="2697480" y="4966915"/>
            <a:ext cx="1463040" cy="813816"/>
          </a:xfrm>
          <a:prstGeom prst="roundRect">
            <a:avLst>
              <a:gd name="adj" fmla="val 1123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1"/>
          <p:cNvSpPr/>
          <p:nvPr/>
        </p:nvSpPr>
        <p:spPr>
          <a:xfrm>
            <a:off x="2770632" y="5058355"/>
            <a:ext cx="237744" cy="23774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2"/>
          <p:cNvSpPr txBox="1"/>
          <p:nvPr/>
        </p:nvSpPr>
        <p:spPr>
          <a:xfrm>
            <a:off x="2770632" y="50583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37" name="Text 33"/>
          <p:cNvSpPr txBox="1"/>
          <p:nvPr/>
        </p:nvSpPr>
        <p:spPr>
          <a:xfrm>
            <a:off x="3044952" y="5030923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/>
          </a:p>
        </p:txBody>
      </p:sp>
      <p:sp>
        <p:nvSpPr>
          <p:cNvPr id="38" name="Text 34"/>
          <p:cNvSpPr txBox="1"/>
          <p:nvPr/>
        </p:nvSpPr>
        <p:spPr>
          <a:xfrm>
            <a:off x="2788920" y="5350963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wrist-camera mask</a:t>
            </a:r>
            <a:endParaRPr lang="en-US" sz="1050"/>
          </a:p>
        </p:txBody>
      </p:sp>
      <p:sp>
        <p:nvSpPr>
          <p:cNvPr id="39" name="Shape 35"/>
          <p:cNvSpPr/>
          <p:nvPr/>
        </p:nvSpPr>
        <p:spPr>
          <a:xfrm>
            <a:off x="4160520" y="4450279"/>
            <a:ext cx="109728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6"/>
          <p:cNvSpPr/>
          <p:nvPr/>
        </p:nvSpPr>
        <p:spPr>
          <a:xfrm>
            <a:off x="4160520" y="5373823"/>
            <a:ext cx="109728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7"/>
          <p:cNvSpPr/>
          <p:nvPr/>
        </p:nvSpPr>
        <p:spPr>
          <a:xfrm>
            <a:off x="4270248" y="4450279"/>
            <a:ext cx="914" cy="9235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8"/>
          <p:cNvSpPr/>
          <p:nvPr/>
        </p:nvSpPr>
        <p:spPr>
          <a:xfrm>
            <a:off x="4270248" y="4912051"/>
            <a:ext cx="109728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9"/>
          <p:cNvSpPr/>
          <p:nvPr/>
        </p:nvSpPr>
        <p:spPr>
          <a:xfrm>
            <a:off x="4379976" y="4409131"/>
            <a:ext cx="1024128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0"/>
          <p:cNvSpPr/>
          <p:nvPr/>
        </p:nvSpPr>
        <p:spPr>
          <a:xfrm>
            <a:off x="4453128" y="4500571"/>
            <a:ext cx="237744" cy="23774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1"/>
          <p:cNvSpPr txBox="1"/>
          <p:nvPr/>
        </p:nvSpPr>
        <p:spPr>
          <a:xfrm>
            <a:off x="4453128" y="450057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46" name="Text 42"/>
          <p:cNvSpPr txBox="1"/>
          <p:nvPr/>
        </p:nvSpPr>
        <p:spPr>
          <a:xfrm>
            <a:off x="4727448" y="4473139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200"/>
          </a:p>
        </p:txBody>
      </p:sp>
      <p:sp>
        <p:nvSpPr>
          <p:cNvPr id="47" name="Text 43"/>
          <p:cNvSpPr txBox="1"/>
          <p:nvPr/>
        </p:nvSpPr>
        <p:spPr>
          <a:xfrm>
            <a:off x="4471416" y="4793179"/>
            <a:ext cx="877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and embed each mask</a:t>
            </a:r>
            <a:endParaRPr lang="en-US" sz="1050"/>
          </a:p>
        </p:txBody>
      </p:sp>
      <p:sp>
        <p:nvSpPr>
          <p:cNvPr id="48" name="Shape 44"/>
          <p:cNvSpPr/>
          <p:nvPr/>
        </p:nvSpPr>
        <p:spPr>
          <a:xfrm>
            <a:off x="5404104" y="4912051"/>
            <a:ext cx="21945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5"/>
          <p:cNvSpPr/>
          <p:nvPr/>
        </p:nvSpPr>
        <p:spPr>
          <a:xfrm>
            <a:off x="5623560" y="4409131"/>
            <a:ext cx="1024128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6"/>
          <p:cNvSpPr/>
          <p:nvPr/>
        </p:nvSpPr>
        <p:spPr>
          <a:xfrm>
            <a:off x="5696712" y="4500571"/>
            <a:ext cx="237744" cy="23774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7"/>
          <p:cNvSpPr txBox="1"/>
          <p:nvPr/>
        </p:nvSpPr>
        <p:spPr>
          <a:xfrm>
            <a:off x="5696712" y="450057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52" name="Text 48"/>
          <p:cNvSpPr txBox="1"/>
          <p:nvPr/>
        </p:nvSpPr>
        <p:spPr>
          <a:xfrm>
            <a:off x="5971032" y="4473139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/>
          </a:p>
        </p:txBody>
      </p:sp>
      <p:sp>
        <p:nvSpPr>
          <p:cNvPr id="53" name="Text 49"/>
          <p:cNvSpPr txBox="1"/>
          <p:nvPr/>
        </p:nvSpPr>
        <p:spPr>
          <a:xfrm>
            <a:off x="5715000" y="4793179"/>
            <a:ext cx="877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 the target</a:t>
            </a:r>
            <a:endParaRPr lang="en-US" sz="1050"/>
          </a:p>
        </p:txBody>
      </p:sp>
      <p:sp>
        <p:nvSpPr>
          <p:cNvPr id="54" name="Shape 50"/>
          <p:cNvSpPr/>
          <p:nvPr/>
        </p:nvSpPr>
        <p:spPr>
          <a:xfrm>
            <a:off x="6647688" y="4912051"/>
            <a:ext cx="21945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1"/>
          <p:cNvSpPr/>
          <p:nvPr/>
        </p:nvSpPr>
        <p:spPr>
          <a:xfrm>
            <a:off x="6867144" y="4409131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2"/>
          <p:cNvSpPr/>
          <p:nvPr/>
        </p:nvSpPr>
        <p:spPr>
          <a:xfrm>
            <a:off x="6940296" y="4500571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3"/>
          <p:cNvSpPr txBox="1"/>
          <p:nvPr/>
        </p:nvSpPr>
        <p:spPr>
          <a:xfrm>
            <a:off x="6940296" y="450057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58" name="Text 54"/>
          <p:cNvSpPr txBox="1"/>
          <p:nvPr/>
        </p:nvSpPr>
        <p:spPr>
          <a:xfrm>
            <a:off x="7214616" y="4473139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</a:t>
            </a:r>
            <a:endParaRPr lang="en-US" sz="1200"/>
          </a:p>
        </p:txBody>
      </p:sp>
      <p:sp>
        <p:nvSpPr>
          <p:cNvPr id="59" name="Text 55"/>
          <p:cNvSpPr txBox="1"/>
          <p:nvPr/>
        </p:nvSpPr>
        <p:spPr>
          <a:xfrm>
            <a:off x="6958584" y="4793179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0.56, no tie</a:t>
            </a:r>
            <a:endParaRPr lang="en-US" sz="1050"/>
          </a:p>
        </p:txBody>
      </p:sp>
      <p:sp>
        <p:nvSpPr>
          <p:cNvPr id="60" name="Text 56"/>
          <p:cNvSpPr txBox="1"/>
          <p:nvPr/>
        </p:nvSpPr>
        <p:spPr>
          <a:xfrm>
            <a:off x="6867144" y="5524699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arm waits</a:t>
            </a:r>
            <a:endParaRPr lang="en-US" sz="1050"/>
          </a:p>
        </p:txBody>
      </p:sp>
      <p:sp>
        <p:nvSpPr>
          <p:cNvPr id="73" name="Shape 69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0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75" name="Shape 71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2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77" name="Shape 73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4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79" name="Shape 75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6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81" name="Shape 77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Text 78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83" name="Shape 79"/>
          <p:cNvSpPr/>
          <p:nvPr/>
        </p:nvSpPr>
        <p:spPr>
          <a:xfrm>
            <a:off x="7526655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0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85" name="Shape 81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2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87" name="Shape 83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4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89" name="Text 85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/>
          </a:p>
        </p:txBody>
      </p:sp>
      <p:pic>
        <p:nvPicPr>
          <p:cNvPr id="90" name="Image 0" descr="two look-alike boxes seen by the wrist camera">
            <a:extLst>
              <a:ext uri="{FF2B5EF4-FFF2-40B4-BE49-F238E27FC236}">
                <a16:creationId xmlns:a16="http://schemas.microsoft.com/office/drawing/2014/main" id="{1925A2D1-1FFD-C1EF-DD3F-C9277808A9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874520"/>
            <a:ext cx="2651760" cy="1988820"/>
          </a:xfrm>
          <a:prstGeom prst="rect">
            <a:avLst/>
          </a:prstGeom>
        </p:spPr>
      </p:pic>
      <p:sp>
        <p:nvSpPr>
          <p:cNvPr id="91" name="Shape 19">
            <a:extLst>
              <a:ext uri="{FF2B5EF4-FFF2-40B4-BE49-F238E27FC236}">
                <a16:creationId xmlns:a16="http://schemas.microsoft.com/office/drawing/2014/main" id="{385B2125-E43F-E071-423C-42ADD1FCB738}"/>
              </a:ext>
            </a:extLst>
          </p:cNvPr>
          <p:cNvSpPr/>
          <p:nvPr/>
        </p:nvSpPr>
        <p:spPr>
          <a:xfrm>
            <a:off x="4056507" y="2322004"/>
            <a:ext cx="679513" cy="654653"/>
          </a:xfrm>
          <a:prstGeom prst="rect">
            <a:avLst/>
          </a:prstGeom>
          <a:ln w="254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20">
            <a:extLst>
              <a:ext uri="{FF2B5EF4-FFF2-40B4-BE49-F238E27FC236}">
                <a16:creationId xmlns:a16="http://schemas.microsoft.com/office/drawing/2014/main" id="{61558502-0FDD-FCE5-4BA5-1F1A9191345B}"/>
              </a:ext>
            </a:extLst>
          </p:cNvPr>
          <p:cNvSpPr/>
          <p:nvPr/>
        </p:nvSpPr>
        <p:spPr>
          <a:xfrm>
            <a:off x="3849338" y="2868930"/>
            <a:ext cx="389477" cy="795528"/>
          </a:xfrm>
          <a:prstGeom prst="rect">
            <a:avLst/>
          </a:prstGeom>
          <a:ln w="2540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21">
            <a:extLst>
              <a:ext uri="{FF2B5EF4-FFF2-40B4-BE49-F238E27FC236}">
                <a16:creationId xmlns:a16="http://schemas.microsoft.com/office/drawing/2014/main" id="{F562B307-539C-771F-B110-FE65A961117F}"/>
              </a:ext>
            </a:extLst>
          </p:cNvPr>
          <p:cNvSpPr/>
          <p:nvPr/>
        </p:nvSpPr>
        <p:spPr>
          <a:xfrm>
            <a:off x="3849338" y="2631186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22">
            <a:extLst>
              <a:ext uri="{FF2B5EF4-FFF2-40B4-BE49-F238E27FC236}">
                <a16:creationId xmlns:a16="http://schemas.microsoft.com/office/drawing/2014/main" id="{A144C611-3F06-F33A-9556-74B84D141B89}"/>
              </a:ext>
            </a:extLst>
          </p:cNvPr>
          <p:cNvSpPr txBox="1"/>
          <p:nvPr/>
        </p:nvSpPr>
        <p:spPr>
          <a:xfrm>
            <a:off x="3849338" y="263118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100"/>
          </a:p>
        </p:txBody>
      </p:sp>
      <p:sp>
        <p:nvSpPr>
          <p:cNvPr id="102" name="Shape 23">
            <a:extLst>
              <a:ext uri="{FF2B5EF4-FFF2-40B4-BE49-F238E27FC236}">
                <a16:creationId xmlns:a16="http://schemas.microsoft.com/office/drawing/2014/main" id="{293AD041-ACA5-AE68-B8DB-727E3D4E744B}"/>
              </a:ext>
            </a:extLst>
          </p:cNvPr>
          <p:cNvSpPr/>
          <p:nvPr/>
        </p:nvSpPr>
        <p:spPr>
          <a:xfrm>
            <a:off x="2697480" y="1874520"/>
            <a:ext cx="2651760" cy="310896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24">
            <a:extLst>
              <a:ext uri="{FF2B5EF4-FFF2-40B4-BE49-F238E27FC236}">
                <a16:creationId xmlns:a16="http://schemas.microsoft.com/office/drawing/2014/main" id="{8B5648D9-9DB4-DC6B-B5E8-72E993E94222}"/>
              </a:ext>
            </a:extLst>
          </p:cNvPr>
          <p:cNvSpPr txBox="1"/>
          <p:nvPr/>
        </p:nvSpPr>
        <p:spPr>
          <a:xfrm>
            <a:off x="2834640" y="1874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LOOK-ALIKE BOXES</a:t>
            </a:r>
            <a:endParaRPr lang="en-US" sz="1100"/>
          </a:p>
        </p:txBody>
      </p:sp>
      <p:pic>
        <p:nvPicPr>
          <p:cNvPr id="104" name="Image 1" descr="three different boxes seen by the wrist camera">
            <a:extLst>
              <a:ext uri="{FF2B5EF4-FFF2-40B4-BE49-F238E27FC236}">
                <a16:creationId xmlns:a16="http://schemas.microsoft.com/office/drawing/2014/main" id="{E1227A5E-2466-640B-AD12-21C58D5406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874520"/>
            <a:ext cx="2651760" cy="1988820"/>
          </a:xfrm>
          <a:prstGeom prst="rect">
            <a:avLst/>
          </a:prstGeom>
        </p:spPr>
      </p:pic>
      <p:sp>
        <p:nvSpPr>
          <p:cNvPr id="105" name="Shape 25">
            <a:extLst>
              <a:ext uri="{FF2B5EF4-FFF2-40B4-BE49-F238E27FC236}">
                <a16:creationId xmlns:a16="http://schemas.microsoft.com/office/drawing/2014/main" id="{B7CD3444-5432-3912-D536-A7161D816C70}"/>
              </a:ext>
            </a:extLst>
          </p:cNvPr>
          <p:cNvSpPr/>
          <p:nvPr/>
        </p:nvSpPr>
        <p:spPr>
          <a:xfrm>
            <a:off x="5871877" y="2226707"/>
            <a:ext cx="1139428" cy="1056561"/>
          </a:xfrm>
          <a:prstGeom prst="rect">
            <a:avLst/>
          </a:prstGeom>
          <a:ln w="254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26">
            <a:extLst>
              <a:ext uri="{FF2B5EF4-FFF2-40B4-BE49-F238E27FC236}">
                <a16:creationId xmlns:a16="http://schemas.microsoft.com/office/drawing/2014/main" id="{06A91C55-9149-9072-9B6E-5393C22F5906}"/>
              </a:ext>
            </a:extLst>
          </p:cNvPr>
          <p:cNvSpPr/>
          <p:nvPr/>
        </p:nvSpPr>
        <p:spPr>
          <a:xfrm>
            <a:off x="7591377" y="2777776"/>
            <a:ext cx="393621" cy="430911"/>
          </a:xfrm>
          <a:prstGeom prst="rect">
            <a:avLst/>
          </a:prstGeom>
          <a:ln w="254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27">
            <a:extLst>
              <a:ext uri="{FF2B5EF4-FFF2-40B4-BE49-F238E27FC236}">
                <a16:creationId xmlns:a16="http://schemas.microsoft.com/office/drawing/2014/main" id="{30039E80-1E7E-E121-8783-00D47E514A94}"/>
              </a:ext>
            </a:extLst>
          </p:cNvPr>
          <p:cNvSpPr/>
          <p:nvPr/>
        </p:nvSpPr>
        <p:spPr>
          <a:xfrm>
            <a:off x="6642545" y="3432429"/>
            <a:ext cx="588359" cy="422624"/>
          </a:xfrm>
          <a:prstGeom prst="rect">
            <a:avLst/>
          </a:prstGeom>
          <a:ln w="2540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2CA9F147-D4C8-ABF1-3682-C5CDA44E2FA3}"/>
              </a:ext>
            </a:extLst>
          </p:cNvPr>
          <p:cNvSpPr/>
          <p:nvPr/>
        </p:nvSpPr>
        <p:spPr>
          <a:xfrm>
            <a:off x="6642545" y="3194685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29">
            <a:extLst>
              <a:ext uri="{FF2B5EF4-FFF2-40B4-BE49-F238E27FC236}">
                <a16:creationId xmlns:a16="http://schemas.microsoft.com/office/drawing/2014/main" id="{1C5FE6A8-E89A-B591-896B-E42CE556C79C}"/>
              </a:ext>
            </a:extLst>
          </p:cNvPr>
          <p:cNvSpPr txBox="1"/>
          <p:nvPr/>
        </p:nvSpPr>
        <p:spPr>
          <a:xfrm>
            <a:off x="6642545" y="31946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100"/>
          </a:p>
        </p:txBody>
      </p:sp>
      <p:sp>
        <p:nvSpPr>
          <p:cNvPr id="110" name="Shape 30">
            <a:extLst>
              <a:ext uri="{FF2B5EF4-FFF2-40B4-BE49-F238E27FC236}">
                <a16:creationId xmlns:a16="http://schemas.microsoft.com/office/drawing/2014/main" id="{28E79C70-0DB3-D8B2-0578-628EFE81199B}"/>
              </a:ext>
            </a:extLst>
          </p:cNvPr>
          <p:cNvSpPr/>
          <p:nvPr/>
        </p:nvSpPr>
        <p:spPr>
          <a:xfrm>
            <a:off x="5532120" y="1874520"/>
            <a:ext cx="2651760" cy="310896"/>
          </a:xfrm>
          <a:prstGeom prst="rect">
            <a:avLst/>
          </a:prstGeom>
          <a:solidFill>
            <a:srgbClr val="16213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552BF7BD-2C9B-A46F-3E97-9BA27D2522B6}"/>
              </a:ext>
            </a:extLst>
          </p:cNvPr>
          <p:cNvSpPr txBox="1"/>
          <p:nvPr/>
        </p:nvSpPr>
        <p:spPr>
          <a:xfrm>
            <a:off x="5669280" y="1874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BOXES</a:t>
            </a:r>
            <a:endParaRPr lang="en-US" sz="1100"/>
          </a:p>
        </p:txBody>
      </p:sp>
      <p:sp>
        <p:nvSpPr>
          <p:cNvPr id="126" name="Shape 57">
            <a:extLst>
              <a:ext uri="{FF2B5EF4-FFF2-40B4-BE49-F238E27FC236}">
                <a16:creationId xmlns:a16="http://schemas.microsoft.com/office/drawing/2014/main" id="{DFB3426D-C701-5CBE-2C1D-9627E4912E18}"/>
              </a:ext>
            </a:extLst>
          </p:cNvPr>
          <p:cNvSpPr/>
          <p:nvPr/>
        </p:nvSpPr>
        <p:spPr>
          <a:xfrm>
            <a:off x="8412480" y="1874520"/>
            <a:ext cx="322783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58">
            <a:extLst>
              <a:ext uri="{FF2B5EF4-FFF2-40B4-BE49-F238E27FC236}">
                <a16:creationId xmlns:a16="http://schemas.microsoft.com/office/drawing/2014/main" id="{FB63A5AE-57BC-1724-28D3-35ED991AC728}"/>
              </a:ext>
            </a:extLst>
          </p:cNvPr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LOOK-ALIKE BOXES</a:t>
            </a:r>
            <a:endParaRPr lang="en-US" sz="1100"/>
          </a:p>
        </p:txBody>
      </p:sp>
      <p:sp>
        <p:nvSpPr>
          <p:cNvPr id="128" name="Text 59">
            <a:extLst>
              <a:ext uri="{FF2B5EF4-FFF2-40B4-BE49-F238E27FC236}">
                <a16:creationId xmlns:a16="http://schemas.microsoft.com/office/drawing/2014/main" id="{DA490DB2-BDC7-9B94-78B3-0EB65177FE91}"/>
              </a:ext>
            </a:extLst>
          </p:cNvPr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268</a:t>
            </a:r>
            <a:endParaRPr lang="en-US" sz="5000"/>
          </a:p>
        </p:txBody>
      </p:sp>
      <p:sp>
        <p:nvSpPr>
          <p:cNvPr id="129" name="Text 60">
            <a:extLst>
              <a:ext uri="{FF2B5EF4-FFF2-40B4-BE49-F238E27FC236}">
                <a16:creationId xmlns:a16="http://schemas.microsoft.com/office/drawing/2014/main" id="{D892C7B3-7EEB-62CF-3AAA-5DA2C1083740}"/>
              </a:ext>
            </a:extLst>
          </p:cNvPr>
          <p:cNvSpPr txBox="1"/>
          <p:nvPr/>
        </p:nvSpPr>
        <p:spPr>
          <a:xfrm>
            <a:off x="8641080" y="31089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targets on the box you looked at. The old pick got 0 of 114</a:t>
            </a:r>
            <a:endParaRPr lang="en-US" sz="1300"/>
          </a:p>
        </p:txBody>
      </p:sp>
      <p:sp>
        <p:nvSpPr>
          <p:cNvPr id="130" name="Shape 61">
            <a:extLst>
              <a:ext uri="{FF2B5EF4-FFF2-40B4-BE49-F238E27FC236}">
                <a16:creationId xmlns:a16="http://schemas.microsoft.com/office/drawing/2014/main" id="{E3826295-93B8-9191-8308-CD138479E603}"/>
              </a:ext>
            </a:extLst>
          </p:cNvPr>
          <p:cNvSpPr/>
          <p:nvPr/>
        </p:nvSpPr>
        <p:spPr>
          <a:xfrm>
            <a:off x="8412480" y="3749040"/>
            <a:ext cx="3227832" cy="91440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62">
            <a:extLst>
              <a:ext uri="{FF2B5EF4-FFF2-40B4-BE49-F238E27FC236}">
                <a16:creationId xmlns:a16="http://schemas.microsoft.com/office/drawing/2014/main" id="{9B60F3E3-0500-9098-B68E-DF7C14FA9F30}"/>
              </a:ext>
            </a:extLst>
          </p:cNvPr>
          <p:cNvSpPr/>
          <p:nvPr/>
        </p:nvSpPr>
        <p:spPr>
          <a:xfrm>
            <a:off x="8577072" y="397764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2" name="Image 2" descr="preencoded.png">
            <a:extLst>
              <a:ext uri="{FF2B5EF4-FFF2-40B4-BE49-F238E27FC236}">
                <a16:creationId xmlns:a16="http://schemas.microsoft.com/office/drawing/2014/main" id="{53FC5BC2-D5FF-E0E8-4BD0-B2561AA47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4078224"/>
            <a:ext cx="256032" cy="256032"/>
          </a:xfrm>
          <a:prstGeom prst="rect">
            <a:avLst/>
          </a:prstGeom>
        </p:spPr>
      </p:pic>
      <p:sp>
        <p:nvSpPr>
          <p:cNvPr id="133" name="Text 63">
            <a:extLst>
              <a:ext uri="{FF2B5EF4-FFF2-40B4-BE49-F238E27FC236}">
                <a16:creationId xmlns:a16="http://schemas.microsoft.com/office/drawing/2014/main" id="{5FCD6B1A-30EB-F9C6-5E05-82FE7A038976}"/>
              </a:ext>
            </a:extLst>
          </p:cNvPr>
          <p:cNvSpPr txBox="1"/>
          <p:nvPr/>
        </p:nvSpPr>
        <p:spPr>
          <a:xfrm>
            <a:off x="9189720" y="387705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 of 334</a:t>
            </a:r>
            <a:endParaRPr lang="en-US" sz="2000"/>
          </a:p>
        </p:txBody>
      </p:sp>
      <p:sp>
        <p:nvSpPr>
          <p:cNvPr id="134" name="Text 64">
            <a:extLst>
              <a:ext uri="{FF2B5EF4-FFF2-40B4-BE49-F238E27FC236}">
                <a16:creationId xmlns:a16="http://schemas.microsoft.com/office/drawing/2014/main" id="{743DE3C0-5BF3-791E-D3FD-5350755E4E4B}"/>
              </a:ext>
            </a:extLst>
          </p:cNvPr>
          <p:cNvSpPr txBox="1"/>
          <p:nvPr/>
        </p:nvSpPr>
        <p:spPr>
          <a:xfrm>
            <a:off x="9189720" y="42245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boxes. Old pick: 105 of 115</a:t>
            </a:r>
            <a:endParaRPr lang="en-US" sz="1200"/>
          </a:p>
        </p:txBody>
      </p:sp>
      <p:sp>
        <p:nvSpPr>
          <p:cNvPr id="135" name="Shape 65">
            <a:extLst>
              <a:ext uri="{FF2B5EF4-FFF2-40B4-BE49-F238E27FC236}">
                <a16:creationId xmlns:a16="http://schemas.microsoft.com/office/drawing/2014/main" id="{9AFC5C3F-6D99-975D-721E-AA307C6D3D01}"/>
              </a:ext>
            </a:extLst>
          </p:cNvPr>
          <p:cNvSpPr/>
          <p:nvPr/>
        </p:nvSpPr>
        <p:spPr>
          <a:xfrm>
            <a:off x="8412480" y="4773168"/>
            <a:ext cx="3227832" cy="91440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66">
            <a:extLst>
              <a:ext uri="{FF2B5EF4-FFF2-40B4-BE49-F238E27FC236}">
                <a16:creationId xmlns:a16="http://schemas.microsoft.com/office/drawing/2014/main" id="{D351F3F1-E8D5-4D32-37C0-4A32B13B11E6}"/>
              </a:ext>
            </a:extLst>
          </p:cNvPr>
          <p:cNvSpPr/>
          <p:nvPr/>
        </p:nvSpPr>
        <p:spPr>
          <a:xfrm>
            <a:off x="8577072" y="5001768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7" name="Image 3" descr="preencoded.png">
            <a:extLst>
              <a:ext uri="{FF2B5EF4-FFF2-40B4-BE49-F238E27FC236}">
                <a16:creationId xmlns:a16="http://schemas.microsoft.com/office/drawing/2014/main" id="{51DCEF7C-2630-CD09-1721-3370C6A9D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5102352"/>
            <a:ext cx="256032" cy="256032"/>
          </a:xfrm>
          <a:prstGeom prst="rect">
            <a:avLst/>
          </a:prstGeom>
        </p:spPr>
      </p:pic>
      <p:sp>
        <p:nvSpPr>
          <p:cNvPr id="138" name="Text 67">
            <a:extLst>
              <a:ext uri="{FF2B5EF4-FFF2-40B4-BE49-F238E27FC236}">
                <a16:creationId xmlns:a16="http://schemas.microsoft.com/office/drawing/2014/main" id="{785F7DAF-2AFE-F29C-2377-B7452635E496}"/>
              </a:ext>
            </a:extLst>
          </p:cNvPr>
          <p:cNvSpPr txBox="1"/>
          <p:nvPr/>
        </p:nvSpPr>
        <p:spPr>
          <a:xfrm>
            <a:off x="9189720" y="490118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misses</a:t>
            </a:r>
            <a:endParaRPr lang="en-US" sz="2000"/>
          </a:p>
        </p:txBody>
      </p:sp>
      <p:sp>
        <p:nvSpPr>
          <p:cNvPr id="139" name="Text 68">
            <a:extLst>
              <a:ext uri="{FF2B5EF4-FFF2-40B4-BE49-F238E27FC236}">
                <a16:creationId xmlns:a16="http://schemas.microsoft.com/office/drawing/2014/main" id="{38F6FD0D-232B-2CF0-195C-7CD1F5BE90C1}"/>
              </a:ext>
            </a:extLst>
          </p:cNvPr>
          <p:cNvSpPr txBox="1"/>
          <p:nvPr/>
        </p:nvSpPr>
        <p:spPr>
          <a:xfrm>
            <a:off x="9189720" y="524865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from a wrong gaze crop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GRASP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arm grasps on a spoken command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grasp on 13 Oct 2026, with a tested software stop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Grasp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13232" y="4251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713232" y="4498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grasp orientations with dynamic positioning</a:t>
            </a:r>
            <a:endParaRPr lang="en-US" sz="1250"/>
          </a:p>
        </p:txBody>
      </p:sp>
      <p:sp>
        <p:nvSpPr>
          <p:cNvPr id="23" name="Text 21"/>
          <p:cNvSpPr txBox="1"/>
          <p:nvPr/>
        </p:nvSpPr>
        <p:spPr>
          <a:xfrm>
            <a:off x="713232" y="5047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713232" y="5294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model proposes the grasp</a:t>
            </a:r>
            <a:endParaRPr lang="en-US" sz="1250"/>
          </a:p>
        </p:txBody>
      </p:sp>
      <p:sp>
        <p:nvSpPr>
          <p:cNvPr id="25" name="Text 23"/>
          <p:cNvSpPr txBox="1"/>
          <p:nvPr/>
        </p:nvSpPr>
        <p:spPr>
          <a:xfrm>
            <a:off x="269748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2697480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request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406908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Approach</a:t>
            </a:r>
            <a:endParaRPr lang="en-US" sz="1500"/>
          </a:p>
        </p:txBody>
      </p:sp>
      <p:sp>
        <p:nvSpPr>
          <p:cNvPr id="28" name="Text 26"/>
          <p:cNvSpPr txBox="1"/>
          <p:nvPr/>
        </p:nvSpPr>
        <p:spPr>
          <a:xfrm>
            <a:off x="4270248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30 cm</a:t>
            </a:r>
            <a:endParaRPr lang="en-US" sz="1100"/>
          </a:p>
        </p:txBody>
      </p:sp>
      <p:sp>
        <p:nvSpPr>
          <p:cNvPr id="29" name="Text 27"/>
          <p:cNvSpPr txBox="1"/>
          <p:nvPr/>
        </p:nvSpPr>
        <p:spPr>
          <a:xfrm>
            <a:off x="544068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Grasp</a:t>
            </a:r>
            <a:endParaRPr lang="en-US" sz="1500"/>
          </a:p>
        </p:txBody>
      </p:sp>
      <p:sp>
        <p:nvSpPr>
          <p:cNvPr id="30" name="Text 28"/>
          <p:cNvSpPr txBox="1"/>
          <p:nvPr/>
        </p:nvSpPr>
        <p:spPr>
          <a:xfrm>
            <a:off x="5641848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lift</a:t>
            </a:r>
            <a:endParaRPr lang="en-US" sz="1100"/>
          </a:p>
        </p:txBody>
      </p:sp>
      <p:sp>
        <p:nvSpPr>
          <p:cNvPr id="31" name="Text 29"/>
          <p:cNvSpPr txBox="1"/>
          <p:nvPr/>
        </p:nvSpPr>
        <p:spPr>
          <a:xfrm>
            <a:off x="681228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Hold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7013448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“release”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2697480" y="2487168"/>
            <a:ext cx="5486400" cy="914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0" descr="First real grasp, 13 O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2633472"/>
            <a:ext cx="1707642" cy="303580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2697480" y="5340096"/>
            <a:ext cx="1707642" cy="329184"/>
          </a:xfrm>
          <a:prstGeom prst="rect">
            <a:avLst/>
          </a:prstGeom>
          <a:solidFill>
            <a:srgbClr val="16213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 txBox="1"/>
          <p:nvPr/>
        </p:nvSpPr>
        <p:spPr>
          <a:xfrm>
            <a:off x="2825496" y="5340096"/>
            <a:ext cx="1524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  ·  REAL ARM</a:t>
            </a:r>
            <a:endParaRPr lang="en-US" sz="1100"/>
          </a:p>
        </p:txBody>
      </p:sp>
      <p:sp>
        <p:nvSpPr>
          <p:cNvPr id="37" name="Text 34"/>
          <p:cNvSpPr txBox="1"/>
          <p:nvPr/>
        </p:nvSpPr>
        <p:spPr>
          <a:xfrm>
            <a:off x="4679442" y="2633472"/>
            <a:ext cx="3504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BY DISTANCE</a:t>
            </a:r>
            <a:endParaRPr lang="en-US" sz="1000"/>
          </a:p>
        </p:txBody>
      </p:sp>
      <p:sp>
        <p:nvSpPr>
          <p:cNvPr id="38" name="Text 35"/>
          <p:cNvSpPr txBox="1"/>
          <p:nvPr/>
        </p:nvSpPr>
        <p:spPr>
          <a:xfrm>
            <a:off x="4679442" y="2907792"/>
            <a:ext cx="118872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 cm</a:t>
            </a:r>
            <a:endParaRPr lang="en-US" sz="1800"/>
          </a:p>
        </p:txBody>
      </p:sp>
      <p:sp>
        <p:nvSpPr>
          <p:cNvPr id="39" name="Shape 36"/>
          <p:cNvSpPr/>
          <p:nvPr/>
        </p:nvSpPr>
        <p:spPr>
          <a:xfrm>
            <a:off x="5868162" y="3230880"/>
            <a:ext cx="274320" cy="274320"/>
          </a:xfrm>
          <a:prstGeom prst="ellipse">
            <a:avLst/>
          </a:prstGeom>
          <a:solidFill>
            <a:srgbClr val="0068B5"/>
          </a:solidFill>
          <a:ln w="2540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6233922" y="3230880"/>
            <a:ext cx="274320" cy="274320"/>
          </a:xfrm>
          <a:prstGeom prst="ellipse">
            <a:avLst/>
          </a:prstGeom>
          <a:solidFill>
            <a:srgbClr val="0068B5"/>
          </a:solidFill>
          <a:ln w="2540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6599682" y="3230880"/>
            <a:ext cx="274320" cy="274320"/>
          </a:xfrm>
          <a:prstGeom prst="ellipse">
            <a:avLst/>
          </a:prstGeom>
          <a:solidFill>
            <a:srgbClr val="0068B5"/>
          </a:solidFill>
          <a:ln w="2540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6965442" y="3230880"/>
            <a:ext cx="274320" cy="274320"/>
          </a:xfrm>
          <a:prstGeom prst="ellipse">
            <a:avLst/>
          </a:prstGeom>
          <a:solidFill>
            <a:srgbClr val="0068B5"/>
          </a:solidFill>
          <a:ln w="2540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7406640" y="2907792"/>
            <a:ext cx="7772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</a:t>
            </a:r>
            <a:endParaRPr lang="en-US" sz="1800"/>
          </a:p>
        </p:txBody>
      </p:sp>
      <p:sp>
        <p:nvSpPr>
          <p:cNvPr id="44" name="Shape 41"/>
          <p:cNvSpPr/>
          <p:nvPr/>
        </p:nvSpPr>
        <p:spPr>
          <a:xfrm>
            <a:off x="4679442" y="3828288"/>
            <a:ext cx="3504438" cy="914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4679442" y="3828288"/>
            <a:ext cx="118872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 cm</a:t>
            </a:r>
            <a:endParaRPr lang="en-US" sz="1800"/>
          </a:p>
        </p:txBody>
      </p:sp>
      <p:sp>
        <p:nvSpPr>
          <p:cNvPr id="46" name="Shape 43"/>
          <p:cNvSpPr/>
          <p:nvPr/>
        </p:nvSpPr>
        <p:spPr>
          <a:xfrm>
            <a:off x="5868162" y="4151376"/>
            <a:ext cx="274320" cy="274320"/>
          </a:xfrm>
          <a:prstGeom prst="ellipse">
            <a:avLst/>
          </a:prstGeom>
          <a:solidFill>
            <a:srgbClr val="0068B5"/>
          </a:solidFill>
          <a:ln w="2540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6233922" y="4151376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7406640" y="3828288"/>
            <a:ext cx="7772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800"/>
          </a:p>
        </p:txBody>
      </p:sp>
      <p:sp>
        <p:nvSpPr>
          <p:cNvPr id="49" name="Shape 46"/>
          <p:cNvSpPr/>
          <p:nvPr/>
        </p:nvSpPr>
        <p:spPr>
          <a:xfrm>
            <a:off x="4679442" y="4748784"/>
            <a:ext cx="3504438" cy="914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 txBox="1"/>
          <p:nvPr/>
        </p:nvSpPr>
        <p:spPr>
          <a:xfrm>
            <a:off x="4679442" y="48402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 cm</a:t>
            </a:r>
            <a:endParaRPr lang="en-US" sz="1800"/>
          </a:p>
        </p:txBody>
      </p:sp>
      <p:sp>
        <p:nvSpPr>
          <p:cNvPr id="51" name="Text 48"/>
          <p:cNvSpPr txBox="1"/>
          <p:nvPr/>
        </p:nvSpPr>
        <p:spPr>
          <a:xfrm>
            <a:off x="4679442" y="51876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reach</a:t>
            </a:r>
            <a:endParaRPr lang="en-US" sz="1100"/>
          </a:p>
        </p:txBody>
      </p:sp>
      <p:sp>
        <p:nvSpPr>
          <p:cNvPr id="52" name="Shape 49"/>
          <p:cNvSpPr/>
          <p:nvPr/>
        </p:nvSpPr>
        <p:spPr>
          <a:xfrm>
            <a:off x="5868162" y="5071872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6233922" y="5071872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7406640" y="4748784"/>
            <a:ext cx="7772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</a:t>
            </a:r>
            <a:endParaRPr lang="en-US" sz="1800"/>
          </a:p>
        </p:txBody>
      </p:sp>
      <p:sp>
        <p:nvSpPr>
          <p:cNvPr id="55" name="Text 52"/>
          <p:cNvSpPr txBox="1"/>
          <p:nvPr/>
        </p:nvSpPr>
        <p:spPr>
          <a:xfrm>
            <a:off x="4679442" y="556067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grasped 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   ·    one dot per attempt, started by a recorded voice command</a:t>
            </a:r>
            <a:endParaRPr lang="en-US" sz="1100"/>
          </a:p>
        </p:txBody>
      </p:sp>
      <p:sp>
        <p:nvSpPr>
          <p:cNvPr id="56" name="Shape 53"/>
          <p:cNvSpPr/>
          <p:nvPr/>
        </p:nvSpPr>
        <p:spPr>
          <a:xfrm>
            <a:off x="8412480" y="1874520"/>
            <a:ext cx="3227832" cy="2103120"/>
          </a:xfrm>
          <a:prstGeom prst="roundRect">
            <a:avLst>
              <a:gd name="adj" fmla="val 434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REACH</a:t>
            </a:r>
            <a:endParaRPr lang="en-US" sz="1100"/>
          </a:p>
        </p:txBody>
      </p:sp>
      <p:sp>
        <p:nvSpPr>
          <p:cNvPr id="58" name="Text 55"/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6</a:t>
            </a:r>
            <a:endParaRPr lang="en-US" sz="5000"/>
          </a:p>
        </p:txBody>
      </p:sp>
      <p:sp>
        <p:nvSpPr>
          <p:cNvPr id="59" name="Text 56"/>
          <p:cNvSpPr txBox="1"/>
          <p:nvPr/>
        </p:nvSpPr>
        <p:spPr>
          <a:xfrm>
            <a:off x="8641080" y="310896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succeeded when target was within reach (5 of 8 overall).</a:t>
            </a:r>
            <a:endParaRPr lang="en-US" sz="1300"/>
          </a:p>
        </p:txBody>
      </p:sp>
      <p:sp>
        <p:nvSpPr>
          <p:cNvPr id="60" name="Shape 57"/>
          <p:cNvSpPr/>
          <p:nvPr/>
        </p:nvSpPr>
        <p:spPr>
          <a:xfrm>
            <a:off x="8412480" y="4160520"/>
            <a:ext cx="3227832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8577072" y="443484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4535424"/>
            <a:ext cx="256032" cy="256032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9189720" y="433425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2000"/>
          </a:p>
        </p:txBody>
      </p:sp>
      <p:sp>
        <p:nvSpPr>
          <p:cNvPr id="64" name="Text 60"/>
          <p:cNvSpPr txBox="1"/>
          <p:nvPr/>
        </p:nvSpPr>
        <p:spPr>
          <a:xfrm>
            <a:off x="9189720" y="46817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stop cancels motion</a:t>
            </a:r>
            <a:endParaRPr lang="en-US" sz="1200"/>
          </a:p>
        </p:txBody>
      </p:sp>
      <p:sp>
        <p:nvSpPr>
          <p:cNvPr id="65" name="Shape 61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2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67" name="Shape 63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4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69" name="Shape 65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6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71" name="Shape 67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68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73" name="Shape 69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0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75" name="Shape 71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2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77" name="Shape 73"/>
          <p:cNvSpPr/>
          <p:nvPr/>
        </p:nvSpPr>
        <p:spPr>
          <a:xfrm>
            <a:off x="8913114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4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79" name="Shape 75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6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81" name="Text 77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GRASP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 proposes grasps from one point cloud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depth view in, hundreds of ranked grasps out, with no training on our box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Grasp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13232" y="4251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713232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in one orientation only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713232" y="4974336"/>
            <a:ext cx="1476103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713232" y="5221224"/>
            <a:ext cx="15499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to different box orientation x positions</a:t>
            </a:r>
            <a:endParaRPr lang="en-US" sz="1250"/>
          </a:p>
        </p:txBody>
      </p:sp>
      <p:pic>
        <p:nvPicPr>
          <p:cNvPr id="25" name="Image 0" descr="RViz on the real arm: wrist view, SAM 3 mask and AnyGrasp propos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874520"/>
            <a:ext cx="5486400" cy="3046095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97480" y="1874520"/>
            <a:ext cx="5486400" cy="3046095"/>
          </a:xfrm>
          <a:prstGeom prst="rect">
            <a:avLst/>
          </a:prstGeom>
          <a:ln w="9525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2724912" y="2668905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 txBox="1"/>
          <p:nvPr/>
        </p:nvSpPr>
        <p:spPr>
          <a:xfrm>
            <a:off x="2697480" y="265861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VIEW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2697480" y="378736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 txBox="1"/>
          <p:nvPr/>
        </p:nvSpPr>
        <p:spPr>
          <a:xfrm>
            <a:off x="2670048" y="37776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MASK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5383530" y="2114550"/>
            <a:ext cx="1906524" cy="274320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 txBox="1"/>
          <p:nvPr/>
        </p:nvSpPr>
        <p:spPr>
          <a:xfrm>
            <a:off x="5383530" y="2114550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+ PROPOSED GRASPS</a:t>
            </a:r>
            <a:endParaRPr lang="en-US" sz="1050"/>
          </a:p>
        </p:txBody>
      </p:sp>
      <p:sp>
        <p:nvSpPr>
          <p:cNvPr id="33" name="Text 30"/>
          <p:cNvSpPr txBox="1"/>
          <p:nvPr/>
        </p:nvSpPr>
        <p:spPr>
          <a:xfrm>
            <a:off x="2697480" y="50840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on the real arm at the 30 cm stop. Point cloud is drawn as a rainbow, coloured by depth, Grasp candidates in green.</a:t>
            </a:r>
            <a:endParaRPr lang="en-US" sz="1100"/>
          </a:p>
        </p:txBody>
      </p:sp>
      <p:sp>
        <p:nvSpPr>
          <p:cNvPr id="34" name="Shape 31"/>
          <p:cNvSpPr/>
          <p:nvPr/>
        </p:nvSpPr>
        <p:spPr>
          <a:xfrm>
            <a:off x="8412480" y="1874520"/>
            <a:ext cx="3227832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 txBox="1"/>
          <p:nvPr/>
        </p:nvSpPr>
        <p:spPr>
          <a:xfrm>
            <a:off x="8641080" y="205740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IN ONE PLACE  ·  REAL ARM</a:t>
            </a:r>
            <a:endParaRPr lang="en-US" sz="1100"/>
          </a:p>
        </p:txBody>
      </p:sp>
      <p:sp>
        <p:nvSpPr>
          <p:cNvPr id="36" name="Text 33"/>
          <p:cNvSpPr txBox="1"/>
          <p:nvPr/>
        </p:nvSpPr>
        <p:spPr>
          <a:xfrm>
            <a:off x="864108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4</a:t>
            </a:r>
            <a:endParaRPr lang="en-US" sz="5000"/>
          </a:p>
        </p:txBody>
      </p:sp>
      <p:sp>
        <p:nvSpPr>
          <p:cNvPr id="37" name="Text 34"/>
          <p:cNvSpPr txBox="1"/>
          <p:nvPr/>
        </p:nvSpPr>
        <p:spPr>
          <a:xfrm>
            <a:off x="8641080" y="31089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held, box not pushed</a:t>
            </a:r>
            <a:endParaRPr lang="en-US" sz="1300"/>
          </a:p>
        </p:txBody>
      </p:sp>
      <p:sp>
        <p:nvSpPr>
          <p:cNvPr id="38" name="Text 35"/>
          <p:cNvSpPr txBox="1"/>
          <p:nvPr/>
        </p:nvSpPr>
        <p:spPr>
          <a:xfrm>
            <a:off x="8412480" y="365760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PICKS A GRASP</a:t>
            </a:r>
            <a:endParaRPr lang="en-US" sz="1000"/>
          </a:p>
        </p:txBody>
      </p:sp>
      <p:sp>
        <p:nvSpPr>
          <p:cNvPr id="39" name="Shape 36"/>
          <p:cNvSpPr/>
          <p:nvPr/>
        </p:nvSpPr>
        <p:spPr>
          <a:xfrm>
            <a:off x="8412480" y="3986784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 txBox="1"/>
          <p:nvPr/>
        </p:nvSpPr>
        <p:spPr>
          <a:xfrm>
            <a:off x="841248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41" name="Text 38"/>
          <p:cNvSpPr txBox="1"/>
          <p:nvPr/>
        </p:nvSpPr>
        <p:spPr>
          <a:xfrm>
            <a:off x="8778240" y="39319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30 cm</a:t>
            </a:r>
            <a:r>
              <a:rPr lang="en-US" sz="12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3D snapshot</a:t>
            </a:r>
            <a:endParaRPr lang="en-US" sz="1250"/>
          </a:p>
        </p:txBody>
      </p:sp>
      <p:sp>
        <p:nvSpPr>
          <p:cNvPr id="42" name="Shape 39"/>
          <p:cNvSpPr/>
          <p:nvPr/>
        </p:nvSpPr>
        <p:spPr>
          <a:xfrm>
            <a:off x="8412480" y="4352544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841248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44" name="Text 41"/>
          <p:cNvSpPr txBox="1"/>
          <p:nvPr/>
        </p:nvSpPr>
        <p:spPr>
          <a:xfrm>
            <a:off x="8778240" y="42976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mask</a:t>
            </a:r>
            <a:r>
              <a:rPr lang="en-US" sz="12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this object, within 10°</a:t>
            </a:r>
            <a:endParaRPr lang="en-US" sz="1250"/>
          </a:p>
        </p:txBody>
      </p:sp>
      <p:sp>
        <p:nvSpPr>
          <p:cNvPr id="45" name="Shape 42"/>
          <p:cNvSpPr/>
          <p:nvPr/>
        </p:nvSpPr>
        <p:spPr>
          <a:xfrm>
            <a:off x="8412480" y="4718304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 txBox="1"/>
          <p:nvPr/>
        </p:nvSpPr>
        <p:spPr>
          <a:xfrm>
            <a:off x="841248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47" name="Text 44"/>
          <p:cNvSpPr txBox="1"/>
          <p:nvPr/>
        </p:nvSpPr>
        <p:spPr>
          <a:xfrm>
            <a:off x="8778240" y="46634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grasps </a:t>
            </a:r>
            <a:r>
              <a:rPr lang="en-US" sz="12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confidence</a:t>
            </a:r>
            <a:r>
              <a:rPr lang="en-US" sz="125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</p:txBody>
      </p:sp>
      <p:sp>
        <p:nvSpPr>
          <p:cNvPr id="48" name="Shape 45"/>
          <p:cNvSpPr/>
          <p:nvPr/>
        </p:nvSpPr>
        <p:spPr>
          <a:xfrm>
            <a:off x="8412480" y="5084064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 txBox="1"/>
          <p:nvPr/>
        </p:nvSpPr>
        <p:spPr>
          <a:xfrm>
            <a:off x="8412480" y="5084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50" name="Text 47"/>
          <p:cNvSpPr txBox="1"/>
          <p:nvPr/>
        </p:nvSpPr>
        <p:spPr>
          <a:xfrm>
            <a:off x="8778240" y="5029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best grasp for 5 frames</a:t>
            </a:r>
            <a:r>
              <a:rPr lang="en-US" sz="12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then commit</a:t>
            </a:r>
            <a:endParaRPr lang="en-US" sz="1250"/>
          </a:p>
        </p:txBody>
      </p:sp>
      <p:sp>
        <p:nvSpPr>
          <p:cNvPr id="51" name="Shape 48"/>
          <p:cNvSpPr/>
          <p:nvPr/>
        </p:nvSpPr>
        <p:spPr>
          <a:xfrm>
            <a:off x="8412480" y="5449824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 txBox="1"/>
          <p:nvPr/>
        </p:nvSpPr>
        <p:spPr>
          <a:xfrm>
            <a:off x="8412480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53" name="Text 50"/>
          <p:cNvSpPr txBox="1"/>
          <p:nvPr/>
        </p:nvSpPr>
        <p:spPr>
          <a:xfrm>
            <a:off x="8778239" y="5394960"/>
            <a:ext cx="2991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Planner</a:t>
            </a:r>
            <a:r>
              <a:rPr lang="en-US" sz="12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IK solve, collision-free path</a:t>
            </a:r>
            <a:endParaRPr lang="en-US" sz="1250"/>
          </a:p>
        </p:txBody>
      </p:sp>
      <p:sp>
        <p:nvSpPr>
          <p:cNvPr id="54" name="Shape 51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56" name="Shape 53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58" name="Shape 55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6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60" name="Shape 57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62" name="Shape 59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64" name="Shape 61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2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66" name="Shape 63"/>
          <p:cNvSpPr/>
          <p:nvPr/>
        </p:nvSpPr>
        <p:spPr>
          <a:xfrm>
            <a:off x="8913114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4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68" name="Shape 65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6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70" name="Text 67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/>
          </a:p>
        </p:txBody>
      </p:sp>
      <p:sp>
        <p:nvSpPr>
          <p:cNvPr id="71" name="Shape 48">
            <a:extLst>
              <a:ext uri="{FF2B5EF4-FFF2-40B4-BE49-F238E27FC236}">
                <a16:creationId xmlns:a16="http://schemas.microsoft.com/office/drawing/2014/main" id="{DA54B9D3-A65D-2656-DFCE-A3ADE198A23C}"/>
              </a:ext>
            </a:extLst>
          </p:cNvPr>
          <p:cNvSpPr/>
          <p:nvPr/>
        </p:nvSpPr>
        <p:spPr>
          <a:xfrm>
            <a:off x="8412480" y="5839570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49">
            <a:extLst>
              <a:ext uri="{FF2B5EF4-FFF2-40B4-BE49-F238E27FC236}">
                <a16:creationId xmlns:a16="http://schemas.microsoft.com/office/drawing/2014/main" id="{79B8AC1B-2673-45A8-BC2D-742AA83D7553}"/>
              </a:ext>
            </a:extLst>
          </p:cNvPr>
          <p:cNvSpPr txBox="1"/>
          <p:nvPr/>
        </p:nvSpPr>
        <p:spPr>
          <a:xfrm>
            <a:off x="8412480" y="58395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73" name="Text 50">
            <a:extLst>
              <a:ext uri="{FF2B5EF4-FFF2-40B4-BE49-F238E27FC236}">
                <a16:creationId xmlns:a16="http://schemas.microsoft.com/office/drawing/2014/main" id="{CC69CC55-B7DB-DC20-2EA1-2AF8F7F70726}"/>
              </a:ext>
            </a:extLst>
          </p:cNvPr>
          <p:cNvSpPr txBox="1"/>
          <p:nvPr/>
        </p:nvSpPr>
        <p:spPr>
          <a:xfrm>
            <a:off x="8778240" y="5784706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up, go in</a:t>
            </a:r>
            <a:r>
              <a:rPr lang="en-US" sz="12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 cm out, straight in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DION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GRASP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grasps work at one spot. Four problems limit the rest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the real arm on 26 Oct 2026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grasp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85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15568" y="28346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8580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1115568" y="3474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Challenges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920240" cy="1783080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13232" y="42519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CHEAPEST FIRST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713232" y="4553712"/>
            <a:ext cx="256032" cy="256032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713232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24" name="Text 22"/>
          <p:cNvSpPr txBox="1"/>
          <p:nvPr/>
        </p:nvSpPr>
        <p:spPr>
          <a:xfrm>
            <a:off x="1042416" y="4526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reach first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713232" y="4882896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713232" y="4882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7" name="Text 25"/>
          <p:cNvSpPr txBox="1"/>
          <p:nvPr/>
        </p:nvSpPr>
        <p:spPr>
          <a:xfrm>
            <a:off x="1042416" y="48554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view angles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713232" y="5212080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713232" y="5212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30" name="Text 28"/>
          <p:cNvSpPr txBox="1"/>
          <p:nvPr/>
        </p:nvSpPr>
        <p:spPr>
          <a:xfrm>
            <a:off x="1042416" y="5184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several views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713232" y="5541264"/>
            <a:ext cx="256032" cy="25603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713232" y="5541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/>
          </a:p>
        </p:txBody>
      </p:sp>
      <p:sp>
        <p:nvSpPr>
          <p:cNvPr id="33" name="Text 31"/>
          <p:cNvSpPr txBox="1"/>
          <p:nvPr/>
        </p:nvSpPr>
        <p:spPr>
          <a:xfrm>
            <a:off x="1042416" y="5513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12 positions</a:t>
            </a:r>
            <a:endParaRPr lang="en-US" sz="1200"/>
          </a:p>
        </p:txBody>
      </p:sp>
      <p:pic>
        <p:nvPicPr>
          <p:cNvPr id="34" name="Image 0" descr="Wrist camera cloud up clo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874520"/>
            <a:ext cx="5486400" cy="379476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2697480" y="5340096"/>
            <a:ext cx="5486400" cy="329184"/>
          </a:xfrm>
          <a:prstGeom prst="rect">
            <a:avLst/>
          </a:prstGeom>
          <a:solidFill>
            <a:srgbClr val="16213A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 txBox="1"/>
          <p:nvPr/>
        </p:nvSpPr>
        <p:spPr>
          <a:xfrm>
            <a:off x="2825496" y="53400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CLOUD UP CLOSE  ·  FRONT AND TOP ONLY</a:t>
            </a:r>
            <a:endParaRPr lang="en-US" sz="1100"/>
          </a:p>
        </p:txBody>
      </p:sp>
      <p:sp>
        <p:nvSpPr>
          <p:cNvPr id="37" name="Text 34"/>
          <p:cNvSpPr txBox="1"/>
          <p:nvPr/>
        </p:nvSpPr>
        <p:spPr>
          <a:xfrm>
            <a:off x="2697480" y="5742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arm, 26 Oct. C is built, still to test.</a:t>
            </a:r>
            <a:endParaRPr lang="en-US" sz="1100"/>
          </a:p>
        </p:txBody>
      </p:sp>
      <p:sp>
        <p:nvSpPr>
          <p:cNvPr id="38" name="Text 35"/>
          <p:cNvSpPr txBox="1"/>
          <p:nvPr/>
        </p:nvSpPr>
        <p:spPr>
          <a:xfrm>
            <a:off x="8412480" y="187452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CHALLENGES</a:t>
            </a:r>
            <a:endParaRPr lang="en-US" sz="1000"/>
          </a:p>
        </p:txBody>
      </p:sp>
      <p:sp>
        <p:nvSpPr>
          <p:cNvPr id="39" name="Shape 36"/>
          <p:cNvSpPr/>
          <p:nvPr/>
        </p:nvSpPr>
        <p:spPr>
          <a:xfrm>
            <a:off x="8412480" y="2322576"/>
            <a:ext cx="292608" cy="29260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 txBox="1"/>
          <p:nvPr/>
        </p:nvSpPr>
        <p:spPr>
          <a:xfrm>
            <a:off x="841248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41" name="Text 38"/>
          <p:cNvSpPr txBox="1"/>
          <p:nvPr/>
        </p:nvSpPr>
        <p:spPr>
          <a:xfrm>
            <a:off x="8823960" y="22677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 visible</a:t>
            </a:r>
            <a:endParaRPr lang="en-US" sz="1400"/>
          </a:p>
        </p:txBody>
      </p:sp>
      <p:sp>
        <p:nvSpPr>
          <p:cNvPr id="42" name="Text 39"/>
          <p:cNvSpPr txBox="1"/>
          <p:nvPr/>
        </p:nvSpPr>
        <p:spPr>
          <a:xfrm>
            <a:off x="8823960" y="2596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 guesses the hidden sides</a:t>
            </a:r>
            <a:endParaRPr lang="en-US" sz="1100"/>
          </a:p>
        </p:txBody>
      </p:sp>
      <p:sp>
        <p:nvSpPr>
          <p:cNvPr id="43" name="Text 40"/>
          <p:cNvSpPr txBox="1"/>
          <p:nvPr/>
        </p:nvSpPr>
        <p:spPr>
          <a:xfrm>
            <a:off x="10725912" y="21945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+ top</a:t>
            </a:r>
            <a:endParaRPr lang="en-US" sz="1600"/>
          </a:p>
        </p:txBody>
      </p:sp>
      <p:sp>
        <p:nvSpPr>
          <p:cNvPr id="44" name="Shape 41"/>
          <p:cNvSpPr/>
          <p:nvPr/>
        </p:nvSpPr>
        <p:spPr>
          <a:xfrm>
            <a:off x="8412480" y="3063240"/>
            <a:ext cx="3227832" cy="914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8412480" y="3191256"/>
            <a:ext cx="292608" cy="29260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 txBox="1"/>
          <p:nvPr/>
        </p:nvSpPr>
        <p:spPr>
          <a:xfrm>
            <a:off x="841248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47" name="Text 44"/>
          <p:cNvSpPr txBox="1"/>
          <p:nvPr/>
        </p:nvSpPr>
        <p:spPr>
          <a:xfrm>
            <a:off x="8823960" y="31363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reach</a:t>
            </a:r>
            <a:endParaRPr lang="en-US" sz="1400"/>
          </a:p>
        </p:txBody>
      </p:sp>
      <p:sp>
        <p:nvSpPr>
          <p:cNvPr id="48" name="Text 45"/>
          <p:cNvSpPr txBox="1"/>
          <p:nvPr/>
        </p:nvSpPr>
        <p:spPr>
          <a:xfrm>
            <a:off x="8823960" y="346557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angles the arm can't reach</a:t>
            </a:r>
            <a:endParaRPr lang="en-US" sz="1100"/>
          </a:p>
        </p:txBody>
      </p:sp>
      <p:sp>
        <p:nvSpPr>
          <p:cNvPr id="49" name="Text 46"/>
          <p:cNvSpPr txBox="1"/>
          <p:nvPr/>
        </p:nvSpPr>
        <p:spPr>
          <a:xfrm>
            <a:off x="10725912" y="30632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5</a:t>
            </a:r>
            <a:endParaRPr lang="en-US" sz="1600"/>
          </a:p>
        </p:txBody>
      </p:sp>
      <p:sp>
        <p:nvSpPr>
          <p:cNvPr id="50" name="Shape 47"/>
          <p:cNvSpPr/>
          <p:nvPr/>
        </p:nvSpPr>
        <p:spPr>
          <a:xfrm>
            <a:off x="8412480" y="3931920"/>
            <a:ext cx="3227832" cy="914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8412480" y="4059936"/>
            <a:ext cx="292608" cy="29260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 txBox="1"/>
          <p:nvPr/>
        </p:nvSpPr>
        <p:spPr>
          <a:xfrm>
            <a:off x="841248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53" name="Text 50"/>
          <p:cNvSpPr txBox="1"/>
          <p:nvPr/>
        </p:nvSpPr>
        <p:spPr>
          <a:xfrm>
            <a:off x="8823960" y="400507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updates</a:t>
            </a:r>
            <a:endParaRPr lang="en-US" sz="1400"/>
          </a:p>
        </p:txBody>
      </p:sp>
      <p:sp>
        <p:nvSpPr>
          <p:cNvPr id="54" name="Text 51"/>
          <p:cNvSpPr txBox="1"/>
          <p:nvPr/>
        </p:nvSpPr>
        <p:spPr>
          <a:xfrm>
            <a:off x="8823960" y="433425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position arrives late</a:t>
            </a:r>
            <a:endParaRPr lang="en-US" sz="1100"/>
          </a:p>
        </p:txBody>
      </p:sp>
      <p:sp>
        <p:nvSpPr>
          <p:cNvPr id="55" name="Text 52"/>
          <p:cNvSpPr txBox="1"/>
          <p:nvPr/>
        </p:nvSpPr>
        <p:spPr>
          <a:xfrm>
            <a:off x="10725912" y="39319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</a:t>
            </a:r>
            <a:endParaRPr lang="en-US" sz="1600"/>
          </a:p>
        </p:txBody>
      </p:sp>
      <p:sp>
        <p:nvSpPr>
          <p:cNvPr id="56" name="Shape 53"/>
          <p:cNvSpPr/>
          <p:nvPr/>
        </p:nvSpPr>
        <p:spPr>
          <a:xfrm>
            <a:off x="8412480" y="4800600"/>
            <a:ext cx="3227832" cy="914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8412480" y="4928616"/>
            <a:ext cx="292608" cy="292608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 txBox="1"/>
          <p:nvPr/>
        </p:nvSpPr>
        <p:spPr>
          <a:xfrm>
            <a:off x="841248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59" name="Text 56"/>
          <p:cNvSpPr txBox="1"/>
          <p:nvPr/>
        </p:nvSpPr>
        <p:spPr>
          <a:xfrm>
            <a:off x="8823960" y="48737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grasps</a:t>
            </a:r>
            <a:endParaRPr lang="en-US" sz="1400"/>
          </a:p>
        </p:txBody>
      </p:sp>
      <p:sp>
        <p:nvSpPr>
          <p:cNvPr id="60" name="Text 57"/>
          <p:cNvSpPr txBox="1"/>
          <p:nvPr/>
        </p:nvSpPr>
        <p:spPr>
          <a:xfrm>
            <a:off x="8823960" y="520293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near the box's edge</a:t>
            </a:r>
            <a:endParaRPr lang="en-US" sz="1100"/>
          </a:p>
        </p:txBody>
      </p:sp>
      <p:sp>
        <p:nvSpPr>
          <p:cNvPr id="61" name="Text 58"/>
          <p:cNvSpPr txBox="1"/>
          <p:nvPr/>
        </p:nvSpPr>
        <p:spPr>
          <a:xfrm>
            <a:off x="10725912" y="48006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miss</a:t>
            </a:r>
            <a:endParaRPr lang="en-US" sz="1600"/>
          </a:p>
        </p:txBody>
      </p:sp>
      <p:sp>
        <p:nvSpPr>
          <p:cNvPr id="62" name="Shape 59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0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64" name="Shape 61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2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66" name="Shape 63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4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68" name="Shape 65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6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70" name="Shape 67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72" name="Shape 69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0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74" name="Shape 71"/>
          <p:cNvSpPr/>
          <p:nvPr/>
        </p:nvSpPr>
        <p:spPr>
          <a:xfrm>
            <a:off x="8913114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2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76" name="Shape 73"/>
          <p:cNvSpPr/>
          <p:nvPr/>
        </p:nvSpPr>
        <p:spPr>
          <a:xfrm>
            <a:off x="10299573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4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78" name="Text 75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wo sensors, one scene: the parts work, the joins come next.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868680"/>
            <a:ext cx="5285232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27064" y="7406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6227064" y="7406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 flipH="1">
            <a:off x="11311128" y="7406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1768328" y="7406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227064" y="5522976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 flipV="1">
            <a:off x="6227064" y="5065776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 flipH="1">
            <a:off x="11311128" y="5522976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 flipV="1">
            <a:off x="11768328" y="5065776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988552" y="2886932"/>
            <a:ext cx="621792" cy="621792"/>
          </a:xfrm>
          <a:prstGeom prst="ellipse">
            <a:avLst/>
          </a:prstGeom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9253728" y="3152108"/>
            <a:ext cx="91440" cy="91440"/>
          </a:xfrm>
          <a:prstGeom prst="ellipse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823960" y="3197828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9555480" y="3197828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9299448" y="2722340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9299448" y="3453860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355080" y="411480"/>
            <a:ext cx="3745382" cy="292608"/>
          </a:xfrm>
          <a:prstGeom prst="roundRect">
            <a:avLst>
              <a:gd name="adj" fmla="val 15625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355080" y="411480"/>
            <a:ext cx="37453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CAMERA + LIDAR  ·  NOT YET CALIBRATED</a:t>
            </a:r>
            <a:endParaRPr lang="en-US" sz="1100"/>
          </a:p>
        </p:txBody>
      </p:sp>
      <p:sp>
        <p:nvSpPr>
          <p:cNvPr id="19" name="Text 16"/>
          <p:cNvSpPr txBox="1"/>
          <p:nvPr/>
        </p:nvSpPr>
        <p:spPr>
          <a:xfrm>
            <a:off x="6355080" y="565099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sensors, one scene: the parts work, the joins come next.</a:t>
            </a:r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548640" y="250782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/ 3</a:t>
            </a:r>
            <a:endParaRPr lang="en-US" sz="1200"/>
          </a:p>
        </p:txBody>
      </p:sp>
      <p:sp>
        <p:nvSpPr>
          <p:cNvPr id="21" name="Text 18"/>
          <p:cNvSpPr txBox="1"/>
          <p:nvPr/>
        </p:nvSpPr>
        <p:spPr>
          <a:xfrm>
            <a:off x="548640" y="2827865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4000"/>
          </a:p>
        </p:txBody>
      </p:sp>
      <p:sp>
        <p:nvSpPr>
          <p:cNvPr id="22" name="Text 19"/>
          <p:cNvSpPr txBox="1"/>
          <p:nvPr/>
        </p:nvSpPr>
        <p:spPr>
          <a:xfrm>
            <a:off x="548640" y="3495377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schedule, budget and next steps</a:t>
            </a:r>
            <a:endParaRPr lang="en-US" sz="1700"/>
          </a:p>
        </p:txBody>
      </p:sp>
      <p:sp>
        <p:nvSpPr>
          <p:cNvPr id="29" name="Shape 26"/>
          <p:cNvSpPr/>
          <p:nvPr/>
        </p:nvSpPr>
        <p:spPr>
          <a:xfrm>
            <a:off x="548640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 txBox="1"/>
          <p:nvPr/>
        </p:nvSpPr>
        <p:spPr>
          <a:xfrm>
            <a:off x="548640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plan</a:t>
            </a:r>
            <a:endParaRPr lang="en-US" sz="1100"/>
          </a:p>
        </p:txBody>
      </p:sp>
      <p:sp>
        <p:nvSpPr>
          <p:cNvPr id="31" name="Shape 28"/>
          <p:cNvSpPr/>
          <p:nvPr/>
        </p:nvSpPr>
        <p:spPr>
          <a:xfrm>
            <a:off x="2258568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 txBox="1"/>
          <p:nvPr/>
        </p:nvSpPr>
        <p:spPr>
          <a:xfrm>
            <a:off x="2258568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3968496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 txBox="1"/>
          <p:nvPr/>
        </p:nvSpPr>
        <p:spPr>
          <a:xfrm>
            <a:off x="3968496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SHERMAN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us built a working piece. Four joins remain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links work today, grey ones are wired but not yet run. Orange links are still to build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1918411" y="18745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918411" y="1874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Intent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880714" y="18745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880714" y="1874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Explore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843016" y="18745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843016" y="1874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Search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7805318" y="18745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7805318" y="1874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Confirm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9767621" y="18745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9767621" y="1874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Grasp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731520" y="2569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Dion</a:t>
            </a:r>
            <a:endParaRPr lang="en-US" sz="1500"/>
          </a:p>
        </p:txBody>
      </p:sp>
      <p:sp>
        <p:nvSpPr>
          <p:cNvPr id="19" name="Text 17"/>
          <p:cNvSpPr txBox="1"/>
          <p:nvPr/>
        </p:nvSpPr>
        <p:spPr>
          <a:xfrm>
            <a:off x="731520" y="2843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to grasp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31520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Zongzhe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731520" y="3986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search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731520" y="4855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Sherman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731520" y="5129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driving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3701491" y="2843784"/>
            <a:ext cx="4103827" cy="914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3701491" y="2532888"/>
            <a:ext cx="41038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crop, on replay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9588398" y="2843784"/>
            <a:ext cx="17922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663794" y="3986784"/>
            <a:ext cx="17922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663794" y="5129784"/>
            <a:ext cx="179222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 flipV="1">
            <a:off x="4223614" y="4315968"/>
            <a:ext cx="914" cy="484632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2852014" y="4434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drive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2809951" y="3172968"/>
            <a:ext cx="914" cy="242316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809951" y="3415284"/>
            <a:ext cx="3513125" cy="914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323076" y="3415284"/>
            <a:ext cx="914" cy="242316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680814" y="4315968"/>
            <a:ext cx="914" cy="242316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680814" y="4558284"/>
            <a:ext cx="1870862" cy="914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551676" y="4558284"/>
            <a:ext cx="914" cy="242316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283196" y="4315968"/>
            <a:ext cx="714" cy="473453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7626096" y="5129784"/>
            <a:ext cx="1068020" cy="9144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 flipV="1">
            <a:off x="8696858" y="3172968"/>
            <a:ext cx="914" cy="1956816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1918411" y="2514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 txBox="1"/>
          <p:nvPr/>
        </p:nvSpPr>
        <p:spPr>
          <a:xfrm>
            <a:off x="2028139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gaze crop</a:t>
            </a:r>
            <a:endParaRPr lang="en-US" sz="1300"/>
          </a:p>
        </p:txBody>
      </p:sp>
      <p:sp>
        <p:nvSpPr>
          <p:cNvPr id="44" name="Text 42"/>
          <p:cNvSpPr txBox="1"/>
          <p:nvPr/>
        </p:nvSpPr>
        <p:spPr>
          <a:xfrm>
            <a:off x="2028139" y="2862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replay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7805318" y="2514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EF3C8"/>
          </a:solidFill>
          <a:ln/>
        </p:spPr>
        <p:txBody>
          <a:bodyPr/>
          <a:lstStyle/>
          <a:p>
            <a:endParaRPr lang="en-GB">
              <a:solidFill>
                <a:srgbClr val="B45309"/>
              </a:solidFill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7915046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camera check</a:t>
            </a:r>
            <a:endParaRPr lang="en-US" sz="1300"/>
          </a:p>
        </p:txBody>
      </p:sp>
      <p:sp>
        <p:nvSpPr>
          <p:cNvPr id="47" name="Text 45"/>
          <p:cNvSpPr txBox="1"/>
          <p:nvPr/>
        </p:nvSpPr>
        <p:spPr>
          <a:xfrm>
            <a:off x="7915046" y="2862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candidate selected</a:t>
            </a:r>
            <a:endParaRPr lang="en-US" sz="1100">
              <a:solidFill>
                <a:srgbClr val="B45309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67621" y="2514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EF3C8"/>
          </a:solidFill>
          <a:ln/>
        </p:spPr>
        <p:txBody>
          <a:bodyPr/>
          <a:lstStyle/>
          <a:p>
            <a:endParaRPr lang="en-GB">
              <a:solidFill>
                <a:srgbClr val="B45309"/>
              </a:solidFill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9877349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on real arm</a:t>
            </a:r>
            <a:endParaRPr lang="en-US" sz="1300"/>
          </a:p>
        </p:txBody>
      </p:sp>
      <p:sp>
        <p:nvSpPr>
          <p:cNvPr id="50" name="Text 48"/>
          <p:cNvSpPr txBox="1"/>
          <p:nvPr/>
        </p:nvSpPr>
        <p:spPr>
          <a:xfrm>
            <a:off x="9877349" y="2862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the real arm</a:t>
            </a:r>
            <a:endParaRPr lang="en-US" sz="1100">
              <a:solidFill>
                <a:srgbClr val="B45309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880714" y="3657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3990442" y="3721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graph</a:t>
            </a:r>
            <a:endParaRPr lang="en-US" sz="1300"/>
          </a:p>
        </p:txBody>
      </p:sp>
      <p:sp>
        <p:nvSpPr>
          <p:cNvPr id="53" name="Text 51"/>
          <p:cNvSpPr txBox="1"/>
          <p:nvPr/>
        </p:nvSpPr>
        <p:spPr>
          <a:xfrm>
            <a:off x="3990442" y="4005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alone, offline</a:t>
            </a:r>
            <a:endParaRPr lang="en-US" sz="1100"/>
          </a:p>
        </p:txBody>
      </p:sp>
      <p:sp>
        <p:nvSpPr>
          <p:cNvPr id="54" name="Shape 52"/>
          <p:cNvSpPr/>
          <p:nvPr/>
        </p:nvSpPr>
        <p:spPr>
          <a:xfrm>
            <a:off x="5843016" y="3657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GB">
              <a:solidFill>
                <a:srgbClr val="B45309"/>
              </a:solidFill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5952744" y="3721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object</a:t>
            </a:r>
            <a:endParaRPr lang="en-US" sz="1300"/>
          </a:p>
        </p:txBody>
      </p:sp>
      <p:sp>
        <p:nvSpPr>
          <p:cNvPr id="56" name="Text 54"/>
          <p:cNvSpPr txBox="1"/>
          <p:nvPr/>
        </p:nvSpPr>
        <p:spPr>
          <a:xfrm>
            <a:off x="5952744" y="4005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search, built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3880714" y="4800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3990442" y="4864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FAST-LIVO2 map</a:t>
            </a:r>
            <a:endParaRPr lang="en-US" sz="1300"/>
          </a:p>
        </p:txBody>
      </p:sp>
      <p:sp>
        <p:nvSpPr>
          <p:cNvPr id="59" name="Text 57"/>
          <p:cNvSpPr txBox="1"/>
          <p:nvPr/>
        </p:nvSpPr>
        <p:spPr>
          <a:xfrm>
            <a:off x="3990442" y="5148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recording</a:t>
            </a:r>
            <a:endParaRPr lang="en-US" sz="1100"/>
          </a:p>
        </p:txBody>
      </p:sp>
      <p:sp>
        <p:nvSpPr>
          <p:cNvPr id="60" name="Shape 58"/>
          <p:cNvSpPr/>
          <p:nvPr/>
        </p:nvSpPr>
        <p:spPr>
          <a:xfrm>
            <a:off x="5843016" y="480060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 txBox="1"/>
          <p:nvPr/>
        </p:nvSpPr>
        <p:spPr>
          <a:xfrm>
            <a:off x="5952744" y="4864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drives base</a:t>
            </a:r>
            <a:endParaRPr lang="en-US" sz="1300"/>
          </a:p>
        </p:txBody>
      </p:sp>
      <p:sp>
        <p:nvSpPr>
          <p:cNvPr id="62" name="Text 60"/>
          <p:cNvSpPr txBox="1"/>
          <p:nvPr/>
        </p:nvSpPr>
        <p:spPr>
          <a:xfrm>
            <a:off x="5952744" y="51480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driven</a:t>
            </a:r>
            <a:endParaRPr lang="en-US" sz="1100"/>
          </a:p>
        </p:txBody>
      </p:sp>
      <p:sp>
        <p:nvSpPr>
          <p:cNvPr id="63" name="Shape 61"/>
          <p:cNvSpPr/>
          <p:nvPr/>
        </p:nvSpPr>
        <p:spPr>
          <a:xfrm>
            <a:off x="4001872" y="3296412"/>
            <a:ext cx="11292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 txBox="1"/>
          <p:nvPr/>
        </p:nvSpPr>
        <p:spPr>
          <a:xfrm>
            <a:off x="4102227" y="3305556"/>
            <a:ext cx="935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target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4973879" y="4439412"/>
            <a:ext cx="12847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5061889" y="4452671"/>
            <a:ext cx="10575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</a:t>
            </a:r>
            <a:endParaRPr lang="en-US" sz="1100"/>
          </a:p>
        </p:txBody>
      </p:sp>
      <p:sp>
        <p:nvSpPr>
          <p:cNvPr id="67" name="Shape 65"/>
          <p:cNvSpPr/>
          <p:nvPr/>
        </p:nvSpPr>
        <p:spPr>
          <a:xfrm>
            <a:off x="6679692" y="4439412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 txBox="1"/>
          <p:nvPr/>
        </p:nvSpPr>
        <p:spPr>
          <a:xfrm>
            <a:off x="6811823" y="4439412"/>
            <a:ext cx="942746" cy="232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goal</a:t>
            </a:r>
            <a:endParaRPr lang="en-US" sz="1100"/>
          </a:p>
        </p:txBody>
      </p:sp>
      <p:sp>
        <p:nvSpPr>
          <p:cNvPr id="69" name="Shape 67"/>
          <p:cNvSpPr/>
          <p:nvPr/>
        </p:nvSpPr>
        <p:spPr>
          <a:xfrm>
            <a:off x="8054492" y="3867912"/>
            <a:ext cx="12847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 txBox="1"/>
          <p:nvPr/>
        </p:nvSpPr>
        <p:spPr>
          <a:xfrm>
            <a:off x="8123015" y="3867912"/>
            <a:ext cx="11609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arrive, check</a:t>
            </a:r>
            <a:endParaRPr lang="en-US" sz="1100"/>
          </a:p>
        </p:txBody>
      </p:sp>
      <p:sp>
        <p:nvSpPr>
          <p:cNvPr id="71" name="Shape 69"/>
          <p:cNvSpPr/>
          <p:nvPr/>
        </p:nvSpPr>
        <p:spPr>
          <a:xfrm>
            <a:off x="548640" y="5952744"/>
            <a:ext cx="457200" cy="914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 txBox="1"/>
          <p:nvPr/>
        </p:nvSpPr>
        <p:spPr>
          <a:xfrm>
            <a:off x="1097280" y="5852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today</a:t>
            </a:r>
            <a:endParaRPr lang="en-US" sz="1100"/>
          </a:p>
        </p:txBody>
      </p:sp>
      <p:sp>
        <p:nvSpPr>
          <p:cNvPr id="73" name="Shape 71"/>
          <p:cNvSpPr/>
          <p:nvPr/>
        </p:nvSpPr>
        <p:spPr>
          <a:xfrm>
            <a:off x="2286000" y="5952744"/>
            <a:ext cx="457200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 txBox="1"/>
          <p:nvPr/>
        </p:nvSpPr>
        <p:spPr>
          <a:xfrm>
            <a:off x="2834640" y="58521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wired, not yet run</a:t>
            </a:r>
            <a:endParaRPr lang="en-US" sz="1100"/>
          </a:p>
        </p:txBody>
      </p:sp>
      <p:sp>
        <p:nvSpPr>
          <p:cNvPr id="75" name="Shape 73"/>
          <p:cNvSpPr/>
          <p:nvPr/>
        </p:nvSpPr>
        <p:spPr>
          <a:xfrm>
            <a:off x="4480560" y="5952744"/>
            <a:ext cx="457200" cy="914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 txBox="1"/>
          <p:nvPr/>
        </p:nvSpPr>
        <p:spPr>
          <a:xfrm>
            <a:off x="5029200" y="5852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join</a:t>
            </a:r>
            <a:endParaRPr lang="en-US" sz="1100"/>
          </a:p>
        </p:txBody>
      </p:sp>
      <p:sp>
        <p:nvSpPr>
          <p:cNvPr id="77" name="Shape 75"/>
          <p:cNvSpPr/>
          <p:nvPr/>
        </p:nvSpPr>
        <p:spPr>
          <a:xfrm>
            <a:off x="6400800" y="5833872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 txBox="1"/>
          <p:nvPr/>
        </p:nvSpPr>
        <p:spPr>
          <a:xfrm>
            <a:off x="6400800" y="5833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100"/>
          </a:p>
        </p:txBody>
      </p:sp>
      <p:sp>
        <p:nvSpPr>
          <p:cNvPr id="79" name="Shape 77"/>
          <p:cNvSpPr/>
          <p:nvPr/>
        </p:nvSpPr>
        <p:spPr>
          <a:xfrm>
            <a:off x="8092440" y="5833872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 txBox="1"/>
          <p:nvPr/>
        </p:nvSpPr>
        <p:spPr>
          <a:xfrm>
            <a:off x="8092440" y="5833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alone</a:t>
            </a:r>
            <a:endParaRPr lang="en-US" sz="1100"/>
          </a:p>
        </p:txBody>
      </p:sp>
      <p:sp>
        <p:nvSpPr>
          <p:cNvPr id="81" name="Shape 79"/>
          <p:cNvSpPr/>
          <p:nvPr/>
        </p:nvSpPr>
        <p:spPr>
          <a:xfrm>
            <a:off x="9784080" y="5833872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 txBox="1"/>
          <p:nvPr/>
        </p:nvSpPr>
        <p:spPr>
          <a:xfrm>
            <a:off x="9784080" y="5833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/>
          </a:p>
        </p:txBody>
      </p:sp>
      <p:sp>
        <p:nvSpPr>
          <p:cNvPr id="83" name="Shape 81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85" name="Shape 83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87" name="Shape 85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89" name="Shape 87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91" name="Shape 89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" name="Text 90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93" name="Shape 91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95" name="Shape 93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97" name="Shape 95"/>
          <p:cNvSpPr/>
          <p:nvPr/>
        </p:nvSpPr>
        <p:spPr>
          <a:xfrm>
            <a:off x="10299573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99" name="Text 97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6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00"/>
                            </p:stCondLst>
                            <p:childTnLst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SHERMAN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on memory and gaze, behind on driving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dates unchanged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344521" y="2148840"/>
            <a:ext cx="1642380" cy="361188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344521" y="2194560"/>
            <a:ext cx="1642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exams, break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819453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856029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031686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068262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204815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241391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7417048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7453624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8629281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665857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9724202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9760778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0936435" y="1874520"/>
            <a:ext cx="914" cy="388620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10973011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/>
          </a:p>
        </p:txBody>
      </p:sp>
      <p:sp>
        <p:nvSpPr>
          <p:cNvPr id="23" name="Text 21"/>
          <p:cNvSpPr txBox="1"/>
          <p:nvPr/>
        </p:nvSpPr>
        <p:spPr>
          <a:xfrm>
            <a:off x="3191256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54864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3154680" y="2249424"/>
            <a:ext cx="54746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8640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picks something up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4797060" y="2523744"/>
            <a:ext cx="547460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428410" y="2523744"/>
            <a:ext cx="136865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548640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gaze to arm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4797060" y="2798064"/>
            <a:ext cx="3011031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975870" y="2798064"/>
            <a:ext cx="82119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548640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navigates</a:t>
            </a:r>
            <a:endParaRPr lang="en-US" sz="1300"/>
          </a:p>
        </p:txBody>
      </p:sp>
      <p:sp>
        <p:nvSpPr>
          <p:cNvPr id="33" name="Shape 31"/>
          <p:cNvSpPr/>
          <p:nvPr/>
        </p:nvSpPr>
        <p:spPr>
          <a:xfrm>
            <a:off x="4797060" y="3072384"/>
            <a:ext cx="3011031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154680" y="3072384"/>
            <a:ext cx="164238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548640" y="3291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7808091" y="3346704"/>
            <a:ext cx="821190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54864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base camera</a:t>
            </a:r>
            <a:endParaRPr lang="en-US" sz="1300"/>
          </a:p>
        </p:txBody>
      </p:sp>
      <p:sp>
        <p:nvSpPr>
          <p:cNvPr id="38" name="Shape 36"/>
          <p:cNvSpPr/>
          <p:nvPr/>
        </p:nvSpPr>
        <p:spPr>
          <a:xfrm>
            <a:off x="4797060" y="3621024"/>
            <a:ext cx="3558491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154680" y="3621024"/>
            <a:ext cx="164238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54864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graph offline</a:t>
            </a:r>
            <a:endParaRPr lang="en-US" sz="1300"/>
          </a:p>
        </p:txBody>
      </p:sp>
      <p:sp>
        <p:nvSpPr>
          <p:cNvPr id="41" name="Shape 39"/>
          <p:cNvSpPr/>
          <p:nvPr/>
        </p:nvSpPr>
        <p:spPr>
          <a:xfrm>
            <a:off x="4797060" y="3895344"/>
            <a:ext cx="3832221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3428410" y="3895344"/>
            <a:ext cx="136865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 txBox="1"/>
          <p:nvPr/>
        </p:nvSpPr>
        <p:spPr>
          <a:xfrm>
            <a:off x="548640" y="4114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HiCo-Nav steers the search</a:t>
            </a:r>
            <a:endParaRPr lang="en-US" sz="1300"/>
          </a:p>
        </p:txBody>
      </p:sp>
      <p:sp>
        <p:nvSpPr>
          <p:cNvPr id="44" name="Shape 42"/>
          <p:cNvSpPr/>
          <p:nvPr/>
        </p:nvSpPr>
        <p:spPr>
          <a:xfrm>
            <a:off x="8081821" y="4169664"/>
            <a:ext cx="1642380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548640" y="4389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picks the instance</a:t>
            </a:r>
            <a:endParaRPr lang="en-US" sz="1300"/>
          </a:p>
        </p:txBody>
      </p:sp>
      <p:sp>
        <p:nvSpPr>
          <p:cNvPr id="46" name="Shape 44"/>
          <p:cNvSpPr/>
          <p:nvPr/>
        </p:nvSpPr>
        <p:spPr>
          <a:xfrm>
            <a:off x="4797060" y="4443984"/>
            <a:ext cx="5474601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4523330" y="4443984"/>
            <a:ext cx="273730" cy="164592"/>
          </a:xfrm>
          <a:prstGeom prst="roundRect">
            <a:avLst>
              <a:gd name="adj" fmla="val 277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 txBox="1"/>
          <p:nvPr/>
        </p:nvSpPr>
        <p:spPr>
          <a:xfrm>
            <a:off x="548640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vs nearest-first</a:t>
            </a:r>
            <a:endParaRPr lang="en-US" sz="1300"/>
          </a:p>
        </p:txBody>
      </p:sp>
      <p:sp>
        <p:nvSpPr>
          <p:cNvPr id="50" name="Text 48"/>
          <p:cNvSpPr txBox="1"/>
          <p:nvPr/>
        </p:nvSpPr>
        <p:spPr>
          <a:xfrm>
            <a:off x="54864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and paper</a:t>
            </a:r>
            <a:endParaRPr lang="en-US" sz="1300"/>
          </a:p>
        </p:txBody>
      </p:sp>
      <p:sp>
        <p:nvSpPr>
          <p:cNvPr id="51" name="Shape 49"/>
          <p:cNvSpPr/>
          <p:nvPr/>
        </p:nvSpPr>
        <p:spPr>
          <a:xfrm>
            <a:off x="9724202" y="4992624"/>
            <a:ext cx="821190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548640" y="5212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Orchestrator, all phases</a:t>
            </a:r>
            <a:endParaRPr lang="en-US" sz="1300"/>
          </a:p>
        </p:txBody>
      </p:sp>
      <p:sp>
        <p:nvSpPr>
          <p:cNvPr id="53" name="Shape 51"/>
          <p:cNvSpPr/>
          <p:nvPr/>
        </p:nvSpPr>
        <p:spPr>
          <a:xfrm>
            <a:off x="6986901" y="5266944"/>
            <a:ext cx="2463571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 txBox="1"/>
          <p:nvPr/>
        </p:nvSpPr>
        <p:spPr>
          <a:xfrm>
            <a:off x="548640" y="5486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within arm reach</a:t>
            </a:r>
            <a:endParaRPr lang="en-US" sz="1300"/>
          </a:p>
        </p:txBody>
      </p:sp>
      <p:sp>
        <p:nvSpPr>
          <p:cNvPr id="55" name="Shape 53"/>
          <p:cNvSpPr/>
          <p:nvPr/>
        </p:nvSpPr>
        <p:spPr>
          <a:xfrm>
            <a:off x="7808091" y="5541264"/>
            <a:ext cx="1916110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 txBox="1"/>
          <p:nvPr/>
        </p:nvSpPr>
        <p:spPr>
          <a:xfrm>
            <a:off x="8702433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run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4718852" y="2103120"/>
            <a:ext cx="914" cy="370332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261652" y="5806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/>
          </a:p>
        </p:txBody>
      </p:sp>
      <p:sp>
        <p:nvSpPr>
          <p:cNvPr id="59" name="Shape 57"/>
          <p:cNvSpPr/>
          <p:nvPr/>
        </p:nvSpPr>
        <p:spPr>
          <a:xfrm>
            <a:off x="548640" y="5888736"/>
            <a:ext cx="201168" cy="137160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 txBox="1"/>
          <p:nvPr/>
        </p:nvSpPr>
        <p:spPr>
          <a:xfrm>
            <a:off x="795528" y="5852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/>
          </a:p>
        </p:txBody>
      </p:sp>
      <p:sp>
        <p:nvSpPr>
          <p:cNvPr id="61" name="Shape 59"/>
          <p:cNvSpPr/>
          <p:nvPr/>
        </p:nvSpPr>
        <p:spPr>
          <a:xfrm>
            <a:off x="1417320" y="5888736"/>
            <a:ext cx="201168" cy="13716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 txBox="1"/>
          <p:nvPr/>
        </p:nvSpPr>
        <p:spPr>
          <a:xfrm>
            <a:off x="1664208" y="5852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67" name="Shape 65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69" name="Shape 67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71" name="Shape 69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73" name="Shape 71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75" name="Shape 73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77" name="Shape 75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79" name="Shape 77"/>
          <p:cNvSpPr/>
          <p:nvPr/>
        </p:nvSpPr>
        <p:spPr>
          <a:xfrm>
            <a:off x="10299573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81" name="Text 79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/>
          </a:p>
        </p:txBody>
      </p:sp>
      <p:sp>
        <p:nvSpPr>
          <p:cNvPr id="83" name="Shape 49">
            <a:extLst>
              <a:ext uri="{FF2B5EF4-FFF2-40B4-BE49-F238E27FC236}">
                <a16:creationId xmlns:a16="http://schemas.microsoft.com/office/drawing/2014/main" id="{65C1AFA9-1254-9E9E-2E91-82970E9B5A37}"/>
              </a:ext>
            </a:extLst>
          </p:cNvPr>
          <p:cNvSpPr/>
          <p:nvPr/>
        </p:nvSpPr>
        <p:spPr>
          <a:xfrm>
            <a:off x="8084077" y="4749934"/>
            <a:ext cx="1357104" cy="164592"/>
          </a:xfrm>
          <a:prstGeom prst="roundRect">
            <a:avLst>
              <a:gd name="adj" fmla="val 27778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363456" y="347472"/>
            <a:ext cx="227685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363456" y="34747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COMPUTE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1,500 for compute, approved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compute fell short, we cut scope instead of solving it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 ·  5 OCT 2026</a:t>
            </a:r>
            <a:endParaRPr lang="en-US" sz="110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SGD</a:t>
            </a:r>
            <a:endParaRPr lang="en-US" sz="5000"/>
          </a:p>
        </p:txBody>
      </p:sp>
      <p:sp>
        <p:nvSpPr>
          <p:cNvPr id="10" name="Text 8"/>
          <p:cNvSpPr txBox="1"/>
          <p:nvPr/>
        </p:nvSpPr>
        <p:spPr>
          <a:xfrm>
            <a:off x="777240" y="3108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items for compute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2194560" cy="274320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926080" y="3703320"/>
            <a:ext cx="1097280" cy="27432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7315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292608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7315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GPU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29260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credits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731520" y="46817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SHARED 16 GB GPU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731520" y="4983480"/>
            <a:ext cx="3291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31520" y="4983480"/>
            <a:ext cx="2119122" cy="292608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822960" y="4983480"/>
            <a:ext cx="21191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GiB: batched SAM 3 alone</a:t>
            </a:r>
            <a:endParaRPr lang="en-US" sz="1100"/>
          </a:p>
        </p:txBody>
      </p:sp>
      <p:sp>
        <p:nvSpPr>
          <p:cNvPr id="23" name="Text 21"/>
          <p:cNvSpPr txBox="1"/>
          <p:nvPr/>
        </p:nvSpPr>
        <p:spPr>
          <a:xfrm>
            <a:off x="3383280" y="4983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73152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AnyGrasp, CLIP, Whisper, 2 language models: 3 people + CI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448056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LIMIT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8321040" y="1874520"/>
            <a:ext cx="3319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480560" y="2194560"/>
            <a:ext cx="715975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617720" y="2331720"/>
            <a:ext cx="301752" cy="30175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17720" y="23317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30" name="Text 28"/>
          <p:cNvSpPr txBox="1"/>
          <p:nvPr/>
        </p:nvSpPr>
        <p:spPr>
          <a:xfrm>
            <a:off x="5029200" y="2194560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8B vision-language model does not fit beside SAM 3</a:t>
            </a:r>
            <a:endParaRPr lang="en-US" sz="1300"/>
          </a:p>
        </p:txBody>
      </p:sp>
      <p:sp>
        <p:nvSpPr>
          <p:cNvPr id="31" name="Text 29"/>
          <p:cNvSpPr txBox="1"/>
          <p:nvPr/>
        </p:nvSpPr>
        <p:spPr>
          <a:xfrm>
            <a:off x="8321040" y="2194560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Qwen2.5-1.5B, text only: right class for 20 of 22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4480560" y="2862072"/>
            <a:ext cx="715975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617720" y="2999232"/>
            <a:ext cx="301752" cy="30175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4617720" y="299923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35" name="Text 33"/>
          <p:cNvSpPr txBox="1"/>
          <p:nvPr/>
        </p:nvSpPr>
        <p:spPr>
          <a:xfrm>
            <a:off x="5029200" y="2862072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on every camera frame is too slow</a:t>
            </a:r>
            <a:endParaRPr lang="en-US" sz="1300"/>
          </a:p>
        </p:txBody>
      </p:sp>
      <p:sp>
        <p:nvSpPr>
          <p:cNvPr id="36" name="Text 34"/>
          <p:cNvSpPr txBox="1"/>
          <p:nvPr/>
        </p:nvSpPr>
        <p:spPr>
          <a:xfrm>
            <a:off x="8321040" y="2862072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one photo per 1 m or 45° moved: 29 of 3,536 frames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4480560" y="3529584"/>
            <a:ext cx="715975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617720" y="3666744"/>
            <a:ext cx="301752" cy="30175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17720" y="36667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40" name="Text 38"/>
          <p:cNvSpPr txBox="1"/>
          <p:nvPr/>
        </p:nvSpPr>
        <p:spPr>
          <a:xfrm>
            <a:off x="5029200" y="3529584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phrases in one SAM 3 pass run out of memory</a:t>
            </a:r>
            <a:endParaRPr lang="en-US" sz="1300"/>
          </a:p>
        </p:txBody>
      </p:sp>
      <p:sp>
        <p:nvSpPr>
          <p:cNvPr id="41" name="Text 39"/>
          <p:cNvSpPr txBox="1"/>
          <p:nvPr/>
        </p:nvSpPr>
        <p:spPr>
          <a:xfrm>
            <a:off x="8321040" y="3529584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per pass: 40 phrases in 1.69 s, peak 10.3 GiB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4480560" y="4197096"/>
            <a:ext cx="715975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617720" y="4334256"/>
            <a:ext cx="301752" cy="30175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 txBox="1"/>
          <p:nvPr/>
        </p:nvSpPr>
        <p:spPr>
          <a:xfrm>
            <a:off x="4617720" y="433425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45" name="Text 43"/>
          <p:cNvSpPr txBox="1"/>
          <p:nvPr/>
        </p:nvSpPr>
        <p:spPr>
          <a:xfrm>
            <a:off x="5029200" y="4197096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models never fit on the card at once</a:t>
            </a:r>
            <a:endParaRPr lang="en-US" sz="1300"/>
          </a:p>
        </p:txBody>
      </p:sp>
      <p:sp>
        <p:nvSpPr>
          <p:cNvPr id="46" name="Text 44"/>
          <p:cNvSpPr txBox="1"/>
          <p:nvPr/>
        </p:nvSpPr>
        <p:spPr>
          <a:xfrm>
            <a:off x="8321040" y="4197096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is tested alone, one bench run at a time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4480560" y="4937760"/>
            <a:ext cx="7159752" cy="960120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 txBox="1"/>
          <p:nvPr/>
        </p:nvSpPr>
        <p:spPr>
          <a:xfrm>
            <a:off x="4663440" y="5047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COULD NOT AFFORD</a:t>
            </a:r>
            <a:endParaRPr lang="en-US" sz="1100"/>
          </a:p>
        </p:txBody>
      </p:sp>
      <p:sp>
        <p:nvSpPr>
          <p:cNvPr id="49" name="Text 47"/>
          <p:cNvSpPr txBox="1"/>
          <p:nvPr/>
        </p:nvSpPr>
        <p:spPr>
          <a:xfrm>
            <a:off x="4663440" y="53035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RTX 3090 with 24 GB: room for an 8B model next to SAM 3, off the shared lab card</a:t>
            </a:r>
            <a:endParaRPr lang="en-US" sz="1200"/>
          </a:p>
        </p:txBody>
      </p:sp>
      <p:sp>
        <p:nvSpPr>
          <p:cNvPr id="50" name="Text 48"/>
          <p:cNvSpPr txBox="1"/>
          <p:nvPr/>
        </p:nvSpPr>
        <p:spPr>
          <a:xfrm>
            <a:off x="8321040" y="50566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3090, new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9372600" y="5056632"/>
            <a:ext cx="2130552" cy="219456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9372600" y="50566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~2,800</a:t>
            </a:r>
            <a:endParaRPr lang="en-US" sz="1100"/>
          </a:p>
        </p:txBody>
      </p:sp>
      <p:sp>
        <p:nvSpPr>
          <p:cNvPr id="53" name="Text 51"/>
          <p:cNvSpPr txBox="1"/>
          <p:nvPr/>
        </p:nvSpPr>
        <p:spPr>
          <a:xfrm>
            <a:off x="8321040" y="5330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3090, used</a:t>
            </a:r>
            <a:endParaRPr lang="en-US" sz="1100"/>
          </a:p>
        </p:txBody>
      </p:sp>
      <p:sp>
        <p:nvSpPr>
          <p:cNvPr id="54" name="Shape 52"/>
          <p:cNvSpPr/>
          <p:nvPr/>
        </p:nvSpPr>
        <p:spPr>
          <a:xfrm>
            <a:off x="9372600" y="5330952"/>
            <a:ext cx="837003" cy="219456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10209603" y="5330952"/>
            <a:ext cx="304365" cy="21945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 txBox="1"/>
          <p:nvPr/>
        </p:nvSpPr>
        <p:spPr>
          <a:xfrm>
            <a:off x="10587119" y="5330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1,100–1,500</a:t>
            </a:r>
            <a:endParaRPr lang="en-US" sz="1100"/>
          </a:p>
        </p:txBody>
      </p:sp>
      <p:sp>
        <p:nvSpPr>
          <p:cNvPr id="57" name="Text 55"/>
          <p:cNvSpPr txBox="1"/>
          <p:nvPr/>
        </p:nvSpPr>
        <p:spPr>
          <a:xfrm>
            <a:off x="8321040" y="560527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budget</a:t>
            </a:r>
            <a:endParaRPr lang="en-US" sz="1100"/>
          </a:p>
        </p:txBody>
      </p:sp>
      <p:sp>
        <p:nvSpPr>
          <p:cNvPr id="58" name="Shape 56"/>
          <p:cNvSpPr/>
          <p:nvPr/>
        </p:nvSpPr>
        <p:spPr>
          <a:xfrm>
            <a:off x="9372600" y="5605272"/>
            <a:ext cx="760911" cy="21945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9372600" y="5605272"/>
            <a:ext cx="68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/>
          </a:p>
        </p:txBody>
      </p:sp>
      <p:sp>
        <p:nvSpPr>
          <p:cNvPr id="60" name="Shape 58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62" name="Shape 60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64" name="Shape 62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66" name="Shape 64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68" name="Shape 66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70" name="Shape 68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72" name="Shape 70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74" name="Shape 72"/>
          <p:cNvSpPr/>
          <p:nvPr/>
        </p:nvSpPr>
        <p:spPr>
          <a:xfrm>
            <a:off x="10299573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76" name="Text 74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ZONGZHE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close the grasp, drive the base, query the graph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explore with gaze, to end-to-end trials in March 2027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39" y="1874519"/>
            <a:ext cx="5117643" cy="1890000"/>
          </a:xfrm>
          <a:prstGeom prst="roundRect">
            <a:avLst>
              <a:gd name="adj" fmla="val 408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EF8D39C-9977-1F1E-BC6D-75243ECD8F6D}"/>
              </a:ext>
            </a:extLst>
          </p:cNvPr>
          <p:cNvGrpSpPr/>
          <p:nvPr/>
        </p:nvGrpSpPr>
        <p:grpSpPr>
          <a:xfrm>
            <a:off x="730688" y="1987503"/>
            <a:ext cx="274320" cy="274320"/>
            <a:chOff x="666206" y="1978794"/>
            <a:chExt cx="274320" cy="274320"/>
          </a:xfrm>
        </p:grpSpPr>
        <p:sp>
          <p:nvSpPr>
            <p:cNvPr id="9" name="Shape 7"/>
            <p:cNvSpPr/>
            <p:nvPr/>
          </p:nvSpPr>
          <p:spPr>
            <a:xfrm>
              <a:off x="666206" y="1978794"/>
              <a:ext cx="274320" cy="274320"/>
            </a:xfrm>
            <a:prstGeom prst="ellipse">
              <a:avLst/>
            </a:prstGeom>
            <a:solidFill>
              <a:srgbClr val="0068B5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666206" y="1978794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100"/>
            </a:p>
          </p:txBody>
        </p:sp>
      </p:grpSp>
      <p:sp>
        <p:nvSpPr>
          <p:cNvPr id="43" name="Shape 41"/>
          <p:cNvSpPr/>
          <p:nvPr/>
        </p:nvSpPr>
        <p:spPr>
          <a:xfrm>
            <a:off x="594360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 txBox="1"/>
          <p:nvPr/>
        </p:nvSpPr>
        <p:spPr>
          <a:xfrm>
            <a:off x="548640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1980819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1935099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3367278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 txBox="1"/>
          <p:nvPr/>
        </p:nvSpPr>
        <p:spPr>
          <a:xfrm>
            <a:off x="3321558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4753737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708017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6140196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6094476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/>
          </a:p>
        </p:txBody>
      </p:sp>
      <p:sp>
        <p:nvSpPr>
          <p:cNvPr id="53" name="Shape 51"/>
          <p:cNvSpPr/>
          <p:nvPr/>
        </p:nvSpPr>
        <p:spPr>
          <a:xfrm>
            <a:off x="7526655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 txBox="1"/>
          <p:nvPr/>
        </p:nvSpPr>
        <p:spPr>
          <a:xfrm>
            <a:off x="7480935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/>
          </a:p>
        </p:txBody>
      </p:sp>
      <p:sp>
        <p:nvSpPr>
          <p:cNvPr id="55" name="Shape 53"/>
          <p:cNvSpPr/>
          <p:nvPr/>
        </p:nvSpPr>
        <p:spPr>
          <a:xfrm>
            <a:off x="8913114" y="6400800"/>
            <a:ext cx="1295019" cy="13716"/>
          </a:xfrm>
          <a:prstGeom prst="rect">
            <a:avLst/>
          </a:prstGeom>
          <a:solidFill>
            <a:srgbClr val="D7DE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 txBox="1"/>
          <p:nvPr/>
        </p:nvSpPr>
        <p:spPr>
          <a:xfrm>
            <a:off x="8867394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10299573" y="6400800"/>
            <a:ext cx="1295019" cy="36576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10253853" y="6473952"/>
            <a:ext cx="1386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/>
          </a:p>
        </p:txBody>
      </p:sp>
      <p:sp>
        <p:nvSpPr>
          <p:cNvPr id="59" name="Text 57"/>
          <p:cNvSpPr txBox="1"/>
          <p:nvPr/>
        </p:nvSpPr>
        <p:spPr>
          <a:xfrm>
            <a:off x="11091672" y="6035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AB3E186D-AB5E-C7BE-A8AC-0E666E45F88B}"/>
              </a:ext>
            </a:extLst>
          </p:cNvPr>
          <p:cNvSpPr/>
          <p:nvPr/>
        </p:nvSpPr>
        <p:spPr>
          <a:xfrm>
            <a:off x="5952042" y="1874519"/>
            <a:ext cx="5117643" cy="1890000"/>
          </a:xfrm>
          <a:prstGeom prst="roundRect">
            <a:avLst>
              <a:gd name="adj" fmla="val 408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53B69DA4-8EC5-6B4B-03DE-518D1D1DB7AE}"/>
              </a:ext>
            </a:extLst>
          </p:cNvPr>
          <p:cNvSpPr/>
          <p:nvPr/>
        </p:nvSpPr>
        <p:spPr>
          <a:xfrm>
            <a:off x="548639" y="4007880"/>
            <a:ext cx="5117643" cy="1890000"/>
          </a:xfrm>
          <a:prstGeom prst="roundRect">
            <a:avLst>
              <a:gd name="adj" fmla="val 408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5">
            <a:extLst>
              <a:ext uri="{FF2B5EF4-FFF2-40B4-BE49-F238E27FC236}">
                <a16:creationId xmlns:a16="http://schemas.microsoft.com/office/drawing/2014/main" id="{05B49BB2-50AD-827C-BC2A-90C813F7CC0D}"/>
              </a:ext>
            </a:extLst>
          </p:cNvPr>
          <p:cNvSpPr/>
          <p:nvPr/>
        </p:nvSpPr>
        <p:spPr>
          <a:xfrm>
            <a:off x="5952042" y="4007880"/>
            <a:ext cx="5117643" cy="1890000"/>
          </a:xfrm>
          <a:prstGeom prst="roundRect">
            <a:avLst>
              <a:gd name="adj" fmla="val 408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179742" y="2011680"/>
            <a:ext cx="28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OBJECT</a:t>
            </a:r>
            <a:endParaRPr lang="en-US" sz="1100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81DE4043-1855-A0C3-1554-C101CAB92575}"/>
              </a:ext>
            </a:extLst>
          </p:cNvPr>
          <p:cNvSpPr txBox="1"/>
          <p:nvPr/>
        </p:nvSpPr>
        <p:spPr>
          <a:xfrm>
            <a:off x="1179742" y="4142710"/>
            <a:ext cx="28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RECLARIFICATION NODE</a:t>
            </a:r>
            <a:endParaRPr lang="en-US" sz="110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BE4BCC97-9DF2-E369-9BB7-CAF55772E3EB}"/>
              </a:ext>
            </a:extLst>
          </p:cNvPr>
          <p:cNvSpPr txBox="1"/>
          <p:nvPr/>
        </p:nvSpPr>
        <p:spPr>
          <a:xfrm>
            <a:off x="6621460" y="4142710"/>
            <a:ext cx="28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10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74CB24F2-E35C-D41E-085D-08013C3995A3}"/>
              </a:ext>
            </a:extLst>
          </p:cNvPr>
          <p:cNvSpPr txBox="1"/>
          <p:nvPr/>
        </p:nvSpPr>
        <p:spPr>
          <a:xfrm>
            <a:off x="6621460" y="2011680"/>
            <a:ext cx="28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65F3890-8E02-FDC5-0DF3-2E0DA5CEF1AB}"/>
              </a:ext>
            </a:extLst>
          </p:cNvPr>
          <p:cNvGrpSpPr/>
          <p:nvPr/>
        </p:nvGrpSpPr>
        <p:grpSpPr>
          <a:xfrm>
            <a:off x="6133780" y="1987503"/>
            <a:ext cx="274320" cy="274320"/>
            <a:chOff x="83312" y="2654808"/>
            <a:chExt cx="274320" cy="274320"/>
          </a:xfrm>
        </p:grpSpPr>
        <p:sp>
          <p:nvSpPr>
            <p:cNvPr id="12" name="Shape 10"/>
            <p:cNvSpPr/>
            <p:nvPr/>
          </p:nvSpPr>
          <p:spPr>
            <a:xfrm>
              <a:off x="83312" y="2654808"/>
              <a:ext cx="274320" cy="274320"/>
            </a:xfrm>
            <a:prstGeom prst="ellipse">
              <a:avLst/>
            </a:prstGeom>
            <a:solidFill>
              <a:srgbClr val="0068B5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83312" y="265480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10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0ADC964-7385-8177-84E5-8641EDF03CCA}"/>
              </a:ext>
            </a:extLst>
          </p:cNvPr>
          <p:cNvGrpSpPr/>
          <p:nvPr/>
        </p:nvGrpSpPr>
        <p:grpSpPr>
          <a:xfrm>
            <a:off x="734568" y="4119850"/>
            <a:ext cx="274320" cy="274320"/>
            <a:chOff x="83312" y="3066288"/>
            <a:chExt cx="274320" cy="274320"/>
          </a:xfrm>
        </p:grpSpPr>
        <p:sp>
          <p:nvSpPr>
            <p:cNvPr id="15" name="Shape 13"/>
            <p:cNvSpPr/>
            <p:nvPr/>
          </p:nvSpPr>
          <p:spPr>
            <a:xfrm>
              <a:off x="83312" y="3066288"/>
              <a:ext cx="274320" cy="274320"/>
            </a:xfrm>
            <a:prstGeom prst="ellipse">
              <a:avLst/>
            </a:prstGeom>
            <a:solidFill>
              <a:srgbClr val="0068B5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83312" y="306628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10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3A09792-F48D-E8F5-E789-EF2FAA4C4A75}"/>
              </a:ext>
            </a:extLst>
          </p:cNvPr>
          <p:cNvGrpSpPr/>
          <p:nvPr/>
        </p:nvGrpSpPr>
        <p:grpSpPr>
          <a:xfrm>
            <a:off x="6133780" y="4119963"/>
            <a:ext cx="274320" cy="274320"/>
            <a:chOff x="83312" y="3477768"/>
            <a:chExt cx="274320" cy="274320"/>
          </a:xfrm>
        </p:grpSpPr>
        <p:sp>
          <p:nvSpPr>
            <p:cNvPr id="18" name="Shape 16"/>
            <p:cNvSpPr/>
            <p:nvPr/>
          </p:nvSpPr>
          <p:spPr>
            <a:xfrm>
              <a:off x="83312" y="3477768"/>
              <a:ext cx="274320" cy="274320"/>
            </a:xfrm>
            <a:prstGeom prst="ellipse">
              <a:avLst/>
            </a:prstGeom>
            <a:solidFill>
              <a:srgbClr val="0068B5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83312" y="3477768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100"/>
            </a:p>
          </p:txBody>
        </p:sp>
      </p:grpSp>
      <p:sp>
        <p:nvSpPr>
          <p:cNvPr id="70" name="Text 9">
            <a:extLst>
              <a:ext uri="{FF2B5EF4-FFF2-40B4-BE49-F238E27FC236}">
                <a16:creationId xmlns:a16="http://schemas.microsoft.com/office/drawing/2014/main" id="{29C6C90B-0CB2-A90D-F0EC-769367E6BDCE}"/>
              </a:ext>
            </a:extLst>
          </p:cNvPr>
          <p:cNvSpPr txBox="1"/>
          <p:nvPr/>
        </p:nvSpPr>
        <p:spPr>
          <a:xfrm>
            <a:off x="731520" y="2404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to the object and park within reach</a:t>
            </a:r>
            <a:endParaRPr lang="en-US" sz="140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219AD364-298B-2AB1-9FE2-E4A2C7548DA7}"/>
              </a:ext>
            </a:extLst>
          </p:cNvPr>
          <p:cNvSpPr txBox="1"/>
          <p:nvPr/>
        </p:nvSpPr>
        <p:spPr>
          <a:xfrm>
            <a:off x="6134923" y="2404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decides what happens next</a:t>
            </a:r>
            <a:endParaRPr lang="en-US" sz="1400"/>
          </a:p>
        </p:txBody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47300DA4-8B51-390C-FC6A-35A9359AEF87}"/>
              </a:ext>
            </a:extLst>
          </p:cNvPr>
          <p:cNvSpPr txBox="1"/>
          <p:nvPr/>
        </p:nvSpPr>
        <p:spPr>
          <a:xfrm>
            <a:off x="731520" y="4526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when the request is unclear</a:t>
            </a:r>
            <a:endParaRPr lang="en-US" sz="1400"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05D208E9-AC20-2853-459C-4858EE822F29}"/>
              </a:ext>
            </a:extLst>
          </p:cNvPr>
          <p:cNvSpPr txBox="1"/>
          <p:nvPr/>
        </p:nvSpPr>
        <p:spPr>
          <a:xfrm>
            <a:off x="731520" y="4864607"/>
            <a:ext cx="3383280" cy="88921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 LLM loop: search the graph, list candidates, ask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Ends with one object or a lead, at most 3 questions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Asked by phone. It never moves the robot</a:t>
            </a:r>
            <a:endParaRPr lang="en-US" sz="1200"/>
          </a:p>
        </p:txBody>
      </p:sp>
      <p:sp>
        <p:nvSpPr>
          <p:cNvPr id="84" name="Text 36">
            <a:extLst>
              <a:ext uri="{FF2B5EF4-FFF2-40B4-BE49-F238E27FC236}">
                <a16:creationId xmlns:a16="http://schemas.microsoft.com/office/drawing/2014/main" id="{262748EF-45B4-5C61-023A-77D261FA42F3}"/>
              </a:ext>
            </a:extLst>
          </p:cNvPr>
          <p:cNvSpPr txBox="1"/>
          <p:nvPr/>
        </p:nvSpPr>
        <p:spPr>
          <a:xfrm>
            <a:off x="6134923" y="4526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counted per phase</a:t>
            </a:r>
            <a:endParaRPr lang="en-US" sz="1400"/>
          </a:p>
        </p:txBody>
      </p:sp>
      <p:sp>
        <p:nvSpPr>
          <p:cNvPr id="90" name="Text 28">
            <a:extLst>
              <a:ext uri="{FF2B5EF4-FFF2-40B4-BE49-F238E27FC236}">
                <a16:creationId xmlns:a16="http://schemas.microsoft.com/office/drawing/2014/main" id="{AA3AB044-C670-1C78-D564-2C6F45CF2AA0}"/>
              </a:ext>
            </a:extLst>
          </p:cNvPr>
          <p:cNvSpPr txBox="1"/>
          <p:nvPr/>
        </p:nvSpPr>
        <p:spPr>
          <a:xfrm>
            <a:off x="6134923" y="4870867"/>
            <a:ext cx="3383280" cy="88921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run: speak, look, drive, grasp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Planted failures: does the right recovery fire?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Trials with look-alikes, then a recorded demo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endParaRPr lang="en-US" sz="120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70478F60-D03F-A98D-6E60-626A5969B3D7}"/>
              </a:ext>
            </a:extLst>
          </p:cNvPr>
          <p:cNvSpPr txBox="1"/>
          <p:nvPr/>
        </p:nvSpPr>
        <p:spPr>
          <a:xfrm>
            <a:off x="731520" y="2738628"/>
            <a:ext cx="3383280" cy="88921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graph's position becomes the approach goal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Park where the arm can reach the object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wrist camera re-finds it from above</a:t>
            </a:r>
            <a:endParaRPr lang="en-US" sz="1200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3C3559B1-63CE-69BE-914F-2A28CC22D654}"/>
              </a:ext>
            </a:extLst>
          </p:cNvPr>
          <p:cNvSpPr txBox="1"/>
          <p:nvPr/>
        </p:nvSpPr>
        <p:spPr>
          <a:xfrm>
            <a:off x="6134923" y="2741091"/>
            <a:ext cx="3383280" cy="88921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phase reports an outcome and a reason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 failure: next candidate, second view, or ask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only node that starts motion</a:t>
            </a:r>
            <a:endParaRPr lang="en-US" sz="1200"/>
          </a:p>
          <a:p>
            <a:pPr marL="0" indent="0">
              <a:lnSpc>
                <a:spcPct val="150000"/>
              </a:lnSpc>
              <a:buNone/>
            </a:pPr>
            <a:endParaRPr lang="en-US" sz="1200">
              <a:solidFill>
                <a:srgbClr val="4B55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up slides A1 to A10 follow.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868680"/>
            <a:ext cx="5285232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27064" y="7406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6227064" y="7406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 flipH="1">
            <a:off x="11311128" y="740664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1768328" y="740664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227064" y="5522976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 flipV="1">
            <a:off x="6227064" y="5065776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 flipH="1">
            <a:off x="11311128" y="5522976"/>
            <a:ext cx="457200" cy="914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 flipV="1">
            <a:off x="11768328" y="5065776"/>
            <a:ext cx="914" cy="45720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397621" y="2820924"/>
            <a:ext cx="621792" cy="621792"/>
          </a:xfrm>
          <a:prstGeom prst="ellipse">
            <a:avLst/>
          </a:prstGeom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8662797" y="3086100"/>
            <a:ext cx="91440" cy="91440"/>
          </a:xfrm>
          <a:prstGeom prst="ellipse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233029" y="3131820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8964549" y="3131820"/>
            <a:ext cx="219456" cy="914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708517" y="2656332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8708517" y="3387852"/>
            <a:ext cx="914" cy="219456"/>
          </a:xfrm>
          <a:prstGeom prst="line">
            <a:avLst/>
          </a:prstGeom>
          <a:noFill/>
          <a:ln w="3175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355080" y="411480"/>
            <a:ext cx="3182112" cy="292608"/>
          </a:xfrm>
          <a:prstGeom prst="roundRect">
            <a:avLst>
              <a:gd name="adj" fmla="val 15625"/>
            </a:avLst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6355080" y="41148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  ·  TOP VIEW OF THE LAB</a:t>
            </a:r>
            <a:endParaRPr lang="en-US" sz="1100"/>
          </a:p>
        </p:txBody>
      </p:sp>
      <p:sp>
        <p:nvSpPr>
          <p:cNvPr id="19" name="Text 16"/>
          <p:cNvSpPr txBox="1"/>
          <p:nvPr/>
        </p:nvSpPr>
        <p:spPr>
          <a:xfrm>
            <a:off x="6355080" y="565099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 A1 to A10 follow.</a:t>
            </a:r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/>
          </a:p>
        </p:txBody>
      </p:sp>
      <p:sp>
        <p:nvSpPr>
          <p:cNvPr id="21" name="Text 18"/>
          <p:cNvSpPr txBox="1"/>
          <p:nvPr/>
        </p:nvSpPr>
        <p:spPr>
          <a:xfrm>
            <a:off x="548640" y="13716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6000"/>
          </a:p>
        </p:txBody>
      </p:sp>
      <p:sp>
        <p:nvSpPr>
          <p:cNvPr id="22" name="Text 19"/>
          <p:cNvSpPr txBox="1"/>
          <p:nvPr/>
        </p:nvSpPr>
        <p:spPr>
          <a:xfrm>
            <a:off x="54864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it, name it, and the robot fetches that one.</a:t>
            </a:r>
            <a:endParaRPr lang="en-US" sz="1800"/>
          </a:p>
        </p:txBody>
      </p:sp>
      <p:sp>
        <p:nvSpPr>
          <p:cNvPr id="23" name="Text 20"/>
          <p:cNvSpPr txBox="1"/>
          <p:nvPr/>
        </p:nvSpPr>
        <p:spPr>
          <a:xfrm>
            <a:off x="548640" y="3291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Dion  ·  Sherman  ·  Zongzhe</a:t>
            </a:r>
            <a:endParaRPr lang="en-US" sz="1800"/>
          </a:p>
        </p:txBody>
      </p:sp>
      <p:sp>
        <p:nvSpPr>
          <p:cNvPr id="24" name="Text 21"/>
          <p:cNvSpPr txBox="1"/>
          <p:nvPr/>
        </p:nvSpPr>
        <p:spPr>
          <a:xfrm>
            <a:off x="54864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wiring, frames, matching, grasp options, map accuracy, limitations, plan, evaluation.</a:t>
            </a:r>
            <a:endParaRPr lang="en-US" sz="1300"/>
          </a:p>
        </p:txBody>
      </p:sp>
      <p:sp>
        <p:nvSpPr>
          <p:cNvPr id="25" name="Shape 22"/>
          <p:cNvSpPr/>
          <p:nvPr/>
        </p:nvSpPr>
        <p:spPr>
          <a:xfrm>
            <a:off x="548640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 txBox="1"/>
          <p:nvPr/>
        </p:nvSpPr>
        <p:spPr>
          <a:xfrm>
            <a:off x="548640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plan</a:t>
            </a:r>
            <a:endParaRPr lang="en-US" sz="1100"/>
          </a:p>
        </p:txBody>
      </p:sp>
      <p:sp>
        <p:nvSpPr>
          <p:cNvPr id="27" name="Shape 24"/>
          <p:cNvSpPr/>
          <p:nvPr/>
        </p:nvSpPr>
        <p:spPr>
          <a:xfrm>
            <a:off x="2258568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 txBox="1"/>
          <p:nvPr/>
        </p:nvSpPr>
        <p:spPr>
          <a:xfrm>
            <a:off x="2258568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/>
          </a:p>
        </p:txBody>
      </p:sp>
      <p:sp>
        <p:nvSpPr>
          <p:cNvPr id="29" name="Shape 26"/>
          <p:cNvSpPr/>
          <p:nvPr/>
        </p:nvSpPr>
        <p:spPr>
          <a:xfrm>
            <a:off x="3968496" y="5989320"/>
            <a:ext cx="1600200" cy="64008"/>
          </a:xfrm>
          <a:prstGeom prst="roundRect">
            <a:avLst>
              <a:gd name="adj" fmla="val 4285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 txBox="1"/>
          <p:nvPr/>
        </p:nvSpPr>
        <p:spPr>
          <a:xfrm>
            <a:off x="3968496" y="6108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NOT IN THE 20 MINUTES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FF7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WHOLE SYSTEM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514344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wiring today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97280" y="306324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frames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97280" y="342900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risks, failures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97280" y="379476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plan vs now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97280" y="416052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evaluation plan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97280" y="452628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tests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97280" y="489204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 inherited, what we fixed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337304" y="224028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FF7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GAZE, MATCHING AND GRASP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37304" y="2560320"/>
            <a:ext cx="3514344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337304" y="2697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885944" y="269748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rule and thresholds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337304" y="3063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885944" y="306324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Grasp filters, five options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337304" y="34290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885944" y="342900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gaze, not a class name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337304" y="3794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885944" y="379476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grasp sequence, step by step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337304" y="4160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885944" y="416052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across cameras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337304" y="4526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885944" y="452628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narrows grasp candidates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337304" y="4892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885944" y="489204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Gaze at the moment of speech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125968" y="224028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FF7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 AND MEMORY GRAPH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25968" y="2560320"/>
            <a:ext cx="3514344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8125968" y="2697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8674608" y="269748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FAST-LIVO2 defects, accuracy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8125968" y="3063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8674608" y="306324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graph vs HiCo-Nav's 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8125968" y="34290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A17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674608" y="342900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photo gate: 29 photos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8125968" y="3794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8674608" y="379476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LiDAR depth, occlusion filter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8125968" y="4160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674608" y="416052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 key, match radius sweep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125968" y="4526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8674608" y="452628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the graph is tested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8125968" y="4892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8674608" y="489204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 classes check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8125968" y="5257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8674608" y="525780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a 24 GB card would help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8125968" y="56235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8674608" y="5623560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Reclarification node (planned)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Topic-level wiring today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exactly is connected?” Only links that exist in code. Grey rows exist but have not run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§3.3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14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Voice: Silero VAD, faster-whisper, Qwen2.5-0.5B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aria_segmentation_client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/aria/audio/prompt (String)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(replay)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 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aria_segmentation_client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/aria/eye_tracking/gaze_estimate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(recording)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 and grasp segmentation clients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 service (one copy on GPU)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/segmentation/segment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aria_segmentation_client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grasp_segmentation_client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/grasp/target: word, then word plus reference crop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on replay (T8.9a)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aria_segmentation_client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grasp_state_machine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/manipulator/grasp_request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grasp_segmentation_client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grasp_state_machine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/object_centroid_2d (pixel plus depth)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anygrasp_detection_node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grasp_state_machine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/grasp_candidates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grasp_state_machine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MoveIt and rm_driver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arm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on the real arm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Livox MID-360, base D455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FAST-LIVO2, then fastlivo_odom_bridge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 to robot_base_link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live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fastlivo_odom_bridge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 Toolbox, mapping mode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to odom, /map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live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 Toolbox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tree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run on this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object_recognition_pipeline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object_approach_node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/manipulation/goal_pose (call commented out)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object_approach_node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/goal_pose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drive handdriven1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graph S0 to S13, then TargetFinder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built. Query 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A2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Coordinate frames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 grasp poses reach the arm?”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§6.7, §5.4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598932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548640" y="1783080"/>
            <a:ext cx="5989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/>
          </a:p>
        </p:txBody>
      </p:sp>
      <p:sp>
        <p:nvSpPr>
          <p:cNvPr id="12" name="Text 9"/>
          <p:cNvSpPr txBox="1"/>
          <p:nvPr/>
        </p:nvSpPr>
        <p:spPr>
          <a:xfrm>
            <a:off x="1147572" y="1755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/>
          </a:p>
        </p:txBody>
      </p:sp>
      <p:sp>
        <p:nvSpPr>
          <p:cNvPr id="13" name="Shape 10"/>
          <p:cNvSpPr/>
          <p:nvPr/>
        </p:nvSpPr>
        <p:spPr>
          <a:xfrm>
            <a:off x="1421892" y="1783080"/>
            <a:ext cx="67665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1421892" y="178308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2098548" y="1755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/>
          </a:p>
        </p:txBody>
      </p:sp>
      <p:sp>
        <p:nvSpPr>
          <p:cNvPr id="16" name="Shape 13"/>
          <p:cNvSpPr/>
          <p:nvPr/>
        </p:nvSpPr>
        <p:spPr>
          <a:xfrm>
            <a:off x="2372868" y="1783080"/>
            <a:ext cx="153162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2372868" y="1783080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robot_base_link</a:t>
            </a:r>
            <a:endParaRPr lang="en-US" sz="1200"/>
          </a:p>
        </p:txBody>
      </p:sp>
      <p:sp>
        <p:nvSpPr>
          <p:cNvPr id="18" name="Text 15"/>
          <p:cNvSpPr txBox="1"/>
          <p:nvPr/>
        </p:nvSpPr>
        <p:spPr>
          <a:xfrm>
            <a:off x="3904488" y="1755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/>
          </a:p>
        </p:txBody>
      </p:sp>
      <p:sp>
        <p:nvSpPr>
          <p:cNvPr id="19" name="Shape 16"/>
          <p:cNvSpPr/>
          <p:nvPr/>
        </p:nvSpPr>
        <p:spPr>
          <a:xfrm>
            <a:off x="4178808" y="1783080"/>
            <a:ext cx="1065276" cy="347472"/>
          </a:xfrm>
          <a:prstGeom prst="roundRect">
            <a:avLst>
              <a:gd name="adj" fmla="val 50000"/>
            </a:avLst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4178808" y="1783080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base_link</a:t>
            </a:r>
            <a:endParaRPr lang="en-US" sz="1200"/>
          </a:p>
        </p:txBody>
      </p:sp>
      <p:sp>
        <p:nvSpPr>
          <p:cNvPr id="21" name="Text 18"/>
          <p:cNvSpPr txBox="1"/>
          <p:nvPr/>
        </p:nvSpPr>
        <p:spPr>
          <a:xfrm>
            <a:off x="5244084" y="1755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/>
          </a:p>
        </p:txBody>
      </p:sp>
      <p:sp>
        <p:nvSpPr>
          <p:cNvPr id="22" name="Shape 19"/>
          <p:cNvSpPr/>
          <p:nvPr/>
        </p:nvSpPr>
        <p:spPr>
          <a:xfrm>
            <a:off x="5518404" y="1783080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 txBox="1"/>
          <p:nvPr/>
        </p:nvSpPr>
        <p:spPr>
          <a:xfrm>
            <a:off x="5518404" y="17830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Link1 to Link6</a:t>
            </a:r>
            <a:endParaRPr lang="en-US" sz="1200"/>
          </a:p>
        </p:txBody>
      </p:sp>
      <p:sp>
        <p:nvSpPr>
          <p:cNvPr id="24" name="Text 21"/>
          <p:cNvSpPr txBox="1"/>
          <p:nvPr/>
        </p:nvSpPr>
        <p:spPr>
          <a:xfrm>
            <a:off x="6972300" y="1755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/>
          </a:p>
        </p:txBody>
      </p:sp>
      <p:sp>
        <p:nvSpPr>
          <p:cNvPr id="25" name="Shape 22"/>
          <p:cNvSpPr/>
          <p:nvPr/>
        </p:nvSpPr>
        <p:spPr>
          <a:xfrm>
            <a:off x="7246620" y="1783080"/>
            <a:ext cx="1220724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 txBox="1"/>
          <p:nvPr/>
        </p:nvSpPr>
        <p:spPr>
          <a:xfrm>
            <a:off x="7246620" y="1783080"/>
            <a:ext cx="12207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camera_link</a:t>
            </a:r>
            <a:endParaRPr lang="en-US" sz="1200"/>
          </a:p>
        </p:txBody>
      </p:sp>
      <p:sp>
        <p:nvSpPr>
          <p:cNvPr id="27" name="Text 24"/>
          <p:cNvSpPr txBox="1"/>
          <p:nvPr/>
        </p:nvSpPr>
        <p:spPr>
          <a:xfrm>
            <a:off x="8467344" y="1755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/>
          </a:p>
        </p:txBody>
      </p:sp>
      <p:sp>
        <p:nvSpPr>
          <p:cNvPr id="28" name="Shape 25"/>
          <p:cNvSpPr/>
          <p:nvPr/>
        </p:nvSpPr>
        <p:spPr>
          <a:xfrm>
            <a:off x="8741664" y="1783080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 txBox="1"/>
          <p:nvPr/>
        </p:nvSpPr>
        <p:spPr>
          <a:xfrm>
            <a:off x="8741664" y="178308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camera_color_optical_frame</a:t>
            </a:r>
            <a:endParaRPr lang="en-US" sz="1200"/>
          </a:p>
        </p:txBody>
      </p:sp>
      <p:sp>
        <p:nvSpPr>
          <p:cNvPr id="30" name="Text 27"/>
          <p:cNvSpPr txBox="1"/>
          <p:nvPr/>
        </p:nvSpPr>
        <p:spPr>
          <a:xfrm>
            <a:off x="548640" y="22128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livox_frame under robot_base_link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91672" cy="2746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to child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by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or note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to odom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 Toolbox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Nav2 plans in this map frame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 to robot_base_link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driver, or the FAST-LIVO2 bridge (odom_source:=fastlivo)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Bridge: T_odom_base(t) = Tb x P0^-1 x P(t) x Tb^-1, Tb = (0.191, 0.02329, 0.15588) m. Refuses to start above 2° start tilt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robot_base_link to base_link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(arm mount)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(0.18, 0, 0.48) m, yaw 180°. Measured, tf2_echo matched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robot_base_link to livox_frame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mount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base_link through Link1 to 6 to camera_link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URDF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camera to arm calibrated (Dion, 24 Oct)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camera_link to camera_color_optical_frame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RealSense driver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AnyGrasp candidates arrive in this frame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548640" y="55321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P2 and T7.1: the memory graph stores positions in FAST-LIVO2's camera_init frame, while Nav2 drives in SLAM Toolbox's map frame. How graph positions reach map at run time is a design question, not a defect.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A3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Matching rule and thresholds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“Why 0.56? Is CLIP cosine a probability?”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§5.4, §6.4, §6.6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5454396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31520" y="1892808"/>
            <a:ext cx="51800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/>
          </a:p>
        </p:txBody>
      </p:sp>
      <p:sp>
        <p:nvSpPr>
          <p:cNvPr id="12" name="Text 9"/>
          <p:cNvSpPr txBox="1"/>
          <p:nvPr/>
        </p:nvSpPr>
        <p:spPr>
          <a:xfrm>
            <a:off x="731520" y="2148840"/>
            <a:ext cx="5134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between each wrist mask crop (box plus 20 px) and the reference crop. Cutoff 0.56, tuned on 20 pairs (T8.7). Masks within 0.01 of the best count as a tie, and a tie returns no match. Same model in both places: open_clip ViT-B-32 laion2b_s34b_b79k.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6185916" y="1783080"/>
            <a:ext cx="5454396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6368796" y="1892808"/>
            <a:ext cx="51800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PROBABILITY</a:t>
            </a:r>
            <a:endParaRPr lang="en-US" sz="1100"/>
          </a:p>
        </p:txBody>
      </p:sp>
      <p:sp>
        <p:nvSpPr>
          <p:cNvPr id="15" name="Text 12"/>
          <p:cNvSpPr txBox="1"/>
          <p:nvPr/>
        </p:nvSpPr>
        <p:spPr>
          <a:xfrm>
            <a:off x="6368796" y="2148840"/>
            <a:ext cx="5134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cosine is not calibrated. Thresholds are empirical: 0.56 for the matcher, 0.6 on the graph's 1.5 x overlap + 0.5 x appearance score. float16 shifts a vector by up to 0.0039 across batch sizes. Crop padding differs between glasses, wrist and graph.</a:t>
            </a:r>
            <a:endParaRPr lang="en-US" sz="130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1672" cy="208483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handling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Glasses mask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 vote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 needs half the votes, else word only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mask (matcher)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cosine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Cutoff 0.56, wrist tie returns no match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mask (grasp)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cosine when a reference exists (T8.9a), else SAM 3 score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Cutoff 0.56 and no tie, else nothing published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association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overlap plus CLIP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over 0.6, greedy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query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text vs image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only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carries a confidence forward to the next (see A6).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A4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Grasp filters and the five options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“Why not just lower the score floor?”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§5.5. Options: DION_PROGRESS_REPORT_2026-10.md §7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31520" y="18928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 EVERY CANDIDATE</a:t>
            </a:r>
            <a:endParaRPr lang="en-US" sz="1100"/>
          </a:p>
        </p:txBody>
      </p:sp>
      <p:sp>
        <p:nvSpPr>
          <p:cNvPr id="12" name="Text 9"/>
          <p:cNvSpPr txBox="1"/>
          <p:nvPr/>
        </p:nvSpPr>
        <p:spPr>
          <a:xfrm>
            <a:off x="731520" y="219456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 3 mask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approach cone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at least 0.3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under 68 mm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Fingertips at most 45 mm past the near face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stable for 5 frames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180° twins, the smaller wrist turn (T1.33)</a:t>
            </a:r>
            <a:endParaRPr lang="en-US" sz="130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783080"/>
          <a:ext cx="7571232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Grasp from the view pose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AnyGrasp once at 0.4 to 0.5 m with the whole box in view, one planned motion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the pieces exist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Fused views (T1.47)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views in one cloud, grasp on that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retest owed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New AnyGrasp SDK (T1.45)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mask and angle steering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on licence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Closed-loop tracking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AnyGrasp's tracking mode updates the grasp while the arm moves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Medium, old node parked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Two-phase (shelved, T1.33)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just before the depth blind zone, set the angle, move straight in and close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069080" y="4800600"/>
            <a:ext cx="7571232" cy="1280160"/>
          </a:xfrm>
          <a:prstGeom prst="roundRect">
            <a:avLst>
              <a:gd name="adj" fmla="val 714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 txBox="1"/>
          <p:nvPr/>
        </p:nvSpPr>
        <p:spPr>
          <a:xfrm>
            <a:off x="4251960" y="4910328"/>
            <a:ext cx="7296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FLOOR IS NOT THE FIX</a:t>
            </a:r>
            <a:endParaRPr lang="en-US" sz="1100"/>
          </a:p>
        </p:txBody>
      </p:sp>
      <p:sp>
        <p:nvSpPr>
          <p:cNvPr id="16" name="Text 12"/>
          <p:cNvSpPr txBox="1"/>
          <p:nvPr/>
        </p:nvSpPr>
        <p:spPr>
          <a:xfrm>
            <a:off x="4251960" y="5148072"/>
            <a:ext cx="7251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top-down grasp scores at most 0.25, but the problem is the view. The 30° cone around the camera axis dropped every top-down grasp, because the camera axis is 44° from vertical. AnyGrasp was also used against its README: masked points only, 0.10 m width.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A5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FAST-LIVO2 port defects and mid-route accuracy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 you know the map is right?”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§8.4. SHERMAN_PROGRESS_REPORT_2026-10.md §9.3, §11.4, §11.5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8288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(found by reading the source, confirmed against a control run)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fix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gate cannot act (F2): blind_sqr never assigned, the port dropped upstream's 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19,968 points per scan, the full packet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9,607. Removed 52.06 % against 51.84 % audited zero-range points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to IMU offset has the wrong sign (F3)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10.2 cm of geometric inconsistency in every replay before 19 Oct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 carry (-0.011, -0.02329, 0.04412) m. handdriven1 recorded after the fix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Voxel key mismatch: insertion and retrieval round negative coordinates differently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hits 1,392,458 vs 1,878,707 shadow hits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match, 1,855,269. Retrieval points 112,980 to 128,385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88620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731520" y="399592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MID-ROUTE ACCURACY (T3.5F)</a:t>
            </a:r>
            <a:endParaRPr lang="en-US" sz="1100"/>
          </a:p>
        </p:txBody>
      </p:sp>
      <p:sp>
        <p:nvSpPr>
          <p:cNvPr id="13" name="Text 9"/>
          <p:cNvSpPr txBox="1"/>
          <p:nvPr/>
        </p:nvSpPr>
        <p:spPr>
          <a:xfrm>
            <a:off x="731520" y="4251960"/>
            <a:ext cx="5349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6.7 cm (run 1) and 6.5 cm (run 2) for the whole route, against the handdriven1 map, 0.15 s lag removed. The reference carries about 7 cm of its own error.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mapper stamps its pose about 0.15 s late: surfaces smear about 4 cm at 0.28 m/s. Fix prepared, off by default.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marks did not close as ground truth. A tape-measured check is owed.</a:t>
            </a:r>
            <a:endParaRPr lang="en-US" sz="1200"/>
          </a:p>
        </p:txBody>
      </p:sp>
      <p:pic>
        <p:nvPicPr>
          <p:cNvPr id="14" name="Image 0" descr="Mid-route position error against time for two run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3886200"/>
            <a:ext cx="5193792" cy="2194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A6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Limitations (1 of 3): confirmed in the code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fails today?” Most are links the plan schedules for later milestones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§9.1. T7.1, T11.2, T12.3 in task-tree.html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548640" y="1783080"/>
          <a:ext cx="11091672" cy="41148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implication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wrong gaze pick becomes a confident reference (at 1.5 m the reference was the mat)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arm would go for the wrong box. T2.24 refuses weak gaze picks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/manipulation/goal_pose has no live publisher (inherited)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can start navigation to an object yet. T7.1, the ApproachObject action, will call Nav2 directly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graph query service, no T7.1 node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graph cannot drive the robot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gaze-target trigger on graph objects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exploring robot cannot tell it has found the target. Glasses vs base-camera features untested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built offline from a hand-pushed recording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live graph. No depth camera data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calibration between any cameras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positions and the gaze ray carry unknown rotation error, about 6.7 px per degree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Software-only stops on arm and base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hardware test needs two people and the power button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automatic grasp success check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judged by people. Planned: the grasp reports an outcome (T11.2) and the wrist checks the target (T12.3), so the orchestrator knows when to retry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A6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Limitations (2 of 3): risks when the parts join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could break when the parts join?”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§9.3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23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watch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crosses a stage boundary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wrong gaze pick gives a confident reference, a wrong graph hit a goal, a wrong wrist mask a grasp. The matcher caught one by luck of score (0.51 vs 0.56)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mismatch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20 px glasses crop against the graph's relative padding, when the gaze match (P3) lands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of graph positions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camera_init against Nav2's map frame, to settle when P2 and T7.1 are built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Standoff vs reach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m camera standoff against the 35 to 46 cm tested grasp band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contention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 service, batched graph SAM 3 (up to 10.3 GiB), AnyGrasp, CLIP, Whisper, two Qwen models on one 16 GB card. Never run together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s pose lag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pairing a scan with a pose by stamp, including graph depth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Viewpoint change between graph and wrist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features from the base camera, reference from the glasses, confirmation from the wrist. Glasses to base camera untested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A6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Limitations (3 of 3): observed failures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has gone wrong on hardware or data?”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§9.2. Lab visitors' faces appear in the coloured map: re-render before any external showing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47288"/>
        </p:xfrm>
        <a:graphic>
          <a:graphicData uri="http://schemas.openxmlformats.org/drawingml/2006/table">
            <a:tbl>
              <a:tblPr/>
              <a:tblGrid>
                <a:gridCol w="694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AnyGrasp's confident grasps go across the too-wide face. Fit check passes edge slices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Wrist, 0.21 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T1.44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OK-Robot trials 0 of 4: one pushed the box, two stuck, one found nothing in 3 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arm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T1.44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spun 180° and knocked the box off (fixed)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AnyGrasp grasp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T1.33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wrist twist (j4 146°, j5 29°, j6 274°)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AnyGrasp grasp 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T1.40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Look-alike boxes: 148 of 180, and 6 of 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T8.5, T8.8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 landed on the mat stack at 1.5 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Keypoint matching 0 of 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camera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T8.4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Mapper teardown aborts 2 of 4. LiDAR driver SIGBUS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S§10.3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 flap caused 8.1 s and 15.1 s IMU time jumps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Base, live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T3.5d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box silent hangs (6 Oct, 20 Oct)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box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S§15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 walls: about 42 % of 5 cm map points are ghosts outside the glass box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S§15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 door and both computer towers missed in every graph setting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Z§3.5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A7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 September plan vs now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does this compare with your original plan?”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1cde0ec:docs/PROJECT_PLAN.md §5 and §6 headings. COMBINED_PROGRESS_REPORT_2026-10.md §0.2, §0.6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696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 plan window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(actual to 24 Oct, forecast end)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 Everyone can build and run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to 27 Sep 2026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24 Sep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time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The arm picks something up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Oct to 1 Nov 2026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21 Sep. Forecast 8 Nov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one week later (AnyGrasp)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Voice and gaze reach the arm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Oct 2026 to 3 Jan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8 Oct. Forecast 10 Jan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early, ends about a week later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The base navigates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Oct to 27 Dec 2026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14 Sep. Forecast 10 Jan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weeks later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Closed loop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Dec 2026 to 17 Jan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11 to 31 Jan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weeks later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Calibrated base camera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Oct 2026 to 17 Jan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16 Sep. Forecast 24 Jan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week later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Memory graph offline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Dec 2026 to 7 Feb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21 Sep. Forecast 31 Jan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week earlier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 The graph drives the robot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28 Feb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18 Jan to 28 Feb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start earlier, end unchanged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 Gaze picks the instance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Feb to 14 Mar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19 Oct. Forecast 14 Mar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early, end unchanged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Frontier scoring (optional)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Nov 2026 to 21 Feb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started. 18 Jan to 21 Feb if kept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on the cut list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 Demonstration and paper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21 Mar 2027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1 to 21 Mar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A8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 Why gaze, not just a class name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“Isn't identical-object picking niche?”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§0.3 (D§5.5). CLIP values: §8.5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77240" y="17830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objects are the hardest test case, not the pitch.  </a:t>
            </a:r>
            <a:r>
              <a:rPr lang="en-US" sz="15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is knowing where the user is looking in the robot's own 3D space.</a:t>
            </a:r>
            <a:endParaRPr lang="en-US" sz="150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1109167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85800" y="2834640"/>
            <a:ext cx="393192" cy="39319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02" y="2921142"/>
            <a:ext cx="220188" cy="2201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4440" y="2743200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objects</a:t>
            </a:r>
            <a:endParaRPr lang="en-US" sz="1400"/>
          </a:p>
        </p:txBody>
      </p:sp>
      <p:sp>
        <p:nvSpPr>
          <p:cNvPr id="16" name="Text 12"/>
          <p:cNvSpPr txBox="1"/>
          <p:nvPr/>
        </p:nvSpPr>
        <p:spPr>
          <a:xfrm>
            <a:off x="5120640" y="2743200"/>
            <a:ext cx="6382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chairs of the same model score 0.81 to 0.85 in CLIP, close to the same chair at 0.93</a:t>
            </a:r>
            <a:endParaRPr lang="en-US" sz="1300"/>
          </a:p>
        </p:txBody>
      </p:sp>
      <p:sp>
        <p:nvSpPr>
          <p:cNvPr id="17" name="Shape 13"/>
          <p:cNvSpPr/>
          <p:nvPr/>
        </p:nvSpPr>
        <p:spPr>
          <a:xfrm>
            <a:off x="548640" y="3410712"/>
            <a:ext cx="1109167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85800" y="3502152"/>
            <a:ext cx="393192" cy="39319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2" y="3588654"/>
            <a:ext cx="220188" cy="2201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4440" y="3410712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hidden objects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5120640" y="3410712"/>
            <a:ext cx="6382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may see only part of the object the user sees</a:t>
            </a:r>
            <a:endParaRPr lang="en-US" sz="1300"/>
          </a:p>
        </p:txBody>
      </p:sp>
      <p:sp>
        <p:nvSpPr>
          <p:cNvPr id="22" name="Shape 17"/>
          <p:cNvSpPr/>
          <p:nvPr/>
        </p:nvSpPr>
        <p:spPr>
          <a:xfrm>
            <a:off x="548640" y="4078224"/>
            <a:ext cx="1109167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85800" y="4169664"/>
            <a:ext cx="393192" cy="39319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02" y="4256166"/>
            <a:ext cx="220188" cy="2201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4078224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image features</a:t>
            </a:r>
            <a:endParaRPr lang="en-US" sz="1400"/>
          </a:p>
        </p:txBody>
      </p:sp>
      <p:sp>
        <p:nvSpPr>
          <p:cNvPr id="26" name="Text 20"/>
          <p:cNvSpPr txBox="1"/>
          <p:nvPr/>
        </p:nvSpPr>
        <p:spPr>
          <a:xfrm>
            <a:off x="5120640" y="4078224"/>
            <a:ext cx="6382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alone is not a reliable identity</a:t>
            </a:r>
            <a:endParaRPr lang="en-US" sz="1300"/>
          </a:p>
        </p:txBody>
      </p:sp>
      <p:sp>
        <p:nvSpPr>
          <p:cNvPr id="27" name="Shape 21"/>
          <p:cNvSpPr/>
          <p:nvPr/>
        </p:nvSpPr>
        <p:spPr>
          <a:xfrm>
            <a:off x="548640" y="4745736"/>
            <a:ext cx="1109167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685800" y="4837176"/>
            <a:ext cx="393192" cy="39319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302" y="4923678"/>
            <a:ext cx="220188" cy="22018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4745736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does not see what the user sees</a:t>
            </a:r>
            <a:endParaRPr lang="en-US" sz="1400"/>
          </a:p>
        </p:txBody>
      </p:sp>
      <p:sp>
        <p:nvSpPr>
          <p:cNvPr id="31" name="Text 24"/>
          <p:cNvSpPr txBox="1"/>
          <p:nvPr/>
        </p:nvSpPr>
        <p:spPr>
          <a:xfrm>
            <a:off x="5120640" y="4745736"/>
            <a:ext cx="6382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camera is at knee height, the glasses at eye level</a:t>
            </a:r>
            <a:endParaRPr lang="en-US" sz="1300"/>
          </a:p>
        </p:txBody>
      </p:sp>
      <p:sp>
        <p:nvSpPr>
          <p:cNvPr id="32" name="Shape 25"/>
          <p:cNvSpPr/>
          <p:nvPr/>
        </p:nvSpPr>
        <p:spPr>
          <a:xfrm>
            <a:off x="548640" y="5413248"/>
            <a:ext cx="11091672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685800" y="5504688"/>
            <a:ext cx="393192" cy="393192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302" y="5591190"/>
            <a:ext cx="220188" cy="22018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34440" y="541324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use</a:t>
            </a:r>
            <a:endParaRPr lang="en-US" sz="1400"/>
          </a:p>
        </p:txBody>
      </p:sp>
      <p:sp>
        <p:nvSpPr>
          <p:cNvPr id="36" name="Text 28"/>
          <p:cNvSpPr txBox="1"/>
          <p:nvPr/>
        </p:nvSpPr>
        <p:spPr>
          <a:xfrm>
            <a:off x="5120640" y="5413248"/>
            <a:ext cx="6382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who can look but cannot easily point or speak, among mugs, pill bottles and cans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A9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 End-to-end evaluation plan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will you measure the final system?” Today every measurement is per stage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§11. Recovery row: PROJECT_PLAN.md §5.1, M11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548640" y="1783080"/>
          <a:ext cx="11091672" cy="422452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Glasses target accuracy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crop is the intended object, scenes with 2 to 4 objects at 1 to 3 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glasses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confirmation accuracy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Matcher picks the intended object, with and without look-alikes. Refusals counted apart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item 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acceptance rate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object accepted, per stage (glasses, graph, wrist)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trials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M2, M8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target retrieval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hit lands on the intended marked object, and distance to 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Gaze-target trigger accuracy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robot stops exploring at the intended object. Wrong stops counted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discovery and search distance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found, and distance driven before the target is matched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T7.5, T7.6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gaze (stretch)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trials, voice only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T8.11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Drive-to-point repeatability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drives, landing error, 10 cm circle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T3.6, T5.8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 success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stops with the object inside the grasp band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 success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12-trial grid, pass bar 9 of 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T1.35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success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Speak, look, drive, grasp. Counted only when the intended object is lifted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above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M4, M10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Per-stage timing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99th percentile per stage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failures that end safely instead of a wrong grasp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T11.10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A10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 Milestone tests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 you know a milestone is done?”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COMBINED_PROGRESS_REPORT_2026-10.md §0.2. PROJECT_PLAN.md §5.1 (M11, M12)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48640" y="1783080"/>
          <a:ext cx="11091672" cy="433425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means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can build and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people other than Dion clone, build and pass the bench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Zongzhe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picks something up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grasp attempts on a box, success rate recorded, stop verified first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and gaze reach the arm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boxes, the arm picks the one you looked at, 3 times in 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navigates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Map, localisation, ten drives to a point with error recorded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Sherman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loop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recorded run: speak, look, drive, grasp, per-stage timing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base camera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points land on the right objects in the camera image, pose error as a number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Sherman mount, Dion calibration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graph offline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Objects from a recorded drive, no duplicates, a sentence query returns the right one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Zongzhe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drives the robot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out of view: the robot explores, finds the user, builds the graph live, drives to 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 picks the instance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gaze match ends exploration. N end-to-end trials, success per phase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Smarter exploration order (optional)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paper's exploration order beats our nearest-first exploration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Zongzhe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Demonstration and paper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end-to-end run, paper whose central table is the end-to-end trials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runs every phase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phase returns an outcome and a reason. Every failure in the table gets its response. Clarification ends in one object or a lead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Dion, Zongzhe clarification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parks within arm reach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Parks inside the measured reach, the wrist re-finds the object from above, the arm grasps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Sherman, Dion wrist look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FD32FB-7E80-F395-47F2-E7B7B2FEF7C3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440B43-6532-3A59-C010-3794F352F8CC}"/>
              </a:ext>
            </a:extLst>
          </p:cNvPr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2EE89B-6316-39B6-2BFB-EFC4B4FA9684}"/>
              </a:ext>
            </a:extLst>
          </p:cNvPr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A11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810027-9EF1-AB32-00B5-513DD1A75687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  The grasp sequence, step by step</a:t>
            </a:r>
            <a:endParaRPr lang="en-US"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FAFE7C-8E82-927F-53B8-4588DE41F7E3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does the arm do after it hears a command?”</a:t>
            </a:r>
            <a:endParaRPr lang="en-US"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4CC026-1C21-2C66-A291-F8A839B78960}"/>
              </a:ext>
            </a:extLst>
          </p:cNvPr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grasp/grasp_state_machine/src/grasp_state_machine.cpp (workerLoop), grasp/grasp_config.yaml</a:t>
            </a:r>
            <a:endParaRPr lang="en-US" sz="11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DA29FB9-28AF-7755-F875-05C3C1E7711A}"/>
              </a:ext>
            </a:extLst>
          </p:cNvPr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451A25F-9CCD-8A6A-B793-910C9BDB215E}"/>
              </a:ext>
            </a:extLst>
          </p:cNvPr>
          <p:cNvSpPr/>
          <p:nvPr/>
        </p:nvSpPr>
        <p:spPr>
          <a:xfrm>
            <a:off x="548640" y="1965960"/>
            <a:ext cx="1962302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87EBA3-DA09-8837-34DA-582DADC1B660}"/>
              </a:ext>
            </a:extLst>
          </p:cNvPr>
          <p:cNvSpPr/>
          <p:nvPr/>
        </p:nvSpPr>
        <p:spPr>
          <a:xfrm>
            <a:off x="713232" y="2130552"/>
            <a:ext cx="365760" cy="36576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CD4E8A5-C19D-4B58-067A-D89598944E00}"/>
              </a:ext>
            </a:extLst>
          </p:cNvPr>
          <p:cNvSpPr txBox="1"/>
          <p:nvPr/>
        </p:nvSpPr>
        <p:spPr>
          <a:xfrm>
            <a:off x="71323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F62797-7F36-3135-0153-31F4FCD7F420}"/>
              </a:ext>
            </a:extLst>
          </p:cNvPr>
          <p:cNvSpPr txBox="1"/>
          <p:nvPr/>
        </p:nvSpPr>
        <p:spPr>
          <a:xfrm>
            <a:off x="1188720" y="2130552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E780D93-06CD-E620-73D3-D53C833A4B89}"/>
              </a:ext>
            </a:extLst>
          </p:cNvPr>
          <p:cNvSpPr txBox="1"/>
          <p:nvPr/>
        </p:nvSpPr>
        <p:spPr>
          <a:xfrm>
            <a:off x="713232" y="260604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F8ACE5-67A6-53EA-9738-71F778965B10}"/>
              </a:ext>
            </a:extLst>
          </p:cNvPr>
          <p:cNvSpPr txBox="1"/>
          <p:nvPr/>
        </p:nvSpPr>
        <p:spPr>
          <a:xfrm>
            <a:off x="713232" y="2880360"/>
            <a:ext cx="1669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grasp request and the object's position from the wrist camera</a:t>
            </a:r>
            <a:endParaRPr lang="en-US" sz="12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DE89613-5788-3C32-F619-8B891995C830}"/>
              </a:ext>
            </a:extLst>
          </p:cNvPr>
          <p:cNvSpPr/>
          <p:nvPr/>
        </p:nvSpPr>
        <p:spPr>
          <a:xfrm>
            <a:off x="2547518" y="2903220"/>
            <a:ext cx="246888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3DB4B8A-E87E-43EE-8A43-2496751E47F9}"/>
              </a:ext>
            </a:extLst>
          </p:cNvPr>
          <p:cNvSpPr/>
          <p:nvPr/>
        </p:nvSpPr>
        <p:spPr>
          <a:xfrm>
            <a:off x="2830982" y="1965960"/>
            <a:ext cx="1962302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222FB0-CDEB-C143-2810-ADE8DE4DCC95}"/>
              </a:ext>
            </a:extLst>
          </p:cNvPr>
          <p:cNvSpPr/>
          <p:nvPr/>
        </p:nvSpPr>
        <p:spPr>
          <a:xfrm>
            <a:off x="2995574" y="2130552"/>
            <a:ext cx="365760" cy="36576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B8D6EA-6863-FEB5-BDD1-55777CEFA391}"/>
              </a:ext>
            </a:extLst>
          </p:cNvPr>
          <p:cNvSpPr txBox="1"/>
          <p:nvPr/>
        </p:nvSpPr>
        <p:spPr>
          <a:xfrm>
            <a:off x="2995574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8BF0BB-8D9F-6C4E-3CEF-52DEA327BF66}"/>
              </a:ext>
            </a:extLst>
          </p:cNvPr>
          <p:cNvSpPr txBox="1"/>
          <p:nvPr/>
        </p:nvSpPr>
        <p:spPr>
          <a:xfrm>
            <a:off x="3471062" y="2130552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home</a:t>
            </a:r>
            <a:endParaRPr lang="en-US"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DA42BE-327E-69D3-BDE6-861BA2E2C905}"/>
              </a:ext>
            </a:extLst>
          </p:cNvPr>
          <p:cNvSpPr txBox="1"/>
          <p:nvPr/>
        </p:nvSpPr>
        <p:spPr>
          <a:xfrm>
            <a:off x="2995574" y="260604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A413B1-E70F-40DF-9DB2-11F22B63B1D7}"/>
              </a:ext>
            </a:extLst>
          </p:cNvPr>
          <p:cNvSpPr txBox="1"/>
          <p:nvPr/>
        </p:nvSpPr>
        <p:spPr>
          <a:xfrm>
            <a:off x="2995574" y="2880360"/>
            <a:ext cx="1669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old target, move the arm to its home pose</a:t>
            </a:r>
            <a:endParaRPr lang="en-US" sz="12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9FA66C8-3ACD-50BB-F4CE-CC00E9BDD85A}"/>
              </a:ext>
            </a:extLst>
          </p:cNvPr>
          <p:cNvSpPr/>
          <p:nvPr/>
        </p:nvSpPr>
        <p:spPr>
          <a:xfrm>
            <a:off x="4829861" y="2903220"/>
            <a:ext cx="246888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D23F7E2-4E97-DAAA-B343-EF64E9EE5F95}"/>
              </a:ext>
            </a:extLst>
          </p:cNvPr>
          <p:cNvSpPr/>
          <p:nvPr/>
        </p:nvSpPr>
        <p:spPr>
          <a:xfrm>
            <a:off x="5113325" y="1965960"/>
            <a:ext cx="1962302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3209369-F928-0BA1-3CD0-0FC659ECF726}"/>
              </a:ext>
            </a:extLst>
          </p:cNvPr>
          <p:cNvSpPr/>
          <p:nvPr/>
        </p:nvSpPr>
        <p:spPr>
          <a:xfrm>
            <a:off x="5277917" y="2130552"/>
            <a:ext cx="365760" cy="36576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A446A1C-1711-ED11-9F6C-A9CA015AA5C0}"/>
              </a:ext>
            </a:extLst>
          </p:cNvPr>
          <p:cNvSpPr txBox="1"/>
          <p:nvPr/>
        </p:nvSpPr>
        <p:spPr>
          <a:xfrm>
            <a:off x="5277917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F9384E5-48B4-7955-474F-E6CB97CBE595}"/>
              </a:ext>
            </a:extLst>
          </p:cNvPr>
          <p:cNvSpPr txBox="1"/>
          <p:nvPr/>
        </p:nvSpPr>
        <p:spPr>
          <a:xfrm>
            <a:off x="5753405" y="2130552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3DC561F-3E6F-9DDB-FEB6-8687DA2D96E2}"/>
              </a:ext>
            </a:extLst>
          </p:cNvPr>
          <p:cNvSpPr txBox="1"/>
          <p:nvPr/>
        </p:nvSpPr>
        <p:spPr>
          <a:xfrm>
            <a:off x="5277917" y="260604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</a:t>
            </a:r>
            <a:endParaRPr lang="en-US" sz="11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B68304C-F9D5-F576-35E2-201C3DE906D3}"/>
              </a:ext>
            </a:extLst>
          </p:cNvPr>
          <p:cNvSpPr txBox="1"/>
          <p:nvPr/>
        </p:nvSpPr>
        <p:spPr>
          <a:xfrm>
            <a:off x="5277917" y="2880360"/>
            <a:ext cx="1669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cm at a time toward the object until it is 30 cm away</a:t>
            </a:r>
            <a:endParaRPr lang="en-US" sz="12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B516300-E19E-DB4F-A15B-2E879196CA16}"/>
              </a:ext>
            </a:extLst>
          </p:cNvPr>
          <p:cNvSpPr/>
          <p:nvPr/>
        </p:nvSpPr>
        <p:spPr>
          <a:xfrm>
            <a:off x="7112203" y="2903220"/>
            <a:ext cx="246888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D341885-6AE3-36CC-7E08-59626C70C489}"/>
              </a:ext>
            </a:extLst>
          </p:cNvPr>
          <p:cNvSpPr/>
          <p:nvPr/>
        </p:nvSpPr>
        <p:spPr>
          <a:xfrm>
            <a:off x="7395667" y="1965960"/>
            <a:ext cx="1962302" cy="1874520"/>
          </a:xfrm>
          <a:prstGeom prst="roundRect">
            <a:avLst>
              <a:gd name="adj" fmla="val 487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9DAF4C2-0A53-64E7-32F7-D42B6278CEE4}"/>
              </a:ext>
            </a:extLst>
          </p:cNvPr>
          <p:cNvSpPr/>
          <p:nvPr/>
        </p:nvSpPr>
        <p:spPr>
          <a:xfrm>
            <a:off x="7560259" y="21305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A42B284-8FD9-E11B-6747-2E73E41A5F0A}"/>
              </a:ext>
            </a:extLst>
          </p:cNvPr>
          <p:cNvSpPr txBox="1"/>
          <p:nvPr/>
        </p:nvSpPr>
        <p:spPr>
          <a:xfrm>
            <a:off x="7560259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82FBAFD-2D74-0AB7-FC13-7E03FCAF35AA}"/>
              </a:ext>
            </a:extLst>
          </p:cNvPr>
          <p:cNvSpPr txBox="1"/>
          <p:nvPr/>
        </p:nvSpPr>
        <p:spPr>
          <a:xfrm>
            <a:off x="8035747" y="2130552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13062A5-E8CD-457F-6CFB-59B393178A9B}"/>
              </a:ext>
            </a:extLst>
          </p:cNvPr>
          <p:cNvSpPr txBox="1"/>
          <p:nvPr/>
        </p:nvSpPr>
        <p:spPr>
          <a:xfrm>
            <a:off x="7560259" y="260604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</a:t>
            </a:r>
            <a:endParaRPr lang="en-US" sz="11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CD591A6-0D2B-B6CB-17C5-E781EAD55B26}"/>
              </a:ext>
            </a:extLst>
          </p:cNvPr>
          <p:cNvSpPr txBox="1"/>
          <p:nvPr/>
        </p:nvSpPr>
        <p:spPr>
          <a:xfrm>
            <a:off x="7560259" y="2880360"/>
            <a:ext cx="1669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gripper, wait for a steady grasp, plan the path and move in</a:t>
            </a:r>
            <a:endParaRPr lang="en-US" sz="12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90B3B0B-50DC-CB59-37B1-F986B4F28456}"/>
              </a:ext>
            </a:extLst>
          </p:cNvPr>
          <p:cNvSpPr/>
          <p:nvPr/>
        </p:nvSpPr>
        <p:spPr>
          <a:xfrm>
            <a:off x="9394546" y="2903220"/>
            <a:ext cx="246888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D5CDC1D-BD76-7ED0-FBE3-1DED5B10676D}"/>
              </a:ext>
            </a:extLst>
          </p:cNvPr>
          <p:cNvSpPr/>
          <p:nvPr/>
        </p:nvSpPr>
        <p:spPr>
          <a:xfrm>
            <a:off x="9678010" y="1965960"/>
            <a:ext cx="1962302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82E309E-4D63-9488-61B1-ABBF852F75CE}"/>
              </a:ext>
            </a:extLst>
          </p:cNvPr>
          <p:cNvSpPr/>
          <p:nvPr/>
        </p:nvSpPr>
        <p:spPr>
          <a:xfrm>
            <a:off x="9842602" y="2130552"/>
            <a:ext cx="365760" cy="36576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1384026-DFC1-B1BE-CE4C-215B9DBA6121}"/>
              </a:ext>
            </a:extLst>
          </p:cNvPr>
          <p:cNvSpPr txBox="1"/>
          <p:nvPr/>
        </p:nvSpPr>
        <p:spPr>
          <a:xfrm>
            <a:off x="984260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3E91407-6DFF-49FA-0CDC-6F2EB7B515A2}"/>
              </a:ext>
            </a:extLst>
          </p:cNvPr>
          <p:cNvSpPr txBox="1"/>
          <p:nvPr/>
        </p:nvSpPr>
        <p:spPr>
          <a:xfrm>
            <a:off x="10318090" y="2130552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5D0C318-DFC8-10E3-35D3-3B19A8B95AF2}"/>
              </a:ext>
            </a:extLst>
          </p:cNvPr>
          <p:cNvSpPr txBox="1"/>
          <p:nvPr/>
        </p:nvSpPr>
        <p:spPr>
          <a:xfrm>
            <a:off x="9842602" y="2606040"/>
            <a:ext cx="1687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4386426-BA76-2DFD-2536-E5378027238D}"/>
              </a:ext>
            </a:extLst>
          </p:cNvPr>
          <p:cNvSpPr txBox="1"/>
          <p:nvPr/>
        </p:nvSpPr>
        <p:spPr>
          <a:xfrm>
            <a:off x="9842602" y="2880360"/>
            <a:ext cx="1669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gripper, move to the hand-over pose, wait for “release”</a:t>
            </a:r>
            <a:endParaRPr lang="en-US" sz="12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C079CEB-D7A8-CDF9-CA56-906A0C9C7994}"/>
              </a:ext>
            </a:extLst>
          </p:cNvPr>
          <p:cNvSpPr/>
          <p:nvPr/>
        </p:nvSpPr>
        <p:spPr>
          <a:xfrm>
            <a:off x="10659161" y="3840480"/>
            <a:ext cx="914" cy="32004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705E31E-598F-3BF5-8DDC-E830CDFDF57F}"/>
              </a:ext>
            </a:extLst>
          </p:cNvPr>
          <p:cNvSpPr/>
          <p:nvPr/>
        </p:nvSpPr>
        <p:spPr>
          <a:xfrm flipH="1">
            <a:off x="1529791" y="4160520"/>
            <a:ext cx="9129370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1DB10FE-D8B2-56FA-055A-EFCEF733EE9C}"/>
              </a:ext>
            </a:extLst>
          </p:cNvPr>
          <p:cNvSpPr/>
          <p:nvPr/>
        </p:nvSpPr>
        <p:spPr>
          <a:xfrm flipV="1">
            <a:off x="1529791" y="3877056"/>
            <a:ext cx="914" cy="28346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5E6C679-EE67-2BAB-89D6-2D79AF18B0A7}"/>
              </a:ext>
            </a:extLst>
          </p:cNvPr>
          <p:cNvSpPr txBox="1"/>
          <p:nvPr/>
        </p:nvSpPr>
        <p:spPr>
          <a:xfrm>
            <a:off x="2743200" y="388620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“release”: open the gripper, go home, wait for the next command</a:t>
            </a:r>
            <a:endParaRPr lang="en-US" sz="12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894D33B-1461-86CD-654C-3233F7817C81}"/>
              </a:ext>
            </a:extLst>
          </p:cNvPr>
          <p:cNvSpPr/>
          <p:nvPr/>
        </p:nvSpPr>
        <p:spPr>
          <a:xfrm>
            <a:off x="548640" y="4480560"/>
            <a:ext cx="5431536" cy="13716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53A3B93-C863-E8EC-4225-0305F473E30F}"/>
              </a:ext>
            </a:extLst>
          </p:cNvPr>
          <p:cNvSpPr txBox="1"/>
          <p:nvPr/>
        </p:nvSpPr>
        <p:spPr>
          <a:xfrm>
            <a:off x="731520" y="461772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STEP FAILS, BACK TO WAIT</a:t>
            </a:r>
            <a:endParaRPr lang="en-US" sz="11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9E49B25-9AD0-4FD1-E80F-5CBF37699893}"/>
              </a:ext>
            </a:extLst>
          </p:cNvPr>
          <p:cNvSpPr txBox="1"/>
          <p:nvPr/>
        </p:nvSpPr>
        <p:spPr>
          <a:xfrm>
            <a:off x="731520" y="4892040"/>
            <a:ext cx="511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the object's position is over 7 s old, so the object counts as lost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Grasp: no grasp holds steady for 25 s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Grasp: 5 grasps in a row could not be planned. Each failed one is skipped next time</a:t>
            </a:r>
            <a:endParaRPr lang="en-US" sz="120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BB5F76B-4101-70DE-2DF2-860B8BB74C54}"/>
              </a:ext>
            </a:extLst>
          </p:cNvPr>
          <p:cNvSpPr/>
          <p:nvPr/>
        </p:nvSpPr>
        <p:spPr>
          <a:xfrm>
            <a:off x="6208776" y="4480560"/>
            <a:ext cx="5431536" cy="13716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963DA413-B127-5616-CC66-2871D83A4B9E}"/>
              </a:ext>
            </a:extLst>
          </p:cNvPr>
          <p:cNvSpPr txBox="1"/>
          <p:nvPr/>
        </p:nvSpPr>
        <p:spPr>
          <a:xfrm>
            <a:off x="6391656" y="461772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AT ANY STEP</a:t>
            </a:r>
            <a:endParaRPr lang="en-US" sz="11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D6A4CB2-923C-FAFF-7C74-79192F01CF81}"/>
              </a:ext>
            </a:extLst>
          </p:cNvPr>
          <p:cNvSpPr txBox="1"/>
          <p:nvPr/>
        </p:nvSpPr>
        <p:spPr>
          <a:xfrm>
            <a:off x="6391656" y="4892040"/>
            <a:ext cx="511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key halts the arm at once and drops the request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again until a person resumes it, then the sequence restarts at Wait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20639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8FF2B0-690D-4B1B-8212-A57B6B27502B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BB500E-FF73-4A3F-6F8C-8C8E52697EF4}"/>
              </a:ext>
            </a:extLst>
          </p:cNvPr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0AFFD8-538A-0485-ACD6-B1A39F0205F1}"/>
              </a:ext>
            </a:extLst>
          </p:cNvPr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A12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AE4C5C-4C91-4A2D-376D-11193A1008A8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  Matching the looked-at object across cameras</a:t>
            </a:r>
            <a:endParaRPr lang="en-US"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7B4FB0-6FDA-1902-5ED7-21C49B6785B4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does the robot know which box the user meant?”</a:t>
            </a:r>
            <a:endParaRPr lang="en-US"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31876F-457D-68EB-81BD-D98B630A1E14}"/>
              </a:ext>
            </a:extLst>
          </p:cNvPr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grasp/grasp_segmentation_client/cross_camera_mask_match_rule.py, aria/aria_config.yaml. Scores: three-box replay, 20 Oct 2026</a:t>
            </a:r>
            <a:endParaRPr lang="en-US" sz="11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F32E3D-738F-F36B-7C5D-065D047F289C}"/>
              </a:ext>
            </a:extLst>
          </p:cNvPr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D81817-CD4B-CB20-65B4-77CADE3309C6}"/>
              </a:ext>
            </a:extLst>
          </p:cNvPr>
          <p:cNvSpPr txBox="1"/>
          <p:nvPr/>
        </p:nvSpPr>
        <p:spPr>
          <a:xfrm>
            <a:off x="548640" y="1783080"/>
            <a:ext cx="354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USER'S GLASSES</a:t>
            </a:r>
            <a:endParaRPr lang="en-US" sz="1100"/>
          </a:p>
        </p:txBody>
      </p:sp>
      <p:pic>
        <p:nvPicPr>
          <p:cNvPr id="10" name="Image 0" descr="Glasses view: SAM 3 masks with confidences, the gaze ring on one box">
            <a:extLst>
              <a:ext uri="{FF2B5EF4-FFF2-40B4-BE49-F238E27FC236}">
                <a16:creationId xmlns:a16="http://schemas.microsoft.com/office/drawing/2014/main" id="{C0A61CD4-7D2A-A6F6-CB8D-A949BBE4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3544824" cy="1369591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A6CC21D-7E4F-F6C3-15FA-DBF692629C10}"/>
              </a:ext>
            </a:extLst>
          </p:cNvPr>
          <p:cNvSpPr txBox="1"/>
          <p:nvPr/>
        </p:nvSpPr>
        <p:spPr>
          <a:xfrm>
            <a:off x="548640" y="3463567"/>
            <a:ext cx="354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masks with their confidence. The ring is the gaze</a:t>
            </a:r>
            <a:endParaRPr lang="en-US" sz="11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A791DCF-9E5C-A2EC-B65F-F22B2963C4D0}"/>
              </a:ext>
            </a:extLst>
          </p:cNvPr>
          <p:cNvSpPr/>
          <p:nvPr/>
        </p:nvSpPr>
        <p:spPr>
          <a:xfrm>
            <a:off x="548640" y="3792751"/>
            <a:ext cx="3544824" cy="2333729"/>
          </a:xfrm>
          <a:prstGeom prst="roundRect">
            <a:avLst>
              <a:gd name="adj" fmla="val 391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87223BB-8E56-7E29-43DB-BC7B04F92596}"/>
              </a:ext>
            </a:extLst>
          </p:cNvPr>
          <p:cNvSpPr txBox="1"/>
          <p:nvPr/>
        </p:nvSpPr>
        <p:spPr>
          <a:xfrm>
            <a:off x="685800" y="3902479"/>
            <a:ext cx="3270504" cy="2150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finds every object matching the spoken word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votes for 1 s: each gaze sample votes for the mask under it, or the nearest within 80 </a:t>
            </a:r>
            <a:r>
              <a:rPr lang="en-US" sz="1200" err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needs half the votes. Its cut-out is the reference sent to the robot</a:t>
            </a: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200">
              <a:solidFill>
                <a:srgbClr val="1621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200">
              <a:solidFill>
                <a:srgbClr val="1621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endParaRPr lang="en-US" sz="1200">
              <a:solidFill>
                <a:srgbClr val="16213A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en-US" sz="12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63F9ACF-5A3F-20FB-74D5-B9D3AB9E9882}"/>
              </a:ext>
            </a:extLst>
          </p:cNvPr>
          <p:cNvSpPr txBox="1"/>
          <p:nvPr/>
        </p:nvSpPr>
        <p:spPr>
          <a:xfrm>
            <a:off x="4322064" y="1783080"/>
            <a:ext cx="354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MATCHER</a:t>
            </a:r>
            <a:endParaRPr lang="en-US"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C1D7978-0920-3AF4-F305-DD51A5901265}"/>
              </a:ext>
            </a:extLst>
          </p:cNvPr>
          <p:cNvSpPr/>
          <p:nvPr/>
        </p:nvSpPr>
        <p:spPr>
          <a:xfrm>
            <a:off x="4753919" y="2057400"/>
            <a:ext cx="2607259" cy="1234440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3C45512-EFF3-0597-504D-4F7C51AB8CFD}"/>
              </a:ext>
            </a:extLst>
          </p:cNvPr>
          <p:cNvSpPr txBox="1"/>
          <p:nvPr/>
        </p:nvSpPr>
        <p:spPr>
          <a:xfrm>
            <a:off x="4899113" y="2157984"/>
            <a:ext cx="23382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turns the reference and each wrist mask into a feature vector. Cosine similarity compares them: 1 means they look the same</a:t>
            </a:r>
            <a:endParaRPr lang="en-US" sz="12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3648FE8-BAFE-5A52-E062-372944871D21}"/>
              </a:ext>
            </a:extLst>
          </p:cNvPr>
          <p:cNvSpPr txBox="1"/>
          <p:nvPr/>
        </p:nvSpPr>
        <p:spPr>
          <a:xfrm>
            <a:off x="4322064" y="3429000"/>
            <a:ext cx="354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THREE-BOX SCENE</a:t>
            </a:r>
            <a:endParaRPr lang="en-US" sz="11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8DC0559-68FB-48AC-34AB-23A4D0761F9B}"/>
              </a:ext>
            </a:extLst>
          </p:cNvPr>
          <p:cNvSpPr txBox="1"/>
          <p:nvPr/>
        </p:nvSpPr>
        <p:spPr>
          <a:xfrm>
            <a:off x="4322064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96C9494-112E-660E-1E30-01E883F3262F}"/>
              </a:ext>
            </a:extLst>
          </p:cNvPr>
          <p:cNvSpPr/>
          <p:nvPr/>
        </p:nvSpPr>
        <p:spPr>
          <a:xfrm>
            <a:off x="5373624" y="3767328"/>
            <a:ext cx="1673160" cy="164592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44007A6-A477-83D5-6D80-29285DB21E6D}"/>
              </a:ext>
            </a:extLst>
          </p:cNvPr>
          <p:cNvSpPr txBox="1"/>
          <p:nvPr/>
        </p:nvSpPr>
        <p:spPr>
          <a:xfrm>
            <a:off x="7318248" y="3721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1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6A594F8-BCDD-DD3D-DEF0-100CC717E938}"/>
              </a:ext>
            </a:extLst>
          </p:cNvPr>
          <p:cNvSpPr txBox="1"/>
          <p:nvPr/>
        </p:nvSpPr>
        <p:spPr>
          <a:xfrm>
            <a:off x="4322064" y="40507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mask</a:t>
            </a:r>
            <a:endParaRPr lang="en-US" sz="11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B32A017-EDC6-4D0C-29F7-42052556408B}"/>
              </a:ext>
            </a:extLst>
          </p:cNvPr>
          <p:cNvSpPr/>
          <p:nvPr/>
        </p:nvSpPr>
        <p:spPr>
          <a:xfrm>
            <a:off x="5373624" y="4096512"/>
            <a:ext cx="1638585" cy="164592"/>
          </a:xfrm>
          <a:prstGeom prst="rect">
            <a:avLst/>
          </a:prstGeom>
          <a:solidFill>
            <a:srgbClr val="03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C9DF179-84EF-0F33-DF43-C7897A1ABA6B}"/>
              </a:ext>
            </a:extLst>
          </p:cNvPr>
          <p:cNvSpPr txBox="1"/>
          <p:nvPr/>
        </p:nvSpPr>
        <p:spPr>
          <a:xfrm>
            <a:off x="7318248" y="4050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</a:t>
            </a:r>
            <a:endParaRPr lang="en-US" sz="11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1899A06-8B2F-A878-451F-931568269AE6}"/>
              </a:ext>
            </a:extLst>
          </p:cNvPr>
          <p:cNvSpPr txBox="1"/>
          <p:nvPr/>
        </p:nvSpPr>
        <p:spPr>
          <a:xfrm>
            <a:off x="4322064" y="4379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mask</a:t>
            </a:r>
            <a:endParaRPr lang="en-US" sz="11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9FAFA64-A693-9528-EC98-6CB486CB0341}"/>
              </a:ext>
            </a:extLst>
          </p:cNvPr>
          <p:cNvSpPr/>
          <p:nvPr/>
        </p:nvSpPr>
        <p:spPr>
          <a:xfrm>
            <a:off x="5373624" y="4425696"/>
            <a:ext cx="659204" cy="16459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18F6FCA-DD25-B5AD-9C6A-0D905DC2D44E}"/>
              </a:ext>
            </a:extLst>
          </p:cNvPr>
          <p:cNvSpPr txBox="1"/>
          <p:nvPr/>
        </p:nvSpPr>
        <p:spPr>
          <a:xfrm>
            <a:off x="7318248" y="43799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</a:t>
            </a:r>
            <a:endParaRPr lang="en-US" sz="11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849E9C4-ABBA-7F67-BF68-9512E0377E07}"/>
              </a:ext>
            </a:extLst>
          </p:cNvPr>
          <p:cNvSpPr/>
          <p:nvPr/>
        </p:nvSpPr>
        <p:spPr>
          <a:xfrm>
            <a:off x="6323076" y="3675888"/>
            <a:ext cx="914" cy="1014984"/>
          </a:xfrm>
          <a:prstGeom prst="line">
            <a:avLst/>
          </a:prstGeom>
          <a:noFill/>
          <a:ln w="15875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4C2838B-51F7-0567-4646-DC979D3F0ED4}"/>
              </a:ext>
            </a:extLst>
          </p:cNvPr>
          <p:cNvSpPr txBox="1"/>
          <p:nvPr/>
        </p:nvSpPr>
        <p:spPr>
          <a:xfrm>
            <a:off x="6048756" y="4672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1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C6D79E66-BBFE-55DB-93EF-117D29CC0F72}"/>
              </a:ext>
            </a:extLst>
          </p:cNvPr>
          <p:cNvSpPr/>
          <p:nvPr/>
        </p:nvSpPr>
        <p:spPr>
          <a:xfrm>
            <a:off x="4322064" y="5029200"/>
            <a:ext cx="3544824" cy="128016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77F9A1A-E275-29A1-DBC7-D7D58E9E9AD8}"/>
              </a:ext>
            </a:extLst>
          </p:cNvPr>
          <p:cNvSpPr txBox="1"/>
          <p:nvPr/>
        </p:nvSpPr>
        <p:spPr>
          <a:xfrm>
            <a:off x="4486656" y="5138928"/>
            <a:ext cx="3270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RULES, ELSE THE ARM WAITS</a:t>
            </a:r>
            <a:endParaRPr lang="en-US" sz="11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F7F49A8-62E9-3E09-2695-E5D5121DA5EF}"/>
              </a:ext>
            </a:extLst>
          </p:cNvPr>
          <p:cNvSpPr txBox="1"/>
          <p:nvPr/>
        </p:nvSpPr>
        <p:spPr>
          <a:xfrm>
            <a:off x="4486656" y="5394960"/>
            <a:ext cx="3252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score 0.56. </a:t>
            </a: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it, no wrist mask matches</a:t>
            </a:r>
            <a:endParaRPr lang="en-US" sz="120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margin 0.01. </a:t>
            </a: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masks this close to the best are a tie, so no match (identical boxes)</a:t>
            </a:r>
            <a:endParaRPr lang="en-US" sz="12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ACB214C-1EF4-324B-9AAC-89CD7B4A2DF5}"/>
              </a:ext>
            </a:extLst>
          </p:cNvPr>
          <p:cNvSpPr txBox="1"/>
          <p:nvPr/>
        </p:nvSpPr>
        <p:spPr>
          <a:xfrm>
            <a:off x="8095488" y="1783080"/>
            <a:ext cx="354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ROBOT'S WRIST CAMERA</a:t>
            </a:r>
            <a:endParaRPr lang="en-US" sz="1100"/>
          </a:p>
        </p:txBody>
      </p:sp>
      <p:pic>
        <p:nvPicPr>
          <p:cNvPr id="33" name="Image 1" descr="Wrist camera view with three different boxes">
            <a:extLst>
              <a:ext uri="{FF2B5EF4-FFF2-40B4-BE49-F238E27FC236}">
                <a16:creationId xmlns:a16="http://schemas.microsoft.com/office/drawing/2014/main" id="{76D82F41-7B69-41A5-433C-36D7377DE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488" y="2057400"/>
            <a:ext cx="3544824" cy="2658618"/>
          </a:xfrm>
          <a:prstGeom prst="rect">
            <a:avLst/>
          </a:prstGeom>
        </p:spPr>
      </p:pic>
      <p:sp>
        <p:nvSpPr>
          <p:cNvPr id="34" name="Shape 30">
            <a:extLst>
              <a:ext uri="{FF2B5EF4-FFF2-40B4-BE49-F238E27FC236}">
                <a16:creationId xmlns:a16="http://schemas.microsoft.com/office/drawing/2014/main" id="{4FF97A82-C3A5-B1FA-8F52-C634E5B3920E}"/>
              </a:ext>
            </a:extLst>
          </p:cNvPr>
          <p:cNvSpPr/>
          <p:nvPr/>
        </p:nvSpPr>
        <p:spPr>
          <a:xfrm>
            <a:off x="8538591" y="2528197"/>
            <a:ext cx="1550861" cy="1440085"/>
          </a:xfrm>
          <a:prstGeom prst="rect">
            <a:avLst/>
          </a:prstGeom>
          <a:ln w="254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20167DC3-7E88-B344-677E-F2B9FF9797E4}"/>
              </a:ext>
            </a:extLst>
          </p:cNvPr>
          <p:cNvSpPr/>
          <p:nvPr/>
        </p:nvSpPr>
        <p:spPr>
          <a:xfrm>
            <a:off x="10837188" y="3248239"/>
            <a:ext cx="581573" cy="636961"/>
          </a:xfrm>
          <a:prstGeom prst="rect">
            <a:avLst/>
          </a:prstGeom>
          <a:ln w="254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166371DD-E8EF-D033-1C4A-52E80ED42AC6}"/>
              </a:ext>
            </a:extLst>
          </p:cNvPr>
          <p:cNvSpPr/>
          <p:nvPr/>
        </p:nvSpPr>
        <p:spPr>
          <a:xfrm>
            <a:off x="9585422" y="4145523"/>
            <a:ext cx="775430" cy="564956"/>
          </a:xfrm>
          <a:prstGeom prst="rect">
            <a:avLst/>
          </a:prstGeom>
          <a:ln w="2540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FFDFB3FA-8977-D2FF-D271-3F533A96F9A3}"/>
              </a:ext>
            </a:extLst>
          </p:cNvPr>
          <p:cNvSpPr txBox="1"/>
          <p:nvPr/>
        </p:nvSpPr>
        <p:spPr>
          <a:xfrm>
            <a:off x="9586532" y="4156752"/>
            <a:ext cx="502920" cy="219456"/>
          </a:xfrm>
          <a:prstGeom prst="rect">
            <a:avLst/>
          </a:prstGeom>
          <a:solidFill>
            <a:srgbClr val="FF79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10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585B836-977D-AD75-9073-6354C22F7A72}"/>
              </a:ext>
            </a:extLst>
          </p:cNvPr>
          <p:cNvSpPr txBox="1"/>
          <p:nvPr/>
        </p:nvSpPr>
        <p:spPr>
          <a:xfrm>
            <a:off x="8095488" y="4752594"/>
            <a:ext cx="354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masks. Orange: matched (detection 0.98)</a:t>
            </a:r>
            <a:endParaRPr lang="en-US" sz="11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8D3F2C55-A06A-8AD8-73C7-FEE029C4E747}"/>
              </a:ext>
            </a:extLst>
          </p:cNvPr>
          <p:cNvSpPr/>
          <p:nvPr/>
        </p:nvSpPr>
        <p:spPr>
          <a:xfrm>
            <a:off x="8095488" y="5081778"/>
            <a:ext cx="3544824" cy="1044702"/>
          </a:xfrm>
          <a:prstGeom prst="roundRect">
            <a:avLst>
              <a:gd name="adj" fmla="val 875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DDEE2412-A7C8-F710-D0DD-1D1E9E6AD74D}"/>
              </a:ext>
            </a:extLst>
          </p:cNvPr>
          <p:cNvSpPr txBox="1"/>
          <p:nvPr/>
        </p:nvSpPr>
        <p:spPr>
          <a:xfrm>
            <a:off x="8232648" y="5191506"/>
            <a:ext cx="3270504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finds candidates for the same word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if detection confidence is 0.5 or more, at most 5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guides the approach and grasp</a:t>
            </a:r>
            <a:endParaRPr lang="en-US" sz="120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878533E8-DD38-BA34-52D1-A9A6150F463E}"/>
              </a:ext>
            </a:extLst>
          </p:cNvPr>
          <p:cNvSpPr/>
          <p:nvPr/>
        </p:nvSpPr>
        <p:spPr>
          <a:xfrm>
            <a:off x="4293596" y="2660914"/>
            <a:ext cx="369844" cy="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8B7DB316-993D-7C2C-6EF1-FF8670F259D1}"/>
              </a:ext>
            </a:extLst>
          </p:cNvPr>
          <p:cNvSpPr/>
          <p:nvPr/>
        </p:nvSpPr>
        <p:spPr>
          <a:xfrm flipH="1">
            <a:off x="7502697" y="2660914"/>
            <a:ext cx="434909" cy="0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73CD3074-911D-A00D-E70C-06A4DAD61D2D}"/>
              </a:ext>
            </a:extLst>
          </p:cNvPr>
          <p:cNvSpPr/>
          <p:nvPr/>
        </p:nvSpPr>
        <p:spPr>
          <a:xfrm>
            <a:off x="6987951" y="3675888"/>
            <a:ext cx="914" cy="1014984"/>
          </a:xfrm>
          <a:prstGeom prst="line">
            <a:avLst/>
          </a:prstGeom>
          <a:noFill/>
          <a:ln w="15875">
            <a:solidFill>
              <a:srgbClr val="FF79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EE45A2C8-1ECD-F69A-238B-B21D0118058D}"/>
              </a:ext>
            </a:extLst>
          </p:cNvPr>
          <p:cNvSpPr txBox="1"/>
          <p:nvPr/>
        </p:nvSpPr>
        <p:spPr>
          <a:xfrm>
            <a:off x="6710491" y="4680843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+- 0.01</a:t>
            </a:r>
            <a:endParaRPr lang="en-US" sz="1100">
              <a:solidFill>
                <a:srgbClr val="FF793A"/>
              </a:solidFill>
            </a:endParaRPr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665EEA5E-E908-9568-FBCD-B016D5EB2B28}"/>
              </a:ext>
            </a:extLst>
          </p:cNvPr>
          <p:cNvSpPr/>
          <p:nvPr/>
        </p:nvSpPr>
        <p:spPr>
          <a:xfrm>
            <a:off x="7102048" y="3675888"/>
            <a:ext cx="914" cy="1014984"/>
          </a:xfrm>
          <a:prstGeom prst="line">
            <a:avLst/>
          </a:prstGeom>
          <a:noFill/>
          <a:ln w="15875">
            <a:solidFill>
              <a:srgbClr val="FF79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52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4BA2EF-E412-66F1-6655-15B32CB30809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BA9A09-BBBA-A39F-99EF-258F05D28378}"/>
              </a:ext>
            </a:extLst>
          </p:cNvPr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213974-DAF6-ABD8-903D-C4B335C49416}"/>
              </a:ext>
            </a:extLst>
          </p:cNvPr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A13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065715-4F99-469B-3575-90A55CD5DAA6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  What narrows the grasp candidates</a:t>
            </a:r>
            <a:endParaRPr lang="en-US"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A3232C-8B9C-BC78-452B-3A16DBEDA424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“Why was a grasp rejected?” Each box can remove or restrict candidates</a:t>
            </a:r>
            <a:endParaRPr lang="en-US"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CDE022-E816-1881-7F40-61916FFACD6E}"/>
              </a:ext>
            </a:extLst>
          </p:cNvPr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anygrasp_detection_node.py, anygrasp_to_grasp_frame.py, grasp_state_machine.cpp, mtc_planner.cpp, grasp_config.yaml</a:t>
            </a:r>
            <a:endParaRPr lang="en-US" sz="11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AEB0C3-9CD0-1937-DD84-530479BB94FF}"/>
              </a:ext>
            </a:extLst>
          </p:cNvPr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C6A09D2-8920-0A86-0642-AF2B6C0E2DB8}"/>
              </a:ext>
            </a:extLst>
          </p:cNvPr>
          <p:cNvSpPr/>
          <p:nvPr/>
        </p:nvSpPr>
        <p:spPr>
          <a:xfrm>
            <a:off x="548640" y="1783080"/>
            <a:ext cx="2212848" cy="443484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2E3B90A-BA7D-B9AE-AF3E-C5DA568BF4E5}"/>
              </a:ext>
            </a:extLst>
          </p:cNvPr>
          <p:cNvSpPr txBox="1"/>
          <p:nvPr/>
        </p:nvSpPr>
        <p:spPr>
          <a:xfrm>
            <a:off x="713232" y="19202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9FD62CE-0C0A-D8A6-59E4-A4F6A5DC589C}"/>
              </a:ext>
            </a:extLst>
          </p:cNvPr>
          <p:cNvSpPr/>
          <p:nvPr/>
        </p:nvSpPr>
        <p:spPr>
          <a:xfrm>
            <a:off x="685800" y="251460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7118EB-B192-ED03-20F1-CA1FA9298D9E}"/>
              </a:ext>
            </a:extLst>
          </p:cNvPr>
          <p:cNvSpPr txBox="1"/>
          <p:nvPr/>
        </p:nvSpPr>
        <p:spPr>
          <a:xfrm>
            <a:off x="777240" y="25146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image from the wrist camera</a:t>
            </a:r>
            <a:endParaRPr lang="en-US"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E63D86-AA7B-4D95-3610-36D8DC4844CF}"/>
              </a:ext>
            </a:extLst>
          </p:cNvPr>
          <p:cNvSpPr/>
          <p:nvPr/>
        </p:nvSpPr>
        <p:spPr>
          <a:xfrm>
            <a:off x="685800" y="310896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66010B-EB48-79EC-2273-25AD5C94B1D6}"/>
              </a:ext>
            </a:extLst>
          </p:cNvPr>
          <p:cNvSpPr txBox="1"/>
          <p:nvPr/>
        </p:nvSpPr>
        <p:spPr>
          <a:xfrm>
            <a:off x="777240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object's outline from SAM 3</a:t>
            </a:r>
            <a:endParaRPr lang="en-US"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89B9D75-11E5-9C82-6CC9-06C6A194CD5F}"/>
              </a:ext>
            </a:extLst>
          </p:cNvPr>
          <p:cNvSpPr/>
          <p:nvPr/>
        </p:nvSpPr>
        <p:spPr>
          <a:xfrm>
            <a:off x="685800" y="370332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788D88-A1A7-73F3-EF06-20149A224CEC}"/>
              </a:ext>
            </a:extLst>
          </p:cNvPr>
          <p:cNvSpPr txBox="1"/>
          <p:nvPr/>
        </p:nvSpPr>
        <p:spPr>
          <a:xfrm>
            <a:off x="777240" y="3703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arm's joint angles</a:t>
            </a:r>
            <a:endParaRPr lang="en-US"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6B538A2-01A1-1B57-0532-34EF951F8626}"/>
              </a:ext>
            </a:extLst>
          </p:cNvPr>
          <p:cNvSpPr/>
          <p:nvPr/>
        </p:nvSpPr>
        <p:spPr>
          <a:xfrm>
            <a:off x="685800" y="429768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B3AE449-5AA1-86F5-481D-75967B3BA093}"/>
              </a:ext>
            </a:extLst>
          </p:cNvPr>
          <p:cNvSpPr txBox="1"/>
          <p:nvPr/>
        </p:nvSpPr>
        <p:spPr>
          <a:xfrm>
            <a:off x="777240" y="4297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approach within 10°, gripper opens 71 mm</a:t>
            </a:r>
            <a:endParaRPr lang="en-US" sz="11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E0624B6-7E0A-8386-1631-1AD23B22217B}"/>
              </a:ext>
            </a:extLst>
          </p:cNvPr>
          <p:cNvSpPr/>
          <p:nvPr/>
        </p:nvSpPr>
        <p:spPr>
          <a:xfrm>
            <a:off x="2788920" y="4000500"/>
            <a:ext cx="265176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4EA1FA1-562B-0041-0CDE-F0D08514BE37}"/>
              </a:ext>
            </a:extLst>
          </p:cNvPr>
          <p:cNvSpPr/>
          <p:nvPr/>
        </p:nvSpPr>
        <p:spPr>
          <a:xfrm>
            <a:off x="3081528" y="1783080"/>
            <a:ext cx="2212848" cy="4434840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81011A8-3A38-C1A8-F91F-78D067E0E523}"/>
              </a:ext>
            </a:extLst>
          </p:cNvPr>
          <p:cNvSpPr txBox="1"/>
          <p:nvPr/>
        </p:nvSpPr>
        <p:spPr>
          <a:xfrm>
            <a:off x="3246120" y="19202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SUGGESTER</a:t>
            </a:r>
            <a:endParaRPr lang="en-US"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6E3A8A5-21C0-DE0B-6CDD-DEA4E7AC84D1}"/>
              </a:ext>
            </a:extLst>
          </p:cNvPr>
          <p:cNvSpPr txBox="1"/>
          <p:nvPr/>
        </p:nvSpPr>
        <p:spPr>
          <a:xfrm>
            <a:off x="3246120" y="216712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 node</a:t>
            </a:r>
            <a:endParaRPr lang="en-US" sz="12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55FAD9F-6895-08DE-E6A9-FB8041928EAF}"/>
              </a:ext>
            </a:extLst>
          </p:cNvPr>
          <p:cNvSpPr/>
          <p:nvPr/>
        </p:nvSpPr>
        <p:spPr>
          <a:xfrm>
            <a:off x="3218688" y="251460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EA4FA0-E480-EE31-1EDB-97AECF254A57}"/>
              </a:ext>
            </a:extLst>
          </p:cNvPr>
          <p:cNvSpPr txBox="1"/>
          <p:nvPr/>
        </p:nvSpPr>
        <p:spPr>
          <a:xfrm>
            <a:off x="3310128" y="25146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cut to 15 cm around the object</a:t>
            </a:r>
            <a:endParaRPr lang="en-US" sz="11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287825D-1D26-8532-AE13-4213CD3E8C0E}"/>
              </a:ext>
            </a:extLst>
          </p:cNvPr>
          <p:cNvSpPr/>
          <p:nvPr/>
        </p:nvSpPr>
        <p:spPr>
          <a:xfrm>
            <a:off x="3218688" y="310896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2554231-BC4C-59F4-6274-408A4E8067C1}"/>
              </a:ext>
            </a:extLst>
          </p:cNvPr>
          <p:cNvSpPr txBox="1"/>
          <p:nvPr/>
        </p:nvSpPr>
        <p:spPr>
          <a:xfrm>
            <a:off x="3310128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AnyGrasp: grasps on the object only, within </a:t>
            </a: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10° </a:t>
            </a: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camera's view</a:t>
            </a:r>
            <a:endParaRPr lang="en-US" sz="11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3D6178F-C056-43AD-A31F-EEF239E1114A}"/>
              </a:ext>
            </a:extLst>
          </p:cNvPr>
          <p:cNvSpPr/>
          <p:nvPr/>
        </p:nvSpPr>
        <p:spPr>
          <a:xfrm>
            <a:off x="3218688" y="370332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B3EEE49-1C8C-9ED1-B384-6CB5FE7C10F9}"/>
              </a:ext>
            </a:extLst>
          </p:cNvPr>
          <p:cNvSpPr txBox="1"/>
          <p:nvPr/>
        </p:nvSpPr>
        <p:spPr>
          <a:xfrm>
            <a:off x="3310128" y="3703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check: the gripper may not hit the table or neighbours</a:t>
            </a:r>
            <a:endParaRPr lang="en-US" sz="11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1003609-DDB8-D237-0A79-BBDD88040C21}"/>
              </a:ext>
            </a:extLst>
          </p:cNvPr>
          <p:cNvSpPr/>
          <p:nvPr/>
        </p:nvSpPr>
        <p:spPr>
          <a:xfrm>
            <a:off x="3218688" y="429768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F6390CA-951D-091C-6BC4-4FA4C16C81BF}"/>
              </a:ext>
            </a:extLst>
          </p:cNvPr>
          <p:cNvSpPr txBox="1"/>
          <p:nvPr/>
        </p:nvSpPr>
        <p:spPr>
          <a:xfrm>
            <a:off x="3310128" y="4297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merged, </a:t>
            </a: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5 kept</a:t>
            </a:r>
            <a:endParaRPr lang="en-US" sz="1100" b="1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381C403-280A-6C5E-D6B2-56344F902C32}"/>
              </a:ext>
            </a:extLst>
          </p:cNvPr>
          <p:cNvSpPr/>
          <p:nvPr/>
        </p:nvSpPr>
        <p:spPr>
          <a:xfrm>
            <a:off x="3218688" y="489204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A62C88E-3A1D-7ABC-9418-E8E6F4287F1F}"/>
              </a:ext>
            </a:extLst>
          </p:cNvPr>
          <p:cNvSpPr txBox="1"/>
          <p:nvPr/>
        </p:nvSpPr>
        <p:spPr>
          <a:xfrm>
            <a:off x="3310128" y="489204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check: object at most </a:t>
            </a: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mm wide</a:t>
            </a: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fingertips at most </a:t>
            </a: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mm in</a:t>
            </a:r>
            <a:endParaRPr lang="en-US" sz="1100" b="1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AA1A998-D132-73CA-B48D-8CC8D5FB37A1}"/>
              </a:ext>
            </a:extLst>
          </p:cNvPr>
          <p:cNvSpPr/>
          <p:nvPr/>
        </p:nvSpPr>
        <p:spPr>
          <a:xfrm>
            <a:off x="3218688" y="548640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E20F895-01B5-1E40-9741-B6C3B09B8A15}"/>
              </a:ext>
            </a:extLst>
          </p:cNvPr>
          <p:cNvSpPr txBox="1"/>
          <p:nvPr/>
        </p:nvSpPr>
        <p:spPr>
          <a:xfrm>
            <a:off x="3310128" y="5486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choice: of two mirror-image wrist turns, the one nearer the gripper</a:t>
            </a:r>
            <a:endParaRPr lang="en-US" sz="11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853954B-5A5F-00DA-D52D-8659368453A6}"/>
              </a:ext>
            </a:extLst>
          </p:cNvPr>
          <p:cNvSpPr/>
          <p:nvPr/>
        </p:nvSpPr>
        <p:spPr>
          <a:xfrm>
            <a:off x="5321808" y="4000500"/>
            <a:ext cx="265176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C435B18-059C-20DB-75DF-7EDBFFA39566}"/>
              </a:ext>
            </a:extLst>
          </p:cNvPr>
          <p:cNvSpPr/>
          <p:nvPr/>
        </p:nvSpPr>
        <p:spPr>
          <a:xfrm>
            <a:off x="5614416" y="1783080"/>
            <a:ext cx="2212848" cy="4434840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BD5DE84-1002-4D1A-9562-857AB24CC84E}"/>
              </a:ext>
            </a:extLst>
          </p:cNvPr>
          <p:cNvSpPr txBox="1"/>
          <p:nvPr/>
        </p:nvSpPr>
        <p:spPr>
          <a:xfrm>
            <a:off x="5779008" y="19202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DECIDER</a:t>
            </a:r>
            <a:endParaRPr lang="en-US" sz="11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E20771C-6E1F-2874-A40A-F44B382FF227}"/>
              </a:ext>
            </a:extLst>
          </p:cNvPr>
          <p:cNvSpPr txBox="1"/>
          <p:nvPr/>
        </p:nvSpPr>
        <p:spPr>
          <a:xfrm>
            <a:off x="5779008" y="216712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state machine</a:t>
            </a:r>
            <a:endParaRPr lang="en-US" sz="12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95B4DA2-5A2A-9C8B-5DA0-FCCC31FDCDB8}"/>
              </a:ext>
            </a:extLst>
          </p:cNvPr>
          <p:cNvSpPr/>
          <p:nvPr/>
        </p:nvSpPr>
        <p:spPr>
          <a:xfrm>
            <a:off x="5751576" y="251460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E9FF5EE-C8D9-25B5-374D-627C36154FF3}"/>
              </a:ext>
            </a:extLst>
          </p:cNvPr>
          <p:cNvSpPr txBox="1"/>
          <p:nvPr/>
        </p:nvSpPr>
        <p:spPr>
          <a:xfrm>
            <a:off x="5843016" y="25146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at least </a:t>
            </a:r>
            <a:r>
              <a:rPr lang="en-US" sz="11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20° </a:t>
            </a: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horizontal (parallel to table)</a:t>
            </a:r>
            <a:endParaRPr lang="en-US" sz="11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C9FB1D4-BD82-5DF3-32CC-1D9EF17DC651}"/>
              </a:ext>
            </a:extLst>
          </p:cNvPr>
          <p:cNvSpPr/>
          <p:nvPr/>
        </p:nvSpPr>
        <p:spPr>
          <a:xfrm>
            <a:off x="5751576" y="310896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12FD20A-EF02-2B3B-E50B-2EF32D9F0C24}"/>
              </a:ext>
            </a:extLst>
          </p:cNvPr>
          <p:cNvSpPr txBox="1"/>
          <p:nvPr/>
        </p:nvSpPr>
        <p:spPr>
          <a:xfrm>
            <a:off x="5843016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that already failed to plan are skipped</a:t>
            </a:r>
            <a:endParaRPr lang="en-US" sz="11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3FEA7CD-A48F-6DCC-F496-80D48A0EE249}"/>
              </a:ext>
            </a:extLst>
          </p:cNvPr>
          <p:cNvSpPr/>
          <p:nvPr/>
        </p:nvSpPr>
        <p:spPr>
          <a:xfrm>
            <a:off x="5751576" y="370332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4661336-EE0A-3E30-47B8-8A9030C31B49}"/>
              </a:ext>
            </a:extLst>
          </p:cNvPr>
          <p:cNvSpPr txBox="1"/>
          <p:nvPr/>
        </p:nvSpPr>
        <p:spPr>
          <a:xfrm>
            <a:off x="5843016" y="3703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best grasp for 5 frames, within 15 mm and 10°</a:t>
            </a:r>
            <a:endParaRPr lang="en-US" sz="110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B8B6BBF-0326-D5CA-F160-680437D9D518}"/>
              </a:ext>
            </a:extLst>
          </p:cNvPr>
          <p:cNvSpPr/>
          <p:nvPr/>
        </p:nvSpPr>
        <p:spPr>
          <a:xfrm>
            <a:off x="5751576" y="429768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5F345A6-CEFB-333D-2475-A5B987E51494}"/>
              </a:ext>
            </a:extLst>
          </p:cNvPr>
          <p:cNvSpPr txBox="1"/>
          <p:nvPr/>
        </p:nvSpPr>
        <p:spPr>
          <a:xfrm>
            <a:off x="5843016" y="4297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position under 7 s old while approaching</a:t>
            </a:r>
            <a:endParaRPr lang="en-US" sz="11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8A98C64-CBA8-003D-5124-616498F4C3DA}"/>
              </a:ext>
            </a:extLst>
          </p:cNvPr>
          <p:cNvSpPr/>
          <p:nvPr/>
        </p:nvSpPr>
        <p:spPr>
          <a:xfrm>
            <a:off x="5751576" y="489204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DAE14AD-D1C4-77B4-9B08-758FF13B0740}"/>
              </a:ext>
            </a:extLst>
          </p:cNvPr>
          <p:cNvSpPr txBox="1"/>
          <p:nvPr/>
        </p:nvSpPr>
        <p:spPr>
          <a:xfrm>
            <a:off x="5843016" y="489204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after 25 s or 5 failed plans</a:t>
            </a:r>
            <a:endParaRPr lang="en-US" sz="110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B62D8C3-DE64-C435-4E27-7429B091E082}"/>
              </a:ext>
            </a:extLst>
          </p:cNvPr>
          <p:cNvSpPr/>
          <p:nvPr/>
        </p:nvSpPr>
        <p:spPr>
          <a:xfrm>
            <a:off x="7854696" y="4000500"/>
            <a:ext cx="265176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E531B4A-BF26-C485-B11B-1FABE62A1F15}"/>
              </a:ext>
            </a:extLst>
          </p:cNvPr>
          <p:cNvSpPr/>
          <p:nvPr/>
        </p:nvSpPr>
        <p:spPr>
          <a:xfrm>
            <a:off x="8147304" y="1783080"/>
            <a:ext cx="2212848" cy="4434840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FE6BFA6-C890-5046-226F-F3434F4F8B48}"/>
              </a:ext>
            </a:extLst>
          </p:cNvPr>
          <p:cNvSpPr txBox="1"/>
          <p:nvPr/>
        </p:nvSpPr>
        <p:spPr>
          <a:xfrm>
            <a:off x="8311896" y="19202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PLANNER</a:t>
            </a:r>
            <a:endParaRPr lang="en-US" sz="11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28FF77C5-CA5E-830E-5322-40B23A446779}"/>
              </a:ext>
            </a:extLst>
          </p:cNvPr>
          <p:cNvSpPr txBox="1"/>
          <p:nvPr/>
        </p:nvSpPr>
        <p:spPr>
          <a:xfrm>
            <a:off x="8311896" y="216712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</a:t>
            </a:r>
            <a:endParaRPr lang="en-US" sz="120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DA65A11-606A-711D-FEDD-F4EF8CFF110D}"/>
              </a:ext>
            </a:extLst>
          </p:cNvPr>
          <p:cNvSpPr/>
          <p:nvPr/>
        </p:nvSpPr>
        <p:spPr>
          <a:xfrm>
            <a:off x="8284464" y="251460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F2B9A3C-ACFD-DFBB-07D6-9CF0BC3A0A8B}"/>
              </a:ext>
            </a:extLst>
          </p:cNvPr>
          <p:cNvSpPr txBox="1"/>
          <p:nvPr/>
        </p:nvSpPr>
        <p:spPr>
          <a:xfrm>
            <a:off x="8375904" y="25146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Pre-grasp 10 cm in front: joint angles solved (IK) from the current joints</a:t>
            </a:r>
            <a:endParaRPr lang="en-US" sz="110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193F8A1-38A9-73F1-4724-7ACF4D3ADE25}"/>
              </a:ext>
            </a:extLst>
          </p:cNvPr>
          <p:cNvSpPr/>
          <p:nvPr/>
        </p:nvSpPr>
        <p:spPr>
          <a:xfrm>
            <a:off x="8284464" y="310896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B70673F6-E39D-76F1-4D09-6965B092CF09}"/>
              </a:ext>
            </a:extLst>
          </p:cNvPr>
          <p:cNvSpPr txBox="1"/>
          <p:nvPr/>
        </p:nvSpPr>
        <p:spPr>
          <a:xfrm>
            <a:off x="8375904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around obstacles, the box included</a:t>
            </a:r>
            <a:endParaRPr lang="en-US" sz="11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106C1FF-066B-0279-1710-1ED1182FC79E}"/>
              </a:ext>
            </a:extLst>
          </p:cNvPr>
          <p:cNvSpPr/>
          <p:nvPr/>
        </p:nvSpPr>
        <p:spPr>
          <a:xfrm>
            <a:off x="8284464" y="370332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348ECD9-C248-C86A-194D-4B69AC65E8F7}"/>
              </a:ext>
            </a:extLst>
          </p:cNvPr>
          <p:cNvSpPr txBox="1"/>
          <p:nvPr/>
        </p:nvSpPr>
        <p:spPr>
          <a:xfrm>
            <a:off x="8375904" y="3703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straight move in must finish completely</a:t>
            </a:r>
            <a:endParaRPr lang="en-US" sz="110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AC4C4C8B-04A2-FDB4-B926-A2F4289B3812}"/>
              </a:ext>
            </a:extLst>
          </p:cNvPr>
          <p:cNvSpPr/>
          <p:nvPr/>
        </p:nvSpPr>
        <p:spPr>
          <a:xfrm>
            <a:off x="8284464" y="4297680"/>
            <a:ext cx="193852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BA458BE-120D-AD6F-0A36-C133B8C5CCAD}"/>
              </a:ext>
            </a:extLst>
          </p:cNvPr>
          <p:cNvSpPr txBox="1"/>
          <p:nvPr/>
        </p:nvSpPr>
        <p:spPr>
          <a:xfrm>
            <a:off x="8375904" y="42976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guard: joints 4 to 6 turn at most 90°</a:t>
            </a:r>
            <a:endParaRPr lang="en-US" sz="110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E59B4EB3-7018-9817-358F-3858B9A57438}"/>
              </a:ext>
            </a:extLst>
          </p:cNvPr>
          <p:cNvSpPr/>
          <p:nvPr/>
        </p:nvSpPr>
        <p:spPr>
          <a:xfrm>
            <a:off x="10387584" y="4000500"/>
            <a:ext cx="265176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EA8CE3C-0D52-928E-18D1-C2C21CB9F55E}"/>
              </a:ext>
            </a:extLst>
          </p:cNvPr>
          <p:cNvSpPr/>
          <p:nvPr/>
        </p:nvSpPr>
        <p:spPr>
          <a:xfrm>
            <a:off x="10680192" y="3451860"/>
            <a:ext cx="960120" cy="1097280"/>
          </a:xfrm>
          <a:prstGeom prst="roundRect">
            <a:avLst>
              <a:gd name="adj" fmla="val 9524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0588676-40A3-E9D8-A9D2-D9901513FF10}"/>
              </a:ext>
            </a:extLst>
          </p:cNvPr>
          <p:cNvSpPr txBox="1"/>
          <p:nvPr/>
        </p:nvSpPr>
        <p:spPr>
          <a:xfrm>
            <a:off x="10680192" y="345186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moves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09739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3DDDF2-6A1E-9031-DD7A-5F9280690C17}"/>
              </a:ext>
            </a:extLst>
          </p:cNvPr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4D6D2F-E2F2-859D-BF55-13AEDB77C924}"/>
              </a:ext>
            </a:extLst>
          </p:cNvPr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075FBC-9B5C-4ACB-B85A-20DDDF307551}"/>
              </a:ext>
            </a:extLst>
          </p:cNvPr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A14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75C704-0C23-F724-F471-F4BCED65DB76}"/>
              </a:ext>
            </a:extLst>
          </p:cNvPr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  Sampling the gaze at the moment the user spoke</a:t>
            </a:r>
            <a:endParaRPr lang="en-US"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F8B4EF-D0FC-DF9A-CDB2-A8348FD5E197}"/>
              </a:ext>
            </a:extLst>
          </p:cNvPr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 you know where the user looked when they said the word?”</a:t>
            </a:r>
            <a:endParaRPr lang="en-US"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060A46-E176-49F7-9EDE-1A13B1554B6D}"/>
              </a:ext>
            </a:extLst>
          </p:cNvPr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aria_segmentation_client.py, aria/aria_config.yaml, stamped-word branch (T2.21, PR open). Gaze Pick Timing page</a:t>
            </a:r>
            <a:endParaRPr lang="en-US" sz="11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52D20C-4431-4E65-189E-CD268C79278F}"/>
              </a:ext>
            </a:extLst>
          </p:cNvPr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D7174D8-B88F-2A61-FD66-C9377707E92F}"/>
              </a:ext>
            </a:extLst>
          </p:cNvPr>
          <p:cNvSpPr/>
          <p:nvPr/>
        </p:nvSpPr>
        <p:spPr>
          <a:xfrm>
            <a:off x="2932176" y="1828800"/>
            <a:ext cx="914" cy="283464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C874565-39A9-D581-ED6F-8309C1A12C07}"/>
              </a:ext>
            </a:extLst>
          </p:cNvPr>
          <p:cNvSpPr txBox="1"/>
          <p:nvPr/>
        </p:nvSpPr>
        <p:spPr>
          <a:xfrm>
            <a:off x="265785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s</a:t>
            </a:r>
            <a:endParaRPr lang="en-US"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853D54-0A43-93F4-8C61-50D8B6841281}"/>
              </a:ext>
            </a:extLst>
          </p:cNvPr>
          <p:cNvSpPr/>
          <p:nvPr/>
        </p:nvSpPr>
        <p:spPr>
          <a:xfrm>
            <a:off x="4237736" y="1828800"/>
            <a:ext cx="914" cy="283464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7F6C3A-D9A5-7BD9-4742-63C0824B54CC}"/>
              </a:ext>
            </a:extLst>
          </p:cNvPr>
          <p:cNvSpPr txBox="1"/>
          <p:nvPr/>
        </p:nvSpPr>
        <p:spPr>
          <a:xfrm>
            <a:off x="396341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s</a:t>
            </a:r>
            <a:endParaRPr lang="en-US"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7EFF990-08C6-D7EF-160E-7AAD85392E0E}"/>
              </a:ext>
            </a:extLst>
          </p:cNvPr>
          <p:cNvSpPr/>
          <p:nvPr/>
        </p:nvSpPr>
        <p:spPr>
          <a:xfrm>
            <a:off x="5543296" y="1828800"/>
            <a:ext cx="914" cy="2834640"/>
          </a:xfrm>
          <a:prstGeom prst="line">
            <a:avLst/>
          </a:prstGeom>
          <a:noFill/>
          <a:ln w="1905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71524F-B76F-8D6C-3EF6-FD78BDDF5313}"/>
              </a:ext>
            </a:extLst>
          </p:cNvPr>
          <p:cNvSpPr txBox="1"/>
          <p:nvPr/>
        </p:nvSpPr>
        <p:spPr>
          <a:xfrm>
            <a:off x="526897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</a:t>
            </a:r>
            <a:endParaRPr lang="en-US"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8AAE82-1A71-37F3-CE1A-FE61214B2C65}"/>
              </a:ext>
            </a:extLst>
          </p:cNvPr>
          <p:cNvSpPr/>
          <p:nvPr/>
        </p:nvSpPr>
        <p:spPr>
          <a:xfrm>
            <a:off x="6848856" y="1828800"/>
            <a:ext cx="914" cy="283464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882A05-2D2F-DB5D-6600-0B91306DFB8B}"/>
              </a:ext>
            </a:extLst>
          </p:cNvPr>
          <p:cNvSpPr txBox="1"/>
          <p:nvPr/>
        </p:nvSpPr>
        <p:spPr>
          <a:xfrm>
            <a:off x="657453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</a:t>
            </a:r>
            <a:endParaRPr lang="en-US"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2747598-959D-3C22-14E7-DDC2EF4CB9EA}"/>
              </a:ext>
            </a:extLst>
          </p:cNvPr>
          <p:cNvSpPr/>
          <p:nvPr/>
        </p:nvSpPr>
        <p:spPr>
          <a:xfrm>
            <a:off x="8154416" y="1828800"/>
            <a:ext cx="914" cy="283464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E514457-86CE-847A-AAD6-A8479AC1FD36}"/>
              </a:ext>
            </a:extLst>
          </p:cNvPr>
          <p:cNvSpPr txBox="1"/>
          <p:nvPr/>
        </p:nvSpPr>
        <p:spPr>
          <a:xfrm>
            <a:off x="788009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s</a:t>
            </a:r>
            <a:endParaRPr lang="en-US" sz="11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408C039-92D0-9418-C648-10941882300C}"/>
              </a:ext>
            </a:extLst>
          </p:cNvPr>
          <p:cNvSpPr/>
          <p:nvPr/>
        </p:nvSpPr>
        <p:spPr>
          <a:xfrm>
            <a:off x="9459976" y="1828800"/>
            <a:ext cx="914" cy="283464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76C385A-4976-3048-4C39-085E8135C938}"/>
              </a:ext>
            </a:extLst>
          </p:cNvPr>
          <p:cNvSpPr txBox="1"/>
          <p:nvPr/>
        </p:nvSpPr>
        <p:spPr>
          <a:xfrm>
            <a:off x="918565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s</a:t>
            </a:r>
            <a:endParaRPr lang="en-US"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BB7F820-E937-9A8C-CB25-AA17F68E8EF2}"/>
              </a:ext>
            </a:extLst>
          </p:cNvPr>
          <p:cNvSpPr/>
          <p:nvPr/>
        </p:nvSpPr>
        <p:spPr>
          <a:xfrm>
            <a:off x="10765536" y="1828800"/>
            <a:ext cx="914" cy="283464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6FC6117-2652-AA66-6CFF-E0D510F2E84A}"/>
              </a:ext>
            </a:extLst>
          </p:cNvPr>
          <p:cNvSpPr txBox="1"/>
          <p:nvPr/>
        </p:nvSpPr>
        <p:spPr>
          <a:xfrm>
            <a:off x="10491216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s</a:t>
            </a:r>
            <a:endParaRPr lang="en-US" sz="11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6CD958-E7C3-252A-85BB-B0D14C144C4C}"/>
              </a:ext>
            </a:extLst>
          </p:cNvPr>
          <p:cNvSpPr txBox="1"/>
          <p:nvPr/>
        </p:nvSpPr>
        <p:spPr>
          <a:xfrm>
            <a:off x="54864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</a:t>
            </a:r>
            <a:endParaRPr lang="en-US"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01A0B25-BE74-BBAB-77B5-3B66D3BDFC22}"/>
              </a:ext>
            </a:extLst>
          </p:cNvPr>
          <p:cNvSpPr txBox="1"/>
          <p:nvPr/>
        </p:nvSpPr>
        <p:spPr>
          <a:xfrm>
            <a:off x="54864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F4D2CE-636D-450B-9C6C-6BC5BC074AC6}"/>
              </a:ext>
            </a:extLst>
          </p:cNvPr>
          <p:cNvSpPr txBox="1"/>
          <p:nvPr/>
        </p:nvSpPr>
        <p:spPr>
          <a:xfrm>
            <a:off x="548640" y="3108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A8A8B2A-CFBF-2BB6-18E7-A94F931E9DE4}"/>
              </a:ext>
            </a:extLst>
          </p:cNvPr>
          <p:cNvSpPr txBox="1"/>
          <p:nvPr/>
        </p:nvSpPr>
        <p:spPr>
          <a:xfrm>
            <a:off x="54864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robot</a:t>
            </a:r>
            <a:endParaRPr lang="en-US"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21E02D0-D4DE-4332-3B6C-FED0B90A669F}"/>
              </a:ext>
            </a:extLst>
          </p:cNvPr>
          <p:cNvSpPr txBox="1"/>
          <p:nvPr/>
        </p:nvSpPr>
        <p:spPr>
          <a:xfrm>
            <a:off x="548640" y="4206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123F3CC-18F5-27D6-793D-704DCD48E4F8}"/>
              </a:ext>
            </a:extLst>
          </p:cNvPr>
          <p:cNvSpPr/>
          <p:nvPr/>
        </p:nvSpPr>
        <p:spPr>
          <a:xfrm>
            <a:off x="3715512" y="2423160"/>
            <a:ext cx="1827784" cy="1097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2717377-BF86-EFD6-5E38-93BC7C874905}"/>
              </a:ext>
            </a:extLst>
          </p:cNvPr>
          <p:cNvSpPr txBox="1"/>
          <p:nvPr/>
        </p:nvSpPr>
        <p:spPr>
          <a:xfrm>
            <a:off x="3715512" y="2221992"/>
            <a:ext cx="182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window</a:t>
            </a:r>
            <a:endParaRPr lang="en-US" sz="11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0803BDE-9FB4-2CFF-68FA-2446D670C693}"/>
              </a:ext>
            </a:extLst>
          </p:cNvPr>
          <p:cNvSpPr/>
          <p:nvPr/>
        </p:nvSpPr>
        <p:spPr>
          <a:xfrm>
            <a:off x="3323844" y="1965960"/>
            <a:ext cx="1697228" cy="27432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0D4D992-E4FD-ADD9-EE71-80AA6FED6172}"/>
              </a:ext>
            </a:extLst>
          </p:cNvPr>
          <p:cNvSpPr txBox="1"/>
          <p:nvPr/>
        </p:nvSpPr>
        <p:spPr>
          <a:xfrm>
            <a:off x="3323844" y="1965960"/>
            <a:ext cx="169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</a:t>
            </a:r>
            <a:endParaRPr lang="en-US" sz="11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4EDFDF4-C622-0F52-59FF-7A4995600ED9}"/>
              </a:ext>
            </a:extLst>
          </p:cNvPr>
          <p:cNvSpPr/>
          <p:nvPr/>
        </p:nvSpPr>
        <p:spPr>
          <a:xfrm>
            <a:off x="5021072" y="1965960"/>
            <a:ext cx="522224" cy="27432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51AF372-2456-9A41-DF69-325BD8C33D6A}"/>
              </a:ext>
            </a:extLst>
          </p:cNvPr>
          <p:cNvSpPr txBox="1"/>
          <p:nvPr/>
        </p:nvSpPr>
        <p:spPr>
          <a:xfrm>
            <a:off x="5021072" y="1965960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1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C22CCCE-3444-8F94-48C3-208A1FF6ECED}"/>
              </a:ext>
            </a:extLst>
          </p:cNvPr>
          <p:cNvSpPr txBox="1"/>
          <p:nvPr/>
        </p:nvSpPr>
        <p:spPr>
          <a:xfrm>
            <a:off x="567385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is stamped with when it was said</a:t>
            </a:r>
            <a:endParaRPr lang="en-US" sz="11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C68E11B-EF47-F55E-4A4E-8400EF01AD56}"/>
              </a:ext>
            </a:extLst>
          </p:cNvPr>
          <p:cNvSpPr/>
          <p:nvPr/>
        </p:nvSpPr>
        <p:spPr>
          <a:xfrm>
            <a:off x="2373376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23A6908-6DBF-83D8-20A0-CF484DF37E95}"/>
              </a:ext>
            </a:extLst>
          </p:cNvPr>
          <p:cNvSpPr/>
          <p:nvPr/>
        </p:nvSpPr>
        <p:spPr>
          <a:xfrm>
            <a:off x="2634488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68A90AA-57DE-0EA7-A6E6-2F87EAB11759}"/>
              </a:ext>
            </a:extLst>
          </p:cNvPr>
          <p:cNvSpPr/>
          <p:nvPr/>
        </p:nvSpPr>
        <p:spPr>
          <a:xfrm>
            <a:off x="2895600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0A69EE3-939D-1583-F3C4-A840D46E60DC}"/>
              </a:ext>
            </a:extLst>
          </p:cNvPr>
          <p:cNvSpPr/>
          <p:nvPr/>
        </p:nvSpPr>
        <p:spPr>
          <a:xfrm>
            <a:off x="3156712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C169F43-E06F-39A9-395A-6A822CCAB5AB}"/>
              </a:ext>
            </a:extLst>
          </p:cNvPr>
          <p:cNvSpPr/>
          <p:nvPr/>
        </p:nvSpPr>
        <p:spPr>
          <a:xfrm>
            <a:off x="3417824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255B2B8-0C0D-A354-837C-5CF5066F968D}"/>
              </a:ext>
            </a:extLst>
          </p:cNvPr>
          <p:cNvSpPr/>
          <p:nvPr/>
        </p:nvSpPr>
        <p:spPr>
          <a:xfrm>
            <a:off x="3665220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71604C7-74C1-369A-6C09-DB0307C34178}"/>
              </a:ext>
            </a:extLst>
          </p:cNvPr>
          <p:cNvSpPr/>
          <p:nvPr/>
        </p:nvSpPr>
        <p:spPr>
          <a:xfrm>
            <a:off x="3926332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17969A5-04E3-21CF-56DA-B4EDCEF40389}"/>
              </a:ext>
            </a:extLst>
          </p:cNvPr>
          <p:cNvSpPr/>
          <p:nvPr/>
        </p:nvSpPr>
        <p:spPr>
          <a:xfrm>
            <a:off x="4187444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FE149A0-9BEA-851F-976C-B17A8C3164AA}"/>
              </a:ext>
            </a:extLst>
          </p:cNvPr>
          <p:cNvSpPr/>
          <p:nvPr/>
        </p:nvSpPr>
        <p:spPr>
          <a:xfrm>
            <a:off x="4448556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1223C0D-CFAC-0CA1-CF9F-5E487EB0F3CC}"/>
              </a:ext>
            </a:extLst>
          </p:cNvPr>
          <p:cNvSpPr/>
          <p:nvPr/>
        </p:nvSpPr>
        <p:spPr>
          <a:xfrm>
            <a:off x="4416552" y="2615184"/>
            <a:ext cx="164592" cy="164592"/>
          </a:xfrm>
          <a:prstGeom prst="ellipse">
            <a:avLst/>
          </a:prstGeom>
          <a:ln w="1270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5A30A3B-CF8F-6531-7292-D56973185337}"/>
              </a:ext>
            </a:extLst>
          </p:cNvPr>
          <p:cNvSpPr/>
          <p:nvPr/>
        </p:nvSpPr>
        <p:spPr>
          <a:xfrm>
            <a:off x="4709668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60FA615-7F6C-C389-5142-839FB923E84A}"/>
              </a:ext>
            </a:extLst>
          </p:cNvPr>
          <p:cNvSpPr/>
          <p:nvPr/>
        </p:nvSpPr>
        <p:spPr>
          <a:xfrm>
            <a:off x="4677664" y="2615184"/>
            <a:ext cx="164592" cy="164592"/>
          </a:xfrm>
          <a:prstGeom prst="ellipse">
            <a:avLst/>
          </a:prstGeom>
          <a:ln w="1270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B479677-92E1-54CF-8A72-3FFEFB19C4A2}"/>
              </a:ext>
            </a:extLst>
          </p:cNvPr>
          <p:cNvSpPr/>
          <p:nvPr/>
        </p:nvSpPr>
        <p:spPr>
          <a:xfrm>
            <a:off x="4970780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4DDB6C9-213C-AB51-09E3-C0D392E0F427}"/>
              </a:ext>
            </a:extLst>
          </p:cNvPr>
          <p:cNvSpPr/>
          <p:nvPr/>
        </p:nvSpPr>
        <p:spPr>
          <a:xfrm>
            <a:off x="4938776" y="2615184"/>
            <a:ext cx="164592" cy="164592"/>
          </a:xfrm>
          <a:prstGeom prst="ellipse">
            <a:avLst/>
          </a:prstGeom>
          <a:ln w="1270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A044C0F-FB72-661A-7D09-2CF17652AF83}"/>
              </a:ext>
            </a:extLst>
          </p:cNvPr>
          <p:cNvSpPr/>
          <p:nvPr/>
        </p:nvSpPr>
        <p:spPr>
          <a:xfrm>
            <a:off x="5231892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15811124-82CA-BCD7-4BF6-D67441535945}"/>
              </a:ext>
            </a:extLst>
          </p:cNvPr>
          <p:cNvSpPr/>
          <p:nvPr/>
        </p:nvSpPr>
        <p:spPr>
          <a:xfrm>
            <a:off x="5199888" y="2615184"/>
            <a:ext cx="164592" cy="164592"/>
          </a:xfrm>
          <a:prstGeom prst="ellipse">
            <a:avLst/>
          </a:prstGeom>
          <a:ln w="1270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502613B-9C13-612F-B58F-5D33F5CB5588}"/>
              </a:ext>
            </a:extLst>
          </p:cNvPr>
          <p:cNvSpPr/>
          <p:nvPr/>
        </p:nvSpPr>
        <p:spPr>
          <a:xfrm>
            <a:off x="5493004" y="2647188"/>
            <a:ext cx="100584" cy="100584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BD21AD0-801F-4CE5-403B-46A4D2A07EFF}"/>
              </a:ext>
            </a:extLst>
          </p:cNvPr>
          <p:cNvSpPr/>
          <p:nvPr/>
        </p:nvSpPr>
        <p:spPr>
          <a:xfrm>
            <a:off x="5461000" y="2615184"/>
            <a:ext cx="164592" cy="164592"/>
          </a:xfrm>
          <a:prstGeom prst="ellipse">
            <a:avLst/>
          </a:prstGeom>
          <a:ln w="1270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7D42F789-7863-6E44-C6C1-C30A36D726FC}"/>
              </a:ext>
            </a:extLst>
          </p:cNvPr>
          <p:cNvSpPr/>
          <p:nvPr/>
        </p:nvSpPr>
        <p:spPr>
          <a:xfrm>
            <a:off x="5767832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2B7F9C46-404F-5C74-79E8-5558C2AAE2F2}"/>
              </a:ext>
            </a:extLst>
          </p:cNvPr>
          <p:cNvSpPr/>
          <p:nvPr/>
        </p:nvSpPr>
        <p:spPr>
          <a:xfrm>
            <a:off x="6028944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4F15532-F311-01C3-8C5C-6629D878DCFE}"/>
              </a:ext>
            </a:extLst>
          </p:cNvPr>
          <p:cNvSpPr/>
          <p:nvPr/>
        </p:nvSpPr>
        <p:spPr>
          <a:xfrm>
            <a:off x="6290056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260D87F-C285-E61F-A797-113CB7E1813A}"/>
              </a:ext>
            </a:extLst>
          </p:cNvPr>
          <p:cNvSpPr/>
          <p:nvPr/>
        </p:nvSpPr>
        <p:spPr>
          <a:xfrm>
            <a:off x="6551168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D1DABD5A-95BF-D657-D2AE-B9BD95B69C14}"/>
              </a:ext>
            </a:extLst>
          </p:cNvPr>
          <p:cNvSpPr/>
          <p:nvPr/>
        </p:nvSpPr>
        <p:spPr>
          <a:xfrm>
            <a:off x="6812280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49F9EDB-584B-96F8-A4CD-2E3ABE112643}"/>
              </a:ext>
            </a:extLst>
          </p:cNvPr>
          <p:cNvSpPr/>
          <p:nvPr/>
        </p:nvSpPr>
        <p:spPr>
          <a:xfrm>
            <a:off x="7073392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71BD01A-0143-CE4E-F235-D21F77A96F98}"/>
              </a:ext>
            </a:extLst>
          </p:cNvPr>
          <p:cNvSpPr/>
          <p:nvPr/>
        </p:nvSpPr>
        <p:spPr>
          <a:xfrm>
            <a:off x="7334504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BCE39597-7FE8-0495-46BE-02E350155754}"/>
              </a:ext>
            </a:extLst>
          </p:cNvPr>
          <p:cNvSpPr/>
          <p:nvPr/>
        </p:nvSpPr>
        <p:spPr>
          <a:xfrm>
            <a:off x="7595616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FE59C891-2F0E-8D04-E65E-4A72A5C322CF}"/>
              </a:ext>
            </a:extLst>
          </p:cNvPr>
          <p:cNvSpPr/>
          <p:nvPr/>
        </p:nvSpPr>
        <p:spPr>
          <a:xfrm>
            <a:off x="7856728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3A000AA0-12A9-10A8-1FD3-3ADCA42AC3F0}"/>
              </a:ext>
            </a:extLst>
          </p:cNvPr>
          <p:cNvSpPr/>
          <p:nvPr/>
        </p:nvSpPr>
        <p:spPr>
          <a:xfrm>
            <a:off x="8117840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0C965E4-5A77-C1A3-4291-28DE3CAA646F}"/>
              </a:ext>
            </a:extLst>
          </p:cNvPr>
          <p:cNvSpPr/>
          <p:nvPr/>
        </p:nvSpPr>
        <p:spPr>
          <a:xfrm>
            <a:off x="8378952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3458F5D-C28B-1EF3-C928-BA4CCA94E131}"/>
              </a:ext>
            </a:extLst>
          </p:cNvPr>
          <p:cNvSpPr/>
          <p:nvPr/>
        </p:nvSpPr>
        <p:spPr>
          <a:xfrm>
            <a:off x="8640064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35FCD70-1060-8C25-FA05-B8A39B6EA226}"/>
              </a:ext>
            </a:extLst>
          </p:cNvPr>
          <p:cNvSpPr/>
          <p:nvPr/>
        </p:nvSpPr>
        <p:spPr>
          <a:xfrm>
            <a:off x="8901176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A3780F45-761B-59F1-F224-28566F3A633D}"/>
              </a:ext>
            </a:extLst>
          </p:cNvPr>
          <p:cNvSpPr/>
          <p:nvPr/>
        </p:nvSpPr>
        <p:spPr>
          <a:xfrm>
            <a:off x="9162288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9D986A75-9E82-866D-5A6C-7382E863D9C4}"/>
              </a:ext>
            </a:extLst>
          </p:cNvPr>
          <p:cNvSpPr/>
          <p:nvPr/>
        </p:nvSpPr>
        <p:spPr>
          <a:xfrm>
            <a:off x="9423400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9661C647-A451-E4AA-EFC2-26AEA609680E}"/>
              </a:ext>
            </a:extLst>
          </p:cNvPr>
          <p:cNvSpPr/>
          <p:nvPr/>
        </p:nvSpPr>
        <p:spPr>
          <a:xfrm>
            <a:off x="9684512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4A187C6-7DEB-B005-77C6-5B4E12473F26}"/>
              </a:ext>
            </a:extLst>
          </p:cNvPr>
          <p:cNvSpPr/>
          <p:nvPr/>
        </p:nvSpPr>
        <p:spPr>
          <a:xfrm>
            <a:off x="9945624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8FC94190-3CF6-3AF9-D119-790EAF464254}"/>
              </a:ext>
            </a:extLst>
          </p:cNvPr>
          <p:cNvSpPr/>
          <p:nvPr/>
        </p:nvSpPr>
        <p:spPr>
          <a:xfrm>
            <a:off x="10206736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9336D2F0-DAA3-0849-4369-A08BF8C354AF}"/>
              </a:ext>
            </a:extLst>
          </p:cNvPr>
          <p:cNvSpPr/>
          <p:nvPr/>
        </p:nvSpPr>
        <p:spPr>
          <a:xfrm>
            <a:off x="10467848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2155ED83-C153-E321-37DA-20C3C94265C5}"/>
              </a:ext>
            </a:extLst>
          </p:cNvPr>
          <p:cNvSpPr/>
          <p:nvPr/>
        </p:nvSpPr>
        <p:spPr>
          <a:xfrm>
            <a:off x="10728960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5DC80672-C5E1-BD52-A827-8B30CB039DD0}"/>
              </a:ext>
            </a:extLst>
          </p:cNvPr>
          <p:cNvSpPr/>
          <p:nvPr/>
        </p:nvSpPr>
        <p:spPr>
          <a:xfrm>
            <a:off x="10990072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FC88AC53-2E69-7016-ED9B-A3407C6080AC}"/>
              </a:ext>
            </a:extLst>
          </p:cNvPr>
          <p:cNvSpPr/>
          <p:nvPr/>
        </p:nvSpPr>
        <p:spPr>
          <a:xfrm>
            <a:off x="11251184" y="2660904"/>
            <a:ext cx="73152" cy="73152"/>
          </a:xfrm>
          <a:prstGeom prst="ellipse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0BABECB1-B0A0-58A2-7AB1-94D19D05ECE0}"/>
              </a:ext>
            </a:extLst>
          </p:cNvPr>
          <p:cNvSpPr/>
          <p:nvPr/>
        </p:nvSpPr>
        <p:spPr>
          <a:xfrm>
            <a:off x="4303014" y="2542032"/>
            <a:ext cx="1305560" cy="310896"/>
          </a:xfrm>
          <a:prstGeom prst="rect">
            <a:avLst/>
          </a:prstGeom>
          <a:ln w="12700">
            <a:solidFill>
              <a:srgbClr val="1621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A2944DAD-27CC-DAC8-6D27-D99E3D58AABA}"/>
              </a:ext>
            </a:extLst>
          </p:cNvPr>
          <p:cNvSpPr/>
          <p:nvPr/>
        </p:nvSpPr>
        <p:spPr>
          <a:xfrm>
            <a:off x="229895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521DF22B-4877-54EC-866F-00A6FF7FCFF0}"/>
              </a:ext>
            </a:extLst>
          </p:cNvPr>
          <p:cNvSpPr/>
          <p:nvPr/>
        </p:nvSpPr>
        <p:spPr>
          <a:xfrm>
            <a:off x="360451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4BA64318-B245-7F50-1A2C-08969646FA2E}"/>
              </a:ext>
            </a:extLst>
          </p:cNvPr>
          <p:cNvSpPr/>
          <p:nvPr/>
        </p:nvSpPr>
        <p:spPr>
          <a:xfrm>
            <a:off x="4910074" y="3118104"/>
            <a:ext cx="91440" cy="256032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8ADC2E07-8498-85CF-8451-AC82FB32455A}"/>
              </a:ext>
            </a:extLst>
          </p:cNvPr>
          <p:cNvSpPr/>
          <p:nvPr/>
        </p:nvSpPr>
        <p:spPr>
          <a:xfrm>
            <a:off x="621563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E2C7333B-2D76-28D1-7B06-44CE61EE52E0}"/>
              </a:ext>
            </a:extLst>
          </p:cNvPr>
          <p:cNvSpPr/>
          <p:nvPr/>
        </p:nvSpPr>
        <p:spPr>
          <a:xfrm>
            <a:off x="752119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17E9B633-0B6A-C2C3-94A8-F0361377671E}"/>
              </a:ext>
            </a:extLst>
          </p:cNvPr>
          <p:cNvSpPr/>
          <p:nvPr/>
        </p:nvSpPr>
        <p:spPr>
          <a:xfrm>
            <a:off x="882675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66487C77-67A5-12DC-215A-357D37C5E1F0}"/>
              </a:ext>
            </a:extLst>
          </p:cNvPr>
          <p:cNvSpPr/>
          <p:nvPr/>
        </p:nvSpPr>
        <p:spPr>
          <a:xfrm>
            <a:off x="1013231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A1E12B83-301E-8EE4-F375-D5AFCAA51A59}"/>
              </a:ext>
            </a:extLst>
          </p:cNvPr>
          <p:cNvSpPr/>
          <p:nvPr/>
        </p:nvSpPr>
        <p:spPr>
          <a:xfrm>
            <a:off x="11437874" y="3118104"/>
            <a:ext cx="91440" cy="256032"/>
          </a:xfrm>
          <a:prstGeom prst="rect">
            <a:avLst/>
          </a:prstGeom>
          <a:solidFill>
            <a:srgbClr val="C5C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F9375CB3-62C2-44BF-E8FE-549CA8C161A0}"/>
              </a:ext>
            </a:extLst>
          </p:cNvPr>
          <p:cNvSpPr/>
          <p:nvPr/>
        </p:nvSpPr>
        <p:spPr>
          <a:xfrm>
            <a:off x="4772914" y="3063240"/>
            <a:ext cx="365760" cy="365760"/>
          </a:xfrm>
          <a:prstGeom prst="ellipse">
            <a:avLst/>
          </a:prstGeom>
          <a:ln w="25400">
            <a:solidFill>
              <a:srgbClr val="FF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81EAFD9A-510C-076C-CE57-60258AF95C8A}"/>
              </a:ext>
            </a:extLst>
          </p:cNvPr>
          <p:cNvSpPr txBox="1"/>
          <p:nvPr/>
        </p:nvSpPr>
        <p:spPr>
          <a:xfrm>
            <a:off x="5211826" y="3118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segmented: nearest the window's middle</a:t>
            </a:r>
            <a:endParaRPr lang="en-US" sz="110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7D9DA317-C300-C776-E339-4096D35064AD}"/>
              </a:ext>
            </a:extLst>
          </p:cNvPr>
          <p:cNvSpPr/>
          <p:nvPr/>
        </p:nvSpPr>
        <p:spPr>
          <a:xfrm>
            <a:off x="4955794" y="3383280"/>
            <a:ext cx="1958340" cy="338328"/>
          </a:xfrm>
          <a:prstGeom prst="line">
            <a:avLst/>
          </a:prstGeom>
          <a:noFill/>
          <a:ln w="1270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1692258F-E475-88A0-9C72-3D84DE4CFB24}"/>
              </a:ext>
            </a:extLst>
          </p:cNvPr>
          <p:cNvSpPr/>
          <p:nvPr/>
        </p:nvSpPr>
        <p:spPr>
          <a:xfrm>
            <a:off x="6868414" y="3703320"/>
            <a:ext cx="91440" cy="182880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E9831837-67E7-E6D0-ADB0-5353EF0E6BF9}"/>
              </a:ext>
            </a:extLst>
          </p:cNvPr>
          <p:cNvSpPr/>
          <p:nvPr/>
        </p:nvSpPr>
        <p:spPr>
          <a:xfrm>
            <a:off x="5543296" y="2249424"/>
            <a:ext cx="1958340" cy="1472184"/>
          </a:xfrm>
          <a:prstGeom prst="line">
            <a:avLst/>
          </a:prstGeom>
          <a:noFill/>
          <a:ln w="12700">
            <a:solidFill>
              <a:srgbClr val="1621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DCFCB3B3-8FD2-B863-5FC8-BDE761B0FFD4}"/>
              </a:ext>
            </a:extLst>
          </p:cNvPr>
          <p:cNvSpPr/>
          <p:nvPr/>
        </p:nvSpPr>
        <p:spPr>
          <a:xfrm>
            <a:off x="7428484" y="3721608"/>
            <a:ext cx="146304" cy="14630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A7297BA2-B462-0297-65E9-99DF457A33DC}"/>
              </a:ext>
            </a:extLst>
          </p:cNvPr>
          <p:cNvSpPr txBox="1"/>
          <p:nvPr/>
        </p:nvSpPr>
        <p:spPr>
          <a:xfrm>
            <a:off x="7658303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arrives: 0.7 s of quiet ends the sentence + speech-to-text processing latency</a:t>
            </a:r>
            <a:endParaRPr lang="en-US" sz="110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514EBC14-B7A8-2A95-B718-8536884EBAA8}"/>
              </a:ext>
            </a:extLst>
          </p:cNvPr>
          <p:cNvSpPr/>
          <p:nvPr/>
        </p:nvSpPr>
        <p:spPr>
          <a:xfrm>
            <a:off x="7501636" y="4224528"/>
            <a:ext cx="3916680" cy="237744"/>
          </a:xfrm>
          <a:prstGeom prst="rect">
            <a:avLst/>
          </a:prstGeom>
          <a:ln w="12700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D2E482B3-2F0F-0F99-7743-95BA5FAB803C}"/>
              </a:ext>
            </a:extLst>
          </p:cNvPr>
          <p:cNvSpPr txBox="1"/>
          <p:nvPr/>
        </p:nvSpPr>
        <p:spPr>
          <a:xfrm>
            <a:off x="7501636" y="4224528"/>
            <a:ext cx="391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up to 3 s if gaze or the image is late</a:t>
            </a:r>
            <a:endParaRPr lang="en-US" sz="110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EBFE032B-68E6-0F94-A29C-F203151ADFA0}"/>
              </a:ext>
            </a:extLst>
          </p:cNvPr>
          <p:cNvSpPr/>
          <p:nvPr/>
        </p:nvSpPr>
        <p:spPr>
          <a:xfrm>
            <a:off x="7428484" y="4270248"/>
            <a:ext cx="146304" cy="146304"/>
          </a:xfrm>
          <a:prstGeom prst="ellipse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099D56E9-8B32-B596-3155-111E8E9BFC1D}"/>
              </a:ext>
            </a:extLst>
          </p:cNvPr>
          <p:cNvSpPr txBox="1"/>
          <p:nvPr/>
        </p:nvSpPr>
        <p:spPr>
          <a:xfrm>
            <a:off x="2279396" y="4206240"/>
            <a:ext cx="5091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decides, then SAM 3 and the vote</a:t>
            </a:r>
            <a:endParaRPr lang="en-US" sz="110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A525D846-46B7-2705-52FF-BCD3D2DC0673}"/>
              </a:ext>
            </a:extLst>
          </p:cNvPr>
          <p:cNvSpPr/>
          <p:nvPr/>
        </p:nvSpPr>
        <p:spPr>
          <a:xfrm>
            <a:off x="548640" y="5193792"/>
            <a:ext cx="2108606" cy="1024128"/>
          </a:xfrm>
          <a:prstGeom prst="roundRect">
            <a:avLst>
              <a:gd name="adj" fmla="val 89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A275B9FE-309F-3478-1E0A-B8ED16E21470}"/>
              </a:ext>
            </a:extLst>
          </p:cNvPr>
          <p:cNvSpPr txBox="1"/>
          <p:nvPr/>
        </p:nvSpPr>
        <p:spPr>
          <a:xfrm>
            <a:off x="685800" y="5266944"/>
            <a:ext cx="1880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  </a:t>
            </a:r>
            <a:r>
              <a:rPr lang="en-US" sz="12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window</a:t>
            </a:r>
            <a:endParaRPr lang="en-US" sz="160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ED5B5366-33E0-A4A4-C2F5-D026EEF75023}"/>
              </a:ext>
            </a:extLst>
          </p:cNvPr>
          <p:cNvSpPr txBox="1"/>
          <p:nvPr/>
        </p:nvSpPr>
        <p:spPr>
          <a:xfrm>
            <a:off x="685800" y="5559552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this long before the word, ends at the word's end</a:t>
            </a:r>
            <a:endParaRPr lang="en-US" sz="110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CF5728DC-EE2D-2FDD-D090-13798DB49AE6}"/>
              </a:ext>
            </a:extLst>
          </p:cNvPr>
          <p:cNvSpPr txBox="1"/>
          <p:nvPr/>
        </p:nvSpPr>
        <p:spPr>
          <a:xfrm>
            <a:off x="685800" y="5971032"/>
            <a:ext cx="18800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gaze_before_word_s</a:t>
            </a:r>
            <a:endParaRPr lang="en-US" sz="110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2460CCB6-C2B9-E821-FD09-286976C5A89A}"/>
              </a:ext>
            </a:extLst>
          </p:cNvPr>
          <p:cNvSpPr/>
          <p:nvPr/>
        </p:nvSpPr>
        <p:spPr>
          <a:xfrm>
            <a:off x="2794406" y="5193792"/>
            <a:ext cx="2108606" cy="1024128"/>
          </a:xfrm>
          <a:prstGeom prst="roundRect">
            <a:avLst>
              <a:gd name="adj" fmla="val 89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C23104B3-AEDF-2A16-0944-9EBD89A28034}"/>
              </a:ext>
            </a:extLst>
          </p:cNvPr>
          <p:cNvSpPr txBox="1"/>
          <p:nvPr/>
        </p:nvSpPr>
        <p:spPr>
          <a:xfrm>
            <a:off x="2931566" y="5266944"/>
            <a:ext cx="1880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s  </a:t>
            </a:r>
            <a:r>
              <a:rPr lang="en-US" sz="12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late data</a:t>
            </a:r>
            <a:endParaRPr lang="en-US" sz="160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B8B60736-90A3-42EF-CA46-C5390ABC1E17}"/>
              </a:ext>
            </a:extLst>
          </p:cNvPr>
          <p:cNvSpPr txBox="1"/>
          <p:nvPr/>
        </p:nvSpPr>
        <p:spPr>
          <a:xfrm>
            <a:off x="2931566" y="5559552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gaze up to the word's end and an image from the window</a:t>
            </a:r>
            <a:endParaRPr lang="en-US" sz="110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189BC320-6C75-0F61-5BD0-68AA4AC09277}"/>
              </a:ext>
            </a:extLst>
          </p:cNvPr>
          <p:cNvSpPr txBox="1"/>
          <p:nvPr/>
        </p:nvSpPr>
        <p:spPr>
          <a:xfrm>
            <a:off x="2931566" y="5971032"/>
            <a:ext cx="18800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matching_image_wait_s</a:t>
            </a:r>
            <a:endParaRPr lang="en-US" sz="110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27FD83EC-79DB-005F-222B-D9CE3D752B6D}"/>
              </a:ext>
            </a:extLst>
          </p:cNvPr>
          <p:cNvSpPr/>
          <p:nvPr/>
        </p:nvSpPr>
        <p:spPr>
          <a:xfrm>
            <a:off x="5040173" y="5193792"/>
            <a:ext cx="2108606" cy="1161288"/>
          </a:xfrm>
          <a:prstGeom prst="roundRect">
            <a:avLst>
              <a:gd name="adj" fmla="val 89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31039E46-25BD-56E6-4535-6CB37B3B7E5C}"/>
              </a:ext>
            </a:extLst>
          </p:cNvPr>
          <p:cNvSpPr txBox="1"/>
          <p:nvPr/>
        </p:nvSpPr>
        <p:spPr>
          <a:xfrm>
            <a:off x="5177333" y="5266944"/>
            <a:ext cx="1880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 </a:t>
            </a:r>
            <a:r>
              <a:rPr lang="en-US" sz="12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Voters </a:t>
            </a:r>
            <a:endParaRPr lang="en-US" sz="1600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7BAB9D92-E0C3-37A7-7E85-CA00D20CE203}"/>
              </a:ext>
            </a:extLst>
          </p:cNvPr>
          <p:cNvSpPr txBox="1"/>
          <p:nvPr/>
        </p:nvSpPr>
        <p:spPr>
          <a:xfrm>
            <a:off x="5177333" y="5559552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gaze taken within 0.5 s of the segmented image votes, so it matches what that image shows</a:t>
            </a:r>
            <a:endParaRPr lang="en-US" sz="1100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5C541668-A2B6-2918-6702-242F5664DC15}"/>
              </a:ext>
            </a:extLst>
          </p:cNvPr>
          <p:cNvSpPr txBox="1"/>
          <p:nvPr/>
        </p:nvSpPr>
        <p:spPr>
          <a:xfrm>
            <a:off x="5162093" y="6080760"/>
            <a:ext cx="18800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gaze_to_image_max_s</a:t>
            </a:r>
            <a:endParaRPr lang="en-US" sz="110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04B7AE8C-8C85-1DA4-AFAA-8863D238013E}"/>
              </a:ext>
            </a:extLst>
          </p:cNvPr>
          <p:cNvSpPr/>
          <p:nvPr/>
        </p:nvSpPr>
        <p:spPr>
          <a:xfrm>
            <a:off x="7285939" y="5193792"/>
            <a:ext cx="2108606" cy="1024128"/>
          </a:xfrm>
          <a:prstGeom prst="roundRect">
            <a:avLst>
              <a:gd name="adj" fmla="val 89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A4258CD5-A5AD-AF05-23F8-2E950BAABBB4}"/>
              </a:ext>
            </a:extLst>
          </p:cNvPr>
          <p:cNvSpPr txBox="1"/>
          <p:nvPr/>
        </p:nvSpPr>
        <p:spPr>
          <a:xfrm>
            <a:off x="7423099" y="5266944"/>
            <a:ext cx="1880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px  </a:t>
            </a:r>
            <a:r>
              <a:rPr lang="en-US" sz="12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reach</a:t>
            </a:r>
            <a:endParaRPr lang="en-US" sz="1600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CDC48065-F479-6C59-79C9-19676BF4F3E3}"/>
              </a:ext>
            </a:extLst>
          </p:cNvPr>
          <p:cNvSpPr txBox="1"/>
          <p:nvPr/>
        </p:nvSpPr>
        <p:spPr>
          <a:xfrm>
            <a:off x="7423099" y="5559552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gaze sample votes for the mask under it, or the nearest this close</a:t>
            </a:r>
            <a:endParaRPr lang="en-US" sz="1100"/>
          </a:p>
        </p:txBody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AC0D184C-7B7C-9706-A550-08F17FC180DF}"/>
              </a:ext>
            </a:extLst>
          </p:cNvPr>
          <p:cNvSpPr txBox="1"/>
          <p:nvPr/>
        </p:nvSpPr>
        <p:spPr>
          <a:xfrm>
            <a:off x="7423099" y="5971032"/>
            <a:ext cx="18800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pick_radius_px</a:t>
            </a:r>
            <a:endParaRPr lang="en-US" sz="1100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AE16C975-CEFF-11DD-C6D9-8680814BA972}"/>
              </a:ext>
            </a:extLst>
          </p:cNvPr>
          <p:cNvSpPr/>
          <p:nvPr/>
        </p:nvSpPr>
        <p:spPr>
          <a:xfrm>
            <a:off x="9531706" y="5193792"/>
            <a:ext cx="2108606" cy="1024128"/>
          </a:xfrm>
          <a:prstGeom prst="roundRect">
            <a:avLst>
              <a:gd name="adj" fmla="val 89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A66CC08C-EDA2-E57E-B5BA-CE5A15893827}"/>
              </a:ext>
            </a:extLst>
          </p:cNvPr>
          <p:cNvSpPr txBox="1"/>
          <p:nvPr/>
        </p:nvSpPr>
        <p:spPr>
          <a:xfrm>
            <a:off x="9668866" y="5266944"/>
            <a:ext cx="1880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 </a:t>
            </a:r>
            <a:r>
              <a:rPr lang="en-US" sz="12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share</a:t>
            </a:r>
            <a:endParaRPr lang="en-US" sz="1600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97667997-C675-7843-D22B-AE0837DD31CB}"/>
              </a:ext>
            </a:extLst>
          </p:cNvPr>
          <p:cNvSpPr txBox="1"/>
          <p:nvPr/>
        </p:nvSpPr>
        <p:spPr>
          <a:xfrm>
            <a:off x="9668866" y="5559552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it, no pick: the word alone stands</a:t>
            </a:r>
            <a:endParaRPr lang="en-US" sz="110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85F26EF0-C8B3-5798-2D4A-3C66A064D241}"/>
              </a:ext>
            </a:extLst>
          </p:cNvPr>
          <p:cNvSpPr txBox="1"/>
          <p:nvPr/>
        </p:nvSpPr>
        <p:spPr>
          <a:xfrm>
            <a:off x="9668866" y="5971032"/>
            <a:ext cx="18800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vote_min_share</a:t>
            </a:r>
            <a:endParaRPr lang="en-US" sz="1100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E2969BD1-64E5-C415-BAC5-3D1B9E4DF6DE}"/>
              </a:ext>
            </a:extLst>
          </p:cNvPr>
          <p:cNvSpPr txBox="1"/>
          <p:nvPr/>
        </p:nvSpPr>
        <p:spPr>
          <a:xfrm>
            <a:off x="548640" y="487375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is placed by when the glasses captured it, not when it reached the robot.</a:t>
            </a:r>
            <a:endParaRPr lang="en-US" sz="1200"/>
          </a:p>
        </p:txBody>
      </p:sp>
      <p:sp>
        <p:nvSpPr>
          <p:cNvPr id="116" name="Text 33">
            <a:extLst>
              <a:ext uri="{FF2B5EF4-FFF2-40B4-BE49-F238E27FC236}">
                <a16:creationId xmlns:a16="http://schemas.microsoft.com/office/drawing/2014/main" id="{D0112264-3370-1E57-8B90-890C79317FAA}"/>
              </a:ext>
            </a:extLst>
          </p:cNvPr>
          <p:cNvSpPr txBox="1"/>
          <p:nvPr/>
        </p:nvSpPr>
        <p:spPr>
          <a:xfrm>
            <a:off x="7960908" y="2859460"/>
            <a:ext cx="1219776" cy="404077"/>
          </a:xfrm>
          <a:prstGeom prst="rect">
            <a:avLst/>
          </a:prstGeom>
          <a:solidFill>
            <a:srgbClr val="FF79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ideally ends here</a:t>
            </a:r>
            <a:endParaRPr lang="en-US" sz="110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A129CC7-80E1-E124-1B66-476E229AC4E4}"/>
              </a:ext>
            </a:extLst>
          </p:cNvPr>
          <p:cNvCxnSpPr>
            <a:cxnSpLocks/>
          </p:cNvCxnSpPr>
          <p:nvPr/>
        </p:nvCxnSpPr>
        <p:spPr>
          <a:xfrm flipH="1">
            <a:off x="7595616" y="3282534"/>
            <a:ext cx="315976" cy="329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20502C-CB93-040C-748F-2624DA2CC647}"/>
              </a:ext>
            </a:extLst>
          </p:cNvPr>
          <p:cNvSpPr/>
          <p:nvPr/>
        </p:nvSpPr>
        <p:spPr>
          <a:xfrm>
            <a:off x="6551167" y="5355771"/>
            <a:ext cx="433019" cy="15806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EA27EE-7098-205B-DD3C-A73D7279B5B1}"/>
              </a:ext>
            </a:extLst>
          </p:cNvPr>
          <p:cNvSpPr/>
          <p:nvPr/>
        </p:nvSpPr>
        <p:spPr>
          <a:xfrm>
            <a:off x="2156866" y="5338790"/>
            <a:ext cx="390949" cy="158061"/>
          </a:xfrm>
          <a:prstGeom prst="rect">
            <a:avLst/>
          </a:prstGeom>
          <a:solidFill>
            <a:srgbClr val="D7E5F8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DAC98F2-2DC9-5285-1A7F-0DAB3E1B08A5}"/>
              </a:ext>
            </a:extLst>
          </p:cNvPr>
          <p:cNvSpPr/>
          <p:nvPr/>
        </p:nvSpPr>
        <p:spPr>
          <a:xfrm>
            <a:off x="4581145" y="5349240"/>
            <a:ext cx="229108" cy="158061"/>
          </a:xfrm>
          <a:prstGeom prst="rect">
            <a:avLst/>
          </a:prstGeom>
          <a:noFill/>
          <a:ln>
            <a:solidFill>
              <a:srgbClr val="C2400B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Shape 48">
            <a:extLst>
              <a:ext uri="{FF2B5EF4-FFF2-40B4-BE49-F238E27FC236}">
                <a16:creationId xmlns:a16="http://schemas.microsoft.com/office/drawing/2014/main" id="{0362583A-19FB-EB77-A792-550406E3F05E}"/>
              </a:ext>
            </a:extLst>
          </p:cNvPr>
          <p:cNvSpPr/>
          <p:nvPr/>
        </p:nvSpPr>
        <p:spPr>
          <a:xfrm>
            <a:off x="8901176" y="5322114"/>
            <a:ext cx="212174" cy="210005"/>
          </a:xfrm>
          <a:prstGeom prst="ellipse">
            <a:avLst/>
          </a:prstGeom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48">
            <a:extLst>
              <a:ext uri="{FF2B5EF4-FFF2-40B4-BE49-F238E27FC236}">
                <a16:creationId xmlns:a16="http://schemas.microsoft.com/office/drawing/2014/main" id="{6C72F4E7-7DDF-6F43-304E-1992B4CCD501}"/>
              </a:ext>
            </a:extLst>
          </p:cNvPr>
          <p:cNvSpPr/>
          <p:nvPr/>
        </p:nvSpPr>
        <p:spPr>
          <a:xfrm>
            <a:off x="11242040" y="5321808"/>
            <a:ext cx="164592" cy="164592"/>
          </a:xfrm>
          <a:prstGeom prst="ellipse">
            <a:avLst/>
          </a:prstGeom>
          <a:ln w="12700">
            <a:solidFill>
              <a:srgbClr val="162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60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A11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  What we inherited, and what we fixed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did you add beyond the earlier team's code?”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Gappler docs/CODE_AUDIT.md (audit of main @ 2d36a89, Sept 2026), task-tree.html, bench-runs/. Status as of 27 Oct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77724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THE AUDIT</a:t>
            </a:r>
            <a:endParaRPr lang="en-US" sz="1100"/>
          </a:p>
        </p:txBody>
      </p:sp>
      <p:sp>
        <p:nvSpPr>
          <p:cNvPr id="12" name="Text 9"/>
          <p:cNvSpPr txBox="1"/>
          <p:nvPr/>
        </p:nvSpPr>
        <p:spPr>
          <a:xfrm>
            <a:off x="777240" y="2286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findings</a:t>
            </a:r>
            <a:endParaRPr lang="en-US" sz="5000"/>
          </a:p>
        </p:txBody>
      </p:sp>
      <p:sp>
        <p:nvSpPr>
          <p:cNvPr id="13" name="Text 10"/>
          <p:cNvSpPr txBox="1"/>
          <p:nvPr/>
        </p:nvSpPr>
        <p:spPr>
          <a:xfrm>
            <a:off x="77724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read of the inherited code. No tests, no CI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713232" y="3954780"/>
            <a:ext cx="457200" cy="457200"/>
          </a:xfrm>
          <a:prstGeom prst="ellipse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0553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5880" y="38541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fixed</a:t>
            </a:r>
            <a:endParaRPr lang="en-US" sz="2000"/>
          </a:p>
        </p:txBody>
      </p:sp>
      <p:sp>
        <p:nvSpPr>
          <p:cNvPr id="18" name="Text 14"/>
          <p:cNvSpPr txBox="1"/>
          <p:nvPr/>
        </p:nvSpPr>
        <p:spPr>
          <a:xfrm>
            <a:off x="1325880" y="42016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closed, with evidence</a:t>
            </a:r>
            <a:endParaRPr lang="en-US" sz="1200"/>
          </a:p>
        </p:txBody>
      </p:sp>
      <p:sp>
        <p:nvSpPr>
          <p:cNvPr id="19" name="Shape 15"/>
          <p:cNvSpPr/>
          <p:nvPr/>
        </p:nvSpPr>
        <p:spPr>
          <a:xfrm>
            <a:off x="548640" y="47548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 txBox="1"/>
          <p:nvPr/>
        </p:nvSpPr>
        <p:spPr>
          <a:xfrm>
            <a:off x="713232" y="4892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100"/>
          </a:p>
        </p:txBody>
      </p:sp>
      <p:sp>
        <p:nvSpPr>
          <p:cNvPr id="21" name="Text 17"/>
          <p:cNvSpPr txBox="1"/>
          <p:nvPr/>
        </p:nvSpPr>
        <p:spPr>
          <a:xfrm>
            <a:off x="713232" y="51389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“stop” halts the base, not the arm (B3). Return leg lands 2 m off (E1). 9 more in the audit</a:t>
            </a:r>
            <a:endParaRPr lang="en-US" sz="13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520440" y="1874520"/>
          <a:ext cx="8119872" cy="44805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inherited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did, and the evidence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grasp could reach the arm: AnyGrasp ran only when idle, the state machine took grasps only when executing (A1 to A3)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fixed. Replay 41 grasp sets while executing, 0 idle. AnyGrasp path now grasps on the real arm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T1.8, T1.17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moved as if the box were not there, curved into it and pushed it away (A4)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added to the planning scene, straight final approach. 3 of 3 grasps, first plan, no push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T1.48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E-stop lost its stop message (0 to 5 of 5 trials), ignored Ctrl+C, dropped fast keys. Launcher promised a “q” stop that did not exist (B1, B2)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stop path checked on the bench. Launcher text corrected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driver launched twice (I1). Any detection started the arm, no request needed (B6)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removed behind a new static check. The arm starts only on a grasp request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T1.2, T1.25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Unlocked reads, non-atomic state, a queue that grew without limit after each grasp (C2 to C4, C7)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Locks and atomic state. A second request now runs in simulation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T1.9, T1.14, T1.24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any failed drive the goal bridge never sent another goal. All five nav nodes crashed on Ctrl+C (F1, F4, F5)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paths answer, clean exit. Checked by the nav-node bench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repeated many times per sentence. Arm's target word fixed as “box” in the source (B7, L1)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word per finished sentence (31 messages to 3 on replay). Voice sets the arm's target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T2.10, T2.1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of 54 channel names scattered through the code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53 owned channels in config. 7-level bench and CI on every PR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T0.14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A16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  Our memory graph vs HiCo-Nav's code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“Why not just run their code? What did you change?”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ZONGZHE_PROGRESS_REPORT_2026-10.md §1.2, §2.2. hico-nav/PAPER_REPORT.md §4.8, §5.6. MEMORY_GRAPH_DESIGN.md D-MG1, D-MG2, D-MG6, D-MG12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783080"/>
          <a:ext cx="11091672" cy="25511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HiCo-Nav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 simulator (public code). A D455 depth camera on their robot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recorded drive of our robot. Depth drawn from the LiDAR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 LiDAR. No depth camera recording yet (T6.2)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objects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YOLO-World on every frame, MobileSAM on kept photos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3, all 30 classes in one pass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on our box (D-MG6). 5.7× faster batched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keep a photo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detection, or the camera moved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camera moved 1 m or turned 45°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extra model on the shared GPU (D-MG12, tentative)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Qwen3-Omni API, or Qwen3-VL-8B offline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Qwen2.5-1.5B, local, text only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Theirs do not fit our 16 GB card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radius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cm, hard-coded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cm, in config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views of one object land 4 to 9 cm apart (A19)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kept per object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the code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more than one viewpoint (D-MG1, tentative)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73152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FIXED OR AVOIDED, FROM READING THEIR CODE</a:t>
            </a:r>
            <a:endParaRPr lang="en-US" sz="1100"/>
          </a:p>
        </p:txBody>
      </p:sp>
      <p:sp>
        <p:nvSpPr>
          <p:cNvPr id="13" name="Text 9"/>
          <p:cNvSpPr txBox="1"/>
          <p:nvPr/>
        </p:nvSpPr>
        <p:spPr>
          <a:xfrm>
            <a:off x="731520" y="5102352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graph link stored twice, synced by hand → stored once, with a consistency check</a:t>
            </a:r>
            <a:endParaRPr lang="en-US" sz="1100"/>
          </a:p>
        </p:txBody>
      </p:sp>
      <p:sp>
        <p:nvSpPr>
          <p:cNvPr id="14" name="Text 10"/>
          <p:cNvSpPr txBox="1"/>
          <p:nvPr/>
        </p:nvSpPr>
        <p:spPr>
          <a:xfrm>
            <a:off x="6217920" y="5102352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time limit on the language model → 10 s, then a CLIP fall-back</a:t>
            </a:r>
            <a:endParaRPr lang="en-US" sz="1100"/>
          </a:p>
        </p:txBody>
      </p:sp>
      <p:sp>
        <p:nvSpPr>
          <p:cNvPr id="15" name="Text 11"/>
          <p:cNvSpPr txBox="1"/>
          <p:nvPr/>
        </p:nvSpPr>
        <p:spPr>
          <a:xfrm>
            <a:off x="731520" y="5404104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 ids from a Python set, can change between runs → an append-only list</a:t>
            </a:r>
            <a:endParaRPr lang="en-US" sz="1100"/>
          </a:p>
        </p:txBody>
      </p:sp>
      <p:sp>
        <p:nvSpPr>
          <p:cNvPr id="16" name="Text 12"/>
          <p:cNvSpPr txBox="1"/>
          <p:nvPr/>
        </p:nvSpPr>
        <p:spPr>
          <a:xfrm>
            <a:off x="6217920" y="5404104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 score on objects never set → set on insert, merge and new task</a:t>
            </a:r>
            <a:endParaRPr lang="en-US" sz="110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Sort that depends on input order → sorted once by confidence, tested shuffled</a:t>
            </a:r>
            <a:endParaRPr lang="en-US" sz="1100"/>
          </a:p>
        </p:txBody>
      </p:sp>
      <p:sp>
        <p:nvSpPr>
          <p:cNvPr id="18" name="Text 14"/>
          <p:cNvSpPr txBox="1"/>
          <p:nvPr/>
        </p:nvSpPr>
        <p:spPr>
          <a:xfrm>
            <a:off x="6217920" y="5705856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Fixed 20 px crop around each object → padding relative to the box</a:t>
            </a:r>
            <a:endParaRPr lang="en-US" sz="1100"/>
          </a:p>
        </p:txBody>
      </p:sp>
      <p:sp>
        <p:nvSpPr>
          <p:cNvPr id="19" name="Text 15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repo has no licence file, so the code was read, never copied.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A17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A17  The photo gate: 29 photos, and what it costs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do you lose by keeping so few photos? Why 26 photos in one place and 29 in another?”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bench-runs/2026-10-22-labbox-t6.5-pose-gate-sweep.txt. bench-runs/2026-10-21-labbox-t6.4-drive-run.txt (correction of 2026-10-22). D-MG12, T6.10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/>
          </a:p>
        </p:txBody>
      </p:sp>
      <p:sp>
        <p:nvSpPr>
          <p:cNvPr id="10" name="Text 7"/>
          <p:cNvSpPr txBox="1"/>
          <p:nvPr/>
        </p:nvSpPr>
        <p:spPr>
          <a:xfrm>
            <a:off x="548640" y="17830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SETTINGS ON THE LAB DRIVE (3,536 FRAMES, 1.85 S PER SAM 3 CALL)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2103120"/>
          <a:ext cx="7498080" cy="1813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(m), turned (°)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kept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minute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 time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vs every frame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0.5, 30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0.5, 45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1.0, 45  (used)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1.0, 90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2.0, 45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2.0, 90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5262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through SAM 3 would take 6,542 s. HiCo-Nav reports 30 to 60 photos a minute [paper]. We keep 14.8.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7498080" cy="1325880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713232" y="502005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100"/>
          </a:p>
        </p:txBody>
      </p:sp>
      <p:sp>
        <p:nvSpPr>
          <p:cNvPr id="15" name="Text 11"/>
          <p:cNvSpPr txBox="1"/>
          <p:nvPr/>
        </p:nvSpPr>
        <p:spPr>
          <a:xfrm>
            <a:off x="713232" y="5276088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coming into view does not add a photo by itself. HiCo-Nav runs a cheap detector (YOLO-World) on every frame for that. We chose the pose check alone for now: no new model, no GPU time on the shared card. Revisit after the talk (T6.10).</a:t>
            </a:r>
            <a:endParaRPr lang="en-US" sz="1200"/>
          </a:p>
        </p:txBody>
      </p:sp>
      <p:sp>
        <p:nvSpPr>
          <p:cNvPr id="16" name="Shape 12"/>
          <p:cNvSpPr/>
          <p:nvPr/>
        </p:nvSpPr>
        <p:spPr>
          <a:xfrm>
            <a:off x="8229600" y="1783080"/>
            <a:ext cx="3410712" cy="1737360"/>
          </a:xfrm>
          <a:prstGeom prst="roundRect">
            <a:avLst>
              <a:gd name="adj" fmla="val 5263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 txBox="1"/>
          <p:nvPr/>
        </p:nvSpPr>
        <p:spPr>
          <a:xfrm>
            <a:off x="8458200" y="196596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KEPT</a:t>
            </a:r>
            <a:endParaRPr lang="en-US" sz="1100"/>
          </a:p>
        </p:txBody>
      </p:sp>
      <p:sp>
        <p:nvSpPr>
          <p:cNvPr id="18" name="Text 14"/>
          <p:cNvSpPr txBox="1"/>
          <p:nvPr/>
        </p:nvSpPr>
        <p:spPr>
          <a:xfrm>
            <a:off x="8458200" y="219456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3,536</a:t>
            </a:r>
            <a:endParaRPr lang="en-US" sz="5000"/>
          </a:p>
        </p:txBody>
      </p:sp>
      <p:sp>
        <p:nvSpPr>
          <p:cNvPr id="19" name="Text 15"/>
          <p:cNvSpPr txBox="1"/>
          <p:nvPr/>
        </p:nvSpPr>
        <p:spPr>
          <a:xfrm>
            <a:off x="8458200" y="30175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s of SAM 3 instead of 6,542 s</a:t>
            </a:r>
            <a:endParaRPr lang="en-US" sz="1300"/>
          </a:p>
        </p:txBody>
      </p:sp>
      <p:sp>
        <p:nvSpPr>
          <p:cNvPr id="20" name="Shape 16"/>
          <p:cNvSpPr/>
          <p:nvPr/>
        </p:nvSpPr>
        <p:spPr>
          <a:xfrm>
            <a:off x="8229600" y="3703320"/>
            <a:ext cx="3410712" cy="251460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 txBox="1"/>
          <p:nvPr/>
        </p:nvSpPr>
        <p:spPr>
          <a:xfrm>
            <a:off x="8394192" y="3831336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OR 29?</a:t>
            </a:r>
            <a:endParaRPr lang="en-US" sz="1100"/>
          </a:p>
        </p:txBody>
      </p:sp>
      <p:sp>
        <p:nvSpPr>
          <p:cNvPr id="22" name="Text 18"/>
          <p:cNvSpPr txBox="1"/>
          <p:nvPr/>
        </p:nvSpPr>
        <p:spPr>
          <a:xfrm>
            <a:off x="8394192" y="4087368"/>
            <a:ext cx="3118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29: the 1 m / 45° rule run over every frame.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26: the same rule applied to the 103 photos saved at a finer gate (0.25 m / 15°). The merge tuning (A19) used those 26. The conclusions hold at both 26 and 103 photos.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A18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A18  LiDAR depth and the occlusion filter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sparse is the LiDAR? What does the filter do, and what does it cost?”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ZONGZHE_PROGRESS_REPORT_2026-10.md §3.1, §3.4. MEMORY_GRAPH_DESIGN.md D-MG11. memory_graph/geometry.py drop_occluded, replay_loader.py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/>
          </a:p>
        </p:txBody>
      </p:sp>
      <p:pic>
        <p:nvPicPr>
          <p:cNvPr id="10" name="Image 0" descr="Frame 700 close-up, LiDAR points over the chai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4114800" cy="4069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83080"/>
            <a:ext cx="4114800" cy="4069080"/>
          </a:xfrm>
          <a:prstGeom prst="rect">
            <a:avLst/>
          </a:prstGeom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548640" y="5897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700, before the filter. LiDAR points coloured by distance: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points show between the chair's own.</a:t>
            </a:r>
            <a:endParaRPr lang="en-US" sz="1100"/>
          </a:p>
        </p:txBody>
      </p:sp>
      <p:sp>
        <p:nvSpPr>
          <p:cNvPr id="13" name="Text 9"/>
          <p:cNvSpPr txBox="1"/>
          <p:nvPr/>
        </p:nvSpPr>
        <p:spPr>
          <a:xfrm>
            <a:off x="489204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WITH A DEPTH READING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892040" y="2103120"/>
          <a:ext cx="3291840" cy="1036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scans used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 to 2.4 %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7 %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 either side (used)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 to 14.4 %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892040" y="37033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 txBox="1"/>
          <p:nvPr/>
        </p:nvSpPr>
        <p:spPr>
          <a:xfrm>
            <a:off x="5056632" y="38313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/>
          </a:p>
        </p:txBody>
      </p:sp>
      <p:sp>
        <p:nvSpPr>
          <p:cNvPr id="17" name="Text 12"/>
          <p:cNvSpPr txBox="1"/>
          <p:nvPr/>
        </p:nvSpPr>
        <p:spPr>
          <a:xfrm>
            <a:off x="5056632" y="4087368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 pixel if any pixel in its 7 × 7 block is more than 10 % nearer.</a:t>
            </a:r>
            <a:endParaRPr lang="en-US" sz="1300"/>
          </a:p>
        </p:txBody>
      </p:sp>
      <p:sp>
        <p:nvSpPr>
          <p:cNvPr id="18" name="Shape 13"/>
          <p:cNvSpPr/>
          <p:nvPr/>
        </p:nvSpPr>
        <p:spPr>
          <a:xfrm>
            <a:off x="4892040" y="498348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 txBox="1"/>
          <p:nvPr/>
        </p:nvSpPr>
        <p:spPr>
          <a:xfrm>
            <a:off x="5056632" y="51114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DEPTH CAMERA</a:t>
            </a:r>
            <a:endParaRPr lang="en-US" sz="1100"/>
          </a:p>
        </p:txBody>
      </p:sp>
      <p:sp>
        <p:nvSpPr>
          <p:cNvPr id="20" name="Text 15"/>
          <p:cNvSpPr txBox="1"/>
          <p:nvPr/>
        </p:nvSpPr>
        <p:spPr>
          <a:xfrm>
            <a:off x="5056632" y="536752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needed. A D455 depth image is dense and already shows only the nearest surface.</a:t>
            </a:r>
            <a:endParaRPr lang="en-US" sz="1200"/>
          </a:p>
        </p:txBody>
      </p:sp>
      <p:sp>
        <p:nvSpPr>
          <p:cNvPr id="21" name="Shape 16"/>
          <p:cNvSpPr/>
          <p:nvPr/>
        </p:nvSpPr>
        <p:spPr>
          <a:xfrm>
            <a:off x="8366760" y="1783080"/>
            <a:ext cx="3273552" cy="2651760"/>
          </a:xfrm>
          <a:prstGeom prst="roundRect">
            <a:avLst>
              <a:gd name="adj" fmla="val 3448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 txBox="1"/>
          <p:nvPr/>
        </p:nvSpPr>
        <p:spPr>
          <a:xfrm>
            <a:off x="8567928" y="19385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700, THE CHAIR</a:t>
            </a:r>
            <a:endParaRPr lang="en-US" sz="1100"/>
          </a:p>
        </p:txBody>
      </p:sp>
      <p:sp>
        <p:nvSpPr>
          <p:cNvPr id="23" name="Text 18"/>
          <p:cNvSpPr txBox="1"/>
          <p:nvPr/>
        </p:nvSpPr>
        <p:spPr>
          <a:xfrm>
            <a:off x="8567928" y="2240280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 to 2.08 m</a:t>
            </a:r>
            <a:endParaRPr lang="en-US" sz="1700"/>
          </a:p>
        </p:txBody>
      </p:sp>
      <p:sp>
        <p:nvSpPr>
          <p:cNvPr id="24" name="Text 19"/>
          <p:cNvSpPr txBox="1"/>
          <p:nvPr/>
        </p:nvSpPr>
        <p:spPr>
          <a:xfrm>
            <a:off x="8567928" y="25603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readings inside its outline</a:t>
            </a:r>
            <a:endParaRPr lang="en-US" sz="1100"/>
          </a:p>
        </p:txBody>
      </p:sp>
      <p:sp>
        <p:nvSpPr>
          <p:cNvPr id="25" name="Text 20"/>
          <p:cNvSpPr txBox="1"/>
          <p:nvPr/>
        </p:nvSpPr>
        <p:spPr>
          <a:xfrm>
            <a:off x="8567928" y="2953512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−0.02 → 0.58 m</a:t>
            </a:r>
            <a:endParaRPr lang="en-US" sz="1700"/>
          </a:p>
        </p:txBody>
      </p:sp>
      <p:sp>
        <p:nvSpPr>
          <p:cNvPr id="26" name="Text 21"/>
          <p:cNvSpPr txBox="1"/>
          <p:nvPr/>
        </p:nvSpPr>
        <p:spPr>
          <a:xfrm>
            <a:off x="8567928" y="327355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centre: a floor patch, then seat height</a:t>
            </a:r>
            <a:endParaRPr lang="en-US" sz="1100"/>
          </a:p>
        </p:txBody>
      </p:sp>
      <p:sp>
        <p:nvSpPr>
          <p:cNvPr id="27" name="Text 22"/>
          <p:cNvSpPr txBox="1"/>
          <p:nvPr/>
        </p:nvSpPr>
        <p:spPr>
          <a:xfrm>
            <a:off x="8567928" y="3666744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cm</a:t>
            </a:r>
            <a:endParaRPr lang="en-US" sz="1700"/>
          </a:p>
        </p:txBody>
      </p:sp>
      <p:sp>
        <p:nvSpPr>
          <p:cNvPr id="28" name="Text 23"/>
          <p:cNvSpPr txBox="1"/>
          <p:nvPr/>
        </p:nvSpPr>
        <p:spPr>
          <a:xfrm>
            <a:off x="8567928" y="398678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same chair seen in frame 2200, so they merge</a:t>
            </a:r>
            <a:endParaRPr lang="en-US" sz="1100"/>
          </a:p>
        </p:txBody>
      </p:sp>
      <p:sp>
        <p:nvSpPr>
          <p:cNvPr id="29" name="Shape 24"/>
          <p:cNvSpPr/>
          <p:nvPr/>
        </p:nvSpPr>
        <p:spPr>
          <a:xfrm>
            <a:off x="8366760" y="4617720"/>
            <a:ext cx="3273552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 txBox="1"/>
          <p:nvPr/>
        </p:nvSpPr>
        <p:spPr>
          <a:xfrm>
            <a:off x="8531352" y="4745736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100"/>
          </a:p>
        </p:txBody>
      </p:sp>
      <p:sp>
        <p:nvSpPr>
          <p:cNvPr id="31" name="Text 26"/>
          <p:cNvSpPr txBox="1"/>
          <p:nvPr/>
        </p:nvSpPr>
        <p:spPr>
          <a:xfrm>
            <a:off x="8531352" y="5001768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13.8 → 12.3 % on frame 700</a:t>
            </a:r>
            <a:endParaRPr lang="en-US" sz="1100"/>
          </a:p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Something thin on a surface (paper on a wall) is within 10 % and keeps its background</a:t>
            </a:r>
            <a:endParaRPr lang="en-US" sz="1100"/>
          </a:p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few true far pixels at a near object's edge are cleared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A19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A19  The answer key and the match radius sweep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“How do you know 8 to 3 is real? What is a false merge?”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ZONGZHE_PROGRESS_REPORT_2026-10.md §3.5. bench-runs/2026-10-21-labbox-t6.4-drive-run.txt. MEMORY_GRAPH_DESIGN.md D-MG2. memory_graph/eval/, score_drive.py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/>
          </a:p>
        </p:txBody>
      </p:sp>
      <p:pic>
        <p:nvPicPr>
          <p:cNvPr id="10" name="Image 0" descr="Hand-marked objects on the LiDAR 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951"/>
            <a:ext cx="4206240" cy="334496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83951"/>
            <a:ext cx="4206240" cy="3344962"/>
          </a:xfrm>
          <a:prstGeom prst="rect">
            <a:avLst/>
          </a:prstGeom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548640" y="51755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LiDAR map, drive 1. Red: objects marked by hand.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shown, 16 in the final key.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548640" y="566928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713232" y="5797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5" name="Text 11"/>
          <p:cNvSpPr txBox="1"/>
          <p:nvPr/>
        </p:nvSpPr>
        <p:spPr>
          <a:xfrm>
            <a:off x="713232" y="6053328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/>
          </a:p>
        </p:txBody>
      </p:sp>
      <p:sp>
        <p:nvSpPr>
          <p:cNvPr id="16" name="Text 12"/>
          <p:cNvSpPr txBox="1"/>
          <p:nvPr/>
        </p:nvSpPr>
        <p:spPr>
          <a:xfrm>
            <a:off x="713232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from the map and photos only. No SAM 3 or merge code used.</a:t>
            </a:r>
            <a:endParaRPr lang="en-US" sz="1200"/>
          </a:p>
        </p:txBody>
      </p:sp>
      <p:sp>
        <p:nvSpPr>
          <p:cNvPr id="17" name="Text 13"/>
          <p:cNvSpPr txBox="1"/>
          <p:nvPr/>
        </p:nvSpPr>
        <p:spPr>
          <a:xfrm>
            <a:off x="4983480" y="1783080"/>
            <a:ext cx="6656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/ FALSE MERGES / MISSES, OUT OF 16 REAL OBJECTS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983480" y="2103120"/>
          <a:ext cx="6656832" cy="263347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radius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1 (26 photos)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2 (14 photos)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1 /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cm (HiCo-Nav)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0 / 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0 / 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0 /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cm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0 /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cm (used)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0 /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 / 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0 /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 / 8, but a chair merged into its desk*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0 /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by look only (2.5 cm)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4983480" y="5029200"/>
            <a:ext cx="6656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Found by looking: the false-merge count misses some over-merging. Drive 2 lined up with drive 1 by ICP.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4983480" y="5349240"/>
            <a:ext cx="2127504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 txBox="1"/>
          <p:nvPr/>
        </p:nvSpPr>
        <p:spPr>
          <a:xfrm>
            <a:off x="5148072" y="5477256"/>
            <a:ext cx="1853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100"/>
          </a:p>
        </p:txBody>
      </p:sp>
      <p:sp>
        <p:nvSpPr>
          <p:cNvPr id="22" name="Text 17"/>
          <p:cNvSpPr txBox="1"/>
          <p:nvPr/>
        </p:nvSpPr>
        <p:spPr>
          <a:xfrm>
            <a:off x="5148072" y="5733288"/>
            <a:ext cx="1834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graph object of the same kind on one real object</a:t>
            </a:r>
            <a:endParaRPr lang="en-US" sz="1100"/>
          </a:p>
        </p:txBody>
      </p:sp>
      <p:sp>
        <p:nvSpPr>
          <p:cNvPr id="23" name="Shape 18"/>
          <p:cNvSpPr/>
          <p:nvPr/>
        </p:nvSpPr>
        <p:spPr>
          <a:xfrm>
            <a:off x="7248144" y="5349240"/>
            <a:ext cx="2127504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 txBox="1"/>
          <p:nvPr/>
        </p:nvSpPr>
        <p:spPr>
          <a:xfrm>
            <a:off x="7412736" y="5477256"/>
            <a:ext cx="1853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MERGE</a:t>
            </a:r>
            <a:endParaRPr lang="en-US" sz="1100"/>
          </a:p>
        </p:txBody>
      </p:sp>
      <p:sp>
        <p:nvSpPr>
          <p:cNvPr id="25" name="Text 20"/>
          <p:cNvSpPr txBox="1"/>
          <p:nvPr/>
        </p:nvSpPr>
        <p:spPr>
          <a:xfrm>
            <a:off x="7412736" y="5733288"/>
            <a:ext cx="1834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objects stored as one graph object</a:t>
            </a:r>
            <a:endParaRPr lang="en-US" sz="1100"/>
          </a:p>
        </p:txBody>
      </p:sp>
      <p:sp>
        <p:nvSpPr>
          <p:cNvPr id="26" name="Shape 21"/>
          <p:cNvSpPr/>
          <p:nvPr/>
        </p:nvSpPr>
        <p:spPr>
          <a:xfrm>
            <a:off x="9512808" y="5349240"/>
            <a:ext cx="2127504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 txBox="1"/>
          <p:nvPr/>
        </p:nvSpPr>
        <p:spPr>
          <a:xfrm>
            <a:off x="9677400" y="5477256"/>
            <a:ext cx="1853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100"/>
          </a:p>
        </p:txBody>
      </p:sp>
      <p:sp>
        <p:nvSpPr>
          <p:cNvPr id="28" name="Text 23"/>
          <p:cNvSpPr txBox="1"/>
          <p:nvPr/>
        </p:nvSpPr>
        <p:spPr>
          <a:xfrm>
            <a:off x="9677400" y="5733288"/>
            <a:ext cx="1834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object with no graph object on it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A20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A20  How the memory graph is tested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“Did you test it? What do the tests check?”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memory_graph/tests/ (23 files, 399 tests). bench-runs/2026-10-23-labbox-t6.7-step5-tests.txt. ZONGZHE_PROGRESS_REPORT_2026-10.md §3.9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783080"/>
          <a:ext cx="7863840" cy="3246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checks (test names, shortened)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recording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wall from two poses lands in the same place. A wrong pose or depth scale misses by 20 cm or more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 photo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straight drive keeps a photo past every metre. Turning on the spot keeps one past every 45°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objects, masks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Detections sort the same when the input is shuffled. Batched SAM 3 gives the one-call answer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feature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chair scores above chair against other objects. Text and image vectors share one space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sightings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chair from views 30° apart matches. Two identical chairs side by side do not merge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photos, clean up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object keeps enough photos. A second pass does not grow the photo count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graph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related object never outranks a target. A rejected object is skipped next time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photo and drive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stored lab photos replayed through every stage still give the same objects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943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test file. Stored lab photos with SAM 3's real output let most tests run without a GPU.</a:t>
            </a:r>
            <a:endParaRPr lang="en-US" sz="1100"/>
          </a:p>
        </p:txBody>
      </p:sp>
      <p:sp>
        <p:nvSpPr>
          <p:cNvPr id="12" name="Shape 8"/>
          <p:cNvSpPr/>
          <p:nvPr/>
        </p:nvSpPr>
        <p:spPr>
          <a:xfrm>
            <a:off x="8641080" y="1783080"/>
            <a:ext cx="2999232" cy="1920240"/>
          </a:xfrm>
          <a:prstGeom prst="roundRect">
            <a:avLst>
              <a:gd name="adj" fmla="val 476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 txBox="1"/>
          <p:nvPr/>
        </p:nvSpPr>
        <p:spPr>
          <a:xfrm>
            <a:off x="8869680" y="19659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LAB BOX GPU</a:t>
            </a:r>
            <a:endParaRPr lang="en-US" sz="1100"/>
          </a:p>
        </p:txBody>
      </p:sp>
      <p:sp>
        <p:nvSpPr>
          <p:cNvPr id="14" name="Text 10"/>
          <p:cNvSpPr txBox="1"/>
          <p:nvPr/>
        </p:nvSpPr>
        <p:spPr>
          <a:xfrm>
            <a:off x="8869680" y="21945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</a:t>
            </a:r>
            <a:r>
              <a:rPr lang="en-US" sz="22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</a:t>
            </a:r>
            <a:endParaRPr lang="en-US" sz="5000"/>
          </a:p>
        </p:txBody>
      </p:sp>
      <p:sp>
        <p:nvSpPr>
          <p:cNvPr id="15" name="Text 11"/>
          <p:cNvSpPr txBox="1"/>
          <p:nvPr/>
        </p:nvSpPr>
        <p:spPr>
          <a:xfrm>
            <a:off x="8869680" y="301752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skipped, 23 Oct 2026. Real SAM 3, CLIP and Qwen models</a:t>
            </a:r>
            <a:endParaRPr lang="en-US" sz="1300"/>
          </a:p>
        </p:txBody>
      </p:sp>
      <p:sp>
        <p:nvSpPr>
          <p:cNvPr id="16" name="Shape 12"/>
          <p:cNvSpPr/>
          <p:nvPr/>
        </p:nvSpPr>
        <p:spPr>
          <a:xfrm>
            <a:off x="8641080" y="3886200"/>
            <a:ext cx="2999232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 txBox="1"/>
          <p:nvPr/>
        </p:nvSpPr>
        <p:spPr>
          <a:xfrm>
            <a:off x="8805672" y="4014216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QUIZZES</a:t>
            </a:r>
            <a:endParaRPr lang="en-US" sz="1100"/>
          </a:p>
        </p:txBody>
      </p:sp>
      <p:sp>
        <p:nvSpPr>
          <p:cNvPr id="18" name="Text 14"/>
          <p:cNvSpPr txBox="1"/>
          <p:nvPr/>
        </p:nvSpPr>
        <p:spPr>
          <a:xfrm>
            <a:off x="8805672" y="4270248"/>
            <a:ext cx="2706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task. The M6 quiz found 11 code issues: 3 correctness fixes landed (T6.9). The T6.7 quiz found 6, all fixed.</a:t>
            </a:r>
            <a:endParaRPr lang="en-US" sz="1100"/>
          </a:p>
        </p:txBody>
      </p:sp>
      <p:sp>
        <p:nvSpPr>
          <p:cNvPr id="19" name="Shape 15"/>
          <p:cNvSpPr/>
          <p:nvPr/>
        </p:nvSpPr>
        <p:spPr>
          <a:xfrm>
            <a:off x="8641080" y="5166360"/>
            <a:ext cx="2999232" cy="1051560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 txBox="1"/>
          <p:nvPr/>
        </p:nvSpPr>
        <p:spPr>
          <a:xfrm>
            <a:off x="8805672" y="5294376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 YET</a:t>
            </a:r>
            <a:endParaRPr lang="en-US" sz="1100"/>
          </a:p>
        </p:txBody>
      </p:sp>
      <p:sp>
        <p:nvSpPr>
          <p:cNvPr id="21" name="Text 17"/>
          <p:cNvSpPr txBox="1"/>
          <p:nvPr/>
        </p:nvSpPr>
        <p:spPr>
          <a:xfrm>
            <a:off x="8805672" y="5550408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query on the full recorded drive, against the answer key (T6.8).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A21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A21  From a sentence to classes: the reasoning check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if the model hangs? Why a small local model? What does “find a chair” really give?”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bench-runs/2026-10-23-labbox-t6.7-reasoning-check.txt, local/t6.7/out/check_reasoning.json, 2026-10-23-labbox-t6.7-step5-tests.txt. memory_graph/config.py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/>
          </a:p>
        </p:txBody>
      </p:sp>
      <p:sp>
        <p:nvSpPr>
          <p:cNvPr id="10" name="Text 7"/>
          <p:cNvSpPr txBox="1"/>
          <p:nvPr/>
        </p:nvSpPr>
        <p:spPr>
          <a:xfrm>
            <a:off x="548640" y="17830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INSTRUCTIONS, FROZEN BEFORE THE RUN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2103120"/>
          <a:ext cx="6766560" cy="1036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Right, scored by script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Right, by hand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time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 (used)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of 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of 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 to 0.32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Qwen2.5-0.5B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of 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marked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 to 0.35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fall-back alone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of 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22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6118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BY KIND (SCRIPT SCORE)</a:t>
            </a:r>
            <a:endParaRPr lang="en-US" sz="110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548640" y="3931920"/>
          <a:ext cx="6766560" cy="9753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list (5)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 (4)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(3)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(4)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(2)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list (4)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Fall-back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548640" y="53492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slide's 20 of 22 is the hand score. Its 15 (fall-back) and 12 (0.5B) are script scores.</a:t>
            </a:r>
            <a:endParaRPr lang="en-US" sz="1100"/>
          </a:p>
        </p:txBody>
      </p:sp>
      <p:sp>
        <p:nvSpPr>
          <p:cNvPr id="15" name="Shape 10"/>
          <p:cNvSpPr/>
          <p:nvPr/>
        </p:nvSpPr>
        <p:spPr>
          <a:xfrm>
            <a:off x="7543800" y="1783080"/>
            <a:ext cx="4096512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 txBox="1"/>
          <p:nvPr/>
        </p:nvSpPr>
        <p:spPr>
          <a:xfrm>
            <a:off x="7708392" y="191109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REPLIES TO “FIND A CHAIR”</a:t>
            </a:r>
            <a:endParaRPr lang="en-US" sz="1100"/>
          </a:p>
        </p:txBody>
      </p:sp>
      <p:sp>
        <p:nvSpPr>
          <p:cNvPr id="17" name="Text 12"/>
          <p:cNvSpPr txBox="1"/>
          <p:nvPr/>
        </p:nvSpPr>
        <p:spPr>
          <a:xfrm>
            <a:off x="7708392" y="2167128"/>
            <a:ext cx="3803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1.5B: chair. No related classes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0.5B: chair + cabinet, desk, shelf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Fall-back: chair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named related classes for 1 of 22. The prompt now asks for 2 to 5. Not re-run since.</a:t>
            </a:r>
            <a:endParaRPr lang="en-US" sz="1200"/>
          </a:p>
        </p:txBody>
      </p:sp>
      <p:sp>
        <p:nvSpPr>
          <p:cNvPr id="18" name="Shape 13"/>
          <p:cNvSpPr/>
          <p:nvPr/>
        </p:nvSpPr>
        <p:spPr>
          <a:xfrm>
            <a:off x="7543800" y="4023360"/>
            <a:ext cx="4096512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 txBox="1"/>
          <p:nvPr/>
        </p:nvSpPr>
        <p:spPr>
          <a:xfrm>
            <a:off x="7708392" y="415137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</a:t>
            </a:r>
            <a:endParaRPr lang="en-US" sz="1100"/>
          </a:p>
        </p:txBody>
      </p:sp>
      <p:sp>
        <p:nvSpPr>
          <p:cNvPr id="20" name="Text 15"/>
          <p:cNvSpPr txBox="1"/>
          <p:nvPr/>
        </p:nvSpPr>
        <p:spPr>
          <a:xfrm>
            <a:off x="7708392" y="4407408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 10 s, or an empty or unusable reply: CLIP picks the closest class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Targets always rank before related objects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Local: no API key, no network, nothing leaves the lab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paper's Qwen3-Omni needs 20 to 24 GB run locally [paper]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A22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  Why a 24 GB card would help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“Why would 24 GB help? Why not run the paper's model?”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ZONGZHE_PROGRESS_REPORT_2026-10.md §3.3 (measured peaks). hico-nav/PAPER_REPORT.md §6.4 (8B estimate, [inferred]). COMBINED_PROGRESS_REPORT_2026-10.md §9.3 item 5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/>
          </a:p>
        </p:txBody>
      </p:sp>
      <p:sp>
        <p:nvSpPr>
          <p:cNvPr id="10" name="Text 7"/>
          <p:cNvSpPr txBox="1"/>
          <p:nvPr/>
        </p:nvSpPr>
        <p:spPr>
          <a:xfrm>
            <a:off x="54864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MEMORY, GIB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2743200" y="2103120"/>
            <a:ext cx="914" cy="2240280"/>
          </a:xfrm>
          <a:prstGeom prst="line">
            <a:avLst/>
          </a:prstGeom>
          <a:noFill/>
          <a:ln w="9525">
            <a:solidFill>
              <a:srgbClr val="D7DEE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2468880" y="4389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4650377" y="2103120"/>
            <a:ext cx="914" cy="2240280"/>
          </a:xfrm>
          <a:prstGeom prst="line">
            <a:avLst/>
          </a:prstGeom>
          <a:noFill/>
          <a:ln w="9525">
            <a:solidFill>
              <a:srgbClr val="D7DEE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4376057" y="4389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6557554" y="2103120"/>
            <a:ext cx="914" cy="2240280"/>
          </a:xfrm>
          <a:prstGeom prst="line">
            <a:avLst/>
          </a:prstGeom>
          <a:noFill/>
          <a:ln w="9525">
            <a:solidFill>
              <a:srgbClr val="D7DEE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6283234" y="4389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8464731" y="2103120"/>
            <a:ext cx="914" cy="2240280"/>
          </a:xfrm>
          <a:prstGeom prst="line">
            <a:avLst/>
          </a:prstGeom>
          <a:noFill/>
          <a:ln w="9525">
            <a:solidFill>
              <a:srgbClr val="D7DEE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8190411" y="4389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/>
          </a:p>
        </p:txBody>
      </p:sp>
      <p:sp>
        <p:nvSpPr>
          <p:cNvPr id="19" name="Text 16"/>
          <p:cNvSpPr txBox="1"/>
          <p:nvPr/>
        </p:nvSpPr>
        <p:spPr>
          <a:xfrm>
            <a:off x="5486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card (RTX 4060 Ti)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2743200" y="2240280"/>
            <a:ext cx="3814354" cy="457200"/>
          </a:xfrm>
          <a:prstGeom prst="rect">
            <a:avLst/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2743200" y="224028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/>
          </a:p>
        </p:txBody>
      </p:sp>
      <p:sp>
        <p:nvSpPr>
          <p:cNvPr id="22" name="Text 19"/>
          <p:cNvSpPr txBox="1"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 GB card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2743200" y="2926080"/>
            <a:ext cx="5721531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 txBox="1"/>
          <p:nvPr/>
        </p:nvSpPr>
        <p:spPr>
          <a:xfrm>
            <a:off x="2743200" y="2926080"/>
            <a:ext cx="5721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/>
          </a:p>
        </p:txBody>
      </p:sp>
      <p:sp>
        <p:nvSpPr>
          <p:cNvPr id="25" name="Text 22"/>
          <p:cNvSpPr txBox="1"/>
          <p:nvPr/>
        </p:nvSpPr>
        <p:spPr>
          <a:xfrm>
            <a:off x="54864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+ 8B model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2743200" y="3611880"/>
            <a:ext cx="2455491" cy="457200"/>
          </a:xfrm>
          <a:prstGeom prst="rect">
            <a:avLst/>
          </a:prstGeom>
          <a:solidFill>
            <a:srgbClr val="0068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 txBox="1"/>
          <p:nvPr/>
        </p:nvSpPr>
        <p:spPr>
          <a:xfrm>
            <a:off x="2743200" y="3611880"/>
            <a:ext cx="24554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 10.3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5198691" y="3611880"/>
            <a:ext cx="1907177" cy="457200"/>
          </a:xfrm>
          <a:prstGeom prst="rect">
            <a:avLst/>
          </a:prstGeom>
          <a:solidFill>
            <a:srgbClr val="FF7A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 txBox="1"/>
          <p:nvPr/>
        </p:nvSpPr>
        <p:spPr>
          <a:xfrm>
            <a:off x="5198691" y="361188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model, 8</a:t>
            </a:r>
            <a:endParaRPr lang="en-US" sz="1100"/>
          </a:p>
        </p:txBody>
      </p:sp>
      <p:sp>
        <p:nvSpPr>
          <p:cNvPr id="30" name="Shape 27"/>
          <p:cNvSpPr/>
          <p:nvPr/>
        </p:nvSpPr>
        <p:spPr>
          <a:xfrm>
            <a:off x="7105868" y="3611880"/>
            <a:ext cx="1907177" cy="457200"/>
          </a:xfrm>
          <a:prstGeom prst="rect">
            <a:avLst/>
          </a:prstGeom>
          <a:ln w="15875">
            <a:solidFill>
              <a:srgbClr val="FF7A3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 txBox="1"/>
          <p:nvPr/>
        </p:nvSpPr>
        <p:spPr>
          <a:xfrm>
            <a:off x="7105868" y="361188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uncompressed</a:t>
            </a:r>
            <a:endParaRPr lang="en-US" sz="1100"/>
          </a:p>
        </p:txBody>
      </p:sp>
      <p:sp>
        <p:nvSpPr>
          <p:cNvPr id="32" name="Text 29"/>
          <p:cNvSpPr txBox="1"/>
          <p:nvPr/>
        </p:nvSpPr>
        <p:spPr>
          <a:xfrm>
            <a:off x="548640" y="4709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3: measured peak, all phrases batched 16 per pass. 8B model: estimate, 8 to 16 GB depending on compression.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548640" y="5120640"/>
            <a:ext cx="83210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 txBox="1"/>
          <p:nvPr/>
        </p:nvSpPr>
        <p:spPr>
          <a:xfrm>
            <a:off x="713232" y="52486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100"/>
          </a:p>
        </p:txBody>
      </p:sp>
      <p:sp>
        <p:nvSpPr>
          <p:cNvPr id="35" name="Text 32"/>
          <p:cNvSpPr txBox="1"/>
          <p:nvPr/>
        </p:nvSpPr>
        <p:spPr>
          <a:xfrm>
            <a:off x="713232" y="5504688"/>
            <a:ext cx="8028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plus a compressed 8B model (up to about 13 GB) fits in 24 GB, never in 16. Uncompressed (16 GB) it does not fit in 24 either.</a:t>
            </a:r>
            <a:endParaRPr lang="en-US" sz="1300"/>
          </a:p>
        </p:txBody>
      </p:sp>
      <p:sp>
        <p:nvSpPr>
          <p:cNvPr id="36" name="Shape 33"/>
          <p:cNvSpPr/>
          <p:nvPr/>
        </p:nvSpPr>
        <p:spPr>
          <a:xfrm>
            <a:off x="9098280" y="1783080"/>
            <a:ext cx="2542032" cy="4434840"/>
          </a:xfrm>
          <a:prstGeom prst="roundRect">
            <a:avLst>
              <a:gd name="adj" fmla="val 359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 txBox="1"/>
          <p:nvPr/>
        </p:nvSpPr>
        <p:spPr>
          <a:xfrm>
            <a:off x="9262872" y="19110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SAME CARD</a:t>
            </a:r>
            <a:endParaRPr lang="en-US" sz="1100"/>
          </a:p>
        </p:txBody>
      </p:sp>
      <p:sp>
        <p:nvSpPr>
          <p:cNvPr id="38" name="Text 35"/>
          <p:cNvSpPr txBox="1"/>
          <p:nvPr/>
        </p:nvSpPr>
        <p:spPr>
          <a:xfrm>
            <a:off x="9262872" y="2167128"/>
            <a:ext cx="22494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SAM 3 service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AnyGrasp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CLIP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(speech)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Qwen models</a:t>
            </a:r>
            <a:endParaRPr lang="en-US" sz="1200"/>
          </a:p>
          <a:p>
            <a:pPr marL="0" indent="0">
              <a:spcAft>
                <a:spcPts val="300"/>
              </a:spcAft>
              <a:buNone/>
            </a:pPr>
            <a:endParaRPr lang="en-US" sz="1200"/>
          </a:p>
          <a:p>
            <a:pPr marL="0" indent="0">
              <a:spcAft>
                <a:spcPts val="300"/>
              </a:spcAft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3 people and the CI runner. They have never all run together: each part is tested alone.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GAPPLER  ·  APPENDIX</a:t>
            </a:r>
            <a:endParaRPr lang="en-US" sz="1100"/>
          </a:p>
        </p:txBody>
      </p:sp>
      <p:sp>
        <p:nvSpPr>
          <p:cNvPr id="3" name="Shape 1"/>
          <p:cNvSpPr/>
          <p:nvPr/>
        </p:nvSpPr>
        <p:spPr>
          <a:xfrm>
            <a:off x="9445752" y="34747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445752" y="347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·  A23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A23  The reclarification node (planned)</a:t>
            </a:r>
            <a:endParaRPr lang="en-US" sz="300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is the reclarification node? How does it talk to the user?”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task-tree.html T11.4, T11.7, T11.8. PROJECT_PLAN.md §5.1 (M11). Not started: about 10 hours, M11 forecast 21 Dec 2026 to 21 Feb 2027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18288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6858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" y="2240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unclear, e.g. two identical boxes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3017520" y="2395728"/>
            <a:ext cx="411480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474720" y="178308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0068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3657600" y="18928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USER_CLARIFICATION_NODE  ·  AN LLM LOOP (T11.8)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3657600" y="22402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37947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graph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37947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text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6035040" y="22402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617220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candidates</a:t>
            </a:r>
            <a:endParaRPr lang="en-US" sz="1400"/>
          </a:p>
        </p:txBody>
      </p:sp>
      <p:sp>
        <p:nvSpPr>
          <p:cNvPr id="21" name="Shape 18"/>
          <p:cNvSpPr/>
          <p:nvPr/>
        </p:nvSpPr>
        <p:spPr>
          <a:xfrm>
            <a:off x="3657600" y="31546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 txBox="1"/>
          <p:nvPr/>
        </p:nvSpPr>
        <p:spPr>
          <a:xfrm>
            <a:off x="37947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one</a:t>
            </a:r>
            <a:endParaRPr lang="en-US" sz="1400"/>
          </a:p>
        </p:txBody>
      </p:sp>
      <p:sp>
        <p:nvSpPr>
          <p:cNvPr id="23" name="Text 20"/>
          <p:cNvSpPr txBox="1"/>
          <p:nvPr/>
        </p:nvSpPr>
        <p:spPr>
          <a:xfrm>
            <a:off x="379476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nearby objects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6035040" y="31546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 txBox="1"/>
          <p:nvPr/>
        </p:nvSpPr>
        <p:spPr>
          <a:xfrm>
            <a:off x="617220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</a:t>
            </a:r>
            <a:endParaRPr lang="en-US" sz="1400"/>
          </a:p>
        </p:txBody>
      </p:sp>
      <p:sp>
        <p:nvSpPr>
          <p:cNvPr id="26" name="Text 23"/>
          <p:cNvSpPr txBox="1"/>
          <p:nvPr/>
        </p:nvSpPr>
        <p:spPr>
          <a:xfrm>
            <a:off x="617220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</a:t>
            </a:r>
            <a:endParaRPr lang="en-US" sz="1100"/>
          </a:p>
        </p:txBody>
      </p:sp>
      <p:sp>
        <p:nvSpPr>
          <p:cNvPr id="27" name="Text 24"/>
          <p:cNvSpPr txBox="1"/>
          <p:nvPr/>
        </p:nvSpPr>
        <p:spPr>
          <a:xfrm>
            <a:off x="36576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a tool each turn, until it can end. At most 3 questions for now.</a:t>
            </a:r>
            <a:endParaRPr lang="en-US" sz="1200"/>
          </a:p>
        </p:txBody>
      </p:sp>
      <p:sp>
        <p:nvSpPr>
          <p:cNvPr id="28" name="Shape 25"/>
          <p:cNvSpPr/>
          <p:nvPr/>
        </p:nvSpPr>
        <p:spPr>
          <a:xfrm>
            <a:off x="8412480" y="3566160"/>
            <a:ext cx="411480" cy="914"/>
          </a:xfrm>
          <a:prstGeom prst="line">
            <a:avLst/>
          </a:prstGeom>
          <a:noFill/>
          <a:ln w="19050">
            <a:solidFill>
              <a:srgbClr val="16213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8869680" y="2926080"/>
            <a:ext cx="2770632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 txBox="1"/>
          <p:nvPr/>
        </p:nvSpPr>
        <p:spPr>
          <a:xfrm>
            <a:off x="9006840" y="30175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web page (T11.7)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9006840" y="333756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question with the phone's own voice, can show pictures of the candidates. No app. The glasses have no speaker</a:t>
            </a:r>
            <a:endParaRPr lang="en-US" sz="1100"/>
          </a:p>
        </p:txBody>
      </p:sp>
      <p:sp>
        <p:nvSpPr>
          <p:cNvPr id="32" name="Text 29"/>
          <p:cNvSpPr txBox="1"/>
          <p:nvPr/>
        </p:nvSpPr>
        <p:spPr>
          <a:xfrm>
            <a:off x="548640" y="50292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WITH ONE OF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548640" y="534924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 txBox="1"/>
          <p:nvPr/>
        </p:nvSpPr>
        <p:spPr>
          <a:xfrm>
            <a:off x="685800" y="5413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300"/>
          </a:p>
        </p:txBody>
      </p:sp>
      <p:sp>
        <p:nvSpPr>
          <p:cNvPr id="35" name="Text 32"/>
          <p:cNvSpPr txBox="1"/>
          <p:nvPr/>
        </p:nvSpPr>
        <p:spPr>
          <a:xfrm>
            <a:off x="685800" y="573328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object id</a:t>
            </a:r>
            <a:endParaRPr lang="en-US" sz="1100"/>
          </a:p>
        </p:txBody>
      </p:sp>
      <p:sp>
        <p:nvSpPr>
          <p:cNvPr id="36" name="Shape 33"/>
          <p:cNvSpPr/>
          <p:nvPr/>
        </p:nvSpPr>
        <p:spPr>
          <a:xfrm>
            <a:off x="3355848" y="534924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 txBox="1"/>
          <p:nvPr/>
        </p:nvSpPr>
        <p:spPr>
          <a:xfrm>
            <a:off x="3493008" y="5413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/>
          </a:p>
        </p:txBody>
      </p:sp>
      <p:sp>
        <p:nvSpPr>
          <p:cNvPr id="38" name="Text 35"/>
          <p:cNvSpPr txBox="1"/>
          <p:nvPr/>
        </p:nvSpPr>
        <p:spPr>
          <a:xfrm>
            <a:off x="3493008" y="573328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 next, sent to exploration</a:t>
            </a:r>
            <a:endParaRPr lang="en-US" sz="1100"/>
          </a:p>
        </p:txBody>
      </p:sp>
      <p:sp>
        <p:nvSpPr>
          <p:cNvPr id="39" name="Shape 36"/>
          <p:cNvSpPr/>
          <p:nvPr/>
        </p:nvSpPr>
        <p:spPr>
          <a:xfrm>
            <a:off x="6163056" y="534924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 txBox="1"/>
          <p:nvPr/>
        </p:nvSpPr>
        <p:spPr>
          <a:xfrm>
            <a:off x="6300216" y="5413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NEW_REQUEST</a:t>
            </a:r>
            <a:endParaRPr lang="en-US" sz="1300"/>
          </a:p>
        </p:txBody>
      </p:sp>
      <p:sp>
        <p:nvSpPr>
          <p:cNvPr id="41" name="Text 38"/>
          <p:cNvSpPr txBox="1"/>
          <p:nvPr/>
        </p:nvSpPr>
        <p:spPr>
          <a:xfrm>
            <a:off x="6300216" y="573328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asked for something else</a:t>
            </a:r>
            <a:endParaRPr lang="en-US" sz="1100"/>
          </a:p>
        </p:txBody>
      </p:sp>
      <p:sp>
        <p:nvSpPr>
          <p:cNvPr id="42" name="Shape 39"/>
          <p:cNvSpPr/>
          <p:nvPr/>
        </p:nvSpPr>
        <p:spPr>
          <a:xfrm>
            <a:off x="8970264" y="5349240"/>
            <a:ext cx="2670048" cy="868680"/>
          </a:xfrm>
          <a:prstGeom prst="roundRect">
            <a:avLst>
              <a:gd name="adj" fmla="val 1052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9107424" y="541324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USER_GAVE_UP</a:t>
            </a:r>
            <a:endParaRPr lang="en-US" sz="1300"/>
          </a:p>
        </p:txBody>
      </p:sp>
      <p:sp>
        <p:nvSpPr>
          <p:cNvPr id="44" name="Text 41"/>
          <p:cNvSpPr txBox="1"/>
          <p:nvPr/>
        </p:nvSpPr>
        <p:spPr>
          <a:xfrm>
            <a:off x="9107424" y="573328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45" name="Shape 42"/>
          <p:cNvSpPr/>
          <p:nvPr/>
        </p:nvSpPr>
        <p:spPr>
          <a:xfrm>
            <a:off x="548640" y="3246120"/>
            <a:ext cx="2468880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 txBox="1"/>
          <p:nvPr/>
        </p:nvSpPr>
        <p:spPr>
          <a:xfrm>
            <a:off x="713232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MOVES</a:t>
            </a:r>
            <a:endParaRPr lang="en-US" sz="1100"/>
          </a:p>
        </p:txBody>
      </p:sp>
      <p:sp>
        <p:nvSpPr>
          <p:cNvPr id="47" name="Text 44"/>
          <p:cNvSpPr txBox="1"/>
          <p:nvPr/>
        </p:nvSpPr>
        <p:spPr>
          <a:xfrm>
            <a:off x="713232" y="363931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orchestrator acts on its answer. It is the only node that starts motion (T11.4).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18378</Words>
  <Application>Microsoft Macintosh PowerPoint</Application>
  <PresentationFormat>Widescreen</PresentationFormat>
  <Paragraphs>2307</Paragraphs>
  <Slides>54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Gappler interim presentation</dc:title>
  <dc:subject>PptxGenJS Presentation</dc:subject>
  <dc:creator>PptxGenJS</dc:creator>
  <cp:lastModifiedBy>#SHERMAN WEE JING JIE#</cp:lastModifiedBy>
  <cp:revision>3</cp:revision>
  <cp:lastPrinted>2026-10-27T15:45:18Z</cp:lastPrinted>
  <dcterms:created xsi:type="dcterms:W3CDTF">2026-10-24T17:26:19Z</dcterms:created>
  <dcterms:modified xsi:type="dcterms:W3CDTF">2026-10-28T01:48:58Z</dcterms:modified>
</cp:coreProperties>
</file>