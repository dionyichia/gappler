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3.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e8aa0e9-33ee-aa02-cd58-be8739468b8c}">
          <p14:sldIdLst>
            <p14:sldId id="256"/>
          </p14:sldIdLst>
        </p14:section>
        <p14:section name="1 Problem and plan" id="{081a55c2-86de-a4b0-8df7-34a87735590b}">
          <p14:sldIdLst>
            <p14:sldId id="257"/>
            <p14:sldId id="258"/>
            <p14:sldId id="259"/>
            <p14:sldId id="260"/>
            <p14:sldId id="261"/>
          </p14:sldIdLst>
        </p14:section>
        <p14:section name="2 Results" id="{a2470917-8025-be42-4f48-935963505615}">
          <p14:sldIdLst>
            <p14:sldId id="262"/>
            <p14:sldId id="263"/>
            <p14:sldId id="264"/>
            <p14:sldId id="265"/>
            <p14:sldId id="266"/>
            <p14:sldId id="267"/>
            <p14:sldId id="268"/>
            <p14:sldId id="269"/>
            <p14:sldId id="270"/>
            <p14:sldId id="271"/>
          </p14:sldIdLst>
        </p14:section>
        <p14:section name="3 Where we stand" id="{29c2c67e-ea05-03aa-2041-0ec450d9c8c7}">
          <p14:sldIdLst>
            <p14:sldId id="272"/>
            <p14:sldId id="273"/>
            <p14:sldId id="274"/>
            <p14:sldId id="275"/>
            <p14:sldId id="276"/>
            <p14:sldId id="277"/>
          </p14:sldIdLst>
        </p14:section>
        <p14:section name="Appendix" id="{511402ba-25ab-cd60-bff4-31839d6ad8a0}">
          <p14:sldIdLst>
            <p14:sldId id="278"/>
            <p14:sldId id="279"/>
            <p14:sldId id="280"/>
            <p14:sldId id="281"/>
            <p14:sldId id="282"/>
            <p14:sldId id="283"/>
            <p14:sldId id="284"/>
            <p14:sldId id="285"/>
            <p14:sldId id="286"/>
            <p14:sldId id="287"/>
            <p14:sldId id="288"/>
            <p14:sldId id="289"/>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Duplicates, drive 1</c:v>
                </c:pt>
              </c:strCache>
            </c:strRef>
          </c:tx>
          <c:spPr>
            <a:solidFill>
              <a:srgbClr val="C5CDD8"/>
            </a:solidFill>
            <a:effectLst/>
          </c:spPr>
          <c:invertIfNegative val="0"/>
          <c:dLbls>
            <c:numFmt formatCode="#,##0" sourceLinked="0"/>
            <c:txPr>
              <a:bodyPr/>
              <a:lstStyle/>
              <a:p>
                <a:pPr>
                  <a:defRPr b="1" i="0" strike="noStrike" sz="1400" u="none">
                    <a:solidFill>
                      <a:srgbClr val="16213A"/>
                    </a:solidFill>
                    <a:latin typeface="+mn-lt"/>
                  </a:defRPr>
                </a:pPr>
              </a:p>
            </c:txPr>
            <c:showLegendKey val="0"/>
            <c:showVal val="1"/>
            <c:showCatName val="0"/>
            <c:showSerName val="0"/>
            <c:showPercent val="0"/>
            <c:showBubbleSize val="0"/>
            <c:showLeaderLines val="0"/>
          </c:dLbls>
          <c:dPt>
            <c:idx val="0"/>
            <c:invertIfNegative val="0"/>
            <c:bubble3D val="0"/>
            <c:spPr>
              <a:solidFill>
                <a:srgbClr val="C5CDD8"/>
              </a:solidFill>
              <a:effectLst/>
            </c:spPr>
          </c:dPt>
          <c:dPt>
            <c:idx val="1"/>
            <c:invertIfNegative val="0"/>
            <c:bubble3D val="0"/>
            <c:spPr>
              <a:solidFill>
                <a:srgbClr val="C5CDD8"/>
              </a:solidFill>
              <a:effectLst/>
            </c:spPr>
          </c:dPt>
          <c:dPt>
            <c:idx val="2"/>
            <c:invertIfNegative val="0"/>
            <c:bubble3D val="0"/>
            <c:spPr>
              <a:solidFill>
                <a:srgbClr val="C5CDD8"/>
              </a:solidFill>
              <a:effectLst/>
            </c:spPr>
          </c:dPt>
          <c:dPt>
            <c:idx val="3"/>
            <c:invertIfNegative val="0"/>
            <c:bubble3D val="0"/>
            <c:spPr>
              <a:solidFill>
                <a:srgbClr val="0068B5"/>
              </a:solidFill>
              <a:effectLst/>
            </c:spPr>
          </c:dPt>
          <c:dPt>
            <c:idx val="4"/>
            <c:invertIfNegative val="0"/>
            <c:bubble3D val="0"/>
            <c:spPr>
              <a:solidFill>
                <a:srgbClr val="C5CDD8"/>
              </a:solidFill>
              <a:effectLst/>
            </c:spPr>
          </c:dPt>
          <c:dPt>
            <c:idx val="5"/>
            <c:invertIfNegative val="0"/>
            <c:bubble3D val="0"/>
            <c:spPr>
              <a:solidFill>
                <a:srgbClr val="C5CDD8"/>
              </a:solidFill>
              <a:effectLst/>
            </c:spPr>
          </c:dPt>
          <c:cat>
            <c:multiLvlStrRef>
              <c:f>Sheet1!$A$2:$A$7</c:f>
              <c:multiLvlStrCache>
                <c:ptCount val="6"/>
                <c:lvl>
                  <c:pt idx="0">
                    <c:v>2.5</c:v>
                  </c:pt>
                  <c:pt idx="1">
                    <c:v>5</c:v>
                  </c:pt>
                  <c:pt idx="2">
                    <c:v>7.5</c:v>
                  </c:pt>
                  <c:pt idx="3">
                    <c:v>10</c:v>
                  </c:pt>
                  <c:pt idx="4">
                    <c:v>15</c:v>
                  </c:pt>
                  <c:pt idx="5">
                    <c:v>20</c:v>
                  </c:pt>
                </c:lvl>
              </c:multiLvlStrCache>
            </c:multiLvlStrRef>
          </c:cat>
          <c:val>
            <c:numRef>
              <c:f>Sheet1!$B$2:$B$7</c:f>
              <c:numCache>
                <c:formatCode>General</c:formatCode>
                <c:ptCount val="6"/>
                <c:pt idx="0">
                  <c:v>8</c:v>
                </c:pt>
                <c:pt idx="1">
                  <c:v>4</c:v>
                </c:pt>
                <c:pt idx="2">
                  <c:v>4</c:v>
                </c:pt>
                <c:pt idx="3">
                  <c:v>3</c:v>
                </c:pt>
                <c:pt idx="4">
                  <c:v>3</c:v>
                </c:pt>
                <c:pt idx="5">
                  <c:v>2</c:v>
                </c:pt>
              </c:numCache>
            </c:numRef>
          </c:val>
        </c:ser>
        <c:dLbls>
          <c:numFmt formatCode="#,##0" sourceLinked="0"/>
          <c:txPr>
            <a:bodyPr/>
            <a:lstStyle/>
            <a:p>
              <a:pPr>
                <a:defRPr b="1" i="0" strike="noStrike" sz="1400" u="none">
                  <a:solidFill>
                    <a:srgbClr val="16213A"/>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4B5563"/>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Box ranked first (%)</c:v>
                </c:pt>
              </c:strCache>
            </c:strRef>
          </c:tx>
          <c:spPr>
            <a:solidFill>
              <a:srgbClr val="0068B5"/>
            </a:solidFill>
            <a:effectLst/>
          </c:spPr>
          <c:invertIfNegative val="0"/>
          <c:dLbls>
            <c:numFmt formatCode="0&quot;%&quot;" sourceLinked="0"/>
            <c:txPr>
              <a:bodyPr/>
              <a:lstStyle/>
              <a:p>
                <a:pPr>
                  <a:defRPr b="1" i="0" strike="noStrike" sz="1200" u="none">
                    <a:solidFill>
                      <a:srgbClr val="16213A"/>
                    </a:solidFill>
                    <a:latin typeface="+mn-lt"/>
                  </a:defRPr>
                </a:pPr>
              </a:p>
            </c:txPr>
            <c:showLegendKey val="0"/>
            <c:showVal val="1"/>
            <c:showCatName val="0"/>
            <c:showSerName val="0"/>
            <c:showPercent val="0"/>
            <c:showBubbleSize val="0"/>
            <c:showLeaderLines val="0"/>
          </c:dLbls>
          <c:dPt>
            <c:idx val="0"/>
            <c:invertIfNegative val="0"/>
            <c:bubble3D val="0"/>
            <c:spPr>
              <a:solidFill>
                <a:srgbClr val="0068B5"/>
              </a:solidFill>
              <a:effectLst/>
            </c:spPr>
          </c:dPt>
          <c:dPt>
            <c:idx val="1"/>
            <c:invertIfNegative val="0"/>
            <c:bubble3D val="0"/>
            <c:spPr>
              <a:solidFill>
                <a:srgbClr val="C5CDD8"/>
              </a:solidFill>
              <a:effectLst/>
            </c:spPr>
          </c:dPt>
          <c:dPt>
            <c:idx val="2"/>
            <c:invertIfNegative val="0"/>
            <c:bubble3D val="0"/>
            <c:spPr>
              <a:solidFill>
                <a:srgbClr val="C5CDD8"/>
              </a:solidFill>
              <a:effectLst/>
            </c:spPr>
          </c:dPt>
          <c:dPt>
            <c:idx val="3"/>
            <c:invertIfNegative val="0"/>
            <c:bubble3D val="0"/>
            <c:spPr>
              <a:solidFill>
                <a:srgbClr val="C5CDD8"/>
              </a:solidFill>
              <a:effectLst/>
            </c:spPr>
          </c:dPt>
          <c:cat>
            <c:multiLvlStrRef>
              <c:f>Sheet1!$A$2:$A$5</c:f>
              <c:multiLvlStrCache>
                <c:ptCount val="4"/>
                <c:lvl>
                  <c:pt idx="0">
                    <c:v>CLIP whole object  25/25</c:v>
                  </c:pt>
                  <c:pt idx="1">
                    <c:v>SAM 3 image  15/25</c:v>
                  </c:pt>
                  <c:pt idx="2">
                    <c:v>SAM 3 decoder  7/25</c:v>
                  </c:pt>
                  <c:pt idx="3">
                    <c:v>Keypoints, baseline  0/15</c:v>
                  </c:pt>
                </c:lvl>
              </c:multiLvlStrCache>
            </c:multiLvlStrRef>
          </c:cat>
          <c:val>
            <c:numRef>
              <c:f>Sheet1!$B$2:$B$5</c:f>
              <c:numCache>
                <c:formatCode>General</c:formatCode>
                <c:ptCount val="4"/>
                <c:pt idx="0">
                  <c:v>100</c:v>
                </c:pt>
                <c:pt idx="1">
                  <c:v>60</c:v>
                </c:pt>
                <c:pt idx="2">
                  <c:v>28</c:v>
                </c:pt>
                <c:pt idx="3">
                  <c:v>0</c:v>
                </c:pt>
              </c:numCache>
            </c:numRef>
          </c:val>
        </c:ser>
        <c:dLbls>
          <c:numFmt formatCode="0&quot;%&quot;" sourceLinked="0"/>
          <c:txPr>
            <a:bodyPr/>
            <a:lstStyle/>
            <a:p>
              <a:pPr>
                <a:defRPr b="1" i="0" strike="noStrike" sz="1200" u="none">
                  <a:solidFill>
                    <a:srgbClr val="16213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16213A"/>
                </a:solidFill>
                <a:latin typeface="+mn-lt"/>
              </a:defRPr>
            </a:pPr>
            <a:endParaRPr lang="en-US"/>
          </a:p>
        </c:txPr>
        <c:crossAx val="2094734552"/>
        <c:crosses val="autoZero"/>
        <c:auto val="1"/>
        <c:lblAlgn val="ctr"/>
        <c:noMultiLvlLbl val="1"/>
      </c:catAx>
      <c:valAx>
        <c:axId val="2094734552"/>
        <c:scaling>
          <c:orientation val="minMax"/>
          <c:max val="11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Grasped</c:v>
                </c:pt>
              </c:strCache>
            </c:strRef>
          </c:tx>
          <c:spPr>
            <a:solidFill>
              <a:srgbClr val="0068B5"/>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44.5 cm: 4/4</c:v>
                  </c:pt>
                  <c:pt idx="1">
                    <c:v>49.5 cm: 1/2</c:v>
                  </c:pt>
                  <c:pt idx="2">
                    <c:v>54.5 cm: 0/2</c:v>
                  </c:pt>
                </c:lvl>
              </c:multiLvlStrCache>
            </c:multiLvlStrRef>
          </c:cat>
          <c:val>
            <c:numRef>
              <c:f>Sheet1!$B$2:$B$4</c:f>
              <c:numCache>
                <c:formatCode>General</c:formatCode>
                <c:ptCount val="3"/>
                <c:pt idx="0">
                  <c:v>4</c:v>
                </c:pt>
                <c:pt idx="1">
                  <c:v>1</c:v>
                </c:pt>
                <c:pt idx="2">
                  <c:v>0</c:v>
                </c:pt>
              </c:numCache>
            </c:numRef>
          </c:val>
        </c:ser>
        <c:ser>
          <c:idx val="1"/>
          <c:order val="1"/>
          <c:tx>
            <c:strRef>
              <c:f>Sheet1!$C$1</c:f>
              <c:strCache>
                <c:ptCount val="1"/>
                <c:pt idx="0">
                  <c:v>Failed</c:v>
                </c:pt>
              </c:strCache>
            </c:strRef>
          </c:tx>
          <c:spPr>
            <a:solidFill>
              <a:srgbClr val="C5CDD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44.5 cm: 4/4</c:v>
                  </c:pt>
                  <c:pt idx="1">
                    <c:v>49.5 cm: 1/2</c:v>
                  </c:pt>
                  <c:pt idx="2">
                    <c:v>54.5 cm: 0/2</c:v>
                  </c:pt>
                </c:lvl>
              </c:multiLvlStrCache>
            </c:multiLvlStrRef>
          </c:cat>
          <c:val>
            <c:numRef>
              <c:f>Sheet1!$C$2:$C$4</c:f>
              <c:numCache>
                <c:formatCode>General</c:formatCode>
                <c:ptCount val="3"/>
                <c:pt idx="0">
                  <c:v>0</c:v>
                </c:pt>
                <c:pt idx="1">
                  <c:v>1</c:v>
                </c:pt>
                <c:pt idx="2">
                  <c:v>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4B5563"/>
                </a:solidFill>
                <a:latin typeface="+mn-lt"/>
              </a:defRPr>
            </a:pPr>
            <a:endParaRPr lang="en-US"/>
          </a:p>
        </c:txPr>
        <c:crossAx val="2094734552"/>
        <c:crosses val="autoZero"/>
        <c:auto val="1"/>
        <c:lblAlgn val="ctr"/>
        <c:noMultiLvlLbl val="1"/>
      </c:catAx>
      <c:valAx>
        <c:axId val="2094734552"/>
        <c:scaling>
          <c:orientation val="minMax"/>
          <c:max val="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4B556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We are Dion, Sherman and Zongzhe. Our project is a mobile robot that fetches the specific object a person looked at and named, even when the robot cannot see that object at the start.
(Presenter: Dion. Transition: "Here is the situation we want the robot to handle.")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a user wearing Meta's Aria glasses. They look at a box on a table and say 'find the box'. The robot is somewhere else in the room. It has never seen the user's view.
These three images show why that is hard. On the left is what the glasses see: the box from a metre or two away, front on. In the middle, the robot's base camera, at knee height. On the right, the wrist camera on the arm, looking down from twenty centimetres. Same object, but the images have almost nothing in common.
Two published systems each solve half of this. FAM-HRI uses gaze and speech from the same glasses to tell an arm what to pick, but it assumes the object is already in front of the arm. HiCo-Nav lets a robot search a room using a memory of what it has seen, but it finds a class, any box, not the one you looked at. Our project joins the two: the robot explores like HiCo-Nav, and the user's gaze tells it which object to stop for.
Transition: "So what exactly are we building, and how will we know it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main objective is a mobile manipulator that takes what the user says and where they look, explores a room it cannot see at the start, finds the user and then the object they looked at, drives to it, checks it with the wrist camera and grasps it.
Gaze is what ties this together. From the glasses we cut out the object the user looked at and turn it into a CLIP image feature. While the robot explores, it compares every object it sees with that feature. A good enough match is the signal to stop exploring and go to that object. Without it, the robot has no way to know it has found the right one. We will measure the whole pipeline end to end, with gaze, phase by phase. A comparison without gaze is a stretch goal.
To make progress measurable we broke the project into eleven milestones. Each has a written test. For example, M2 is done when, with two boxes on the table, the arm picks the one you looked at three times out of four.
Handover: "Here is the full behaviour we are building towards. Zongzhe will walk through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finished system works in five phases. First, the user speaks and looks. Speech gives us the word, gaze tells us which object, and we cut an image crop of it and turn it into a CLIP feature. Second, the robot explores. It maps the room and builds a memory of the objects it sees, each with a 3D position and an image feature. It looks for the user first, because the object is somewhere the user can see. Third, it compares what it sees with the user's target. A good match tells it to stop exploring. Fourth, it drives close and the camera on the arm confirms that this is the object the user meant. If not, it goes back to exploring. Fifth, it grasps.
Exploration is the core of the search. HiCo-Nav also has a smarter way to choose where to explore next. That part is optional and the first thing we cut if time runs short. Bringing the object back to the user is out of scope.
The badges show where each phase stands seven weeks in. The next eleven minutes go through them in order.
Handover: "Before the results, Sherman covers where we started and how we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 not start from a working system. The inherited code had no tests and no CI, and none of it ran from a fresh copy. One program homed the real arm within seconds, with no prompt. Navigation ran only from another user's workspace, and our copy did not build. There was no memory graph.
So we built foundations first. Dion took the glasses and the arm, I took the base and mapping, and Zongzhe the memory graph. A channel contract says who owns every message and frame, and a seven-level test bench runs on every pull request. We measure a baseline before replacing anything, and on the real robot we move one step at a time, with two people present.
Handover: "Phase one: turning a sentence and a glance into a target. Over to Dion."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says 'find the box'. A speech detector waits for the sentence to finish, Whisper turns it into text, and a small language model pulls out the object word. Before this, the old pipeline produced thirty-one messages per phrase. Now it produces one.
Gaze runs at the same time. We keep the last twenty seconds of glasses images and gaze points, so we can go back to the moment the user was speaking. SAM 3, a segmentation model you prompt with a word, finds every box in that one frame. Then gaze votes. Each gaze sample in a one-second window votes for the mask it lands on, and the winner needs half the votes. We crop that mask with a small margin. That crop is what we send to the robot.
On a recording at 1.4 to 2.4 metres, this picked the right box in 60 of 61 frames. On a full replay, all four spoken words produced a crop.
The limit is gaze accuracy. The eye model is off by about five and a half degrees, roughly 15 centimetres at 1.5 metres. Here, at 1.5 metres, it landed on a stack of mats that SAM 3 also called a box. Keep that case in mind. It comes back on the CLIP slide.
Handover: "That crop now has to be found by a robot that has never seen this view. Sherman will show how the robot knows where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robot can remember where objects are, it needs to know where it is. We use FAST-LIVO2, the method the HiCo-Nav paper uses, from the University of Hong Kong. It fuses the LiDAR, its motion sensor and the colour camera into one pose, and paints a coloured 3D map.
Why 3D? 2D SLAM knows only where the base is on the floor and which way it faces. The memory graph places each object in 3D from the camera's pose, so an unmeasured tilt moves objects by centimetres. Nav2 still drives on a 2D grid built from this pose.
FAST-LIVO2 is published for ROS 1. We run a community ROS 2 port, and getting it to work was most of the effort. I proved it on the authors' own recording first, then on our sensors with every message checked. I found three defects that fail silently: no crash, just a wrong map. Each was found by reading the source and confirmed against a control run.
The result: I pushed the base by hand around a 26-metre loop. The path returns to its start within 12 millimetres, and the mid-route error is within about 7 centimetres, the limit of our reference. The pose now feeds Nav2's frame tree. Nav2 driving the base is the next test.
Source: recording handdriven1, 20 Oct 2026. Closure 4 mm LiDAR-only, 7 mm odometry (0.03 %). CR 8.4.
Transition: "A map is only useful to the arm and the memory if every camera's position on the robot is known."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four places where we need to know how one part of the robot sits relative to another.
The arm on the base is measured. We set the transform from the mount drawings and checked it on the robot. The base's own origin, on the floor under the drive axle, matches the vendor's manual.
The base camera relative to the LiDAR is measured but not calibrated. I designed and fitted the mount, measured to the camera's mounting hole, and took the rest from Intel's published camera dimensions. It sits flush on vertical aluminium extrusions, so it points straight by construction. What is left is a calibration against the LiDAR itself, because one degree of error moves a point by about seven pixels. The rig for that is planned.
The wrist camera relative to the arm is calibrated, so a grasp it sees becomes an arm goal.
The last one is different in kind. To use gaze to separate two identical objects, the robot needs the user's gaze ray in its own frame, which means locating the glasses relative to the robot. That is planned for January.
None of these blocks today's results, but each one blocks a specific later step.
Handover: "With poses and camera images from that drive, Zongzhe builds the robot's memory of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memory graph is HiCo-Nav's idea. As the robot moves, it keeps a photo now and then, finds the objects in it, and stores each object with its position in 3D and a CLIP image feature. CLIP is a model that turns an image into a vector, so that similar-looking things get similar vectors. The photos are kept too, linked to the objects they show. That link is the 'graph'.
HiCo-Nav published code, but with no licence, so I read it and wrote a fresh implementation as fourteen separate stages, each with its own tests. Reading it also turned up nine problems, such as a language-model call with no timeout, which we fixed or avoided.
Here is the graph built from Sherman's hand-pushed drive. Two choices keep it fast. A photo is kept only after the robot moves a metre or turns 45 degrees, so 29 of 3,536 frames go to segmentation, which saves over 99 % of that time. And all thirty object classes go through SAM 3 in one batch, 5.7 times faster than one at a time.
It is built offline from a recording. Building it live while the robot explores is next (T7.2, T7.5).
[Artefact owed by Zongzhe: a Rerun 3D screenshot of the graph can replace the 'What it stores' cards.]
Transition: "The hardest part of building it is deciding when two sightings are the same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robot sees the same chair from many places. Each sighting must merge into one object, and two chairs side by side must stay two.
To measure that, I made an answer key by hand: sixteen real objects marked on the LiDAR map, without using any of the code being tested. Then I swept the settings.
The lever is the match radius, how close two sightings' points must be. With our sparse LiDAR depth, two views of one object land 4 to 9 centimetres apart, so upstream's 2.5 centimetres split objects. At 10 centimetres duplicates fall from 8 to 3 with no false merges. On a second drive, 2 to 1. At 15, a chair merges into the desk next to it, so we chose 10.
Why not just merge things that look alike? Because look-alikes are exactly the problem. CLIP scores two chairs of the same model at 0.81 to 0.85, close to the same chair at 0.93. Merging on appearance removes every duplicate by merging nearly everything. That is also why the class alone cannot find the user's object.
Chart: drive 1. The 1 cm setting (31 duplicates) is left off the chart.
Transition: "Once the objects are in the graph, the robot has to find the right one from a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search the graph, the robot first turns the sentence into classes. A small language model, running locally, returns the target class and some related ones. 'Find the chair' gives chair, plus table and desk, because chairs are usually near them. The 1.5 billion parameter model got 20 of 22 test instructions right and answers in about a third of a second.
Then every object is scored by comparing its stored image feature with the sentence, using CLIP again. Target classes rank first, related ones after. Each hit comes with a 3D position and the best photo of it, and a wrong hit can be rejected so the robot tries the next one.
The ranking has been tested on stand-in data and a few photos. Running the full query on the recorded drive, checked against the answer key, is the next milestone, in the next two weeks.
Today the query is a sentence. In the full system, the robot matches each object against the gaze crop, and a good match tells it to stop exploring and go to the user's chair, not just any chair.
[VERIFY: Zongzhe to confirm the 'table, desk' example against check_reasoning.json.]
Handover: "Dion now picks up the object at close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perception problem. We have the glasses crop from the intent slide, and the wrist camera sees several objects. Which one is it?
The obvious approach is keypoint matching: find distinctive points in both images and pair them. We measured that first. It ranked the box first in none of 15 pairs. The viewpoints differ too much. So we compared whole-object features, and CLIP ranked the right box first in all 25.
This week we put it where it matters, inside the grasp client. The arm now goes for the box you looked at, not the box SAM 3 is most confident about. On a scene with two cardboard boxes, the old pick took the wrong box in every one of 114 frames. With the glasses crop, 266 of 268 targets were the right box. With three boxes, 334 of 334. If nothing matches well enough, the arm waits.
The two misses are instructive. They came at 1.5 metres, where gaze landed on the mat. The crop was wrong before the matcher ever saw it. So the next step is to refuse weak gaze picks at the glasses (T2.24).
The real limit is identical objects: two boxes of the same colour, 6 of 12. Appearance cannot separate them. That needs the gaze ray in the robot's frame, the glasses calibration from the camera-frames slide.
All of this is on replayed recordings. The real arm run comes next.
Transition: "Once the target mask is chosen, the arm has to pick it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Grasping is a state machine. A grasp request opens a short gate. The arm then steps the wrist camera towards the target mask, two centimetres at a time, re-checking at each step, until it is 21 centimetres away. This is a simple form of visual servoing: small corrections absorb calibration and depth errors. Then it grasps, lifts, returns home, and holds the object until the user says 'release'.
Our first real grasp was on 13 October. Started from a recorded spoken command, the arm made 5 of 8 grasps. Both failures at 54.5 centimetres were out of reach, so within reach it was 5 of 6. In one run it grasped, held, refused two requests while busy, released, and grasped again.
Safety came first. The arm's hardware stop is rejected by its controller, so we wrote a software stop. On the real arm it cancels motion within a millisecond. Every motion test still has two people and a hand on the power button.
These grasps used a simple path, one blind step and close. The learned grasp model is the harder part.
Transition: "The learned grasp model, AnyGrasp, is where the current blocker 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AnyGrasp is a learned model that looks at a point cloud and proposes grasps: where to put the gripper and at what angle. At the ideal spot it worked twice in three tries. Anywhere else it failed.
We traced why. The arm runs AnyGrasp when the camera is 21 centimetres from the box, and from there it sees mostly one face. AnyGrasp's most confident grasps go across the 75-millimetre face, but our gripper opens to 71. Our own fit check should catch that, but it measures width from the points it can see, so a grasp on an edge looks narrow enough and passes. On replay every one of 369 grasps passed it. The grasp we want, from the top across 60 millimetres, is proposed in most frames, but scores 0.25, under our floor.
So the problem is not the model. It is where we ask it. The cheapest fix is to run AnyGrasp once from further back, 40 to 50 centimetres, with the whole box in view, then make one planned move. The second is to fuse several views into one cloud, which is built and needs a retest. This decides when M1 closes.
Handover: "Sherman will now step back from the parts and show what is connected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full flow from the five-phase slide again, with each part we have just shown placed where it sits.
Built and connected today: a recorded voice command starts a real grasp on the real arm, and since this week the glasses crop also chooses which object the arm goes for, on replayed recordings. My map feeds the navigation frame tree, and the memory graph is built from my recorded drive.
Two links are still to join. The robot has to explore with a live memory graph, match what it sees against the gaze target, and turn a match into a navigation goal. Nav2 has to drive the base, which I start right after this presentation.
So there is no end-to-end run yet. That matches the plan: the first closed-loop run is milestone M4, in January. Here is how we stand against that schedule.
(Phases 2 and 3 form a loop: Nav2 explores, the graph grows, a gaze match becomes the next goal; a wrist-camera reject sends the robot back to exploring. Topic-level wiring is in appendix A1.)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shows every milestone by week. Solid bars are work done so far, light bars are our forecast, and the grey bands are recess, exams and the winter break, when we are not working.
Our September plan expected, at this point, only the build milestone finished and the arm and base under way. We have that. The build milestone closed in week two. The arm picks up a box on the simple path. My map and localisation are done.
Three milestones started well ahead of their windows: voice and gaze to the arm, the memory graph, and the gaze-instance work. The memory graph should finish a week early.
Two things are behind, and both are mine: calibrating the base camera, because the rig is not built yet, and the test drives, because bring-up has taken twice my estimates. They slip one to two weeks into January. M8 and the final dates do not move.
The weeks after the break carry most of the integration: closed loop in January, the robot exploring in February, and the end-to-end trials in March.
(Bars that cross exam and break weeks are calendar time, not working time. Key dates: interim 28 Oct, final report 28 Mar 2027 (week 28), oral weeks 30 and 31.)
Handover: "Zongzhe will cover what the plan costs and what could go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budget is small and approved: a thousand Singapore dollars for a GPU and five hundred for API credits for AI services, both for compute. The reason is concrete. Everything runs on one 16 gigabyte GPU in the lab, shared by the three of us and by the CI runner. Segmentation, grasping, CLIP, speech and two language models all need it, and the memory graph's segmentation alone peaks at over 10 gigabytes. We have never run them all at once.
The main risks are about schedule and shared hardware. The critical path runs almost entirely through one person, so we fixed a cut list in advance. The paper's smarter exploration order goes first. Exploration itself and the gaze match stay, because the system does not work without them. The grasp model's licence is tied to a machine ID, and a new one is requested. The lab machine is shared and has hung twice. And neither the arm nor the base has a working hardware stop, so every motion test has two people and a hand on the power button.
[TEAM INPUT: whether the GPU has been bought yet and any spend to date, in case an examiner asks.]
Transition: "To close, what happens next and what we want you to remember."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next two weeks, before exams, we close four specific gaps. The glasses learn to refuse a weak gaze pick, and the gaze-matched grasp runs on the real arm. The new AnyGrasp version and the fused views are tested, then a twelve-trial validation closes the grasp milestone. Sherman starts driving the base with Nav2. And I run the full memory graph query on the recorded drive, checked against the answer key.
After the break, the pieces join: the two-box gaze test on the real arm, the camera calibrations, the first closed-loop run in January, and the robot exploring on its own in February, with a gaze match telling it when to stop. In March we run the end-to-end trials.
Three things to take away. The hard part of this problem is keeping the object's identity across very different viewpoints. Every subsystem now has measured results on real hardware or real data. And the remaining links are scheduled, with a cut list fixed in advance.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Backup slides A1 to A10 follow for detailed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divider. Backup slides for questions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not in the 20 minutes. Answers: “What exactly is connected?” Only links that exist in code. Grey rows exist but have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not in the 20 minutes. Answers: “How do grasp poses reach the 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not in the 20 minutes. Answers: “Why 0.56? Is CLIP cosine a probability?”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not in the 20 minutes. Answers: “Why not just lower the score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not in the 20 minutes. Answers: “How do you know the map is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not in the 20 minutes. Answers: “What fails today?” Most are links the plan schedules for later milestones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not in the 20 minutes. Answers: “What could break when the parts join?”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not in the 20 minutes. Answers: “What has gone wrong on hardware or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not in the 20 minutes. Answers: “How does this compare with your original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not in the 20 minutes. Answers: “Isn't identical-object picking niche?”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not in the 20 minutes. Answers: “How will you measure the final system?” Today every measurement is per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not in the 20 minutes. Answers: “How do you know a milestone is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jpg"/><Relationship Id="rId6" Type="http://schemas.openxmlformats.org/officeDocument/2006/relationships/image" Target="../media/image-8-6.jp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2-1.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14-1.jpg"/><Relationship Id="rId3" Type="http://schemas.openxmlformats.org/officeDocument/2006/relationships/image" Target="../media/image-14-2.jpg"/><Relationship Id="rId4" Type="http://schemas.openxmlformats.org/officeDocument/2006/relationships/image" Target="../media/image-14-3.jp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15-1.png"/><Relationship Id="rId3" Type="http://schemas.openxmlformats.org/officeDocument/2006/relationships/image" Target="../media/image-15-2.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slideLayout" Target="../slideLayouts/slideLayout1.xml"/><Relationship Id="rId7"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13A"/>
        </a:solidFill>
      </p:bgPr>
    </p:bg>
    <p:spTree>
      <p:nvGrpSpPr>
        <p:cNvPr id="1" name=""/>
        <p:cNvGrpSpPr/>
        <p:nvPr/>
      </p:nvGrpSpPr>
      <p:grpSpPr>
        <a:xfrm>
          <a:off x="0" y="0"/>
          <a:ext cx="0" cy="0"/>
          <a:chOff x="0" y="0"/>
          <a:chExt cx="0" cy="0"/>
        </a:xfrm>
      </p:grpSpPr>
      <p:pic>
        <p:nvPicPr>
          <p:cNvPr id="2" name="Image 0" descr="FAST-LIVO2 coloured map of the lab with the 26 m path in orange">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6213A">
              <a:alpha val="45000"/>
            </a:srgbClr>
          </a:solidFill>
          <a:ln/>
        </p:spPr>
      </p:sp>
      <p:sp>
        <p:nvSpPr>
          <p:cNvPr id="4" name="Shape 1"/>
          <p:cNvSpPr/>
          <p:nvPr/>
        </p:nvSpPr>
        <p:spPr>
          <a:xfrm>
            <a:off x="0" y="0"/>
            <a:ext cx="5852160" cy="6858000"/>
          </a:xfrm>
          <a:prstGeom prst="rect">
            <a:avLst/>
          </a:prstGeom>
          <a:solidFill>
            <a:srgbClr val="16213A">
              <a:alpha val="88000"/>
            </a:srgbClr>
          </a:solidFill>
          <a:ln/>
        </p:spPr>
      </p:sp>
      <p:sp>
        <p:nvSpPr>
          <p:cNvPr id="5" name="Shape 2"/>
          <p:cNvSpPr/>
          <p:nvPr/>
        </p:nvSpPr>
        <p:spPr>
          <a:xfrm>
            <a:off x="6271095" y="3775710"/>
            <a:ext cx="640080" cy="640080"/>
          </a:xfrm>
          <a:prstGeom prst="ellipse">
            <a:avLst/>
          </a:prstGeom>
          <a:ln w="31750">
            <a:solidFill>
              <a:srgbClr val="FF7A3A"/>
            </a:solidFill>
            <a:prstDash val="solid"/>
          </a:ln>
        </p:spPr>
      </p:sp>
      <p:sp>
        <p:nvSpPr>
          <p:cNvPr id="6" name="Text 3"/>
          <p:cNvSpPr txBox="1"/>
          <p:nvPr/>
        </p:nvSpPr>
        <p:spPr>
          <a:xfrm>
            <a:off x="548640" y="914400"/>
            <a:ext cx="5486400" cy="274320"/>
          </a:xfrm>
          <a:prstGeom prst="rect">
            <a:avLst/>
          </a:prstGeom>
          <a:noFill/>
          <a:ln/>
        </p:spPr>
        <p:txBody>
          <a:bodyPr wrap="square" lIns="0" tIns="0" rIns="0" bIns="0" rtlCol="0" anchor="ctr"/>
          <a:lstStyle/>
          <a:p>
            <a:pPr indent="0" marL="0">
              <a:buNone/>
            </a:pPr>
            <a:r>
              <a:rPr lang="en-US" sz="1200" b="1" spc="200" kern="0" dirty="0">
                <a:solidFill>
                  <a:srgbClr val="7DD3FC"/>
                </a:solidFill>
                <a:latin typeface="Calibri" pitchFamily="34" charset="0"/>
                <a:ea typeface="Calibri" pitchFamily="34" charset="-122"/>
                <a:cs typeface="Calibri" pitchFamily="34" charset="-120"/>
              </a:rPr>
              <a:t>INTERIM ASSESSMENT  ·  28 OCTOBER 2026</a:t>
            </a:r>
            <a:endParaRPr lang="en-US" sz="1200" dirty="0"/>
          </a:p>
        </p:txBody>
      </p:sp>
      <p:sp>
        <p:nvSpPr>
          <p:cNvPr id="7" name="Text 4"/>
          <p:cNvSpPr txBox="1"/>
          <p:nvPr/>
        </p:nvSpPr>
        <p:spPr>
          <a:xfrm>
            <a:off x="548640" y="1234440"/>
            <a:ext cx="5486400" cy="914400"/>
          </a:xfrm>
          <a:prstGeom prst="rect">
            <a:avLst/>
          </a:prstGeom>
          <a:noFill/>
          <a:ln/>
        </p:spPr>
        <p:txBody>
          <a:bodyPr wrap="square" lIns="0" tIns="0" rIns="0" bIns="0" rtlCol="0" anchor="ctr"/>
          <a:lstStyle/>
          <a:p>
            <a:pPr indent="0" marL="0">
              <a:buNone/>
            </a:pPr>
            <a:r>
              <a:rPr lang="en-US" sz="6600" b="1" spc="200" kern="0" dirty="0">
                <a:solidFill>
                  <a:srgbClr val="FFFFFF"/>
                </a:solidFill>
                <a:latin typeface="Calibri" pitchFamily="34" charset="0"/>
                <a:ea typeface="Calibri" pitchFamily="34" charset="-122"/>
                <a:cs typeface="Calibri" pitchFamily="34" charset="-120"/>
              </a:rPr>
              <a:t>GAPPLER</a:t>
            </a:r>
            <a:endParaRPr lang="en-US" sz="6600" dirty="0"/>
          </a:p>
        </p:txBody>
      </p:sp>
      <p:sp>
        <p:nvSpPr>
          <p:cNvPr id="8" name="Text 5"/>
          <p:cNvSpPr txBox="1"/>
          <p:nvPr/>
        </p:nvSpPr>
        <p:spPr>
          <a:xfrm>
            <a:off x="548640" y="2286000"/>
            <a:ext cx="5029200" cy="91440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High-Readiness Mobile Manipulation via Gaze-Speech Interaction and Continuous Pre-Alignment</a:t>
            </a:r>
            <a:endParaRPr lang="en-US" sz="2000" dirty="0"/>
          </a:p>
        </p:txBody>
      </p:sp>
      <p:sp>
        <p:nvSpPr>
          <p:cNvPr id="9" name="Text 6"/>
          <p:cNvSpPr txBox="1"/>
          <p:nvPr/>
        </p:nvSpPr>
        <p:spPr>
          <a:xfrm>
            <a:off x="548640" y="3337560"/>
            <a:ext cx="5029200" cy="365760"/>
          </a:xfrm>
          <a:prstGeom prst="rect">
            <a:avLst/>
          </a:prstGeom>
          <a:noFill/>
          <a:ln/>
        </p:spPr>
        <p:txBody>
          <a:bodyPr wrap="square" lIns="0" tIns="0" rIns="0" bIns="0" rtlCol="0" anchor="ctr"/>
          <a:lstStyle/>
          <a:p>
            <a:pPr indent="0" marL="0">
              <a:buNone/>
            </a:pPr>
            <a:r>
              <a:rPr lang="en-US" sz="1800" i="1" dirty="0">
                <a:solidFill>
                  <a:srgbClr val="FF7A3A"/>
                </a:solidFill>
                <a:latin typeface="Calibri" pitchFamily="34" charset="0"/>
                <a:ea typeface="Calibri" pitchFamily="34" charset="-122"/>
                <a:cs typeface="Calibri" pitchFamily="34" charset="-120"/>
              </a:rPr>
              <a:t>Look at it, name it, and the robot fetches that one.</a:t>
            </a:r>
            <a:endParaRPr lang="en-US" sz="1800" dirty="0"/>
          </a:p>
        </p:txBody>
      </p:sp>
      <p:sp>
        <p:nvSpPr>
          <p:cNvPr id="10" name="Text 7"/>
          <p:cNvSpPr txBox="1"/>
          <p:nvPr/>
        </p:nvSpPr>
        <p:spPr>
          <a:xfrm>
            <a:off x="548640" y="4480560"/>
            <a:ext cx="502920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Dion  ·  Sherman  ·  Zongzhe</a:t>
            </a:r>
            <a:endParaRPr lang="en-US" sz="1800" dirty="0"/>
          </a:p>
        </p:txBody>
      </p:sp>
      <p:sp>
        <p:nvSpPr>
          <p:cNvPr id="11" name="Text 8"/>
          <p:cNvSpPr txBox="1"/>
          <p:nvPr/>
        </p:nvSpPr>
        <p:spPr>
          <a:xfrm>
            <a:off x="548640" y="4892040"/>
            <a:ext cx="5029200" cy="274320"/>
          </a:xfrm>
          <a:prstGeom prst="rect">
            <a:avLst/>
          </a:prstGeom>
          <a:noFill/>
          <a:ln/>
        </p:spPr>
        <p:txBody>
          <a:bodyPr wrap="square" lIns="0" tIns="0" rIns="0" bIns="0" rtlCol="0" anchor="ctr"/>
          <a:lstStyle/>
          <a:p>
            <a:pPr indent="0" marL="0">
              <a:buNone/>
            </a:pPr>
            <a:r>
              <a:rPr lang="en-US" sz="1300" dirty="0">
                <a:solidFill>
                  <a:srgbClr val="CBD5E1"/>
                </a:solidFill>
                <a:latin typeface="Calibri" pitchFamily="34" charset="0"/>
                <a:ea typeface="Calibri" pitchFamily="34" charset="-122"/>
                <a:cs typeface="Calibri" pitchFamily="34" charset="-120"/>
              </a:rPr>
              <a:t>Supervisors: Prof Yuan Shenghai, Prof Xie Lihua</a:t>
            </a:r>
            <a:endParaRPr lang="en-US" sz="1300" dirty="0"/>
          </a:p>
        </p:txBody>
      </p:sp>
      <p:sp>
        <p:nvSpPr>
          <p:cNvPr id="12" name="Text 9"/>
          <p:cNvSpPr txBox="1"/>
          <p:nvPr/>
        </p:nvSpPr>
        <p:spPr>
          <a:xfrm>
            <a:off x="7772400" y="6355080"/>
            <a:ext cx="3931920" cy="274320"/>
          </a:xfrm>
          <a:prstGeom prst="rect">
            <a:avLst/>
          </a:prstGeom>
          <a:noFill/>
          <a:ln/>
        </p:spPr>
        <p:txBody>
          <a:bodyPr wrap="square" lIns="0" tIns="0" rIns="0" bIns="0" rtlCol="0" anchor="ctr"/>
          <a:lstStyle/>
          <a:p>
            <a:pPr algn="r" indent="0" marL="0">
              <a:buNone/>
            </a:pPr>
            <a:r>
              <a:rPr lang="en-US" sz="1100" dirty="0">
                <a:solidFill>
                  <a:srgbClr val="CBD5E1"/>
                </a:solidFill>
                <a:latin typeface="Calibri" pitchFamily="34" charset="0"/>
                <a:ea typeface="Calibri" pitchFamily="34" charset="-122"/>
                <a:cs typeface="Calibri" pitchFamily="34" charset="-120"/>
              </a:rPr>
              <a:t>FAST-LIVO2 map of the lab  ·  26 m loop  ·  20 Oct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213A"/>
        </a:solidFill>
      </p:bgPr>
    </p:bg>
    <p:spTree>
      <p:nvGrpSpPr>
        <p:cNvPr id="1" name=""/>
        <p:cNvGrpSpPr/>
        <p:nvPr/>
      </p:nvGrpSpPr>
      <p:grpSpPr>
        <a:xfrm>
          <a:off x="0" y="0"/>
          <a:ext cx="0" cy="0"/>
          <a:chOff x="0" y="0"/>
          <a:chExt cx="0" cy="0"/>
        </a:xfrm>
      </p:grpSpPr>
      <p:pic>
        <p:nvPicPr>
          <p:cNvPr id="2" name="Image 0" descr="The user looks and speaks. The robot has to find that one object.">    </p:cNvPr>
          <p:cNvPicPr>
            <a:picLocks noChangeAspect="1"/>
          </p:cNvPicPr>
          <p:nvPr/>
        </p:nvPicPr>
        <p:blipFill>
          <a:blip r:embed="rId1"/>
          <a:srcRect l="0" r="0" t="0" b="0"/>
          <a:stretch/>
        </p:blipFill>
        <p:spPr>
          <a:xfrm>
            <a:off x="6355080" y="868680"/>
            <a:ext cx="5285232" cy="4526280"/>
          </a:xfrm>
          <a:prstGeom prst="rect">
            <a:avLst/>
          </a:prstGeom>
        </p:spPr>
      </p:pic>
      <p:sp>
        <p:nvSpPr>
          <p:cNvPr id="3" name="Shape 0"/>
          <p:cNvSpPr/>
          <p:nvPr/>
        </p:nvSpPr>
        <p:spPr>
          <a:xfrm>
            <a:off x="6227064" y="740664"/>
            <a:ext cx="457200" cy="914"/>
          </a:xfrm>
          <a:prstGeom prst="line">
            <a:avLst/>
          </a:prstGeom>
          <a:noFill/>
          <a:ln w="31750">
            <a:solidFill>
              <a:srgbClr val="7DD3FC"/>
            </a:solidFill>
            <a:prstDash val="solid"/>
          </a:ln>
        </p:spPr>
      </p:sp>
      <p:sp>
        <p:nvSpPr>
          <p:cNvPr id="4" name="Shape 1"/>
          <p:cNvSpPr/>
          <p:nvPr/>
        </p:nvSpPr>
        <p:spPr>
          <a:xfrm>
            <a:off x="6227064" y="740664"/>
            <a:ext cx="914" cy="457200"/>
          </a:xfrm>
          <a:prstGeom prst="line">
            <a:avLst/>
          </a:prstGeom>
          <a:noFill/>
          <a:ln w="31750">
            <a:solidFill>
              <a:srgbClr val="7DD3FC"/>
            </a:solidFill>
            <a:prstDash val="solid"/>
          </a:ln>
        </p:spPr>
      </p:sp>
      <p:sp>
        <p:nvSpPr>
          <p:cNvPr id="5" name="Shape 2"/>
          <p:cNvSpPr/>
          <p:nvPr/>
        </p:nvSpPr>
        <p:spPr>
          <a:xfrm flipH="1">
            <a:off x="11311128" y="740664"/>
            <a:ext cx="457200" cy="914"/>
          </a:xfrm>
          <a:prstGeom prst="line">
            <a:avLst/>
          </a:prstGeom>
          <a:noFill/>
          <a:ln w="31750">
            <a:solidFill>
              <a:srgbClr val="7DD3FC"/>
            </a:solidFill>
            <a:prstDash val="solid"/>
          </a:ln>
        </p:spPr>
      </p:sp>
      <p:sp>
        <p:nvSpPr>
          <p:cNvPr id="6" name="Shape 3"/>
          <p:cNvSpPr/>
          <p:nvPr/>
        </p:nvSpPr>
        <p:spPr>
          <a:xfrm>
            <a:off x="11768328" y="740664"/>
            <a:ext cx="914" cy="457200"/>
          </a:xfrm>
          <a:prstGeom prst="line">
            <a:avLst/>
          </a:prstGeom>
          <a:noFill/>
          <a:ln w="31750">
            <a:solidFill>
              <a:srgbClr val="7DD3FC"/>
            </a:solidFill>
            <a:prstDash val="solid"/>
          </a:ln>
        </p:spPr>
      </p:sp>
      <p:sp>
        <p:nvSpPr>
          <p:cNvPr id="7" name="Shape 4"/>
          <p:cNvSpPr/>
          <p:nvPr/>
        </p:nvSpPr>
        <p:spPr>
          <a:xfrm>
            <a:off x="6227064" y="5522976"/>
            <a:ext cx="457200" cy="914"/>
          </a:xfrm>
          <a:prstGeom prst="line">
            <a:avLst/>
          </a:prstGeom>
          <a:noFill/>
          <a:ln w="31750">
            <a:solidFill>
              <a:srgbClr val="7DD3FC"/>
            </a:solidFill>
            <a:prstDash val="solid"/>
          </a:ln>
        </p:spPr>
      </p:sp>
      <p:sp>
        <p:nvSpPr>
          <p:cNvPr id="8" name="Shape 5"/>
          <p:cNvSpPr/>
          <p:nvPr/>
        </p:nvSpPr>
        <p:spPr>
          <a:xfrm flipV="1">
            <a:off x="6227064" y="5065776"/>
            <a:ext cx="914" cy="457200"/>
          </a:xfrm>
          <a:prstGeom prst="line">
            <a:avLst/>
          </a:prstGeom>
          <a:noFill/>
          <a:ln w="31750">
            <a:solidFill>
              <a:srgbClr val="7DD3FC"/>
            </a:solidFill>
            <a:prstDash val="solid"/>
          </a:ln>
        </p:spPr>
      </p:sp>
      <p:sp>
        <p:nvSpPr>
          <p:cNvPr id="9" name="Shape 6"/>
          <p:cNvSpPr/>
          <p:nvPr/>
        </p:nvSpPr>
        <p:spPr>
          <a:xfrm flipH="1">
            <a:off x="11311128" y="5522976"/>
            <a:ext cx="457200" cy="914"/>
          </a:xfrm>
          <a:prstGeom prst="line">
            <a:avLst/>
          </a:prstGeom>
          <a:noFill/>
          <a:ln w="31750">
            <a:solidFill>
              <a:srgbClr val="7DD3FC"/>
            </a:solidFill>
            <a:prstDash val="solid"/>
          </a:ln>
        </p:spPr>
      </p:sp>
      <p:sp>
        <p:nvSpPr>
          <p:cNvPr id="10" name="Shape 7"/>
          <p:cNvSpPr/>
          <p:nvPr/>
        </p:nvSpPr>
        <p:spPr>
          <a:xfrm flipV="1">
            <a:off x="11768328" y="5065776"/>
            <a:ext cx="914" cy="457200"/>
          </a:xfrm>
          <a:prstGeom prst="line">
            <a:avLst/>
          </a:prstGeom>
          <a:noFill/>
          <a:ln w="31750">
            <a:solidFill>
              <a:srgbClr val="7DD3FC"/>
            </a:solidFill>
            <a:prstDash val="solid"/>
          </a:ln>
        </p:spPr>
      </p:sp>
      <p:sp>
        <p:nvSpPr>
          <p:cNvPr id="11" name="Shape 8"/>
          <p:cNvSpPr/>
          <p:nvPr/>
        </p:nvSpPr>
        <p:spPr>
          <a:xfrm>
            <a:off x="8830198" y="1968732"/>
            <a:ext cx="621792" cy="621792"/>
          </a:xfrm>
          <a:prstGeom prst="ellipse">
            <a:avLst/>
          </a:prstGeom>
          <a:ln w="31750">
            <a:solidFill>
              <a:srgbClr val="FF7A3A"/>
            </a:solidFill>
            <a:prstDash val="solid"/>
          </a:ln>
        </p:spPr>
      </p:sp>
      <p:sp>
        <p:nvSpPr>
          <p:cNvPr id="12" name="Shape 9"/>
          <p:cNvSpPr/>
          <p:nvPr/>
        </p:nvSpPr>
        <p:spPr>
          <a:xfrm>
            <a:off x="9095374" y="2233908"/>
            <a:ext cx="91440" cy="91440"/>
          </a:xfrm>
          <a:prstGeom prst="ellipse">
            <a:avLst/>
          </a:prstGeom>
          <a:solidFill>
            <a:srgbClr val="FF7A3A"/>
          </a:solidFill>
          <a:ln/>
        </p:spPr>
      </p:sp>
      <p:sp>
        <p:nvSpPr>
          <p:cNvPr id="13" name="Shape 10"/>
          <p:cNvSpPr/>
          <p:nvPr/>
        </p:nvSpPr>
        <p:spPr>
          <a:xfrm>
            <a:off x="8665606" y="2279628"/>
            <a:ext cx="219456" cy="914"/>
          </a:xfrm>
          <a:prstGeom prst="line">
            <a:avLst/>
          </a:prstGeom>
          <a:noFill/>
          <a:ln w="31750">
            <a:solidFill>
              <a:srgbClr val="FF7A3A"/>
            </a:solidFill>
            <a:prstDash val="solid"/>
          </a:ln>
        </p:spPr>
      </p:sp>
      <p:sp>
        <p:nvSpPr>
          <p:cNvPr id="14" name="Shape 11"/>
          <p:cNvSpPr/>
          <p:nvPr/>
        </p:nvSpPr>
        <p:spPr>
          <a:xfrm>
            <a:off x="9397126" y="2279628"/>
            <a:ext cx="219456" cy="914"/>
          </a:xfrm>
          <a:prstGeom prst="line">
            <a:avLst/>
          </a:prstGeom>
          <a:noFill/>
          <a:ln w="31750">
            <a:solidFill>
              <a:srgbClr val="FF7A3A"/>
            </a:solidFill>
            <a:prstDash val="solid"/>
          </a:ln>
        </p:spPr>
      </p:sp>
      <p:sp>
        <p:nvSpPr>
          <p:cNvPr id="15" name="Shape 12"/>
          <p:cNvSpPr/>
          <p:nvPr/>
        </p:nvSpPr>
        <p:spPr>
          <a:xfrm>
            <a:off x="9141094" y="1804140"/>
            <a:ext cx="914" cy="219456"/>
          </a:xfrm>
          <a:prstGeom prst="line">
            <a:avLst/>
          </a:prstGeom>
          <a:noFill/>
          <a:ln w="31750">
            <a:solidFill>
              <a:srgbClr val="FF7A3A"/>
            </a:solidFill>
            <a:prstDash val="solid"/>
          </a:ln>
        </p:spPr>
      </p:sp>
      <p:sp>
        <p:nvSpPr>
          <p:cNvPr id="16" name="Shape 13"/>
          <p:cNvSpPr/>
          <p:nvPr/>
        </p:nvSpPr>
        <p:spPr>
          <a:xfrm>
            <a:off x="9141094" y="2535660"/>
            <a:ext cx="914" cy="219456"/>
          </a:xfrm>
          <a:prstGeom prst="line">
            <a:avLst/>
          </a:prstGeom>
          <a:noFill/>
          <a:ln w="31750">
            <a:solidFill>
              <a:srgbClr val="FF7A3A"/>
            </a:solidFill>
            <a:prstDash val="solid"/>
          </a:ln>
        </p:spPr>
      </p:sp>
      <p:sp>
        <p:nvSpPr>
          <p:cNvPr id="17" name="Shape 14"/>
          <p:cNvSpPr/>
          <p:nvPr/>
        </p:nvSpPr>
        <p:spPr>
          <a:xfrm>
            <a:off x="6355080" y="411480"/>
            <a:ext cx="3182112" cy="292608"/>
          </a:xfrm>
          <a:prstGeom prst="roundRect">
            <a:avLst>
              <a:gd name="adj" fmla="val 15625"/>
            </a:avLst>
          </a:prstGeom>
          <a:solidFill>
            <a:srgbClr val="FF7A3A"/>
          </a:solidFill>
          <a:ln/>
        </p:spPr>
      </p:sp>
      <p:sp>
        <p:nvSpPr>
          <p:cNvPr id="18" name="Text 15"/>
          <p:cNvSpPr txBox="1"/>
          <p:nvPr/>
        </p:nvSpPr>
        <p:spPr>
          <a:xfrm>
            <a:off x="6355080" y="411480"/>
            <a:ext cx="3182112" cy="292608"/>
          </a:xfrm>
          <a:prstGeom prst="rect">
            <a:avLst/>
          </a:prstGeom>
          <a:noFill/>
          <a:ln/>
        </p:spPr>
        <p:txBody>
          <a:bodyPr wrap="square" lIns="0" tIns="0" rIns="0" bIns="0" rtlCol="0" anchor="ctr"/>
          <a:lstStyle/>
          <a:p>
            <a:pPr algn="ctr" indent="0" marL="0">
              <a:buNone/>
            </a:pPr>
            <a:r>
              <a:rPr lang="en-US" sz="1100" b="1" spc="100" kern="0" dirty="0">
                <a:solidFill>
                  <a:srgbClr val="16213A"/>
                </a:solidFill>
                <a:latin typeface="Calibri" pitchFamily="34" charset="0"/>
                <a:ea typeface="Calibri" pitchFamily="34" charset="-122"/>
                <a:cs typeface="Calibri" pitchFamily="34" charset="-120"/>
              </a:rPr>
              <a:t>ARIA GLASSES  ·  WHAT THE USER SEES</a:t>
            </a:r>
            <a:endParaRPr lang="en-US" sz="1100" dirty="0"/>
          </a:p>
        </p:txBody>
      </p:sp>
      <p:sp>
        <p:nvSpPr>
          <p:cNvPr id="19" name="Text 16"/>
          <p:cNvSpPr txBox="1"/>
          <p:nvPr/>
        </p:nvSpPr>
        <p:spPr>
          <a:xfrm>
            <a:off x="6355080" y="5650992"/>
            <a:ext cx="5285232" cy="274320"/>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The user looks and speaks. The robot has to find that one object.</a:t>
            </a:r>
            <a:endParaRPr lang="en-US" sz="1200" dirty="0"/>
          </a:p>
        </p:txBody>
      </p:sp>
      <p:sp>
        <p:nvSpPr>
          <p:cNvPr id="20" name="Text 17"/>
          <p:cNvSpPr txBox="1"/>
          <p:nvPr/>
        </p:nvSpPr>
        <p:spPr>
          <a:xfrm>
            <a:off x="548640" y="1051560"/>
            <a:ext cx="4572000" cy="274320"/>
          </a:xfrm>
          <a:prstGeom prst="rect">
            <a:avLst/>
          </a:prstGeom>
          <a:noFill/>
          <a:ln/>
        </p:spPr>
        <p:txBody>
          <a:bodyPr wrap="square" lIns="0" tIns="0" rIns="0" bIns="0" rtlCol="0" anchor="ctr"/>
          <a:lstStyle/>
          <a:p>
            <a:pPr indent="0" marL="0">
              <a:buNone/>
            </a:pPr>
            <a:r>
              <a:rPr lang="en-US" sz="1200" b="1" spc="200" kern="0" dirty="0">
                <a:solidFill>
                  <a:srgbClr val="FF7A3A"/>
                </a:solidFill>
                <a:latin typeface="Calibri" pitchFamily="34" charset="0"/>
                <a:ea typeface="Calibri" pitchFamily="34" charset="-122"/>
                <a:cs typeface="Calibri" pitchFamily="34" charset="-120"/>
              </a:rPr>
              <a:t>PART 1 / 3</a:t>
            </a:r>
            <a:endParaRPr lang="en-US" sz="1200" dirty="0"/>
          </a:p>
        </p:txBody>
      </p:sp>
      <p:sp>
        <p:nvSpPr>
          <p:cNvPr id="21" name="Text 18"/>
          <p:cNvSpPr txBox="1"/>
          <p:nvPr/>
        </p:nvSpPr>
        <p:spPr>
          <a:xfrm>
            <a:off x="548640" y="1371600"/>
            <a:ext cx="5394960" cy="128016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The problem and our plan</a:t>
            </a:r>
            <a:endParaRPr lang="en-US" sz="4000" dirty="0"/>
          </a:p>
        </p:txBody>
      </p:sp>
      <p:sp>
        <p:nvSpPr>
          <p:cNvPr id="22" name="Text 19"/>
          <p:cNvSpPr txBox="1"/>
          <p:nvPr/>
        </p:nvSpPr>
        <p:spPr>
          <a:xfrm>
            <a:off x="548640" y="2660904"/>
            <a:ext cx="5394960" cy="365760"/>
          </a:xfrm>
          <a:prstGeom prst="rect">
            <a:avLst/>
          </a:prstGeom>
          <a:noFill/>
          <a:ln/>
        </p:spPr>
        <p:txBody>
          <a:bodyPr wrap="square" lIns="0" tIns="0" rIns="0" bIns="0" rtlCol="0" anchor="t"/>
          <a:lstStyle/>
          <a:p>
            <a:pPr indent="0" marL="0">
              <a:buNone/>
            </a:pPr>
            <a:r>
              <a:rPr lang="en-US" sz="1700" dirty="0">
                <a:solidFill>
                  <a:srgbClr val="CBD5E1"/>
                </a:solidFill>
                <a:latin typeface="Calibri" pitchFamily="34" charset="0"/>
                <a:ea typeface="Calibri" pitchFamily="34" charset="-122"/>
                <a:cs typeface="Calibri" pitchFamily="34" charset="-120"/>
              </a:rPr>
              <a:t>Why this is hard, what we build, how we work</a:t>
            </a:r>
            <a:endParaRPr lang="en-US" sz="1700" dirty="0"/>
          </a:p>
        </p:txBody>
      </p:sp>
      <p:sp>
        <p:nvSpPr>
          <p:cNvPr id="23" name="Shape 20"/>
          <p:cNvSpPr/>
          <p:nvPr/>
        </p:nvSpPr>
        <p:spPr>
          <a:xfrm>
            <a:off x="548640" y="3465576"/>
            <a:ext cx="475488" cy="292608"/>
          </a:xfrm>
          <a:prstGeom prst="rect">
            <a:avLst/>
          </a:prstGeom>
          <a:ln w="15875">
            <a:solidFill>
              <a:srgbClr val="7DD3FC"/>
            </a:solidFill>
            <a:prstDash val="solid"/>
          </a:ln>
        </p:spPr>
      </p:sp>
      <p:sp>
        <p:nvSpPr>
          <p:cNvPr id="24" name="Text 21"/>
          <p:cNvSpPr txBox="1"/>
          <p:nvPr/>
        </p:nvSpPr>
        <p:spPr>
          <a:xfrm>
            <a:off x="548640" y="3465576"/>
            <a:ext cx="475488" cy="292608"/>
          </a:xfrm>
          <a:prstGeom prst="rect">
            <a:avLst/>
          </a:prstGeom>
          <a:noFill/>
          <a:ln/>
        </p:spPr>
        <p:txBody>
          <a:bodyPr wrap="square" lIns="0" tIns="0" rIns="0" bIns="0" rtlCol="0" anchor="ctr"/>
          <a:lstStyle/>
          <a:p>
            <a:pPr algn="ctr" indent="0" marL="0">
              <a:buNone/>
            </a:pPr>
            <a:r>
              <a:rPr lang="en-US" sz="1200" b="1" dirty="0">
                <a:solidFill>
                  <a:srgbClr val="7DD3FC"/>
                </a:solidFill>
                <a:latin typeface="Calibri" pitchFamily="34" charset="0"/>
                <a:ea typeface="Calibri" pitchFamily="34" charset="-122"/>
                <a:cs typeface="Calibri" pitchFamily="34" charset="-120"/>
              </a:rPr>
              <a:t>#1</a:t>
            </a:r>
            <a:endParaRPr lang="en-US" sz="1200" dirty="0"/>
          </a:p>
        </p:txBody>
      </p:sp>
      <p:sp>
        <p:nvSpPr>
          <p:cNvPr id="25" name="Text 22"/>
          <p:cNvSpPr txBox="1"/>
          <p:nvPr/>
        </p:nvSpPr>
        <p:spPr>
          <a:xfrm>
            <a:off x="1188720" y="3438144"/>
            <a:ext cx="4937760" cy="34747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Dion</a:t>
            </a:r>
            <a:pPr indent="0" marL="0">
              <a:buNone/>
            </a:pPr>
            <a:r>
              <a:rPr lang="en-US" sz="1500" dirty="0">
                <a:solidFill>
                  <a:srgbClr val="CBD5E1"/>
                </a:solidFill>
                <a:latin typeface="Calibri" pitchFamily="34" charset="0"/>
                <a:ea typeface="Calibri" pitchFamily="34" charset="-122"/>
                <a:cs typeface="Calibri" pitchFamily="34" charset="-120"/>
              </a:rPr>
              <a:t>   the problem and the objective</a:t>
            </a:r>
            <a:endParaRPr lang="en-US" sz="1500" dirty="0"/>
          </a:p>
        </p:txBody>
      </p:sp>
      <p:sp>
        <p:nvSpPr>
          <p:cNvPr id="26" name="Shape 23"/>
          <p:cNvSpPr/>
          <p:nvPr/>
        </p:nvSpPr>
        <p:spPr>
          <a:xfrm>
            <a:off x="548640" y="3941064"/>
            <a:ext cx="475488" cy="292608"/>
          </a:xfrm>
          <a:prstGeom prst="rect">
            <a:avLst/>
          </a:prstGeom>
          <a:ln w="15875">
            <a:solidFill>
              <a:srgbClr val="7DD3FC"/>
            </a:solidFill>
            <a:prstDash val="solid"/>
          </a:ln>
        </p:spPr>
      </p:sp>
      <p:sp>
        <p:nvSpPr>
          <p:cNvPr id="27" name="Text 24"/>
          <p:cNvSpPr txBox="1"/>
          <p:nvPr/>
        </p:nvSpPr>
        <p:spPr>
          <a:xfrm>
            <a:off x="548640" y="3941064"/>
            <a:ext cx="475488" cy="292608"/>
          </a:xfrm>
          <a:prstGeom prst="rect">
            <a:avLst/>
          </a:prstGeom>
          <a:noFill/>
          <a:ln/>
        </p:spPr>
        <p:txBody>
          <a:bodyPr wrap="square" lIns="0" tIns="0" rIns="0" bIns="0" rtlCol="0" anchor="ctr"/>
          <a:lstStyle/>
          <a:p>
            <a:pPr algn="ctr" indent="0" marL="0">
              <a:buNone/>
            </a:pPr>
            <a:r>
              <a:rPr lang="en-US" sz="1200" b="1" dirty="0">
                <a:solidFill>
                  <a:srgbClr val="7DD3FC"/>
                </a:solidFill>
                <a:latin typeface="Calibri" pitchFamily="34" charset="0"/>
                <a:ea typeface="Calibri" pitchFamily="34" charset="-122"/>
                <a:cs typeface="Calibri" pitchFamily="34" charset="-120"/>
              </a:rPr>
              <a:t>#2</a:t>
            </a:r>
            <a:endParaRPr lang="en-US" sz="1200" dirty="0"/>
          </a:p>
        </p:txBody>
      </p:sp>
      <p:sp>
        <p:nvSpPr>
          <p:cNvPr id="28" name="Text 25"/>
          <p:cNvSpPr txBox="1"/>
          <p:nvPr/>
        </p:nvSpPr>
        <p:spPr>
          <a:xfrm>
            <a:off x="1188720" y="3913632"/>
            <a:ext cx="4937760" cy="34747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Zongzhe</a:t>
            </a:r>
            <a:pPr indent="0" marL="0">
              <a:buNone/>
            </a:pPr>
            <a:r>
              <a:rPr lang="en-US" sz="1500" dirty="0">
                <a:solidFill>
                  <a:srgbClr val="CBD5E1"/>
                </a:solidFill>
                <a:latin typeface="Calibri" pitchFamily="34" charset="0"/>
                <a:ea typeface="Calibri" pitchFamily="34" charset="-122"/>
                <a:cs typeface="Calibri" pitchFamily="34" charset="-120"/>
              </a:rPr>
              <a:t>   the five-phase system</a:t>
            </a:r>
            <a:endParaRPr lang="en-US" sz="1500" dirty="0"/>
          </a:p>
        </p:txBody>
      </p:sp>
      <p:sp>
        <p:nvSpPr>
          <p:cNvPr id="29" name="Shape 26"/>
          <p:cNvSpPr/>
          <p:nvPr/>
        </p:nvSpPr>
        <p:spPr>
          <a:xfrm>
            <a:off x="548640" y="4416552"/>
            <a:ext cx="475488" cy="292608"/>
          </a:xfrm>
          <a:prstGeom prst="rect">
            <a:avLst/>
          </a:prstGeom>
          <a:ln w="15875">
            <a:solidFill>
              <a:srgbClr val="7DD3FC"/>
            </a:solidFill>
            <a:prstDash val="solid"/>
          </a:ln>
        </p:spPr>
      </p:sp>
      <p:sp>
        <p:nvSpPr>
          <p:cNvPr id="30" name="Text 27"/>
          <p:cNvSpPr txBox="1"/>
          <p:nvPr/>
        </p:nvSpPr>
        <p:spPr>
          <a:xfrm>
            <a:off x="548640" y="4416552"/>
            <a:ext cx="475488" cy="292608"/>
          </a:xfrm>
          <a:prstGeom prst="rect">
            <a:avLst/>
          </a:prstGeom>
          <a:noFill/>
          <a:ln/>
        </p:spPr>
        <p:txBody>
          <a:bodyPr wrap="square" lIns="0" tIns="0" rIns="0" bIns="0" rtlCol="0" anchor="ctr"/>
          <a:lstStyle/>
          <a:p>
            <a:pPr algn="ctr" indent="0" marL="0">
              <a:buNone/>
            </a:pPr>
            <a:r>
              <a:rPr lang="en-US" sz="1200" b="1" dirty="0">
                <a:solidFill>
                  <a:srgbClr val="7DD3FC"/>
                </a:solidFill>
                <a:latin typeface="Calibri" pitchFamily="34" charset="0"/>
                <a:ea typeface="Calibri" pitchFamily="34" charset="-122"/>
                <a:cs typeface="Calibri" pitchFamily="34" charset="-120"/>
              </a:rPr>
              <a:t>#3</a:t>
            </a:r>
            <a:endParaRPr lang="en-US" sz="1200" dirty="0"/>
          </a:p>
        </p:txBody>
      </p:sp>
      <p:sp>
        <p:nvSpPr>
          <p:cNvPr id="31" name="Text 28"/>
          <p:cNvSpPr txBox="1"/>
          <p:nvPr/>
        </p:nvSpPr>
        <p:spPr>
          <a:xfrm>
            <a:off x="1188720" y="4389120"/>
            <a:ext cx="4937760" cy="34747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Sherman</a:t>
            </a:r>
            <a:pPr indent="0" marL="0">
              <a:buNone/>
            </a:pPr>
            <a:r>
              <a:rPr lang="en-US" sz="1500" dirty="0">
                <a:solidFill>
                  <a:srgbClr val="CBD5E1"/>
                </a:solidFill>
                <a:latin typeface="Calibri" pitchFamily="34" charset="0"/>
                <a:ea typeface="Calibri" pitchFamily="34" charset="-122"/>
                <a:cs typeface="Calibri" pitchFamily="34" charset="-120"/>
              </a:rPr>
              <a:t>   where we started and how we work</a:t>
            </a:r>
            <a:endParaRPr lang="en-US" sz="1500" dirty="0"/>
          </a:p>
        </p:txBody>
      </p:sp>
      <p:sp>
        <p:nvSpPr>
          <p:cNvPr id="32" name="Shape 29"/>
          <p:cNvSpPr/>
          <p:nvPr/>
        </p:nvSpPr>
        <p:spPr>
          <a:xfrm>
            <a:off x="548640" y="5989320"/>
            <a:ext cx="1600200" cy="64008"/>
          </a:xfrm>
          <a:prstGeom prst="roundRect">
            <a:avLst>
              <a:gd name="adj" fmla="val 42857"/>
            </a:avLst>
          </a:prstGeom>
          <a:solidFill>
            <a:srgbClr val="FF7A3A"/>
          </a:solidFill>
          <a:ln/>
        </p:spPr>
      </p:sp>
      <p:sp>
        <p:nvSpPr>
          <p:cNvPr id="33" name="Text 30"/>
          <p:cNvSpPr txBox="1"/>
          <p:nvPr/>
        </p:nvSpPr>
        <p:spPr>
          <a:xfrm>
            <a:off x="548640" y="6108192"/>
            <a:ext cx="1600200" cy="2286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Problem and plan</a:t>
            </a:r>
            <a:endParaRPr lang="en-US" sz="1100" dirty="0"/>
          </a:p>
        </p:txBody>
      </p:sp>
      <p:sp>
        <p:nvSpPr>
          <p:cNvPr id="34" name="Shape 31"/>
          <p:cNvSpPr/>
          <p:nvPr/>
        </p:nvSpPr>
        <p:spPr>
          <a:xfrm>
            <a:off x="2258568" y="5989320"/>
            <a:ext cx="1600200" cy="64008"/>
          </a:xfrm>
          <a:prstGeom prst="roundRect">
            <a:avLst>
              <a:gd name="adj" fmla="val 42857"/>
            </a:avLst>
          </a:prstGeom>
          <a:solidFill>
            <a:srgbClr val="334155"/>
          </a:solidFill>
          <a:ln/>
        </p:spPr>
      </p:sp>
      <p:sp>
        <p:nvSpPr>
          <p:cNvPr id="35" name="Text 32"/>
          <p:cNvSpPr txBox="1"/>
          <p:nvPr/>
        </p:nvSpPr>
        <p:spPr>
          <a:xfrm>
            <a:off x="2258568" y="6108192"/>
            <a:ext cx="1600200" cy="22860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Results</a:t>
            </a:r>
            <a:endParaRPr lang="en-US" sz="1100" dirty="0"/>
          </a:p>
        </p:txBody>
      </p:sp>
      <p:sp>
        <p:nvSpPr>
          <p:cNvPr id="36" name="Shape 33"/>
          <p:cNvSpPr/>
          <p:nvPr/>
        </p:nvSpPr>
        <p:spPr>
          <a:xfrm>
            <a:off x="3968496" y="5989320"/>
            <a:ext cx="1600200" cy="64008"/>
          </a:xfrm>
          <a:prstGeom prst="roundRect">
            <a:avLst>
              <a:gd name="adj" fmla="val 42857"/>
            </a:avLst>
          </a:prstGeom>
          <a:solidFill>
            <a:srgbClr val="334155"/>
          </a:solidFill>
          <a:ln/>
        </p:spPr>
      </p:sp>
      <p:sp>
        <p:nvSpPr>
          <p:cNvPr id="37" name="Text 34"/>
          <p:cNvSpPr txBox="1"/>
          <p:nvPr/>
        </p:nvSpPr>
        <p:spPr>
          <a:xfrm>
            <a:off x="3968496" y="6108192"/>
            <a:ext cx="1600200" cy="22860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Where we stand</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28600"/>
          </a:xfrm>
          <a:prstGeom prst="rect">
            <a:avLst/>
          </a:prstGeom>
          <a:noFill/>
          <a:ln/>
        </p:spPr>
        <p:txBody>
          <a:bodyPr wrap="square" lIns="0" tIns="0" rIns="0" bIns="0" rtlCol="0" anchor="ctr"/>
          <a:lstStyle/>
          <a:p>
            <a:pPr indent="0" marL="0">
              <a:buNone/>
            </a:pPr>
            <a:r>
              <a:rPr lang="en-US" sz="1100" b="1" spc="150" kern="0" dirty="0">
                <a:solidFill>
                  <a:srgbClr val="0068B5"/>
                </a:solidFill>
                <a:latin typeface="Calibri" pitchFamily="34" charset="0"/>
                <a:ea typeface="Calibri" pitchFamily="34" charset="-122"/>
                <a:cs typeface="Calibri" pitchFamily="34" charset="-120"/>
              </a:rPr>
              <a:t>GAPPLER  ·  DION</a:t>
            </a:r>
            <a:endParaRPr lang="en-US" sz="1100" dirty="0"/>
          </a:p>
        </p:txBody>
      </p:sp>
      <p:sp>
        <p:nvSpPr>
          <p:cNvPr id="3" name="Shape 1"/>
          <p:cNvSpPr/>
          <p:nvPr/>
        </p:nvSpPr>
        <p:spPr>
          <a:xfrm>
            <a:off x="9445752" y="347472"/>
            <a:ext cx="2194560" cy="347472"/>
          </a:xfrm>
          <a:prstGeom prst="roundRect">
            <a:avLst>
              <a:gd name="adj" fmla="val 50000"/>
            </a:avLst>
          </a:prstGeom>
          <a:solidFill>
            <a:srgbClr val="16213A"/>
          </a:solidFill>
          <a:ln/>
        </p:spPr>
      </p:sp>
      <p:sp>
        <p:nvSpPr>
          <p:cNvPr id="4" name="Text 2"/>
          <p:cNvSpPr txBox="1"/>
          <p:nvPr/>
        </p:nvSpPr>
        <p:spPr>
          <a:xfrm>
            <a:off x="9445752" y="347472"/>
            <a:ext cx="2194560" cy="347472"/>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THE PROBLEM</a:t>
            </a:r>
            <a:endParaRPr lang="en-US" sz="1100" dirty="0"/>
          </a:p>
        </p:txBody>
      </p:sp>
      <p:sp>
        <p:nvSpPr>
          <p:cNvPr id="5" name="Text 3"/>
          <p:cNvSpPr txBox="1"/>
          <p:nvPr/>
        </p:nvSpPr>
        <p:spPr>
          <a:xfrm>
            <a:off x="548640" y="777240"/>
            <a:ext cx="11091672" cy="548640"/>
          </a:xfrm>
          <a:prstGeom prst="rect">
            <a:avLst/>
          </a:prstGeom>
          <a:noFill/>
          <a:ln/>
        </p:spPr>
        <p:txBody>
          <a:bodyPr wrap="square" lIns="0" tIns="0" rIns="0" bIns="0" rtlCol="0" anchor="ctr"/>
          <a:lstStyle/>
          <a:p>
            <a:pPr indent="0" marL="0">
              <a:buNone/>
            </a:pPr>
            <a:r>
              <a:rPr lang="en-US" sz="3000" b="1" dirty="0">
                <a:solidFill>
                  <a:srgbClr val="16213A"/>
                </a:solidFill>
                <a:latin typeface="Calibri" pitchFamily="34" charset="0"/>
                <a:ea typeface="Calibri" pitchFamily="34" charset="-122"/>
                <a:cs typeface="Calibri" pitchFamily="34" charset="-120"/>
              </a:rPr>
              <a:t>The user sees the object. The robot does not</a:t>
            </a:r>
            <a:endParaRPr lang="en-US" sz="3000" dirty="0"/>
          </a:p>
        </p:txBody>
      </p:sp>
      <p:sp>
        <p:nvSpPr>
          <p:cNvPr id="6" name="Text 4"/>
          <p:cNvSpPr txBox="1"/>
          <p:nvPr/>
        </p:nvSpPr>
        <p:spPr>
          <a:xfrm>
            <a:off x="548640" y="1325880"/>
            <a:ext cx="11091672" cy="320040"/>
          </a:xfrm>
          <a:prstGeom prst="rect">
            <a:avLst/>
          </a:prstGeom>
          <a:noFill/>
          <a:ln/>
        </p:spPr>
        <p:txBody>
          <a:bodyPr wrap="square" lIns="0" tIns="0" rIns="0" bIns="0" rtlCol="0" anchor="ctr"/>
          <a:lstStyle/>
          <a:p>
            <a:pPr indent="0" marL="0">
              <a:buNone/>
            </a:pPr>
            <a:r>
              <a:rPr lang="en-US" sz="1700" dirty="0">
                <a:solidFill>
                  <a:srgbClr val="4B5563"/>
                </a:solidFill>
                <a:latin typeface="Calibri" pitchFamily="34" charset="0"/>
                <a:ea typeface="Calibri" pitchFamily="34" charset="-122"/>
                <a:cs typeface="Calibri" pitchFamily="34" charset="-120"/>
              </a:rPr>
              <a:t>Same box, three viewpoints, almost nothing in common pixel for pixel</a:t>
            </a:r>
            <a:endParaRPr lang="en-US" sz="1700" dirty="0"/>
          </a:p>
        </p:txBody>
      </p:sp>
      <p:pic>
        <p:nvPicPr>
          <p:cNvPr id="7" name="Image 0" descr="USER'S GLASSES  ·  1 TO 3 M, FRONT ON">    </p:cNvPr>
          <p:cNvPicPr>
            <a:picLocks noChangeAspect="1"/>
          </p:cNvPicPr>
          <p:nvPr/>
        </p:nvPicPr>
        <p:blipFill>
          <a:blip r:embed="rId1"/>
          <a:srcRect l="0" r="0" t="0" b="0"/>
          <a:stretch/>
        </p:blipFill>
        <p:spPr>
          <a:xfrm>
            <a:off x="548640" y="1874520"/>
            <a:ext cx="3575304" cy="2331720"/>
          </a:xfrm>
          <a:prstGeom prst="rect">
            <a:avLst/>
          </a:prstGeom>
        </p:spPr>
      </p:pic>
      <p:sp>
        <p:nvSpPr>
          <p:cNvPr id="8" name="Shape 5"/>
          <p:cNvSpPr/>
          <p:nvPr/>
        </p:nvSpPr>
        <p:spPr>
          <a:xfrm>
            <a:off x="548640" y="3877056"/>
            <a:ext cx="3575304" cy="329184"/>
          </a:xfrm>
          <a:prstGeom prst="rect">
            <a:avLst/>
          </a:prstGeom>
          <a:solidFill>
            <a:srgbClr val="16213A">
              <a:alpha val="80000"/>
            </a:srgbClr>
          </a:solidFill>
          <a:ln/>
        </p:spPr>
      </p:sp>
      <p:sp>
        <p:nvSpPr>
          <p:cNvPr id="9" name="Text 6"/>
          <p:cNvSpPr txBox="1"/>
          <p:nvPr/>
        </p:nvSpPr>
        <p:spPr>
          <a:xfrm>
            <a:off x="685800" y="3877056"/>
            <a:ext cx="3300984" cy="329184"/>
          </a:xfrm>
          <a:prstGeom prst="rect">
            <a:avLst/>
          </a:prstGeom>
          <a:noFill/>
          <a:ln/>
        </p:spPr>
        <p:txBody>
          <a:bodyPr wrap="square" lIns="0" tIns="0" rIns="0" bIns="0"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USER'S GLASSES  ·  1 TO 3 M, FRONT ON</a:t>
            </a:r>
            <a:endParaRPr lang="en-US" sz="1100" dirty="0"/>
          </a:p>
        </p:txBody>
      </p:sp>
      <p:pic>
        <p:nvPicPr>
          <p:cNvPr id="10" name="Image 1" descr="ROBOT BASE CAMERA  ·  KNEE HEIGHT">    </p:cNvPr>
          <p:cNvPicPr>
            <a:picLocks noChangeAspect="1"/>
          </p:cNvPicPr>
          <p:nvPr/>
        </p:nvPicPr>
        <p:blipFill>
          <a:blip r:embed="rId2"/>
          <a:srcRect l="0" r="0" t="0" b="0"/>
          <a:stretch/>
        </p:blipFill>
        <p:spPr>
          <a:xfrm>
            <a:off x="4306824" y="1874520"/>
            <a:ext cx="3575304" cy="2331720"/>
          </a:xfrm>
          <a:prstGeom prst="rect">
            <a:avLst/>
          </a:prstGeom>
        </p:spPr>
      </p:pic>
      <p:sp>
        <p:nvSpPr>
          <p:cNvPr id="11" name="Shape 7"/>
          <p:cNvSpPr/>
          <p:nvPr/>
        </p:nvSpPr>
        <p:spPr>
          <a:xfrm>
            <a:off x="4306824" y="3877056"/>
            <a:ext cx="3575304" cy="329184"/>
          </a:xfrm>
          <a:prstGeom prst="rect">
            <a:avLst/>
          </a:prstGeom>
          <a:solidFill>
            <a:srgbClr val="16213A">
              <a:alpha val="80000"/>
            </a:srgbClr>
          </a:solidFill>
          <a:ln/>
        </p:spPr>
      </p:sp>
      <p:sp>
        <p:nvSpPr>
          <p:cNvPr id="12" name="Text 8"/>
          <p:cNvSpPr txBox="1"/>
          <p:nvPr/>
        </p:nvSpPr>
        <p:spPr>
          <a:xfrm>
            <a:off x="4443984" y="3877056"/>
            <a:ext cx="3300984" cy="329184"/>
          </a:xfrm>
          <a:prstGeom prst="rect">
            <a:avLst/>
          </a:prstGeom>
          <a:noFill/>
          <a:ln/>
        </p:spPr>
        <p:txBody>
          <a:bodyPr wrap="square" lIns="0" tIns="0" rIns="0" bIns="0"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ROBOT BASE CAMERA  ·  KNEE HEIGHT</a:t>
            </a:r>
            <a:endParaRPr lang="en-US" sz="1100" dirty="0"/>
          </a:p>
        </p:txBody>
      </p:sp>
      <p:pic>
        <p:nvPicPr>
          <p:cNvPr id="13" name="Image 2" descr="ROBOT WRIST CAMERA  ·  0.2 TO 0.5 M">    </p:cNvPr>
          <p:cNvPicPr>
            <a:picLocks noChangeAspect="1"/>
          </p:cNvPicPr>
          <p:nvPr/>
        </p:nvPicPr>
        <p:blipFill>
          <a:blip r:embed="rId3"/>
          <a:srcRect l="0" r="0" t="0" b="0"/>
          <a:stretch/>
        </p:blipFill>
        <p:spPr>
          <a:xfrm>
            <a:off x="8065008" y="1874520"/>
            <a:ext cx="3575304" cy="2331720"/>
          </a:xfrm>
          <a:prstGeom prst="rect">
            <a:avLst/>
          </a:prstGeom>
        </p:spPr>
      </p:pic>
      <p:sp>
        <p:nvSpPr>
          <p:cNvPr id="14" name="Shape 9"/>
          <p:cNvSpPr/>
          <p:nvPr/>
        </p:nvSpPr>
        <p:spPr>
          <a:xfrm>
            <a:off x="8065008" y="3877056"/>
            <a:ext cx="3575304" cy="329184"/>
          </a:xfrm>
          <a:prstGeom prst="rect">
            <a:avLst/>
          </a:prstGeom>
          <a:solidFill>
            <a:srgbClr val="16213A">
              <a:alpha val="80000"/>
            </a:srgbClr>
          </a:solidFill>
          <a:ln/>
        </p:spPr>
      </p:sp>
      <p:sp>
        <p:nvSpPr>
          <p:cNvPr id="15" name="Text 10"/>
          <p:cNvSpPr txBox="1"/>
          <p:nvPr/>
        </p:nvSpPr>
        <p:spPr>
          <a:xfrm>
            <a:off x="8202168" y="3877056"/>
            <a:ext cx="3300984" cy="329184"/>
          </a:xfrm>
          <a:prstGeom prst="rect">
            <a:avLst/>
          </a:prstGeom>
          <a:noFill/>
          <a:ln/>
        </p:spPr>
        <p:txBody>
          <a:bodyPr wrap="square" lIns="0" tIns="0" rIns="0" bIns="0"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ROBOT WRIST CAMERA  ·  0.2 TO 0.5 M</a:t>
            </a:r>
            <a:endParaRPr lang="en-US" sz="1100" dirty="0"/>
          </a:p>
        </p:txBody>
      </p:sp>
      <p:sp>
        <p:nvSpPr>
          <p:cNvPr id="16" name="Shape 11"/>
          <p:cNvSpPr/>
          <p:nvPr/>
        </p:nvSpPr>
        <p:spPr>
          <a:xfrm>
            <a:off x="548640" y="4434840"/>
            <a:ext cx="3575304" cy="1234440"/>
          </a:xfrm>
          <a:prstGeom prst="roundRect">
            <a:avLst>
              <a:gd name="adj" fmla="val 7407"/>
            </a:avLst>
          </a:prstGeom>
          <a:solidFill>
            <a:srgbClr val="EEF2F7"/>
          </a:solidFill>
          <a:ln/>
        </p:spPr>
      </p:sp>
      <p:sp>
        <p:nvSpPr>
          <p:cNvPr id="17" name="Text 12"/>
          <p:cNvSpPr txBox="1"/>
          <p:nvPr/>
        </p:nvSpPr>
        <p:spPr>
          <a:xfrm>
            <a:off x="731520" y="4590288"/>
            <a:ext cx="3209544" cy="228600"/>
          </a:xfrm>
          <a:prstGeom prst="rect">
            <a:avLst/>
          </a:prstGeom>
          <a:noFill/>
          <a:ln/>
        </p:spPr>
        <p:txBody>
          <a:bodyPr wrap="square" lIns="0" tIns="0" rIns="0" bIns="0" rtlCol="0" anchor="ctr"/>
          <a:lstStyle/>
          <a:p>
            <a:pPr indent="0" marL="0">
              <a:buNone/>
            </a:pPr>
            <a:r>
              <a:rPr lang="en-US" sz="1100" b="1" spc="150" kern="0" dirty="0">
                <a:solidFill>
                  <a:srgbClr val="0068B5"/>
                </a:solidFill>
                <a:latin typeface="Calibri" pitchFamily="34" charset="0"/>
                <a:ea typeface="Calibri" pitchFamily="34" charset="-122"/>
                <a:cs typeface="Calibri" pitchFamily="34" charset="-120"/>
              </a:rPr>
              <a:t>FAM-HRI  ·  LAI ET AL., 2025</a:t>
            </a:r>
            <a:endParaRPr lang="en-US" sz="1100" dirty="0"/>
          </a:p>
        </p:txBody>
      </p:sp>
      <p:sp>
        <p:nvSpPr>
          <p:cNvPr id="18" name="Text 13"/>
          <p:cNvSpPr txBox="1"/>
          <p:nvPr/>
        </p:nvSpPr>
        <p:spPr>
          <a:xfrm>
            <a:off x="731520" y="4864608"/>
            <a:ext cx="3209544" cy="731520"/>
          </a:xfrm>
          <a:prstGeom prst="rect">
            <a:avLst/>
          </a:prstGeom>
          <a:noFill/>
          <a:ln/>
        </p:spPr>
        <p:txBody>
          <a:bodyPr wrap="square" lIns="0" tIns="0" rIns="0" bIns="0" rtlCol="0" anchor="t"/>
          <a:lstStyle/>
          <a:p>
            <a:pPr indent="0" marL="0">
              <a:buNone/>
            </a:pPr>
            <a:r>
              <a:rPr lang="en-US" sz="1500" dirty="0">
                <a:solidFill>
                  <a:srgbClr val="16213A"/>
                </a:solidFill>
                <a:latin typeface="Calibri" pitchFamily="34" charset="0"/>
                <a:ea typeface="Calibri" pitchFamily="34" charset="-122"/>
                <a:cs typeface="Calibri" pitchFamily="34" charset="-120"/>
              </a:rPr>
              <a:t>Gaze and speech pick an object, </a:t>
            </a:r>
            <a:pPr indent="0" marL="0">
              <a:buNone/>
            </a:pPr>
            <a:r>
              <a:rPr lang="en-US" sz="1500" b="1" dirty="0">
                <a:solidFill>
                  <a:srgbClr val="16213A"/>
                </a:solidFill>
                <a:latin typeface="Calibri" pitchFamily="34" charset="0"/>
                <a:ea typeface="Calibri" pitchFamily="34" charset="-122"/>
                <a:cs typeface="Calibri" pitchFamily="34" charset="-120"/>
              </a:rPr>
              <a:t>if it is already in front of the arm</a:t>
            </a:r>
            <a:endParaRPr lang="en-US" sz="1500" dirty="0"/>
          </a:p>
        </p:txBody>
      </p:sp>
      <p:sp>
        <p:nvSpPr>
          <p:cNvPr id="19" name="Shape 14"/>
          <p:cNvSpPr/>
          <p:nvPr/>
        </p:nvSpPr>
        <p:spPr>
          <a:xfrm>
            <a:off x="4306824" y="4434840"/>
            <a:ext cx="3575304" cy="1234440"/>
          </a:xfrm>
          <a:prstGeom prst="roundRect">
            <a:avLst>
              <a:gd name="adj" fmla="val 7407"/>
            </a:avLst>
          </a:prstGeom>
          <a:solidFill>
            <a:srgbClr val="EEF2F7"/>
          </a:solidFill>
          <a:ln/>
        </p:spPr>
      </p:sp>
      <p:sp>
        <p:nvSpPr>
          <p:cNvPr id="20" name="Text 15"/>
          <p:cNvSpPr txBox="1"/>
          <p:nvPr/>
        </p:nvSpPr>
        <p:spPr>
          <a:xfrm>
            <a:off x="4489704" y="4590288"/>
            <a:ext cx="3209544" cy="228600"/>
          </a:xfrm>
          <a:prstGeom prst="rect">
            <a:avLst/>
          </a:prstGeom>
          <a:noFill/>
          <a:ln/>
        </p:spPr>
        <p:txBody>
          <a:bodyPr wrap="square" lIns="0" tIns="0" rIns="0" bIns="0" rtlCol="0" anchor="ctr"/>
          <a:lstStyle/>
          <a:p>
            <a:pPr indent="0" marL="0">
              <a:buNone/>
            </a:pPr>
            <a:r>
              <a:rPr lang="en-US" sz="1100" b="1" spc="150" kern="0" dirty="0">
                <a:solidFill>
                  <a:srgbClr val="0068B5"/>
                </a:solidFill>
                <a:latin typeface="Calibri" pitchFamily="34" charset="0"/>
                <a:ea typeface="Calibri" pitchFamily="34" charset="-122"/>
                <a:cs typeface="Calibri" pitchFamily="34" charset="-120"/>
              </a:rPr>
              <a:t>HICO-NAV  ·  XU ET AL., ICRA 2026</a:t>
            </a:r>
            <a:endParaRPr lang="en-US" sz="1100" dirty="0"/>
          </a:p>
        </p:txBody>
      </p:sp>
      <p:sp>
        <p:nvSpPr>
          <p:cNvPr id="21" name="Text 16"/>
          <p:cNvSpPr txBox="1"/>
          <p:nvPr/>
        </p:nvSpPr>
        <p:spPr>
          <a:xfrm>
            <a:off x="4489704" y="4864608"/>
            <a:ext cx="3209544" cy="731520"/>
          </a:xfrm>
          <a:prstGeom prst="rect">
            <a:avLst/>
          </a:prstGeom>
          <a:noFill/>
          <a:ln/>
        </p:spPr>
        <p:txBody>
          <a:bodyPr wrap="square" lIns="0" tIns="0" rIns="0" bIns="0" rtlCol="0" anchor="t"/>
          <a:lstStyle/>
          <a:p>
            <a:pPr indent="0" marL="0">
              <a:buNone/>
            </a:pPr>
            <a:r>
              <a:rPr lang="en-US" sz="1500" dirty="0">
                <a:solidFill>
                  <a:srgbClr val="16213A"/>
                </a:solidFill>
                <a:latin typeface="Calibri" pitchFamily="34" charset="0"/>
                <a:ea typeface="Calibri" pitchFamily="34" charset="-122"/>
                <a:cs typeface="Calibri" pitchFamily="34" charset="-120"/>
              </a:rPr>
              <a:t>Searches a room by memory, </a:t>
            </a:r>
            <a:pPr indent="0" marL="0">
              <a:buNone/>
            </a:pPr>
            <a:r>
              <a:rPr lang="en-US" sz="1500" b="1" dirty="0">
                <a:solidFill>
                  <a:srgbClr val="16213A"/>
                </a:solidFill>
                <a:latin typeface="Calibri" pitchFamily="34" charset="0"/>
                <a:ea typeface="Calibri" pitchFamily="34" charset="-122"/>
                <a:cs typeface="Calibri" pitchFamily="34" charset="-120"/>
              </a:rPr>
              <a:t>for a class, not the one you mean</a:t>
            </a:r>
            <a:endParaRPr lang="en-US" sz="1500" dirty="0"/>
          </a:p>
        </p:txBody>
      </p:sp>
      <p:sp>
        <p:nvSpPr>
          <p:cNvPr id="22" name="Shape 17"/>
          <p:cNvSpPr/>
          <p:nvPr/>
        </p:nvSpPr>
        <p:spPr>
          <a:xfrm>
            <a:off x="8065008" y="4434840"/>
            <a:ext cx="3575304" cy="1234440"/>
          </a:xfrm>
          <a:prstGeom prst="roundRect">
            <a:avLst>
              <a:gd name="adj" fmla="val 7407"/>
            </a:avLst>
          </a:prstGeom>
          <a:solidFill>
            <a:srgbClr val="16213A"/>
          </a:solidFill>
          <a:ln/>
        </p:spPr>
      </p:sp>
      <p:sp>
        <p:nvSpPr>
          <p:cNvPr id="23" name="Text 18"/>
          <p:cNvSpPr txBox="1"/>
          <p:nvPr/>
        </p:nvSpPr>
        <p:spPr>
          <a:xfrm>
            <a:off x="8247888" y="4590288"/>
            <a:ext cx="3209544" cy="228600"/>
          </a:xfrm>
          <a:prstGeom prst="rect">
            <a:avLst/>
          </a:prstGeom>
          <a:noFill/>
          <a:ln/>
        </p:spPr>
        <p:txBody>
          <a:bodyPr wrap="square" lIns="0" tIns="0" rIns="0" bIns="0" rtlCol="0" anchor="ctr"/>
          <a:lstStyle/>
          <a:p>
            <a:pPr indent="0" marL="0">
              <a:buNone/>
            </a:pPr>
            <a:r>
              <a:rPr lang="en-US" sz="1100" b="1" spc="150" kern="0" dirty="0">
                <a:solidFill>
                  <a:srgbClr val="7DD3FC"/>
                </a:solidFill>
                <a:latin typeface="Calibri" pitchFamily="34" charset="0"/>
                <a:ea typeface="Calibri" pitchFamily="34" charset="-122"/>
                <a:cs typeface="Calibri" pitchFamily="34" charset="-120"/>
              </a:rPr>
              <a:t>WHY IT MATTERS</a:t>
            </a:r>
            <a:endParaRPr lang="en-US" sz="1100" dirty="0"/>
          </a:p>
        </p:txBody>
      </p:sp>
      <p:sp>
        <p:nvSpPr>
          <p:cNvPr id="24" name="Text 19"/>
          <p:cNvSpPr txBox="1"/>
          <p:nvPr/>
        </p:nvSpPr>
        <p:spPr>
          <a:xfrm>
            <a:off x="8247888" y="4864608"/>
            <a:ext cx="3209544" cy="7315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Users who can look but not easily point or speak</a:t>
            </a:r>
            <a:endParaRPr lang="en-US" sz="1400" dirty="0"/>
          </a:p>
        </p:txBody>
      </p:sp>
      <p:sp>
        <p:nvSpPr>
          <p:cNvPr id="25" name="Text 20"/>
          <p:cNvSpPr txBox="1"/>
          <p:nvPr/>
        </p:nvSpPr>
        <p:spPr>
          <a:xfrm>
            <a:off x="548640" y="5742432"/>
            <a:ext cx="11091672" cy="22860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Base camera: the lab from knee height. A frame of the box is still to be taken.</a:t>
            </a:r>
            <a:endParaRPr lang="en-US" sz="1100" dirty="0"/>
          </a:p>
        </p:txBody>
      </p:sp>
      <p:sp>
        <p:nvSpPr>
          <p:cNvPr id="26" name="Shape 21"/>
          <p:cNvSpPr/>
          <p:nvPr/>
        </p:nvSpPr>
        <p:spPr>
          <a:xfrm>
            <a:off x="594360" y="6400800"/>
            <a:ext cx="1295019" cy="36576"/>
          </a:xfrm>
          <a:prstGeom prst="rect">
            <a:avLst/>
          </a:prstGeom>
          <a:solidFill>
            <a:srgbClr val="0068B5"/>
          </a:solidFill>
          <a:ln/>
        </p:spPr>
      </p:sp>
      <p:sp>
        <p:nvSpPr>
          <p:cNvPr id="27" name="Text 22"/>
          <p:cNvSpPr txBox="1"/>
          <p:nvPr/>
        </p:nvSpPr>
        <p:spPr>
          <a:xfrm>
            <a:off x="548640" y="6473952"/>
            <a:ext cx="1386459" cy="201168"/>
          </a:xfrm>
          <a:prstGeom prst="rect">
            <a:avLst/>
          </a:prstGeom>
          <a:noFill/>
          <a:ln/>
        </p:spPr>
        <p:txBody>
          <a:bodyPr wrap="square" lIns="0" tIns="0" rIns="0" bIns="0" rtlCol="0" anchor="ctr"/>
          <a:lstStyle/>
          <a:p>
            <a:pPr algn="ctr" indent="0" marL="0">
              <a:buNone/>
            </a:pPr>
            <a:r>
              <a:rPr lang="en-US" sz="1100" b="1" dirty="0">
                <a:solidFill>
                  <a:srgbClr val="16213A"/>
                </a:solidFill>
                <a:latin typeface="Calibri" pitchFamily="34" charset="0"/>
                <a:ea typeface="Calibri" pitchFamily="34" charset="-122"/>
                <a:cs typeface="Calibri" pitchFamily="34" charset="-120"/>
              </a:rPr>
              <a:t>Problem</a:t>
            </a:r>
            <a:endParaRPr lang="en-US" sz="1100" dirty="0"/>
          </a:p>
        </p:txBody>
      </p:sp>
      <p:sp>
        <p:nvSpPr>
          <p:cNvPr id="28" name="Shape 23"/>
          <p:cNvSpPr/>
          <p:nvPr/>
        </p:nvSpPr>
        <p:spPr>
          <a:xfrm>
            <a:off x="1980819" y="6400800"/>
            <a:ext cx="1295019" cy="13716"/>
          </a:xfrm>
          <a:prstGeom prst="rect">
            <a:avLst/>
          </a:prstGeom>
          <a:solidFill>
            <a:srgbClr val="D7DEE8"/>
          </a:solidFill>
          <a:ln/>
        </p:spPr>
      </p:sp>
      <p:sp>
        <p:nvSpPr>
          <p:cNvPr id="29" name="Text 24"/>
          <p:cNvSpPr txBox="1"/>
          <p:nvPr/>
        </p:nvSpPr>
        <p:spPr>
          <a:xfrm>
            <a:off x="1935099"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System</a:t>
            </a:r>
            <a:endParaRPr lang="en-US" sz="1100" dirty="0"/>
          </a:p>
        </p:txBody>
      </p:sp>
      <p:sp>
        <p:nvSpPr>
          <p:cNvPr id="30" name="Shape 25"/>
          <p:cNvSpPr/>
          <p:nvPr/>
        </p:nvSpPr>
        <p:spPr>
          <a:xfrm>
            <a:off x="3367278" y="6400800"/>
            <a:ext cx="1295019" cy="13716"/>
          </a:xfrm>
          <a:prstGeom prst="rect">
            <a:avLst/>
          </a:prstGeom>
          <a:solidFill>
            <a:srgbClr val="D7DEE8"/>
          </a:solidFill>
          <a:ln/>
        </p:spPr>
      </p:sp>
      <p:sp>
        <p:nvSpPr>
          <p:cNvPr id="31" name="Text 26"/>
          <p:cNvSpPr txBox="1"/>
          <p:nvPr/>
        </p:nvSpPr>
        <p:spPr>
          <a:xfrm>
            <a:off x="3321558"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Intent</a:t>
            </a:r>
            <a:endParaRPr lang="en-US" sz="1100" dirty="0"/>
          </a:p>
        </p:txBody>
      </p:sp>
      <p:sp>
        <p:nvSpPr>
          <p:cNvPr id="32" name="Shape 27"/>
          <p:cNvSpPr/>
          <p:nvPr/>
        </p:nvSpPr>
        <p:spPr>
          <a:xfrm>
            <a:off x="4753737" y="6400800"/>
            <a:ext cx="1295019" cy="13716"/>
          </a:xfrm>
          <a:prstGeom prst="rect">
            <a:avLst/>
          </a:prstGeom>
          <a:solidFill>
            <a:srgbClr val="D7DEE8"/>
          </a:solidFill>
          <a:ln/>
        </p:spPr>
      </p:sp>
      <p:sp>
        <p:nvSpPr>
          <p:cNvPr id="33" name="Text 28"/>
          <p:cNvSpPr txBox="1"/>
          <p:nvPr/>
        </p:nvSpPr>
        <p:spPr>
          <a:xfrm>
            <a:off x="4708017"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Explore</a:t>
            </a:r>
            <a:endParaRPr lang="en-US" sz="1100" dirty="0"/>
          </a:p>
        </p:txBody>
      </p:sp>
      <p:sp>
        <p:nvSpPr>
          <p:cNvPr id="34" name="Shape 29"/>
          <p:cNvSpPr/>
          <p:nvPr/>
        </p:nvSpPr>
        <p:spPr>
          <a:xfrm>
            <a:off x="6140196" y="6400800"/>
            <a:ext cx="1295019" cy="13716"/>
          </a:xfrm>
          <a:prstGeom prst="rect">
            <a:avLst/>
          </a:prstGeom>
          <a:solidFill>
            <a:srgbClr val="D7DEE8"/>
          </a:solidFill>
          <a:ln/>
        </p:spPr>
      </p:sp>
      <p:sp>
        <p:nvSpPr>
          <p:cNvPr id="35" name="Text 30"/>
          <p:cNvSpPr txBox="1"/>
          <p:nvPr/>
        </p:nvSpPr>
        <p:spPr>
          <a:xfrm>
            <a:off x="6094476"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Search</a:t>
            </a:r>
            <a:endParaRPr lang="en-US" sz="1100" dirty="0"/>
          </a:p>
        </p:txBody>
      </p:sp>
      <p:sp>
        <p:nvSpPr>
          <p:cNvPr id="36" name="Shape 31"/>
          <p:cNvSpPr/>
          <p:nvPr/>
        </p:nvSpPr>
        <p:spPr>
          <a:xfrm>
            <a:off x="7526655" y="6400800"/>
            <a:ext cx="1295019" cy="13716"/>
          </a:xfrm>
          <a:prstGeom prst="rect">
            <a:avLst/>
          </a:prstGeom>
          <a:solidFill>
            <a:srgbClr val="D7DEE8"/>
          </a:solidFill>
          <a:ln/>
        </p:spPr>
      </p:sp>
      <p:sp>
        <p:nvSpPr>
          <p:cNvPr id="37" name="Text 32"/>
          <p:cNvSpPr txBox="1"/>
          <p:nvPr/>
        </p:nvSpPr>
        <p:spPr>
          <a:xfrm>
            <a:off x="7480935"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Confirm</a:t>
            </a:r>
            <a:endParaRPr lang="en-US" sz="1100" dirty="0"/>
          </a:p>
        </p:txBody>
      </p:sp>
      <p:sp>
        <p:nvSpPr>
          <p:cNvPr id="38" name="Shape 33"/>
          <p:cNvSpPr/>
          <p:nvPr/>
        </p:nvSpPr>
        <p:spPr>
          <a:xfrm>
            <a:off x="8913114" y="6400800"/>
            <a:ext cx="1295019" cy="13716"/>
          </a:xfrm>
          <a:prstGeom prst="rect">
            <a:avLst/>
          </a:prstGeom>
          <a:solidFill>
            <a:srgbClr val="D7DEE8"/>
          </a:solidFill>
          <a:ln/>
        </p:spPr>
      </p:sp>
      <p:sp>
        <p:nvSpPr>
          <p:cNvPr id="39" name="Text 34"/>
          <p:cNvSpPr txBox="1"/>
          <p:nvPr/>
        </p:nvSpPr>
        <p:spPr>
          <a:xfrm>
            <a:off x="8867394"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Grasp</a:t>
            </a:r>
            <a:endParaRPr lang="en-US" sz="1100" dirty="0"/>
          </a:p>
        </p:txBody>
      </p:sp>
      <p:sp>
        <p:nvSpPr>
          <p:cNvPr id="40" name="Shape 35"/>
          <p:cNvSpPr/>
          <p:nvPr/>
        </p:nvSpPr>
        <p:spPr>
          <a:xfrm>
            <a:off x="10299573" y="6400800"/>
            <a:ext cx="1295019" cy="13716"/>
          </a:xfrm>
          <a:prstGeom prst="rect">
            <a:avLst/>
          </a:prstGeom>
          <a:solidFill>
            <a:srgbClr val="D7DEE8"/>
          </a:solidFill>
          <a:ln/>
        </p:spPr>
      </p:sp>
      <p:sp>
        <p:nvSpPr>
          <p:cNvPr id="41" name="Text 36"/>
          <p:cNvSpPr txBox="1"/>
          <p:nvPr/>
        </p:nvSpPr>
        <p:spPr>
          <a:xfrm>
            <a:off x="10253853"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Plan</a:t>
            </a:r>
            <a:endParaRPr lang="en-US" sz="1100" dirty="0"/>
          </a:p>
        </p:txBody>
      </p:sp>
      <p:sp>
        <p:nvSpPr>
          <p:cNvPr id="42" name="Text 37"/>
          <p:cNvSpPr txBox="1"/>
          <p:nvPr/>
        </p:nvSpPr>
        <p:spPr>
          <a:xfrm>
            <a:off x="11091672" y="6035040"/>
            <a:ext cx="548640" cy="22860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28600"/>
          </a:xfrm>
          <a:prstGeom prst="rect">
            <a:avLst/>
          </a:prstGeom>
          <a:noFill/>
          <a:ln/>
        </p:spPr>
        <p:txBody>
          <a:bodyPr wrap="square" lIns="0" tIns="0" rIns="0" bIns="0" rtlCol="0" anchor="ctr"/>
          <a:lstStyle/>
          <a:p>
            <a:pPr indent="0" marL="0">
              <a:buNone/>
            </a:pPr>
            <a:r>
              <a:rPr lang="en-US" sz="1100" b="1" spc="150" kern="0" dirty="0">
                <a:solidFill>
                  <a:srgbClr val="0068B5"/>
                </a:solidFill>
                <a:latin typeface="Calibri" pitchFamily="34" charset="0"/>
                <a:ea typeface="Calibri" pitchFamily="34" charset="-122"/>
                <a:cs typeface="Calibri" pitchFamily="34" charset="-120"/>
              </a:rPr>
              <a:t>GAPPLER  ·  DION</a:t>
            </a:r>
            <a:endParaRPr lang="en-US" sz="1100" dirty="0"/>
          </a:p>
        </p:txBody>
      </p:sp>
      <p:sp>
        <p:nvSpPr>
          <p:cNvPr id="3" name="Shape 1"/>
          <p:cNvSpPr/>
          <p:nvPr/>
        </p:nvSpPr>
        <p:spPr>
          <a:xfrm>
            <a:off x="9445752" y="347472"/>
            <a:ext cx="2194560" cy="347472"/>
          </a:xfrm>
          <a:prstGeom prst="roundRect">
            <a:avLst>
              <a:gd name="adj" fmla="val 50000"/>
            </a:avLst>
          </a:prstGeom>
          <a:solidFill>
            <a:srgbClr val="16213A"/>
          </a:solidFill>
          <a:ln/>
        </p:spPr>
      </p:sp>
      <p:sp>
        <p:nvSpPr>
          <p:cNvPr id="4" name="Text 2"/>
          <p:cNvSpPr txBox="1"/>
          <p:nvPr/>
        </p:nvSpPr>
        <p:spPr>
          <a:xfrm>
            <a:off x="9445752" y="347472"/>
            <a:ext cx="2194560" cy="347472"/>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THE OBJECTIVE</a:t>
            </a:r>
            <a:endParaRPr lang="en-US" sz="1100" dirty="0"/>
          </a:p>
        </p:txBody>
      </p:sp>
      <p:sp>
        <p:nvSpPr>
          <p:cNvPr id="5" name="Text 3"/>
          <p:cNvSpPr txBox="1"/>
          <p:nvPr/>
        </p:nvSpPr>
        <p:spPr>
          <a:xfrm>
            <a:off x="548640" y="777240"/>
            <a:ext cx="11091672" cy="548640"/>
          </a:xfrm>
          <a:prstGeom prst="rect">
            <a:avLst/>
          </a:prstGeom>
          <a:noFill/>
          <a:ln/>
        </p:spPr>
        <p:txBody>
          <a:bodyPr wrap="square" lIns="0" tIns="0" rIns="0" bIns="0" rtlCol="0" anchor="ctr"/>
          <a:lstStyle/>
          <a:p>
            <a:pPr indent="0" marL="0">
              <a:buNone/>
            </a:pPr>
            <a:r>
              <a:rPr lang="en-US" sz="3000" b="1" dirty="0">
                <a:solidFill>
                  <a:srgbClr val="16213A"/>
                </a:solidFill>
                <a:latin typeface="Calibri" pitchFamily="34" charset="0"/>
                <a:ea typeface="Calibri" pitchFamily="34" charset="-122"/>
                <a:cs typeface="Calibri" pitchFamily="34" charset="-120"/>
              </a:rPr>
              <a:t>Find, reach and grasp the object the user looked at</a:t>
            </a:r>
            <a:endParaRPr lang="en-US" sz="3000" dirty="0"/>
          </a:p>
        </p:txBody>
      </p:sp>
      <p:sp>
        <p:nvSpPr>
          <p:cNvPr id="6" name="Text 4"/>
          <p:cNvSpPr txBox="1"/>
          <p:nvPr/>
        </p:nvSpPr>
        <p:spPr>
          <a:xfrm>
            <a:off x="548640" y="1325880"/>
            <a:ext cx="11091672" cy="320040"/>
          </a:xfrm>
          <a:prstGeom prst="rect">
            <a:avLst/>
          </a:prstGeom>
          <a:noFill/>
          <a:ln/>
        </p:spPr>
        <p:txBody>
          <a:bodyPr wrap="square" lIns="0" tIns="0" rIns="0" bIns="0" rtlCol="0" anchor="ctr"/>
          <a:lstStyle/>
          <a:p>
            <a:pPr indent="0" marL="0">
              <a:buNone/>
            </a:pPr>
            <a:r>
              <a:rPr lang="en-US" sz="1700" dirty="0">
                <a:solidFill>
                  <a:srgbClr val="4B5563"/>
                </a:solidFill>
                <a:latin typeface="Calibri" pitchFamily="34" charset="0"/>
                <a:ea typeface="Calibri" pitchFamily="34" charset="-122"/>
                <a:cs typeface="Calibri" pitchFamily="34" charset="-120"/>
              </a:rPr>
              <a:t>In a room the robot cannot see at the start</a:t>
            </a:r>
            <a:endParaRPr lang="en-US" sz="1700" dirty="0"/>
          </a:p>
        </p:txBody>
      </p:sp>
      <p:sp>
        <p:nvSpPr>
          <p:cNvPr id="7" name="Shape 5"/>
          <p:cNvSpPr/>
          <p:nvPr/>
        </p:nvSpPr>
        <p:spPr>
          <a:xfrm>
            <a:off x="548640" y="1874520"/>
            <a:ext cx="3514344" cy="1417320"/>
          </a:xfrm>
          <a:prstGeom prst="roundRect">
            <a:avLst>
              <a:gd name="adj" fmla="val 6452"/>
            </a:avLst>
          </a:prstGeom>
          <a:solidFill>
            <a:srgbClr val="EEF2F7"/>
          </a:solidFill>
          <a:ln/>
        </p:spPr>
      </p:sp>
      <p:sp>
        <p:nvSpPr>
          <p:cNvPr id="8" name="Shape 6"/>
          <p:cNvSpPr/>
          <p:nvPr/>
        </p:nvSpPr>
        <p:spPr>
          <a:xfrm>
            <a:off x="749808" y="2057400"/>
            <a:ext cx="457200" cy="457200"/>
          </a:xfrm>
          <a:prstGeom prst="ellipse">
            <a:avLst/>
          </a:prstGeom>
          <a:solidFill>
            <a:srgbClr val="0068B5"/>
          </a:solidFill>
          <a:ln/>
        </p:spPr>
      </p:sp>
      <p:pic>
        <p:nvPicPr>
          <p:cNvPr id="9" name="Image 0" descr="preencoded.png">    </p:cNvPr>
          <p:cNvPicPr>
            <a:picLocks noChangeAspect="1"/>
          </p:cNvPicPr>
          <p:nvPr/>
        </p:nvPicPr>
        <p:blipFill>
          <a:blip r:embed="rId1"/>
          <a:stretch>
            <a:fillRect/>
          </a:stretch>
        </p:blipFill>
        <p:spPr>
          <a:xfrm>
            <a:off x="850392" y="2157984"/>
            <a:ext cx="256032" cy="256032"/>
          </a:xfrm>
          <a:prstGeom prst="rect">
            <a:avLst/>
          </a:prstGeom>
        </p:spPr>
      </p:pic>
      <p:sp>
        <p:nvSpPr>
          <p:cNvPr id="10" name="Text 7"/>
          <p:cNvSpPr txBox="1"/>
          <p:nvPr/>
        </p:nvSpPr>
        <p:spPr>
          <a:xfrm>
            <a:off x="1371600" y="2167128"/>
            <a:ext cx="2599944" cy="228600"/>
          </a:xfrm>
          <a:prstGeom prst="rect">
            <a:avLst/>
          </a:prstGeom>
          <a:noFill/>
          <a:ln/>
        </p:spPr>
        <p:txBody>
          <a:bodyPr wrap="square" lIns="0" tIns="0" rIns="0" bIns="0" rtlCol="0" anchor="ctr"/>
          <a:lstStyle/>
          <a:p>
            <a:pPr indent="0" marL="0">
              <a:buNone/>
            </a:pPr>
            <a:r>
              <a:rPr lang="en-US" sz="1100" b="1" spc="150" kern="0" dirty="0">
                <a:solidFill>
                  <a:srgbClr val="0068B5"/>
                </a:solidFill>
                <a:latin typeface="Calibri" pitchFamily="34" charset="0"/>
                <a:ea typeface="Calibri" pitchFamily="34" charset="-122"/>
                <a:cs typeface="Calibri" pitchFamily="34" charset="-120"/>
              </a:rPr>
              <a:t>HICO-NAV  ·  WE TAKE</a:t>
            </a:r>
            <a:endParaRPr lang="en-US" sz="1100" dirty="0"/>
          </a:p>
        </p:txBody>
      </p:sp>
      <p:sp>
        <p:nvSpPr>
          <p:cNvPr id="11" name="Text 8"/>
          <p:cNvSpPr txBox="1"/>
          <p:nvPr/>
        </p:nvSpPr>
        <p:spPr>
          <a:xfrm>
            <a:off x="749808" y="2651760"/>
            <a:ext cx="3148584" cy="548640"/>
          </a:xfrm>
          <a:prstGeom prst="rect">
            <a:avLst/>
          </a:prstGeom>
          <a:noFill/>
          <a:ln/>
        </p:spPr>
        <p:txBody>
          <a:bodyPr wrap="square" lIns="0" tIns="0" rIns="0" bIns="0" rtlCol="0" anchor="t"/>
          <a:lstStyle/>
          <a:p>
            <a:pPr indent="0" marL="0">
              <a:buNone/>
            </a:pPr>
            <a:r>
              <a:rPr lang="en-US" sz="1600" dirty="0">
                <a:solidFill>
                  <a:srgbClr val="16213A"/>
                </a:solidFill>
                <a:latin typeface="Calibri" pitchFamily="34" charset="0"/>
                <a:ea typeface="Calibri" pitchFamily="34" charset="-122"/>
                <a:cs typeface="Calibri" pitchFamily="34" charset="-120"/>
              </a:rPr>
              <a:t>Explore a room, remember every object in 3D</a:t>
            </a:r>
            <a:endParaRPr lang="en-US" sz="1600" dirty="0"/>
          </a:p>
        </p:txBody>
      </p:sp>
      <p:sp>
        <p:nvSpPr>
          <p:cNvPr id="12" name="Text 9"/>
          <p:cNvSpPr txBox="1"/>
          <p:nvPr/>
        </p:nvSpPr>
        <p:spPr>
          <a:xfrm>
            <a:off x="4062984" y="2286000"/>
            <a:ext cx="274320" cy="548640"/>
          </a:xfrm>
          <a:prstGeom prst="rect">
            <a:avLst/>
          </a:prstGeom>
          <a:noFill/>
          <a:ln/>
        </p:spPr>
        <p:txBody>
          <a:bodyPr wrap="square" lIns="0" tIns="0" rIns="0" bIns="0" rtlCol="0" anchor="ctr"/>
          <a:lstStyle/>
          <a:p>
            <a:pPr algn="ctr" indent="0" marL="0">
              <a:buNone/>
            </a:pPr>
            <a:r>
              <a:rPr lang="en-US" sz="2200" b="1" dirty="0">
                <a:solidFill>
                  <a:srgbClr val="6B7280"/>
                </a:solidFill>
                <a:latin typeface="Calibri" pitchFamily="34" charset="0"/>
                <a:ea typeface="Calibri" pitchFamily="34" charset="-122"/>
                <a:cs typeface="Calibri" pitchFamily="34" charset="-120"/>
              </a:rPr>
              <a:t>+</a:t>
            </a:r>
            <a:endParaRPr lang="en-US" sz="2200" dirty="0"/>
          </a:p>
        </p:txBody>
      </p:sp>
      <p:sp>
        <p:nvSpPr>
          <p:cNvPr id="13" name="Shape 10"/>
          <p:cNvSpPr/>
          <p:nvPr/>
        </p:nvSpPr>
        <p:spPr>
          <a:xfrm>
            <a:off x="4337304" y="1874520"/>
            <a:ext cx="3514344" cy="1417320"/>
          </a:xfrm>
          <a:prstGeom prst="roundRect">
            <a:avLst>
              <a:gd name="adj" fmla="val 6452"/>
            </a:avLst>
          </a:prstGeom>
          <a:solidFill>
            <a:srgbClr val="16213A"/>
          </a:solidFill>
          <a:ln/>
        </p:spPr>
      </p:sp>
      <p:sp>
        <p:nvSpPr>
          <p:cNvPr id="14" name="Shape 11"/>
          <p:cNvSpPr/>
          <p:nvPr/>
        </p:nvSpPr>
        <p:spPr>
          <a:xfrm>
            <a:off x="4538472" y="2057400"/>
            <a:ext cx="457200" cy="457200"/>
          </a:xfrm>
          <a:prstGeom prst="ellipse">
            <a:avLst/>
          </a:prstGeom>
          <a:solidFill>
            <a:srgbClr val="FF7A3A"/>
          </a:solidFill>
          <a:ln/>
        </p:spPr>
      </p:sp>
      <p:pic>
        <p:nvPicPr>
          <p:cNvPr id="15" name="Image 1" descr="preencoded.png">    </p:cNvPr>
          <p:cNvPicPr>
            <a:picLocks noChangeAspect="1"/>
          </p:cNvPicPr>
          <p:nvPr/>
        </p:nvPicPr>
        <p:blipFill>
          <a:blip r:embed="rId2"/>
          <a:stretch>
            <a:fillRect/>
          </a:stretch>
        </p:blipFill>
        <p:spPr>
          <a:xfrm>
            <a:off x="4639056" y="2157984"/>
            <a:ext cx="256032" cy="256032"/>
          </a:xfrm>
          <a:prstGeom prst="rect">
            <a:avLst/>
          </a:prstGeom>
        </p:spPr>
      </p:pic>
      <p:sp>
        <p:nvSpPr>
          <p:cNvPr id="16" name="Text 12"/>
          <p:cNvSpPr txBox="1"/>
          <p:nvPr/>
        </p:nvSpPr>
        <p:spPr>
          <a:xfrm>
            <a:off x="5160264" y="2167128"/>
            <a:ext cx="2599944" cy="228600"/>
          </a:xfrm>
          <a:prstGeom prst="rect">
            <a:avLst/>
          </a:prstGeom>
          <a:noFill/>
          <a:ln/>
        </p:spPr>
        <p:txBody>
          <a:bodyPr wrap="square" lIns="0" tIns="0" rIns="0" bIns="0" rtlCol="0" anchor="ctr"/>
          <a:lstStyle/>
          <a:p>
            <a:pPr indent="0" marL="0">
              <a:buNone/>
            </a:pPr>
            <a:r>
              <a:rPr lang="en-US" sz="1100" b="1" spc="150" kern="0" dirty="0">
                <a:solidFill>
                  <a:srgbClr val="7DD3FC"/>
                </a:solidFill>
                <a:latin typeface="Calibri" pitchFamily="34" charset="0"/>
                <a:ea typeface="Calibri" pitchFamily="34" charset="-122"/>
                <a:cs typeface="Calibri" pitchFamily="34" charset="-120"/>
              </a:rPr>
              <a:t>WHAT WE ADD</a:t>
            </a:r>
            <a:endParaRPr lang="en-US" sz="1100" dirty="0"/>
          </a:p>
        </p:txBody>
      </p:sp>
      <p:sp>
        <p:nvSpPr>
          <p:cNvPr id="17" name="Text 13"/>
          <p:cNvSpPr txBox="1"/>
          <p:nvPr/>
        </p:nvSpPr>
        <p:spPr>
          <a:xfrm>
            <a:off x="4538472" y="2651760"/>
            <a:ext cx="3148584" cy="5486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The gaze target tells the robot when to stop</a:t>
            </a:r>
            <a:endParaRPr lang="en-US" sz="1600" dirty="0"/>
          </a:p>
        </p:txBody>
      </p:sp>
      <p:sp>
        <p:nvSpPr>
          <p:cNvPr id="18" name="Text 14"/>
          <p:cNvSpPr txBox="1"/>
          <p:nvPr/>
        </p:nvSpPr>
        <p:spPr>
          <a:xfrm>
            <a:off x="7851648" y="2286000"/>
            <a:ext cx="274320" cy="548640"/>
          </a:xfrm>
          <a:prstGeom prst="rect">
            <a:avLst/>
          </a:prstGeom>
          <a:noFill/>
          <a:ln/>
        </p:spPr>
        <p:txBody>
          <a:bodyPr wrap="square" lIns="0" tIns="0" rIns="0" bIns="0" rtlCol="0" anchor="ctr"/>
          <a:lstStyle/>
          <a:p>
            <a:pPr algn="ctr" indent="0" marL="0">
              <a:buNone/>
            </a:pPr>
            <a:r>
              <a:rPr lang="en-US" sz="2200" b="1" dirty="0">
                <a:solidFill>
                  <a:srgbClr val="6B7280"/>
                </a:solidFill>
                <a:latin typeface="Calibri" pitchFamily="34" charset="0"/>
                <a:ea typeface="Calibri" pitchFamily="34" charset="-122"/>
                <a:cs typeface="Calibri" pitchFamily="34" charset="-120"/>
              </a:rPr>
              <a:t>+</a:t>
            </a:r>
            <a:endParaRPr lang="en-US" sz="2200" dirty="0"/>
          </a:p>
        </p:txBody>
      </p:sp>
      <p:sp>
        <p:nvSpPr>
          <p:cNvPr id="19" name="Shape 15"/>
          <p:cNvSpPr/>
          <p:nvPr/>
        </p:nvSpPr>
        <p:spPr>
          <a:xfrm>
            <a:off x="8125968" y="1874520"/>
            <a:ext cx="3514344" cy="1417320"/>
          </a:xfrm>
          <a:prstGeom prst="roundRect">
            <a:avLst>
              <a:gd name="adj" fmla="val 6452"/>
            </a:avLst>
          </a:prstGeom>
          <a:solidFill>
            <a:srgbClr val="EEF2F7"/>
          </a:solidFill>
          <a:ln/>
        </p:spPr>
      </p:sp>
      <p:sp>
        <p:nvSpPr>
          <p:cNvPr id="20" name="Shape 16"/>
          <p:cNvSpPr/>
          <p:nvPr/>
        </p:nvSpPr>
        <p:spPr>
          <a:xfrm>
            <a:off x="8327136" y="2057400"/>
            <a:ext cx="457200" cy="457200"/>
          </a:xfrm>
          <a:prstGeom prst="ellipse">
            <a:avLst/>
          </a:prstGeom>
          <a:solidFill>
            <a:srgbClr val="0068B5"/>
          </a:solidFill>
          <a:ln/>
        </p:spPr>
      </p:sp>
      <p:pic>
        <p:nvPicPr>
          <p:cNvPr id="21" name="Image 2" descr="preencoded.png">    </p:cNvPr>
          <p:cNvPicPr>
            <a:picLocks noChangeAspect="1"/>
          </p:cNvPicPr>
          <p:nvPr/>
        </p:nvPicPr>
        <p:blipFill>
          <a:blip r:embed="rId3"/>
          <a:stretch>
            <a:fillRect/>
          </a:stretch>
        </p:blipFill>
        <p:spPr>
          <a:xfrm>
            <a:off x="8427720" y="2157984"/>
            <a:ext cx="256032" cy="256032"/>
          </a:xfrm>
          <a:prstGeom prst="rect">
            <a:avLst/>
          </a:prstGeom>
        </p:spPr>
      </p:pic>
      <p:sp>
        <p:nvSpPr>
          <p:cNvPr id="22" name="Text 17"/>
          <p:cNvSpPr txBox="1"/>
          <p:nvPr/>
        </p:nvSpPr>
        <p:spPr>
          <a:xfrm>
            <a:off x="8948928" y="2167128"/>
            <a:ext cx="2599944" cy="228600"/>
          </a:xfrm>
          <a:prstGeom prst="rect">
            <a:avLst/>
          </a:prstGeom>
          <a:noFill/>
          <a:ln/>
        </p:spPr>
        <p:txBody>
          <a:bodyPr wrap="square" lIns="0" tIns="0" rIns="0" bIns="0" rtlCol="0" anchor="ctr"/>
          <a:lstStyle/>
          <a:p>
            <a:pPr indent="0" marL="0">
              <a:buNone/>
            </a:pPr>
            <a:r>
              <a:rPr lang="en-US" sz="1100" b="1" spc="150" kern="0" dirty="0">
                <a:solidFill>
                  <a:srgbClr val="0068B5"/>
                </a:solidFill>
                <a:latin typeface="Calibri" pitchFamily="34" charset="0"/>
                <a:ea typeface="Calibri" pitchFamily="34" charset="-122"/>
                <a:cs typeface="Calibri" pitchFamily="34" charset="-120"/>
              </a:rPr>
              <a:t>FAM-HRI  ·  WE TAKE</a:t>
            </a:r>
            <a:endParaRPr lang="en-US" sz="1100" dirty="0"/>
          </a:p>
        </p:txBody>
      </p:sp>
      <p:sp>
        <p:nvSpPr>
          <p:cNvPr id="23" name="Text 18"/>
          <p:cNvSpPr txBox="1"/>
          <p:nvPr/>
        </p:nvSpPr>
        <p:spPr>
          <a:xfrm>
            <a:off x="8327136" y="2651760"/>
            <a:ext cx="3148584" cy="548640"/>
          </a:xfrm>
          <a:prstGeom prst="rect">
            <a:avLst/>
          </a:prstGeom>
          <a:noFill/>
          <a:ln/>
        </p:spPr>
        <p:txBody>
          <a:bodyPr wrap="square" lIns="0" tIns="0" rIns="0" bIns="0" rtlCol="0" anchor="t"/>
          <a:lstStyle/>
          <a:p>
            <a:pPr indent="0" marL="0">
              <a:buNone/>
            </a:pPr>
            <a:r>
              <a:rPr lang="en-US" sz="1600" dirty="0">
                <a:solidFill>
                  <a:srgbClr val="16213A"/>
                </a:solidFill>
                <a:latin typeface="Calibri" pitchFamily="34" charset="0"/>
                <a:ea typeface="Calibri" pitchFamily="34" charset="-122"/>
                <a:cs typeface="Calibri" pitchFamily="34" charset="-120"/>
              </a:rPr>
              <a:t>Gaze and speech from the glasses pick the object</a:t>
            </a:r>
            <a:endParaRPr lang="en-US" sz="1600" dirty="0"/>
          </a:p>
        </p:txBody>
      </p:sp>
      <p:sp>
        <p:nvSpPr>
          <p:cNvPr id="24" name="Text 19"/>
          <p:cNvSpPr txBox="1"/>
          <p:nvPr/>
        </p:nvSpPr>
        <p:spPr>
          <a:xfrm>
            <a:off x="548640" y="3566160"/>
            <a:ext cx="7315200" cy="228600"/>
          </a:xfrm>
          <a:prstGeom prst="rect">
            <a:avLst/>
          </a:prstGeom>
          <a:noFill/>
          <a:ln/>
        </p:spPr>
        <p:txBody>
          <a:bodyPr wrap="square" lIns="0" tIns="0" rIns="0" bIns="0" rtlCol="0" anchor="ctr"/>
          <a:lstStyle/>
          <a:p>
            <a:pPr indent="0" marL="0">
              <a:buNone/>
            </a:pPr>
            <a:r>
              <a:rPr lang="en-US" sz="1100" b="1" spc="150" kern="0" dirty="0">
                <a:solidFill>
                  <a:srgbClr val="6B7280"/>
                </a:solidFill>
                <a:latin typeface="Calibri" pitchFamily="34" charset="0"/>
                <a:ea typeface="Calibri" pitchFamily="34" charset="-122"/>
                <a:cs typeface="Calibri" pitchFamily="34" charset="-120"/>
              </a:rPr>
              <a:t>MILESTONES, EACH WITH A WRITTEN TEST (APPENDIX A10)</a:t>
            </a:r>
            <a:endParaRPr lang="en-US" sz="1100" dirty="0"/>
          </a:p>
        </p:txBody>
      </p:sp>
      <p:sp>
        <p:nvSpPr>
          <p:cNvPr id="25" name="Shape 20"/>
          <p:cNvSpPr/>
          <p:nvPr/>
        </p:nvSpPr>
        <p:spPr>
          <a:xfrm>
            <a:off x="1280160" y="4572000"/>
            <a:ext cx="9628632" cy="914"/>
          </a:xfrm>
          <a:prstGeom prst="line">
            <a:avLst/>
          </a:prstGeom>
          <a:noFill/>
          <a:ln w="25400">
            <a:solidFill>
              <a:srgbClr val="C5CDD8"/>
            </a:solidFill>
            <a:prstDash val="solid"/>
          </a:ln>
        </p:spPr>
      </p:sp>
      <p:sp>
        <p:nvSpPr>
          <p:cNvPr id="26" name="Shape 21"/>
          <p:cNvSpPr/>
          <p:nvPr/>
        </p:nvSpPr>
        <p:spPr>
          <a:xfrm>
            <a:off x="6922008" y="4023360"/>
            <a:ext cx="3159252" cy="1600200"/>
          </a:xfrm>
          <a:prstGeom prst="roundRect">
            <a:avLst>
              <a:gd name="adj" fmla="val 5714"/>
            </a:avLst>
          </a:prstGeom>
          <a:ln w="15875">
            <a:solidFill>
              <a:srgbClr val="FF7A3A"/>
            </a:solidFill>
            <a:prstDash val="dash"/>
          </a:ln>
        </p:spPr>
      </p:sp>
      <p:sp>
        <p:nvSpPr>
          <p:cNvPr id="27" name="Text 22"/>
          <p:cNvSpPr txBox="1"/>
          <p:nvPr/>
        </p:nvSpPr>
        <p:spPr>
          <a:xfrm>
            <a:off x="6922008" y="3776472"/>
            <a:ext cx="3159252" cy="201168"/>
          </a:xfrm>
          <a:prstGeom prst="rect">
            <a:avLst/>
          </a:prstGeom>
          <a:noFill/>
          <a:ln/>
        </p:spPr>
        <p:txBody>
          <a:bodyPr wrap="square" lIns="0" tIns="0" rIns="0" bIns="0" rtlCol="0" anchor="ctr"/>
          <a:lstStyle/>
          <a:p>
            <a:pPr algn="ctr" indent="0" marL="0">
              <a:buNone/>
            </a:pPr>
            <a:r>
              <a:rPr lang="en-US" sz="1100" b="1" dirty="0">
                <a:solidFill>
                  <a:srgbClr val="C2410C"/>
                </a:solidFill>
                <a:latin typeface="Calibri" pitchFamily="34" charset="0"/>
                <a:ea typeface="Calibri" pitchFamily="34" charset="-122"/>
                <a:cs typeface="Calibri" pitchFamily="34" charset="-120"/>
              </a:rPr>
              <a:t>where the two systems meet</a:t>
            </a:r>
            <a:endParaRPr lang="en-US" sz="1100" dirty="0"/>
          </a:p>
        </p:txBody>
      </p:sp>
      <p:sp>
        <p:nvSpPr>
          <p:cNvPr id="28" name="Shape 23"/>
          <p:cNvSpPr/>
          <p:nvPr/>
        </p:nvSpPr>
        <p:spPr>
          <a:xfrm>
            <a:off x="950976" y="4242816"/>
            <a:ext cx="658368" cy="658368"/>
          </a:xfrm>
          <a:prstGeom prst="ellipse">
            <a:avLst/>
          </a:prstGeom>
          <a:solidFill>
            <a:srgbClr val="0068B5"/>
          </a:solidFill>
          <a:ln/>
        </p:spPr>
      </p:sp>
      <p:sp>
        <p:nvSpPr>
          <p:cNvPr id="29" name="Text 24"/>
          <p:cNvSpPr txBox="1"/>
          <p:nvPr/>
        </p:nvSpPr>
        <p:spPr>
          <a:xfrm>
            <a:off x="950976" y="4242816"/>
            <a:ext cx="658368" cy="65836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M1</a:t>
            </a:r>
            <a:endParaRPr lang="en-US" sz="1400" dirty="0"/>
          </a:p>
        </p:txBody>
      </p:sp>
      <p:sp>
        <p:nvSpPr>
          <p:cNvPr id="30" name="Text 25"/>
          <p:cNvSpPr txBox="1"/>
          <p:nvPr/>
        </p:nvSpPr>
        <p:spPr>
          <a:xfrm>
            <a:off x="548640" y="5010912"/>
            <a:ext cx="1463040" cy="548640"/>
          </a:xfrm>
          <a:prstGeom prst="rect">
            <a:avLst/>
          </a:prstGeom>
          <a:noFill/>
          <a:ln/>
        </p:spPr>
        <p:txBody>
          <a:bodyPr wrap="square" lIns="0" tIns="0" rIns="0" bIns="0" rtlCol="0" anchor="t"/>
          <a:lstStyle/>
          <a:p>
            <a:pPr algn="ctr" indent="0" marL="0">
              <a:buNone/>
            </a:pPr>
            <a:r>
              <a:rPr lang="en-US" sz="1300" dirty="0">
                <a:solidFill>
                  <a:srgbClr val="16213A"/>
                </a:solidFill>
                <a:latin typeface="Calibri" pitchFamily="34" charset="0"/>
                <a:ea typeface="Calibri" pitchFamily="34" charset="-122"/>
                <a:cs typeface="Calibri" pitchFamily="34" charset="-120"/>
              </a:rPr>
              <a:t>Arm picks something up</a:t>
            </a:r>
            <a:endParaRPr lang="en-US" sz="1300" dirty="0"/>
          </a:p>
        </p:txBody>
      </p:sp>
      <p:sp>
        <p:nvSpPr>
          <p:cNvPr id="31" name="Shape 26"/>
          <p:cNvSpPr/>
          <p:nvPr/>
        </p:nvSpPr>
        <p:spPr>
          <a:xfrm>
            <a:off x="2555748" y="4242816"/>
            <a:ext cx="658368" cy="658368"/>
          </a:xfrm>
          <a:prstGeom prst="ellipse">
            <a:avLst/>
          </a:prstGeom>
          <a:solidFill>
            <a:srgbClr val="0068B5"/>
          </a:solidFill>
          <a:ln/>
        </p:spPr>
      </p:sp>
      <p:sp>
        <p:nvSpPr>
          <p:cNvPr id="32" name="Text 27"/>
          <p:cNvSpPr txBox="1"/>
          <p:nvPr/>
        </p:nvSpPr>
        <p:spPr>
          <a:xfrm>
            <a:off x="2555748" y="4242816"/>
            <a:ext cx="658368" cy="65836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M2</a:t>
            </a:r>
            <a:endParaRPr lang="en-US" sz="1400" dirty="0"/>
          </a:p>
        </p:txBody>
      </p:sp>
      <p:sp>
        <p:nvSpPr>
          <p:cNvPr id="33" name="Text 28"/>
          <p:cNvSpPr txBox="1"/>
          <p:nvPr/>
        </p:nvSpPr>
        <p:spPr>
          <a:xfrm>
            <a:off x="2153412" y="5010912"/>
            <a:ext cx="1463040" cy="548640"/>
          </a:xfrm>
          <a:prstGeom prst="rect">
            <a:avLst/>
          </a:prstGeom>
          <a:noFill/>
          <a:ln/>
        </p:spPr>
        <p:txBody>
          <a:bodyPr wrap="square" lIns="0" tIns="0" rIns="0" bIns="0" rtlCol="0" anchor="t"/>
          <a:lstStyle/>
          <a:p>
            <a:pPr algn="ctr" indent="0" marL="0">
              <a:buNone/>
            </a:pPr>
            <a:r>
              <a:rPr lang="en-US" sz="1300" dirty="0">
                <a:solidFill>
                  <a:srgbClr val="16213A"/>
                </a:solidFill>
                <a:latin typeface="Calibri" pitchFamily="34" charset="0"/>
                <a:ea typeface="Calibri" pitchFamily="34" charset="-122"/>
                <a:cs typeface="Calibri" pitchFamily="34" charset="-120"/>
              </a:rPr>
              <a:t>Voice and gaze reach the arm</a:t>
            </a:r>
            <a:endParaRPr lang="en-US" sz="1300" dirty="0"/>
          </a:p>
        </p:txBody>
      </p:sp>
      <p:sp>
        <p:nvSpPr>
          <p:cNvPr id="34" name="Shape 29"/>
          <p:cNvSpPr/>
          <p:nvPr/>
        </p:nvSpPr>
        <p:spPr>
          <a:xfrm>
            <a:off x="4160520" y="4242816"/>
            <a:ext cx="658368" cy="658368"/>
          </a:xfrm>
          <a:prstGeom prst="ellipse">
            <a:avLst/>
          </a:prstGeom>
          <a:solidFill>
            <a:srgbClr val="0068B5"/>
          </a:solidFill>
          <a:ln/>
        </p:spPr>
      </p:sp>
      <p:sp>
        <p:nvSpPr>
          <p:cNvPr id="35" name="Text 30"/>
          <p:cNvSpPr txBox="1"/>
          <p:nvPr/>
        </p:nvSpPr>
        <p:spPr>
          <a:xfrm>
            <a:off x="4160520" y="4242816"/>
            <a:ext cx="658368" cy="65836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M3</a:t>
            </a:r>
            <a:endParaRPr lang="en-US" sz="1400" dirty="0"/>
          </a:p>
        </p:txBody>
      </p:sp>
      <p:sp>
        <p:nvSpPr>
          <p:cNvPr id="36" name="Text 31"/>
          <p:cNvSpPr txBox="1"/>
          <p:nvPr/>
        </p:nvSpPr>
        <p:spPr>
          <a:xfrm>
            <a:off x="3758184" y="5010912"/>
            <a:ext cx="1463040" cy="548640"/>
          </a:xfrm>
          <a:prstGeom prst="rect">
            <a:avLst/>
          </a:prstGeom>
          <a:noFill/>
          <a:ln/>
        </p:spPr>
        <p:txBody>
          <a:bodyPr wrap="square" lIns="0" tIns="0" rIns="0" bIns="0" rtlCol="0" anchor="t"/>
          <a:lstStyle/>
          <a:p>
            <a:pPr algn="ctr" indent="0" marL="0">
              <a:buNone/>
            </a:pPr>
            <a:r>
              <a:rPr lang="en-US" sz="1300" dirty="0">
                <a:solidFill>
                  <a:srgbClr val="16213A"/>
                </a:solidFill>
                <a:latin typeface="Calibri" pitchFamily="34" charset="0"/>
                <a:ea typeface="Calibri" pitchFamily="34" charset="-122"/>
                <a:cs typeface="Calibri" pitchFamily="34" charset="-120"/>
              </a:rPr>
              <a:t>Base navigates</a:t>
            </a:r>
            <a:endParaRPr lang="en-US" sz="1300" dirty="0"/>
          </a:p>
        </p:txBody>
      </p:sp>
      <p:sp>
        <p:nvSpPr>
          <p:cNvPr id="37" name="Shape 32"/>
          <p:cNvSpPr/>
          <p:nvPr/>
        </p:nvSpPr>
        <p:spPr>
          <a:xfrm>
            <a:off x="5765292" y="4242816"/>
            <a:ext cx="658368" cy="658368"/>
          </a:xfrm>
          <a:prstGeom prst="ellipse">
            <a:avLst/>
          </a:prstGeom>
          <a:solidFill>
            <a:srgbClr val="0068B5"/>
          </a:solidFill>
          <a:ln/>
        </p:spPr>
      </p:sp>
      <p:sp>
        <p:nvSpPr>
          <p:cNvPr id="38" name="Text 33"/>
          <p:cNvSpPr txBox="1"/>
          <p:nvPr/>
        </p:nvSpPr>
        <p:spPr>
          <a:xfrm>
            <a:off x="5765292" y="4242816"/>
            <a:ext cx="658368" cy="65836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M6</a:t>
            </a:r>
            <a:endParaRPr lang="en-US" sz="1400" dirty="0"/>
          </a:p>
        </p:txBody>
      </p:sp>
      <p:sp>
        <p:nvSpPr>
          <p:cNvPr id="39" name="Text 34"/>
          <p:cNvSpPr txBox="1"/>
          <p:nvPr/>
        </p:nvSpPr>
        <p:spPr>
          <a:xfrm>
            <a:off x="5362956" y="5010912"/>
            <a:ext cx="1463040" cy="548640"/>
          </a:xfrm>
          <a:prstGeom prst="rect">
            <a:avLst/>
          </a:prstGeom>
          <a:noFill/>
          <a:ln/>
        </p:spPr>
        <p:txBody>
          <a:bodyPr wrap="square" lIns="0" tIns="0" rIns="0" bIns="0" rtlCol="0" anchor="t"/>
          <a:lstStyle/>
          <a:p>
            <a:pPr algn="ctr" indent="0" marL="0">
              <a:buNone/>
            </a:pPr>
            <a:r>
              <a:rPr lang="en-US" sz="1300" dirty="0">
                <a:solidFill>
                  <a:srgbClr val="16213A"/>
                </a:solidFill>
                <a:latin typeface="Calibri" pitchFamily="34" charset="0"/>
                <a:ea typeface="Calibri" pitchFamily="34" charset="-122"/>
                <a:cs typeface="Calibri" pitchFamily="34" charset="-120"/>
              </a:rPr>
              <a:t>Memory graph</a:t>
            </a:r>
            <a:endParaRPr lang="en-US" sz="1300" dirty="0"/>
          </a:p>
        </p:txBody>
      </p:sp>
      <p:sp>
        <p:nvSpPr>
          <p:cNvPr id="40" name="Shape 35"/>
          <p:cNvSpPr/>
          <p:nvPr/>
        </p:nvSpPr>
        <p:spPr>
          <a:xfrm>
            <a:off x="7370064" y="4242816"/>
            <a:ext cx="658368" cy="658368"/>
          </a:xfrm>
          <a:prstGeom prst="ellipse">
            <a:avLst/>
          </a:prstGeom>
          <a:solidFill>
            <a:srgbClr val="16213A"/>
          </a:solidFill>
          <a:ln/>
        </p:spPr>
      </p:sp>
      <p:sp>
        <p:nvSpPr>
          <p:cNvPr id="41" name="Text 36"/>
          <p:cNvSpPr txBox="1"/>
          <p:nvPr/>
        </p:nvSpPr>
        <p:spPr>
          <a:xfrm>
            <a:off x="7370064" y="4242816"/>
            <a:ext cx="658368" cy="65836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M7</a:t>
            </a:r>
            <a:endParaRPr lang="en-US" sz="1400" dirty="0"/>
          </a:p>
        </p:txBody>
      </p:sp>
      <p:sp>
        <p:nvSpPr>
          <p:cNvPr id="42" name="Text 37"/>
          <p:cNvSpPr txBox="1"/>
          <p:nvPr/>
        </p:nvSpPr>
        <p:spPr>
          <a:xfrm>
            <a:off x="6967728" y="5010912"/>
            <a:ext cx="1463040" cy="548640"/>
          </a:xfrm>
          <a:prstGeom prst="rect">
            <a:avLst/>
          </a:prstGeom>
          <a:noFill/>
          <a:ln/>
        </p:spPr>
        <p:txBody>
          <a:bodyPr wrap="square" lIns="0" tIns="0" rIns="0" bIns="0" rtlCol="0" anchor="t"/>
          <a:lstStyle/>
          <a:p>
            <a:pPr algn="ctr" indent="0" marL="0">
              <a:buNone/>
            </a:pPr>
            <a:r>
              <a:rPr lang="en-US" sz="1300" b="1" dirty="0">
                <a:solidFill>
                  <a:srgbClr val="16213A"/>
                </a:solidFill>
                <a:latin typeface="Calibri" pitchFamily="34" charset="0"/>
                <a:ea typeface="Calibri" pitchFamily="34" charset="-122"/>
                <a:cs typeface="Calibri" pitchFamily="34" charset="-120"/>
              </a:rPr>
              <a:t>Graph drives the robot</a:t>
            </a:r>
            <a:endParaRPr lang="en-US" sz="1300" dirty="0"/>
          </a:p>
        </p:txBody>
      </p:sp>
      <p:sp>
        <p:nvSpPr>
          <p:cNvPr id="43" name="Shape 38"/>
          <p:cNvSpPr/>
          <p:nvPr/>
        </p:nvSpPr>
        <p:spPr>
          <a:xfrm>
            <a:off x="8974836" y="4242816"/>
            <a:ext cx="658368" cy="658368"/>
          </a:xfrm>
          <a:prstGeom prst="ellipse">
            <a:avLst/>
          </a:prstGeom>
          <a:solidFill>
            <a:srgbClr val="16213A"/>
          </a:solidFill>
          <a:ln/>
        </p:spPr>
      </p:sp>
      <p:sp>
        <p:nvSpPr>
          <p:cNvPr id="44" name="Text 39"/>
          <p:cNvSpPr txBox="1"/>
          <p:nvPr/>
        </p:nvSpPr>
        <p:spPr>
          <a:xfrm>
            <a:off x="8974836" y="4242816"/>
            <a:ext cx="658368" cy="65836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M8</a:t>
            </a:r>
            <a:endParaRPr lang="en-US" sz="1400" dirty="0"/>
          </a:p>
        </p:txBody>
      </p:sp>
      <p:sp>
        <p:nvSpPr>
          <p:cNvPr id="45" name="Text 40"/>
          <p:cNvSpPr txBox="1"/>
          <p:nvPr/>
        </p:nvSpPr>
        <p:spPr>
          <a:xfrm>
            <a:off x="8572500" y="5010912"/>
            <a:ext cx="1463040" cy="548640"/>
          </a:xfrm>
          <a:prstGeom prst="rect">
            <a:avLst/>
          </a:prstGeom>
          <a:noFill/>
          <a:ln/>
        </p:spPr>
        <p:txBody>
          <a:bodyPr wrap="square" lIns="0" tIns="0" rIns="0" bIns="0" rtlCol="0" anchor="t"/>
          <a:lstStyle/>
          <a:p>
            <a:pPr algn="ctr" indent="0" marL="0">
              <a:buNone/>
            </a:pPr>
            <a:r>
              <a:rPr lang="en-US" sz="1300" b="1" dirty="0">
                <a:solidFill>
                  <a:srgbClr val="16213A"/>
                </a:solidFill>
                <a:latin typeface="Calibri" pitchFamily="34" charset="0"/>
                <a:ea typeface="Calibri" pitchFamily="34" charset="-122"/>
                <a:cs typeface="Calibri" pitchFamily="34" charset="-120"/>
              </a:rPr>
              <a:t>Gaze picks the instance</a:t>
            </a:r>
            <a:endParaRPr lang="en-US" sz="1300" dirty="0"/>
          </a:p>
        </p:txBody>
      </p:sp>
      <p:sp>
        <p:nvSpPr>
          <p:cNvPr id="46" name="Shape 41"/>
          <p:cNvSpPr/>
          <p:nvPr/>
        </p:nvSpPr>
        <p:spPr>
          <a:xfrm>
            <a:off x="10579608" y="4242816"/>
            <a:ext cx="658368" cy="658368"/>
          </a:xfrm>
          <a:prstGeom prst="ellipse">
            <a:avLst/>
          </a:prstGeom>
          <a:solidFill>
            <a:srgbClr val="0068B5"/>
          </a:solidFill>
          <a:ln/>
        </p:spPr>
      </p:sp>
      <p:sp>
        <p:nvSpPr>
          <p:cNvPr id="47" name="Text 42"/>
          <p:cNvSpPr txBox="1"/>
          <p:nvPr/>
        </p:nvSpPr>
        <p:spPr>
          <a:xfrm>
            <a:off x="10579608" y="4242816"/>
            <a:ext cx="658368" cy="65836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M10</a:t>
            </a:r>
            <a:endParaRPr lang="en-US" sz="1400" dirty="0"/>
          </a:p>
        </p:txBody>
      </p:sp>
      <p:sp>
        <p:nvSpPr>
          <p:cNvPr id="48" name="Text 43"/>
          <p:cNvSpPr txBox="1"/>
          <p:nvPr/>
        </p:nvSpPr>
        <p:spPr>
          <a:xfrm>
            <a:off x="10177272" y="5010912"/>
            <a:ext cx="1463040" cy="548640"/>
          </a:xfrm>
          <a:prstGeom prst="rect">
            <a:avLst/>
          </a:prstGeom>
          <a:noFill/>
          <a:ln/>
        </p:spPr>
        <p:txBody>
          <a:bodyPr wrap="square" lIns="0" tIns="0" rIns="0" bIns="0" rtlCol="0" anchor="t"/>
          <a:lstStyle/>
          <a:p>
            <a:pPr algn="ctr" indent="0" marL="0">
              <a:buNone/>
            </a:pPr>
            <a:r>
              <a:rPr lang="en-US" sz="1300" dirty="0">
                <a:solidFill>
                  <a:srgbClr val="16213A"/>
                </a:solidFill>
                <a:latin typeface="Calibri" pitchFamily="34" charset="0"/>
                <a:ea typeface="Calibri" pitchFamily="34" charset="-122"/>
                <a:cs typeface="Calibri" pitchFamily="34" charset="-120"/>
              </a:rPr>
              <a:t>Demo and paper</a:t>
            </a:r>
            <a:endParaRPr lang="en-US" sz="1300" dirty="0"/>
          </a:p>
        </p:txBody>
      </p:sp>
      <p:sp>
        <p:nvSpPr>
          <p:cNvPr id="49" name="Text 44"/>
          <p:cNvSpPr txBox="1"/>
          <p:nvPr/>
        </p:nvSpPr>
        <p:spPr>
          <a:xfrm>
            <a:off x="548640" y="5715000"/>
            <a:ext cx="11091672" cy="22860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Evaluation: end-to-end trials, success per phase. Without gaze is a stretch goal. Also M0, M4, M5 and M9.</a:t>
            </a:r>
            <a:endParaRPr lang="en-US" sz="1100" dirty="0"/>
          </a:p>
        </p:txBody>
      </p:sp>
      <p:sp>
        <p:nvSpPr>
          <p:cNvPr id="50" name="Shape 45"/>
          <p:cNvSpPr/>
          <p:nvPr/>
        </p:nvSpPr>
        <p:spPr>
          <a:xfrm>
            <a:off x="594360" y="6400800"/>
            <a:ext cx="1295019" cy="36576"/>
          </a:xfrm>
          <a:prstGeom prst="rect">
            <a:avLst/>
          </a:prstGeom>
          <a:solidFill>
            <a:srgbClr val="0068B5"/>
          </a:solidFill>
          <a:ln/>
        </p:spPr>
      </p:sp>
      <p:sp>
        <p:nvSpPr>
          <p:cNvPr id="51" name="Text 46"/>
          <p:cNvSpPr txBox="1"/>
          <p:nvPr/>
        </p:nvSpPr>
        <p:spPr>
          <a:xfrm>
            <a:off x="548640" y="6473952"/>
            <a:ext cx="1386459" cy="201168"/>
          </a:xfrm>
          <a:prstGeom prst="rect">
            <a:avLst/>
          </a:prstGeom>
          <a:noFill/>
          <a:ln/>
        </p:spPr>
        <p:txBody>
          <a:bodyPr wrap="square" lIns="0" tIns="0" rIns="0" bIns="0" rtlCol="0" anchor="ctr"/>
          <a:lstStyle/>
          <a:p>
            <a:pPr algn="ctr" indent="0" marL="0">
              <a:buNone/>
            </a:pPr>
            <a:r>
              <a:rPr lang="en-US" sz="1100" b="1" dirty="0">
                <a:solidFill>
                  <a:srgbClr val="16213A"/>
                </a:solidFill>
                <a:latin typeface="Calibri" pitchFamily="34" charset="0"/>
                <a:ea typeface="Calibri" pitchFamily="34" charset="-122"/>
                <a:cs typeface="Calibri" pitchFamily="34" charset="-120"/>
              </a:rPr>
              <a:t>Problem</a:t>
            </a:r>
            <a:endParaRPr lang="en-US" sz="1100" dirty="0"/>
          </a:p>
        </p:txBody>
      </p:sp>
      <p:sp>
        <p:nvSpPr>
          <p:cNvPr id="52" name="Shape 47"/>
          <p:cNvSpPr/>
          <p:nvPr/>
        </p:nvSpPr>
        <p:spPr>
          <a:xfrm>
            <a:off x="1980819" y="6400800"/>
            <a:ext cx="1295019" cy="13716"/>
          </a:xfrm>
          <a:prstGeom prst="rect">
            <a:avLst/>
          </a:prstGeom>
          <a:solidFill>
            <a:srgbClr val="D7DEE8"/>
          </a:solidFill>
          <a:ln/>
        </p:spPr>
      </p:sp>
      <p:sp>
        <p:nvSpPr>
          <p:cNvPr id="53" name="Text 48"/>
          <p:cNvSpPr txBox="1"/>
          <p:nvPr/>
        </p:nvSpPr>
        <p:spPr>
          <a:xfrm>
            <a:off x="1935099"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System</a:t>
            </a:r>
            <a:endParaRPr lang="en-US" sz="1100" dirty="0"/>
          </a:p>
        </p:txBody>
      </p:sp>
      <p:sp>
        <p:nvSpPr>
          <p:cNvPr id="54" name="Shape 49"/>
          <p:cNvSpPr/>
          <p:nvPr/>
        </p:nvSpPr>
        <p:spPr>
          <a:xfrm>
            <a:off x="3367278" y="6400800"/>
            <a:ext cx="1295019" cy="13716"/>
          </a:xfrm>
          <a:prstGeom prst="rect">
            <a:avLst/>
          </a:prstGeom>
          <a:solidFill>
            <a:srgbClr val="D7DEE8"/>
          </a:solidFill>
          <a:ln/>
        </p:spPr>
      </p:sp>
      <p:sp>
        <p:nvSpPr>
          <p:cNvPr id="55" name="Text 50"/>
          <p:cNvSpPr txBox="1"/>
          <p:nvPr/>
        </p:nvSpPr>
        <p:spPr>
          <a:xfrm>
            <a:off x="3321558"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Intent</a:t>
            </a:r>
            <a:endParaRPr lang="en-US" sz="1100" dirty="0"/>
          </a:p>
        </p:txBody>
      </p:sp>
      <p:sp>
        <p:nvSpPr>
          <p:cNvPr id="56" name="Shape 51"/>
          <p:cNvSpPr/>
          <p:nvPr/>
        </p:nvSpPr>
        <p:spPr>
          <a:xfrm>
            <a:off x="4753737" y="6400800"/>
            <a:ext cx="1295019" cy="13716"/>
          </a:xfrm>
          <a:prstGeom prst="rect">
            <a:avLst/>
          </a:prstGeom>
          <a:solidFill>
            <a:srgbClr val="D7DEE8"/>
          </a:solidFill>
          <a:ln/>
        </p:spPr>
      </p:sp>
      <p:sp>
        <p:nvSpPr>
          <p:cNvPr id="57" name="Text 52"/>
          <p:cNvSpPr txBox="1"/>
          <p:nvPr/>
        </p:nvSpPr>
        <p:spPr>
          <a:xfrm>
            <a:off x="4708017"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Explore</a:t>
            </a:r>
            <a:endParaRPr lang="en-US" sz="1100" dirty="0"/>
          </a:p>
        </p:txBody>
      </p:sp>
      <p:sp>
        <p:nvSpPr>
          <p:cNvPr id="58" name="Shape 53"/>
          <p:cNvSpPr/>
          <p:nvPr/>
        </p:nvSpPr>
        <p:spPr>
          <a:xfrm>
            <a:off x="6140196" y="6400800"/>
            <a:ext cx="1295019" cy="13716"/>
          </a:xfrm>
          <a:prstGeom prst="rect">
            <a:avLst/>
          </a:prstGeom>
          <a:solidFill>
            <a:srgbClr val="D7DEE8"/>
          </a:solidFill>
          <a:ln/>
        </p:spPr>
      </p:sp>
      <p:sp>
        <p:nvSpPr>
          <p:cNvPr id="59" name="Text 54"/>
          <p:cNvSpPr txBox="1"/>
          <p:nvPr/>
        </p:nvSpPr>
        <p:spPr>
          <a:xfrm>
            <a:off x="6094476"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Search</a:t>
            </a:r>
            <a:endParaRPr lang="en-US" sz="1100" dirty="0"/>
          </a:p>
        </p:txBody>
      </p:sp>
      <p:sp>
        <p:nvSpPr>
          <p:cNvPr id="60" name="Shape 55"/>
          <p:cNvSpPr/>
          <p:nvPr/>
        </p:nvSpPr>
        <p:spPr>
          <a:xfrm>
            <a:off x="7526655" y="6400800"/>
            <a:ext cx="1295019" cy="13716"/>
          </a:xfrm>
          <a:prstGeom prst="rect">
            <a:avLst/>
          </a:prstGeom>
          <a:solidFill>
            <a:srgbClr val="D7DEE8"/>
          </a:solidFill>
          <a:ln/>
        </p:spPr>
      </p:sp>
      <p:sp>
        <p:nvSpPr>
          <p:cNvPr id="61" name="Text 56"/>
          <p:cNvSpPr txBox="1"/>
          <p:nvPr/>
        </p:nvSpPr>
        <p:spPr>
          <a:xfrm>
            <a:off x="7480935"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Confirm</a:t>
            </a:r>
            <a:endParaRPr lang="en-US" sz="1100" dirty="0"/>
          </a:p>
        </p:txBody>
      </p:sp>
      <p:sp>
        <p:nvSpPr>
          <p:cNvPr id="62" name="Shape 57"/>
          <p:cNvSpPr/>
          <p:nvPr/>
        </p:nvSpPr>
        <p:spPr>
          <a:xfrm>
            <a:off x="8913114" y="6400800"/>
            <a:ext cx="1295019" cy="13716"/>
          </a:xfrm>
          <a:prstGeom prst="rect">
            <a:avLst/>
          </a:prstGeom>
          <a:solidFill>
            <a:srgbClr val="D7DEE8"/>
          </a:solidFill>
          <a:ln/>
        </p:spPr>
      </p:sp>
      <p:sp>
        <p:nvSpPr>
          <p:cNvPr id="63" name="Text 58"/>
          <p:cNvSpPr txBox="1"/>
          <p:nvPr/>
        </p:nvSpPr>
        <p:spPr>
          <a:xfrm>
            <a:off x="8867394"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Grasp</a:t>
            </a:r>
            <a:endParaRPr lang="en-US" sz="1100" dirty="0"/>
          </a:p>
        </p:txBody>
      </p:sp>
      <p:sp>
        <p:nvSpPr>
          <p:cNvPr id="64" name="Shape 59"/>
          <p:cNvSpPr/>
          <p:nvPr/>
        </p:nvSpPr>
        <p:spPr>
          <a:xfrm>
            <a:off x="10299573" y="6400800"/>
            <a:ext cx="1295019" cy="13716"/>
          </a:xfrm>
          <a:prstGeom prst="rect">
            <a:avLst/>
          </a:prstGeom>
          <a:solidFill>
            <a:srgbClr val="D7DEE8"/>
          </a:solidFill>
          <a:ln/>
        </p:spPr>
      </p:sp>
      <p:sp>
        <p:nvSpPr>
          <p:cNvPr id="65" name="Text 60"/>
          <p:cNvSpPr txBox="1"/>
          <p:nvPr/>
        </p:nvSpPr>
        <p:spPr>
          <a:xfrm>
            <a:off x="10253853"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Plan</a:t>
            </a:r>
            <a:endParaRPr lang="en-US" sz="1100" dirty="0"/>
          </a:p>
        </p:txBody>
      </p:sp>
      <p:sp>
        <p:nvSpPr>
          <p:cNvPr id="66" name="Text 61"/>
          <p:cNvSpPr txBox="1"/>
          <p:nvPr/>
        </p:nvSpPr>
        <p:spPr>
          <a:xfrm>
            <a:off x="11091672" y="6035040"/>
            <a:ext cx="548640" cy="22860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28600"/>
          </a:xfrm>
          <a:prstGeom prst="rect">
            <a:avLst/>
          </a:prstGeom>
          <a:noFill/>
          <a:ln/>
        </p:spPr>
        <p:txBody>
          <a:bodyPr wrap="square" lIns="0" tIns="0" rIns="0" bIns="0" rtlCol="0" anchor="ctr"/>
          <a:lstStyle/>
          <a:p>
            <a:pPr indent="0" marL="0">
              <a:buNone/>
            </a:pPr>
            <a:r>
              <a:rPr lang="en-US" sz="1100" b="1" spc="150" kern="0" dirty="0">
                <a:solidFill>
                  <a:srgbClr val="0068B5"/>
                </a:solidFill>
                <a:latin typeface="Calibri" pitchFamily="34" charset="0"/>
                <a:ea typeface="Calibri" pitchFamily="34" charset="-122"/>
                <a:cs typeface="Calibri" pitchFamily="34" charset="-120"/>
              </a:rPr>
              <a:t>GAPPLER  ·  ZONGZHE</a:t>
            </a:r>
            <a:endParaRPr lang="en-US" sz="1100" dirty="0"/>
          </a:p>
        </p:txBody>
      </p:sp>
      <p:sp>
        <p:nvSpPr>
          <p:cNvPr id="3" name="Shape 1"/>
          <p:cNvSpPr/>
          <p:nvPr/>
        </p:nvSpPr>
        <p:spPr>
          <a:xfrm>
            <a:off x="9445752" y="347472"/>
            <a:ext cx="2194560" cy="347472"/>
          </a:xfrm>
          <a:prstGeom prst="roundRect">
            <a:avLst>
              <a:gd name="adj" fmla="val 50000"/>
            </a:avLst>
          </a:prstGeom>
          <a:solidFill>
            <a:srgbClr val="16213A"/>
          </a:solidFill>
          <a:ln/>
        </p:spPr>
      </p:sp>
      <p:sp>
        <p:nvSpPr>
          <p:cNvPr id="4" name="Text 2"/>
          <p:cNvSpPr txBox="1"/>
          <p:nvPr/>
        </p:nvSpPr>
        <p:spPr>
          <a:xfrm>
            <a:off x="9445752" y="347472"/>
            <a:ext cx="2194560" cy="347472"/>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THE SYSTEM</a:t>
            </a:r>
            <a:endParaRPr lang="en-US" sz="1100" dirty="0"/>
          </a:p>
        </p:txBody>
      </p:sp>
      <p:sp>
        <p:nvSpPr>
          <p:cNvPr id="5" name="Text 3"/>
          <p:cNvSpPr txBox="1"/>
          <p:nvPr/>
        </p:nvSpPr>
        <p:spPr>
          <a:xfrm>
            <a:off x="548640" y="777240"/>
            <a:ext cx="11091672" cy="548640"/>
          </a:xfrm>
          <a:prstGeom prst="rect">
            <a:avLst/>
          </a:prstGeom>
          <a:noFill/>
          <a:ln/>
        </p:spPr>
        <p:txBody>
          <a:bodyPr wrap="square" lIns="0" tIns="0" rIns="0" bIns="0" rtlCol="0" anchor="ctr"/>
          <a:lstStyle/>
          <a:p>
            <a:pPr indent="0" marL="0">
              <a:buNone/>
            </a:pPr>
            <a:r>
              <a:rPr lang="en-US" sz="3000" b="1" dirty="0">
                <a:solidFill>
                  <a:srgbClr val="16213A"/>
                </a:solidFill>
                <a:latin typeface="Calibri" pitchFamily="34" charset="0"/>
                <a:ea typeface="Calibri" pitchFamily="34" charset="-122"/>
                <a:cs typeface="Calibri" pitchFamily="34" charset="-120"/>
              </a:rPr>
              <a:t>The target system works in five phases</a:t>
            </a:r>
            <a:endParaRPr lang="en-US" sz="3000" dirty="0"/>
          </a:p>
        </p:txBody>
      </p:sp>
      <p:sp>
        <p:nvSpPr>
          <p:cNvPr id="6" name="Text 4"/>
          <p:cNvSpPr txBox="1"/>
          <p:nvPr/>
        </p:nvSpPr>
        <p:spPr>
          <a:xfrm>
            <a:off x="548640" y="1325880"/>
            <a:ext cx="11091672" cy="320040"/>
          </a:xfrm>
          <a:prstGeom prst="rect">
            <a:avLst/>
          </a:prstGeom>
          <a:noFill/>
          <a:ln/>
        </p:spPr>
        <p:txBody>
          <a:bodyPr wrap="square" lIns="0" tIns="0" rIns="0" bIns="0" rtlCol="0" anchor="ctr"/>
          <a:lstStyle/>
          <a:p>
            <a:pPr indent="0" marL="0">
              <a:buNone/>
            </a:pPr>
            <a:r>
              <a:rPr lang="en-US" sz="1700" dirty="0">
                <a:solidFill>
                  <a:srgbClr val="4B5563"/>
                </a:solidFill>
                <a:latin typeface="Calibri" pitchFamily="34" charset="0"/>
                <a:ea typeface="Calibri" pitchFamily="34" charset="-122"/>
                <a:cs typeface="Calibri" pitchFamily="34" charset="-120"/>
              </a:rPr>
              <a:t>From a spoken word and a glance to a grasp, in a room the robot has not seen</a:t>
            </a:r>
            <a:endParaRPr lang="en-US" sz="1700" dirty="0"/>
          </a:p>
        </p:txBody>
      </p:sp>
      <p:sp>
        <p:nvSpPr>
          <p:cNvPr id="7" name="Shape 5"/>
          <p:cNvSpPr/>
          <p:nvPr/>
        </p:nvSpPr>
        <p:spPr>
          <a:xfrm>
            <a:off x="548640" y="1874520"/>
            <a:ext cx="2035454" cy="2926080"/>
          </a:xfrm>
          <a:prstGeom prst="roundRect">
            <a:avLst>
              <a:gd name="adj" fmla="val 4492"/>
            </a:avLst>
          </a:prstGeom>
          <a:solidFill>
            <a:srgbClr val="EEF2F7"/>
          </a:solidFill>
          <a:ln/>
        </p:spPr>
      </p:sp>
      <p:sp>
        <p:nvSpPr>
          <p:cNvPr id="8" name="Shape 6"/>
          <p:cNvSpPr/>
          <p:nvPr/>
        </p:nvSpPr>
        <p:spPr>
          <a:xfrm>
            <a:off x="713232" y="2057400"/>
            <a:ext cx="457200" cy="457200"/>
          </a:xfrm>
          <a:prstGeom prst="ellipse">
            <a:avLst/>
          </a:prstGeom>
          <a:solidFill>
            <a:srgbClr val="0068B5"/>
          </a:solidFill>
          <a:ln/>
        </p:spPr>
      </p:sp>
      <p:pic>
        <p:nvPicPr>
          <p:cNvPr id="9" name="Image 0" descr="preencoded.png">    </p:cNvPr>
          <p:cNvPicPr>
            <a:picLocks noChangeAspect="1"/>
          </p:cNvPicPr>
          <p:nvPr/>
        </p:nvPicPr>
        <p:blipFill>
          <a:blip r:embed="rId1"/>
          <a:stretch>
            <a:fillRect/>
          </a:stretch>
        </p:blipFill>
        <p:spPr>
          <a:xfrm>
            <a:off x="813816" y="2157984"/>
            <a:ext cx="256032" cy="256032"/>
          </a:xfrm>
          <a:prstGeom prst="rect">
            <a:avLst/>
          </a:prstGeom>
        </p:spPr>
      </p:pic>
      <p:sp>
        <p:nvSpPr>
          <p:cNvPr id="10" name="Text 7"/>
          <p:cNvSpPr txBox="1"/>
          <p:nvPr/>
        </p:nvSpPr>
        <p:spPr>
          <a:xfrm>
            <a:off x="1944014" y="1984248"/>
            <a:ext cx="502920" cy="548640"/>
          </a:xfrm>
          <a:prstGeom prst="rect">
            <a:avLst/>
          </a:prstGeom>
          <a:noFill/>
          <a:ln/>
        </p:spPr>
        <p:txBody>
          <a:bodyPr wrap="square" lIns="0" tIns="0" rIns="0" bIns="0" rtlCol="0" anchor="ctr"/>
          <a:lstStyle/>
          <a:p>
            <a:pPr algn="r" indent="0" marL="0">
              <a:buNone/>
            </a:pPr>
            <a:r>
              <a:rPr lang="en-US" sz="3000" b="1" dirty="0">
                <a:solidFill>
                  <a:srgbClr val="C5CDD8"/>
                </a:solidFill>
                <a:latin typeface="Calibri" pitchFamily="34" charset="0"/>
                <a:ea typeface="Calibri" pitchFamily="34" charset="-122"/>
                <a:cs typeface="Calibri" pitchFamily="34" charset="-120"/>
              </a:rPr>
              <a:t>1</a:t>
            </a:r>
            <a:endParaRPr lang="en-US" sz="3000" dirty="0"/>
          </a:p>
        </p:txBody>
      </p:sp>
      <p:sp>
        <p:nvSpPr>
          <p:cNvPr id="11" name="Text 8"/>
          <p:cNvSpPr txBox="1"/>
          <p:nvPr/>
        </p:nvSpPr>
        <p:spPr>
          <a:xfrm>
            <a:off x="713232" y="2606040"/>
            <a:ext cx="1761134" cy="502920"/>
          </a:xfrm>
          <a:prstGeom prst="rect">
            <a:avLst/>
          </a:prstGeom>
          <a:noFill/>
          <a:ln/>
        </p:spPr>
        <p:txBody>
          <a:bodyPr wrap="square" lIns="0" tIns="0" rIns="0" bIns="0" rtlCol="0" anchor="t"/>
          <a:lstStyle/>
          <a:p>
            <a:pPr indent="0" marL="0">
              <a:buNone/>
            </a:pPr>
            <a:r>
              <a:rPr lang="en-US" sz="1500" b="1" dirty="0">
                <a:solidFill>
                  <a:srgbClr val="16213A"/>
                </a:solidFill>
                <a:latin typeface="Calibri" pitchFamily="34" charset="0"/>
                <a:ea typeface="Calibri" pitchFamily="34" charset="-122"/>
                <a:cs typeface="Calibri" pitchFamily="34" charset="-120"/>
              </a:rPr>
              <a:t>Intent capture</a:t>
            </a:r>
            <a:endParaRPr lang="en-US" sz="1500" dirty="0"/>
          </a:p>
        </p:txBody>
      </p:sp>
      <p:sp>
        <p:nvSpPr>
          <p:cNvPr id="12" name="Text 9"/>
          <p:cNvSpPr txBox="1"/>
          <p:nvPr/>
        </p:nvSpPr>
        <p:spPr>
          <a:xfrm>
            <a:off x="713232" y="3136392"/>
            <a:ext cx="1761134" cy="640080"/>
          </a:xfrm>
          <a:prstGeom prst="rect">
            <a:avLst/>
          </a:prstGeom>
          <a:noFill/>
          <a:ln/>
        </p:spPr>
        <p:txBody>
          <a:bodyPr wrap="square" lIns="0" tIns="0" rIns="0" bIns="0" rtlCol="0" anchor="t"/>
          <a:lstStyle/>
          <a:p>
            <a:pPr indent="0" marL="0">
              <a:buNone/>
            </a:pPr>
            <a:r>
              <a:rPr lang="en-US" sz="1200" dirty="0">
                <a:solidFill>
                  <a:srgbClr val="4B5563"/>
                </a:solidFill>
                <a:latin typeface="Calibri" pitchFamily="34" charset="0"/>
                <a:ea typeface="Calibri" pitchFamily="34" charset="-122"/>
                <a:cs typeface="Calibri" pitchFamily="34" charset="-120"/>
              </a:rPr>
              <a:t>Word from speech, object from gaze</a:t>
            </a:r>
            <a:endParaRPr lang="en-US" sz="1200" dirty="0"/>
          </a:p>
        </p:txBody>
      </p:sp>
      <p:sp>
        <p:nvSpPr>
          <p:cNvPr id="13" name="Shape 10"/>
          <p:cNvSpPr/>
          <p:nvPr/>
        </p:nvSpPr>
        <p:spPr>
          <a:xfrm>
            <a:off x="685800" y="3767328"/>
            <a:ext cx="1761134" cy="237744"/>
          </a:xfrm>
          <a:prstGeom prst="roundRect">
            <a:avLst>
              <a:gd name="adj" fmla="val 50000"/>
            </a:avLst>
          </a:prstGeom>
          <a:solidFill>
            <a:srgbClr val="DCFCE7"/>
          </a:solidFill>
          <a:ln/>
        </p:spPr>
      </p:sp>
      <p:sp>
        <p:nvSpPr>
          <p:cNvPr id="14" name="Text 11"/>
          <p:cNvSpPr txBox="1"/>
          <p:nvPr/>
        </p:nvSpPr>
        <p:spPr>
          <a:xfrm>
            <a:off x="685800" y="3767328"/>
            <a:ext cx="1761134" cy="237744"/>
          </a:xfrm>
          <a:prstGeom prst="rect">
            <a:avLst/>
          </a:prstGeom>
          <a:noFill/>
          <a:ln/>
        </p:spPr>
        <p:txBody>
          <a:bodyPr wrap="square" lIns="0" tIns="0" rIns="0" bIns="0" rtlCol="0" anchor="ctr"/>
          <a:lstStyle/>
          <a:p>
            <a:pPr algn="ctr" indent="0" marL="0">
              <a:buNone/>
            </a:pPr>
            <a:r>
              <a:rPr lang="en-US" sz="1100" b="1" dirty="0">
                <a:solidFill>
                  <a:srgbClr val="15803D"/>
                </a:solidFill>
                <a:latin typeface="Calibri" pitchFamily="34" charset="0"/>
                <a:ea typeface="Calibri" pitchFamily="34" charset="-122"/>
                <a:cs typeface="Calibri" pitchFamily="34" charset="-120"/>
              </a:rPr>
              <a:t>Tested on replay</a:t>
            </a:r>
            <a:endParaRPr lang="en-US" sz="1100" dirty="0"/>
          </a:p>
        </p:txBody>
      </p:sp>
      <p:sp>
        <p:nvSpPr>
          <p:cNvPr id="15" name="Text 12"/>
          <p:cNvSpPr txBox="1"/>
          <p:nvPr/>
        </p:nvSpPr>
        <p:spPr>
          <a:xfrm>
            <a:off x="548640" y="4864608"/>
            <a:ext cx="2035454" cy="22860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Dion</a:t>
            </a:r>
            <a:endParaRPr lang="en-US" sz="1100" dirty="0"/>
          </a:p>
        </p:txBody>
      </p:sp>
      <p:sp>
        <p:nvSpPr>
          <p:cNvPr id="16" name="Text 13"/>
          <p:cNvSpPr txBox="1"/>
          <p:nvPr/>
        </p:nvSpPr>
        <p:spPr>
          <a:xfrm>
            <a:off x="2584094" y="2788920"/>
            <a:ext cx="228600" cy="457200"/>
          </a:xfrm>
          <a:prstGeom prst="rect">
            <a:avLst/>
          </a:prstGeom>
          <a:noFill/>
          <a:ln/>
        </p:spPr>
        <p:txBody>
          <a:bodyPr wrap="square" lIns="0" tIns="0" rIns="0" bIns="0" rtlCol="0" anchor="ctr"/>
          <a:lstStyle/>
          <a:p>
            <a:pPr algn="ctr" indent="0" marL="0">
              <a:buNone/>
            </a:pPr>
            <a:r>
              <a:rPr lang="en-US" sz="2400" b="1" dirty="0">
                <a:solidFill>
                  <a:srgbClr val="6B7280"/>
                </a:solidFill>
                <a:latin typeface="Calibri" pitchFamily="34" charset="0"/>
                <a:ea typeface="Calibri" pitchFamily="34" charset="-122"/>
                <a:cs typeface="Calibri" pitchFamily="34" charset="-120"/>
              </a:rPr>
              <a:t>›</a:t>
            </a:r>
            <a:endParaRPr lang="en-US" sz="2400" dirty="0"/>
          </a:p>
        </p:txBody>
      </p:sp>
      <p:sp>
        <p:nvSpPr>
          <p:cNvPr id="17" name="Shape 14"/>
          <p:cNvSpPr/>
          <p:nvPr/>
        </p:nvSpPr>
        <p:spPr>
          <a:xfrm>
            <a:off x="2812694" y="1874520"/>
            <a:ext cx="2035454" cy="2926080"/>
          </a:xfrm>
          <a:prstGeom prst="roundRect">
            <a:avLst>
              <a:gd name="adj" fmla="val 4492"/>
            </a:avLst>
          </a:prstGeom>
          <a:solidFill>
            <a:srgbClr val="EEF2F7"/>
          </a:solidFill>
          <a:ln/>
        </p:spPr>
      </p:sp>
      <p:sp>
        <p:nvSpPr>
          <p:cNvPr id="18" name="Shape 15"/>
          <p:cNvSpPr/>
          <p:nvPr/>
        </p:nvSpPr>
        <p:spPr>
          <a:xfrm>
            <a:off x="2977286" y="2057400"/>
            <a:ext cx="457200" cy="457200"/>
          </a:xfrm>
          <a:prstGeom prst="ellipse">
            <a:avLst/>
          </a:prstGeom>
          <a:solidFill>
            <a:srgbClr val="0068B5"/>
          </a:solidFill>
          <a:ln/>
        </p:spPr>
      </p:sp>
      <p:pic>
        <p:nvPicPr>
          <p:cNvPr id="19" name="Image 1" descr="preencoded.png">    </p:cNvPr>
          <p:cNvPicPr>
            <a:picLocks noChangeAspect="1"/>
          </p:cNvPicPr>
          <p:nvPr/>
        </p:nvPicPr>
        <p:blipFill>
          <a:blip r:embed="rId2"/>
          <a:stretch>
            <a:fillRect/>
          </a:stretch>
        </p:blipFill>
        <p:spPr>
          <a:xfrm>
            <a:off x="3077870" y="2157984"/>
            <a:ext cx="256032" cy="256032"/>
          </a:xfrm>
          <a:prstGeom prst="rect">
            <a:avLst/>
          </a:prstGeom>
        </p:spPr>
      </p:pic>
      <p:sp>
        <p:nvSpPr>
          <p:cNvPr id="20" name="Text 16"/>
          <p:cNvSpPr txBox="1"/>
          <p:nvPr/>
        </p:nvSpPr>
        <p:spPr>
          <a:xfrm>
            <a:off x="4208069" y="1984248"/>
            <a:ext cx="502920" cy="548640"/>
          </a:xfrm>
          <a:prstGeom prst="rect">
            <a:avLst/>
          </a:prstGeom>
          <a:noFill/>
          <a:ln/>
        </p:spPr>
        <p:txBody>
          <a:bodyPr wrap="square" lIns="0" tIns="0" rIns="0" bIns="0" rtlCol="0" anchor="ctr"/>
          <a:lstStyle/>
          <a:p>
            <a:pPr algn="r" indent="0" marL="0">
              <a:buNone/>
            </a:pPr>
            <a:r>
              <a:rPr lang="en-US" sz="3000" b="1" dirty="0">
                <a:solidFill>
                  <a:srgbClr val="C5CDD8"/>
                </a:solidFill>
                <a:latin typeface="Calibri" pitchFamily="34" charset="0"/>
                <a:ea typeface="Calibri" pitchFamily="34" charset="-122"/>
                <a:cs typeface="Calibri" pitchFamily="34" charset="-120"/>
              </a:rPr>
              <a:t>2</a:t>
            </a:r>
            <a:endParaRPr lang="en-US" sz="3000" dirty="0"/>
          </a:p>
        </p:txBody>
      </p:sp>
      <p:sp>
        <p:nvSpPr>
          <p:cNvPr id="21" name="Text 17"/>
          <p:cNvSpPr txBox="1"/>
          <p:nvPr/>
        </p:nvSpPr>
        <p:spPr>
          <a:xfrm>
            <a:off x="2977286" y="2606040"/>
            <a:ext cx="1761134" cy="502920"/>
          </a:xfrm>
          <a:prstGeom prst="rect">
            <a:avLst/>
          </a:prstGeom>
          <a:noFill/>
          <a:ln/>
        </p:spPr>
        <p:txBody>
          <a:bodyPr wrap="square" lIns="0" tIns="0" rIns="0" bIns="0" rtlCol="0" anchor="t"/>
          <a:lstStyle/>
          <a:p>
            <a:pPr indent="0" marL="0">
              <a:buNone/>
            </a:pPr>
            <a:r>
              <a:rPr lang="en-US" sz="1500" b="1" dirty="0">
                <a:solidFill>
                  <a:srgbClr val="16213A"/>
                </a:solidFill>
                <a:latin typeface="Calibri" pitchFamily="34" charset="0"/>
                <a:ea typeface="Calibri" pitchFamily="34" charset="-122"/>
                <a:cs typeface="Calibri" pitchFamily="34" charset="-120"/>
              </a:rPr>
              <a:t>Explore and find the user</a:t>
            </a:r>
            <a:endParaRPr lang="en-US" sz="1500" dirty="0"/>
          </a:p>
        </p:txBody>
      </p:sp>
      <p:sp>
        <p:nvSpPr>
          <p:cNvPr id="22" name="Text 18"/>
          <p:cNvSpPr txBox="1"/>
          <p:nvPr/>
        </p:nvSpPr>
        <p:spPr>
          <a:xfrm>
            <a:off x="2977286" y="3136392"/>
            <a:ext cx="1761134" cy="640080"/>
          </a:xfrm>
          <a:prstGeom prst="rect">
            <a:avLst/>
          </a:prstGeom>
          <a:noFill/>
          <a:ln/>
        </p:spPr>
        <p:txBody>
          <a:bodyPr wrap="square" lIns="0" tIns="0" rIns="0" bIns="0" rtlCol="0" anchor="t"/>
          <a:lstStyle/>
          <a:p>
            <a:pPr indent="0" marL="0">
              <a:buNone/>
            </a:pPr>
            <a:r>
              <a:rPr lang="en-US" sz="1200" dirty="0">
                <a:solidFill>
                  <a:srgbClr val="4B5563"/>
                </a:solidFill>
                <a:latin typeface="Calibri" pitchFamily="34" charset="0"/>
                <a:ea typeface="Calibri" pitchFamily="34" charset="-122"/>
                <a:cs typeface="Calibri" pitchFamily="34" charset="-120"/>
              </a:rPr>
              <a:t>Map the room, remember objects, find the user</a:t>
            </a:r>
            <a:endParaRPr lang="en-US" sz="1200" dirty="0"/>
          </a:p>
        </p:txBody>
      </p:sp>
      <p:sp>
        <p:nvSpPr>
          <p:cNvPr id="23" name="Shape 19"/>
          <p:cNvSpPr/>
          <p:nvPr/>
        </p:nvSpPr>
        <p:spPr>
          <a:xfrm>
            <a:off x="2949854" y="3767328"/>
            <a:ext cx="1761134" cy="237744"/>
          </a:xfrm>
          <a:prstGeom prst="roundRect">
            <a:avLst>
              <a:gd name="adj" fmla="val 50000"/>
            </a:avLst>
          </a:prstGeom>
          <a:solidFill>
            <a:srgbClr val="DCFCE7"/>
          </a:solidFill>
          <a:ln/>
        </p:spPr>
      </p:sp>
      <p:sp>
        <p:nvSpPr>
          <p:cNvPr id="24" name="Text 20"/>
          <p:cNvSpPr txBox="1"/>
          <p:nvPr/>
        </p:nvSpPr>
        <p:spPr>
          <a:xfrm>
            <a:off x="2949854" y="3767328"/>
            <a:ext cx="1761134" cy="237744"/>
          </a:xfrm>
          <a:prstGeom prst="rect">
            <a:avLst/>
          </a:prstGeom>
          <a:noFill/>
          <a:ln/>
        </p:spPr>
        <p:txBody>
          <a:bodyPr wrap="square" lIns="0" tIns="0" rIns="0" bIns="0" rtlCol="0" anchor="ctr"/>
          <a:lstStyle/>
          <a:p>
            <a:pPr algn="ctr" indent="0" marL="0">
              <a:buNone/>
            </a:pPr>
            <a:r>
              <a:rPr lang="en-US" sz="1100" b="1" dirty="0">
                <a:solidFill>
                  <a:srgbClr val="15803D"/>
                </a:solidFill>
                <a:latin typeface="Calibri" pitchFamily="34" charset="0"/>
                <a:ea typeface="Calibri" pitchFamily="34" charset="-122"/>
                <a:cs typeface="Calibri" pitchFamily="34" charset="-120"/>
              </a:rPr>
              <a:t>Map tested live</a:t>
            </a:r>
            <a:endParaRPr lang="en-US" sz="1100" dirty="0"/>
          </a:p>
        </p:txBody>
      </p:sp>
      <p:sp>
        <p:nvSpPr>
          <p:cNvPr id="25" name="Shape 21"/>
          <p:cNvSpPr/>
          <p:nvPr/>
        </p:nvSpPr>
        <p:spPr>
          <a:xfrm>
            <a:off x="2949854" y="4050792"/>
            <a:ext cx="1761134" cy="237744"/>
          </a:xfrm>
          <a:prstGeom prst="roundRect">
            <a:avLst>
              <a:gd name="adj" fmla="val 50000"/>
            </a:avLst>
          </a:prstGeom>
          <a:solidFill>
            <a:srgbClr val="CFFAFE"/>
          </a:solidFill>
          <a:ln/>
        </p:spPr>
      </p:sp>
      <p:sp>
        <p:nvSpPr>
          <p:cNvPr id="26" name="Text 22"/>
          <p:cNvSpPr txBox="1"/>
          <p:nvPr/>
        </p:nvSpPr>
        <p:spPr>
          <a:xfrm>
            <a:off x="2949854" y="4050792"/>
            <a:ext cx="1761134" cy="237744"/>
          </a:xfrm>
          <a:prstGeom prst="rect">
            <a:avLst/>
          </a:prstGeom>
          <a:noFill/>
          <a:ln/>
        </p:spPr>
        <p:txBody>
          <a:bodyPr wrap="square" lIns="0" tIns="0" rIns="0" bIns="0" rtlCol="0" anchor="ctr"/>
          <a:lstStyle/>
          <a:p>
            <a:pPr algn="ctr" indent="0" marL="0">
              <a:buNone/>
            </a:pPr>
            <a:r>
              <a:rPr lang="en-US" sz="1100" b="1" dirty="0">
                <a:solidFill>
                  <a:srgbClr val="0E7490"/>
                </a:solidFill>
                <a:latin typeface="Calibri" pitchFamily="34" charset="0"/>
                <a:ea typeface="Calibri" pitchFamily="34" charset="-122"/>
                <a:cs typeface="Calibri" pitchFamily="34" charset="-120"/>
              </a:rPr>
              <a:t>Graph offline</a:t>
            </a:r>
            <a:endParaRPr lang="en-US" sz="1100" dirty="0"/>
          </a:p>
        </p:txBody>
      </p:sp>
      <p:sp>
        <p:nvSpPr>
          <p:cNvPr id="27" name="Shape 23"/>
          <p:cNvSpPr/>
          <p:nvPr/>
        </p:nvSpPr>
        <p:spPr>
          <a:xfrm>
            <a:off x="2949854" y="4334256"/>
            <a:ext cx="1761134" cy="237744"/>
          </a:xfrm>
          <a:prstGeom prst="roundRect">
            <a:avLst>
              <a:gd name="adj" fmla="val 50000"/>
            </a:avLst>
          </a:prstGeom>
          <a:solidFill>
            <a:srgbClr val="FFFFFF"/>
          </a:solidFill>
          <a:ln w="9525">
            <a:solidFill>
              <a:srgbClr val="9CA3AF"/>
            </a:solidFill>
            <a:prstDash val="dash"/>
          </a:ln>
        </p:spPr>
      </p:sp>
      <p:sp>
        <p:nvSpPr>
          <p:cNvPr id="28" name="Text 24"/>
          <p:cNvSpPr txBox="1"/>
          <p:nvPr/>
        </p:nvSpPr>
        <p:spPr>
          <a:xfrm>
            <a:off x="2949854" y="4334256"/>
            <a:ext cx="1761134" cy="237744"/>
          </a:xfrm>
          <a:prstGeom prst="rect">
            <a:avLst/>
          </a:prstGeom>
          <a:noFill/>
          <a:ln/>
        </p:spPr>
        <p:txBody>
          <a:bodyPr wrap="square" lIns="0" tIns="0" rIns="0" bIns="0" rtlCol="0" anchor="ctr"/>
          <a:lstStyle/>
          <a:p>
            <a:pPr algn="ctr" indent="0" marL="0">
              <a:buNone/>
            </a:pPr>
            <a:r>
              <a:rPr lang="en-US" sz="1100" b="1" dirty="0">
                <a:solidFill>
                  <a:srgbClr val="6B7280"/>
                </a:solidFill>
                <a:latin typeface="Calibri" pitchFamily="34" charset="0"/>
                <a:ea typeface="Calibri" pitchFamily="34" charset="-122"/>
                <a:cs typeface="Calibri" pitchFamily="34" charset="-120"/>
              </a:rPr>
              <a:t>Exploring planned</a:t>
            </a:r>
            <a:endParaRPr lang="en-US" sz="1100" dirty="0"/>
          </a:p>
        </p:txBody>
      </p:sp>
      <p:sp>
        <p:nvSpPr>
          <p:cNvPr id="29" name="Text 25"/>
          <p:cNvSpPr txBox="1"/>
          <p:nvPr/>
        </p:nvSpPr>
        <p:spPr>
          <a:xfrm>
            <a:off x="2812694" y="4864608"/>
            <a:ext cx="2035454" cy="22860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Sherman, Zongzhe, Dion</a:t>
            </a:r>
            <a:endParaRPr lang="en-US" sz="1100" dirty="0"/>
          </a:p>
        </p:txBody>
      </p:sp>
      <p:sp>
        <p:nvSpPr>
          <p:cNvPr id="30" name="Text 26"/>
          <p:cNvSpPr txBox="1"/>
          <p:nvPr/>
        </p:nvSpPr>
        <p:spPr>
          <a:xfrm>
            <a:off x="4848149" y="2788920"/>
            <a:ext cx="228600" cy="457200"/>
          </a:xfrm>
          <a:prstGeom prst="rect">
            <a:avLst/>
          </a:prstGeom>
          <a:noFill/>
          <a:ln/>
        </p:spPr>
        <p:txBody>
          <a:bodyPr wrap="square" lIns="0" tIns="0" rIns="0" bIns="0" rtlCol="0" anchor="ctr"/>
          <a:lstStyle/>
          <a:p>
            <a:pPr algn="ctr" indent="0" marL="0">
              <a:buNone/>
            </a:pPr>
            <a:r>
              <a:rPr lang="en-US" sz="2400" b="1" dirty="0">
                <a:solidFill>
                  <a:srgbClr val="6B7280"/>
                </a:solidFill>
                <a:latin typeface="Calibri" pitchFamily="34" charset="0"/>
                <a:ea typeface="Calibri" pitchFamily="34" charset="-122"/>
                <a:cs typeface="Calibri" pitchFamily="34" charset="-120"/>
              </a:rPr>
              <a:t>›</a:t>
            </a:r>
            <a:endParaRPr lang="en-US" sz="2400" dirty="0"/>
          </a:p>
        </p:txBody>
      </p:sp>
      <p:sp>
        <p:nvSpPr>
          <p:cNvPr id="31" name="Shape 27"/>
          <p:cNvSpPr/>
          <p:nvPr/>
        </p:nvSpPr>
        <p:spPr>
          <a:xfrm>
            <a:off x="5076749" y="1874520"/>
            <a:ext cx="2035454" cy="2926080"/>
          </a:xfrm>
          <a:prstGeom prst="roundRect">
            <a:avLst>
              <a:gd name="adj" fmla="val 4492"/>
            </a:avLst>
          </a:prstGeom>
          <a:solidFill>
            <a:srgbClr val="EEF2F7"/>
          </a:solidFill>
          <a:ln/>
        </p:spPr>
      </p:sp>
      <p:sp>
        <p:nvSpPr>
          <p:cNvPr id="32" name="Shape 28"/>
          <p:cNvSpPr/>
          <p:nvPr/>
        </p:nvSpPr>
        <p:spPr>
          <a:xfrm>
            <a:off x="5241341" y="2057400"/>
            <a:ext cx="457200" cy="457200"/>
          </a:xfrm>
          <a:prstGeom prst="ellipse">
            <a:avLst/>
          </a:prstGeom>
          <a:solidFill>
            <a:srgbClr val="0068B5"/>
          </a:solidFill>
          <a:ln/>
        </p:spPr>
      </p:sp>
      <p:pic>
        <p:nvPicPr>
          <p:cNvPr id="33" name="Image 2" descr="preencoded.png">    </p:cNvPr>
          <p:cNvPicPr>
            <a:picLocks noChangeAspect="1"/>
          </p:cNvPicPr>
          <p:nvPr/>
        </p:nvPicPr>
        <p:blipFill>
          <a:blip r:embed="rId3"/>
          <a:stretch>
            <a:fillRect/>
          </a:stretch>
        </p:blipFill>
        <p:spPr>
          <a:xfrm>
            <a:off x="5341925" y="2157984"/>
            <a:ext cx="256032" cy="256032"/>
          </a:xfrm>
          <a:prstGeom prst="rect">
            <a:avLst/>
          </a:prstGeom>
        </p:spPr>
      </p:pic>
      <p:sp>
        <p:nvSpPr>
          <p:cNvPr id="34" name="Text 29"/>
          <p:cNvSpPr txBox="1"/>
          <p:nvPr/>
        </p:nvSpPr>
        <p:spPr>
          <a:xfrm>
            <a:off x="6472123" y="1984248"/>
            <a:ext cx="502920" cy="548640"/>
          </a:xfrm>
          <a:prstGeom prst="rect">
            <a:avLst/>
          </a:prstGeom>
          <a:noFill/>
          <a:ln/>
        </p:spPr>
        <p:txBody>
          <a:bodyPr wrap="square" lIns="0" tIns="0" rIns="0" bIns="0" rtlCol="0" anchor="ctr"/>
          <a:lstStyle/>
          <a:p>
            <a:pPr algn="r" indent="0" marL="0">
              <a:buNone/>
            </a:pPr>
            <a:r>
              <a:rPr lang="en-US" sz="3000" b="1" dirty="0">
                <a:solidFill>
                  <a:srgbClr val="C5CDD8"/>
                </a:solidFill>
                <a:latin typeface="Calibri" pitchFamily="34" charset="0"/>
                <a:ea typeface="Calibri" pitchFamily="34" charset="-122"/>
                <a:cs typeface="Calibri" pitchFamily="34" charset="-120"/>
              </a:rPr>
              <a:t>3</a:t>
            </a:r>
            <a:endParaRPr lang="en-US" sz="3000" dirty="0"/>
          </a:p>
        </p:txBody>
      </p:sp>
      <p:sp>
        <p:nvSpPr>
          <p:cNvPr id="35" name="Text 30"/>
          <p:cNvSpPr txBox="1"/>
          <p:nvPr/>
        </p:nvSpPr>
        <p:spPr>
          <a:xfrm>
            <a:off x="5241341" y="2606040"/>
            <a:ext cx="1761134" cy="502920"/>
          </a:xfrm>
          <a:prstGeom prst="rect">
            <a:avLst/>
          </a:prstGeom>
          <a:noFill/>
          <a:ln/>
        </p:spPr>
        <p:txBody>
          <a:bodyPr wrap="square" lIns="0" tIns="0" rIns="0" bIns="0" rtlCol="0" anchor="t"/>
          <a:lstStyle/>
          <a:p>
            <a:pPr indent="0" marL="0">
              <a:buNone/>
            </a:pPr>
            <a:r>
              <a:rPr lang="en-US" sz="1500" b="1" dirty="0">
                <a:solidFill>
                  <a:srgbClr val="16213A"/>
                </a:solidFill>
                <a:latin typeface="Calibri" pitchFamily="34" charset="0"/>
                <a:ea typeface="Calibri" pitchFamily="34" charset="-122"/>
                <a:cs typeface="Calibri" pitchFamily="34" charset="-120"/>
              </a:rPr>
              <a:t>Search</a:t>
            </a:r>
            <a:endParaRPr lang="en-US" sz="1500" dirty="0"/>
          </a:p>
        </p:txBody>
      </p:sp>
      <p:sp>
        <p:nvSpPr>
          <p:cNvPr id="36" name="Text 31"/>
          <p:cNvSpPr txBox="1"/>
          <p:nvPr/>
        </p:nvSpPr>
        <p:spPr>
          <a:xfrm>
            <a:off x="5241341" y="3136392"/>
            <a:ext cx="1761134" cy="640080"/>
          </a:xfrm>
          <a:prstGeom prst="rect">
            <a:avLst/>
          </a:prstGeom>
          <a:noFill/>
          <a:ln/>
        </p:spPr>
        <p:txBody>
          <a:bodyPr wrap="square" lIns="0" tIns="0" rIns="0" bIns="0" rtlCol="0" anchor="t"/>
          <a:lstStyle/>
          <a:p>
            <a:pPr indent="0" marL="0">
              <a:buNone/>
            </a:pPr>
            <a:r>
              <a:rPr lang="en-US" sz="1200" dirty="0">
                <a:solidFill>
                  <a:srgbClr val="4B5563"/>
                </a:solidFill>
                <a:latin typeface="Calibri" pitchFamily="34" charset="0"/>
                <a:ea typeface="Calibri" pitchFamily="34" charset="-122"/>
                <a:cs typeface="Calibri" pitchFamily="34" charset="-120"/>
              </a:rPr>
              <a:t>Match objects to the gaze target</a:t>
            </a:r>
            <a:endParaRPr lang="en-US" sz="1200" dirty="0"/>
          </a:p>
        </p:txBody>
      </p:sp>
      <p:sp>
        <p:nvSpPr>
          <p:cNvPr id="37" name="Shape 32"/>
          <p:cNvSpPr/>
          <p:nvPr/>
        </p:nvSpPr>
        <p:spPr>
          <a:xfrm>
            <a:off x="5213909" y="3767328"/>
            <a:ext cx="1761134" cy="237744"/>
          </a:xfrm>
          <a:prstGeom prst="roundRect">
            <a:avLst>
              <a:gd name="adj" fmla="val 50000"/>
            </a:avLst>
          </a:prstGeom>
          <a:solidFill>
            <a:srgbClr val="FEF3C7"/>
          </a:solidFill>
          <a:ln/>
        </p:spPr>
      </p:sp>
      <p:sp>
        <p:nvSpPr>
          <p:cNvPr id="38" name="Text 33"/>
          <p:cNvSpPr txBox="1"/>
          <p:nvPr/>
        </p:nvSpPr>
        <p:spPr>
          <a:xfrm>
            <a:off x="5213909" y="3767328"/>
            <a:ext cx="1761134" cy="237744"/>
          </a:xfrm>
          <a:prstGeom prst="rect">
            <a:avLst/>
          </a:prstGeom>
          <a:noFill/>
          <a:ln/>
        </p:spPr>
        <p:txBody>
          <a:bodyPr wrap="square" lIns="0" tIns="0" rIns="0" bIns="0" rtlCol="0" anchor="ctr"/>
          <a:lstStyle/>
          <a:p>
            <a:pPr algn="ctr" indent="0" marL="0">
              <a:buNone/>
            </a:pPr>
            <a:r>
              <a:rPr lang="en-US" sz="1100" b="1" dirty="0">
                <a:solidFill>
                  <a:srgbClr val="B45309"/>
                </a:solidFill>
                <a:latin typeface="Calibri" pitchFamily="34" charset="0"/>
                <a:ea typeface="Calibri" pitchFamily="34" charset="-122"/>
                <a:cs typeface="Calibri" pitchFamily="34" charset="-120"/>
              </a:rPr>
              <a:t>Sentence search built</a:t>
            </a:r>
            <a:endParaRPr lang="en-US" sz="1100" dirty="0"/>
          </a:p>
        </p:txBody>
      </p:sp>
      <p:sp>
        <p:nvSpPr>
          <p:cNvPr id="39" name="Shape 34"/>
          <p:cNvSpPr/>
          <p:nvPr/>
        </p:nvSpPr>
        <p:spPr>
          <a:xfrm>
            <a:off x="5213909" y="4050792"/>
            <a:ext cx="1761134" cy="237744"/>
          </a:xfrm>
          <a:prstGeom prst="roundRect">
            <a:avLst>
              <a:gd name="adj" fmla="val 50000"/>
            </a:avLst>
          </a:prstGeom>
          <a:solidFill>
            <a:srgbClr val="FFFFFF"/>
          </a:solidFill>
          <a:ln w="9525">
            <a:solidFill>
              <a:srgbClr val="9CA3AF"/>
            </a:solidFill>
            <a:prstDash val="dash"/>
          </a:ln>
        </p:spPr>
      </p:sp>
      <p:sp>
        <p:nvSpPr>
          <p:cNvPr id="40" name="Text 35"/>
          <p:cNvSpPr txBox="1"/>
          <p:nvPr/>
        </p:nvSpPr>
        <p:spPr>
          <a:xfrm>
            <a:off x="5213909" y="4050792"/>
            <a:ext cx="1761134" cy="237744"/>
          </a:xfrm>
          <a:prstGeom prst="rect">
            <a:avLst/>
          </a:prstGeom>
          <a:noFill/>
          <a:ln/>
        </p:spPr>
        <p:txBody>
          <a:bodyPr wrap="square" lIns="0" tIns="0" rIns="0" bIns="0" rtlCol="0" anchor="ctr"/>
          <a:lstStyle/>
          <a:p>
            <a:pPr algn="ctr" indent="0" marL="0">
              <a:buNone/>
            </a:pPr>
            <a:r>
              <a:rPr lang="en-US" sz="1100" b="1" dirty="0">
                <a:solidFill>
                  <a:srgbClr val="6B7280"/>
                </a:solidFill>
                <a:latin typeface="Calibri" pitchFamily="34" charset="0"/>
                <a:ea typeface="Calibri" pitchFamily="34" charset="-122"/>
                <a:cs typeface="Calibri" pitchFamily="34" charset="-120"/>
              </a:rPr>
              <a:t>Gaze match planned</a:t>
            </a:r>
            <a:endParaRPr lang="en-US" sz="1100" dirty="0"/>
          </a:p>
        </p:txBody>
      </p:sp>
      <p:sp>
        <p:nvSpPr>
          <p:cNvPr id="41" name="Text 36"/>
          <p:cNvSpPr txBox="1"/>
          <p:nvPr/>
        </p:nvSpPr>
        <p:spPr>
          <a:xfrm>
            <a:off x="5076749" y="4864608"/>
            <a:ext cx="2035454" cy="22860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Zongzhe, Dion</a:t>
            </a:r>
            <a:endParaRPr lang="en-US" sz="1100" dirty="0"/>
          </a:p>
        </p:txBody>
      </p:sp>
      <p:sp>
        <p:nvSpPr>
          <p:cNvPr id="42" name="Text 37"/>
          <p:cNvSpPr txBox="1"/>
          <p:nvPr/>
        </p:nvSpPr>
        <p:spPr>
          <a:xfrm>
            <a:off x="7112203" y="2788920"/>
            <a:ext cx="228600" cy="457200"/>
          </a:xfrm>
          <a:prstGeom prst="rect">
            <a:avLst/>
          </a:prstGeom>
          <a:noFill/>
          <a:ln/>
        </p:spPr>
        <p:txBody>
          <a:bodyPr wrap="square" lIns="0" tIns="0" rIns="0" bIns="0" rtlCol="0" anchor="ctr"/>
          <a:lstStyle/>
          <a:p>
            <a:pPr algn="ctr" indent="0" marL="0">
              <a:buNone/>
            </a:pPr>
            <a:r>
              <a:rPr lang="en-US" sz="2400" b="1" dirty="0">
                <a:solidFill>
                  <a:srgbClr val="6B7280"/>
                </a:solidFill>
                <a:latin typeface="Calibri" pitchFamily="34" charset="0"/>
                <a:ea typeface="Calibri" pitchFamily="34" charset="-122"/>
                <a:cs typeface="Calibri" pitchFamily="34" charset="-120"/>
              </a:rPr>
              <a:t>›</a:t>
            </a:r>
            <a:endParaRPr lang="en-US" sz="2400" dirty="0"/>
          </a:p>
        </p:txBody>
      </p:sp>
      <p:sp>
        <p:nvSpPr>
          <p:cNvPr id="43" name="Shape 38"/>
          <p:cNvSpPr/>
          <p:nvPr/>
        </p:nvSpPr>
        <p:spPr>
          <a:xfrm>
            <a:off x="7340803" y="1874520"/>
            <a:ext cx="2035454" cy="2926080"/>
          </a:xfrm>
          <a:prstGeom prst="roundRect">
            <a:avLst>
              <a:gd name="adj" fmla="val 4492"/>
            </a:avLst>
          </a:prstGeom>
          <a:solidFill>
            <a:srgbClr val="EEF2F7"/>
          </a:solidFill>
          <a:ln/>
        </p:spPr>
      </p:sp>
      <p:sp>
        <p:nvSpPr>
          <p:cNvPr id="44" name="Shape 39"/>
          <p:cNvSpPr/>
          <p:nvPr/>
        </p:nvSpPr>
        <p:spPr>
          <a:xfrm>
            <a:off x="7505395" y="2057400"/>
            <a:ext cx="457200" cy="457200"/>
          </a:xfrm>
          <a:prstGeom prst="ellipse">
            <a:avLst/>
          </a:prstGeom>
          <a:solidFill>
            <a:srgbClr val="0068B5"/>
          </a:solidFill>
          <a:ln/>
        </p:spPr>
      </p:sp>
      <p:pic>
        <p:nvPicPr>
          <p:cNvPr id="45" name="Image 3" descr="preencoded.png">    </p:cNvPr>
          <p:cNvPicPr>
            <a:picLocks noChangeAspect="1"/>
          </p:cNvPicPr>
          <p:nvPr/>
        </p:nvPicPr>
        <p:blipFill>
          <a:blip r:embed="rId4"/>
          <a:stretch>
            <a:fillRect/>
          </a:stretch>
        </p:blipFill>
        <p:spPr>
          <a:xfrm>
            <a:off x="7605979" y="2157984"/>
            <a:ext cx="256032" cy="256032"/>
          </a:xfrm>
          <a:prstGeom prst="rect">
            <a:avLst/>
          </a:prstGeom>
        </p:spPr>
      </p:pic>
      <p:sp>
        <p:nvSpPr>
          <p:cNvPr id="46" name="Text 40"/>
          <p:cNvSpPr txBox="1"/>
          <p:nvPr/>
        </p:nvSpPr>
        <p:spPr>
          <a:xfrm>
            <a:off x="8736178" y="1984248"/>
            <a:ext cx="502920" cy="548640"/>
          </a:xfrm>
          <a:prstGeom prst="rect">
            <a:avLst/>
          </a:prstGeom>
          <a:noFill/>
          <a:ln/>
        </p:spPr>
        <p:txBody>
          <a:bodyPr wrap="square" lIns="0" tIns="0" rIns="0" bIns="0" rtlCol="0" anchor="ctr"/>
          <a:lstStyle/>
          <a:p>
            <a:pPr algn="r" indent="0" marL="0">
              <a:buNone/>
            </a:pPr>
            <a:r>
              <a:rPr lang="en-US" sz="3000" b="1" dirty="0">
                <a:solidFill>
                  <a:srgbClr val="C5CDD8"/>
                </a:solidFill>
                <a:latin typeface="Calibri" pitchFamily="34" charset="0"/>
                <a:ea typeface="Calibri" pitchFamily="34" charset="-122"/>
                <a:cs typeface="Calibri" pitchFamily="34" charset="-120"/>
              </a:rPr>
              <a:t>4</a:t>
            </a:r>
            <a:endParaRPr lang="en-US" sz="3000" dirty="0"/>
          </a:p>
        </p:txBody>
      </p:sp>
      <p:sp>
        <p:nvSpPr>
          <p:cNvPr id="47" name="Text 41"/>
          <p:cNvSpPr txBox="1"/>
          <p:nvPr/>
        </p:nvSpPr>
        <p:spPr>
          <a:xfrm>
            <a:off x="7505395" y="2606040"/>
            <a:ext cx="1761134" cy="502920"/>
          </a:xfrm>
          <a:prstGeom prst="rect">
            <a:avLst/>
          </a:prstGeom>
          <a:noFill/>
          <a:ln/>
        </p:spPr>
        <p:txBody>
          <a:bodyPr wrap="square" lIns="0" tIns="0" rIns="0" bIns="0" rtlCol="0" anchor="t"/>
          <a:lstStyle/>
          <a:p>
            <a:pPr indent="0" marL="0">
              <a:buNone/>
            </a:pPr>
            <a:r>
              <a:rPr lang="en-US" sz="1500" b="1" dirty="0">
                <a:solidFill>
                  <a:srgbClr val="16213A"/>
                </a:solidFill>
                <a:latin typeface="Calibri" pitchFamily="34" charset="0"/>
                <a:ea typeface="Calibri" pitchFamily="34" charset="-122"/>
                <a:cs typeface="Calibri" pitchFamily="34" charset="-120"/>
              </a:rPr>
              <a:t>Approach and confirm</a:t>
            </a:r>
            <a:endParaRPr lang="en-US" sz="1500" dirty="0"/>
          </a:p>
        </p:txBody>
      </p:sp>
      <p:sp>
        <p:nvSpPr>
          <p:cNvPr id="48" name="Text 42"/>
          <p:cNvSpPr txBox="1"/>
          <p:nvPr/>
        </p:nvSpPr>
        <p:spPr>
          <a:xfrm>
            <a:off x="7505395" y="3136392"/>
            <a:ext cx="1761134" cy="640080"/>
          </a:xfrm>
          <a:prstGeom prst="rect">
            <a:avLst/>
          </a:prstGeom>
          <a:noFill/>
          <a:ln/>
        </p:spPr>
        <p:txBody>
          <a:bodyPr wrap="square" lIns="0" tIns="0" rIns="0" bIns="0" rtlCol="0" anchor="t"/>
          <a:lstStyle/>
          <a:p>
            <a:pPr indent="0" marL="0">
              <a:buNone/>
            </a:pPr>
            <a:r>
              <a:rPr lang="en-US" sz="1200" dirty="0">
                <a:solidFill>
                  <a:srgbClr val="4B5563"/>
                </a:solidFill>
                <a:latin typeface="Calibri" pitchFamily="34" charset="0"/>
                <a:ea typeface="Calibri" pitchFamily="34" charset="-122"/>
                <a:cs typeface="Calibri" pitchFamily="34" charset="-120"/>
              </a:rPr>
              <a:t>Drive close, wrist camera confirms</a:t>
            </a:r>
            <a:endParaRPr lang="en-US" sz="1200" dirty="0"/>
          </a:p>
        </p:txBody>
      </p:sp>
      <p:sp>
        <p:nvSpPr>
          <p:cNvPr id="49" name="Shape 43"/>
          <p:cNvSpPr/>
          <p:nvPr/>
        </p:nvSpPr>
        <p:spPr>
          <a:xfrm>
            <a:off x="7477963" y="3767328"/>
            <a:ext cx="1761134" cy="237744"/>
          </a:xfrm>
          <a:prstGeom prst="roundRect">
            <a:avLst>
              <a:gd name="adj" fmla="val 50000"/>
            </a:avLst>
          </a:prstGeom>
          <a:solidFill>
            <a:srgbClr val="DCFCE7"/>
          </a:solidFill>
          <a:ln/>
        </p:spPr>
      </p:sp>
      <p:sp>
        <p:nvSpPr>
          <p:cNvPr id="50" name="Text 44"/>
          <p:cNvSpPr txBox="1"/>
          <p:nvPr/>
        </p:nvSpPr>
        <p:spPr>
          <a:xfrm>
            <a:off x="7477963" y="3767328"/>
            <a:ext cx="1761134" cy="237744"/>
          </a:xfrm>
          <a:prstGeom prst="rect">
            <a:avLst/>
          </a:prstGeom>
          <a:noFill/>
          <a:ln/>
        </p:spPr>
        <p:txBody>
          <a:bodyPr wrap="square" lIns="0" tIns="0" rIns="0" bIns="0" rtlCol="0" anchor="ctr"/>
          <a:lstStyle/>
          <a:p>
            <a:pPr algn="ctr" indent="0" marL="0">
              <a:buNone/>
            </a:pPr>
            <a:r>
              <a:rPr lang="en-US" sz="1100" b="1" dirty="0">
                <a:solidFill>
                  <a:srgbClr val="15803D"/>
                </a:solidFill>
                <a:latin typeface="Calibri" pitchFamily="34" charset="0"/>
                <a:ea typeface="Calibri" pitchFamily="34" charset="-122"/>
                <a:cs typeface="Calibri" pitchFamily="34" charset="-120"/>
              </a:rPr>
              <a:t>Confirm on replay</a:t>
            </a:r>
            <a:endParaRPr lang="en-US" sz="1100" dirty="0"/>
          </a:p>
        </p:txBody>
      </p:sp>
      <p:sp>
        <p:nvSpPr>
          <p:cNvPr id="51" name="Shape 45"/>
          <p:cNvSpPr/>
          <p:nvPr/>
        </p:nvSpPr>
        <p:spPr>
          <a:xfrm>
            <a:off x="7477963" y="4050792"/>
            <a:ext cx="1761134" cy="237744"/>
          </a:xfrm>
          <a:prstGeom prst="roundRect">
            <a:avLst>
              <a:gd name="adj" fmla="val 50000"/>
            </a:avLst>
          </a:prstGeom>
          <a:solidFill>
            <a:srgbClr val="FFFFFF"/>
          </a:solidFill>
          <a:ln w="9525">
            <a:solidFill>
              <a:srgbClr val="9CA3AF"/>
            </a:solidFill>
            <a:prstDash val="dash"/>
          </a:ln>
        </p:spPr>
      </p:sp>
      <p:sp>
        <p:nvSpPr>
          <p:cNvPr id="52" name="Text 46"/>
          <p:cNvSpPr txBox="1"/>
          <p:nvPr/>
        </p:nvSpPr>
        <p:spPr>
          <a:xfrm>
            <a:off x="7477963" y="4050792"/>
            <a:ext cx="1761134" cy="237744"/>
          </a:xfrm>
          <a:prstGeom prst="rect">
            <a:avLst/>
          </a:prstGeom>
          <a:noFill/>
          <a:ln/>
        </p:spPr>
        <p:txBody>
          <a:bodyPr wrap="square" lIns="0" tIns="0" rIns="0" bIns="0" rtlCol="0" anchor="ctr"/>
          <a:lstStyle/>
          <a:p>
            <a:pPr algn="ctr" indent="0" marL="0">
              <a:buNone/>
            </a:pPr>
            <a:r>
              <a:rPr lang="en-US" sz="1100" b="1" dirty="0">
                <a:solidFill>
                  <a:srgbClr val="6B7280"/>
                </a:solidFill>
                <a:latin typeface="Calibri" pitchFamily="34" charset="0"/>
                <a:ea typeface="Calibri" pitchFamily="34" charset="-122"/>
                <a:cs typeface="Calibri" pitchFamily="34" charset="-120"/>
              </a:rPr>
              <a:t>Driving planned</a:t>
            </a:r>
            <a:endParaRPr lang="en-US" sz="1100" dirty="0"/>
          </a:p>
        </p:txBody>
      </p:sp>
      <p:sp>
        <p:nvSpPr>
          <p:cNvPr id="53" name="Text 47"/>
          <p:cNvSpPr txBox="1"/>
          <p:nvPr/>
        </p:nvSpPr>
        <p:spPr>
          <a:xfrm>
            <a:off x="7340803" y="4864608"/>
            <a:ext cx="2035454" cy="22860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Dion, Sherman</a:t>
            </a:r>
            <a:endParaRPr lang="en-US" sz="1100" dirty="0"/>
          </a:p>
        </p:txBody>
      </p:sp>
      <p:sp>
        <p:nvSpPr>
          <p:cNvPr id="54" name="Text 48"/>
          <p:cNvSpPr txBox="1"/>
          <p:nvPr/>
        </p:nvSpPr>
        <p:spPr>
          <a:xfrm>
            <a:off x="9376258" y="2788920"/>
            <a:ext cx="228600" cy="457200"/>
          </a:xfrm>
          <a:prstGeom prst="rect">
            <a:avLst/>
          </a:prstGeom>
          <a:noFill/>
          <a:ln/>
        </p:spPr>
        <p:txBody>
          <a:bodyPr wrap="square" lIns="0" tIns="0" rIns="0" bIns="0" rtlCol="0" anchor="ctr"/>
          <a:lstStyle/>
          <a:p>
            <a:pPr algn="ctr" indent="0" marL="0">
              <a:buNone/>
            </a:pPr>
            <a:r>
              <a:rPr lang="en-US" sz="2400" b="1" dirty="0">
                <a:solidFill>
                  <a:srgbClr val="6B7280"/>
                </a:solidFill>
                <a:latin typeface="Calibri" pitchFamily="34" charset="0"/>
                <a:ea typeface="Calibri" pitchFamily="34" charset="-122"/>
                <a:cs typeface="Calibri" pitchFamily="34" charset="-120"/>
              </a:rPr>
              <a:t>›</a:t>
            </a:r>
            <a:endParaRPr lang="en-US" sz="2400" dirty="0"/>
          </a:p>
        </p:txBody>
      </p:sp>
      <p:sp>
        <p:nvSpPr>
          <p:cNvPr id="55" name="Shape 49"/>
          <p:cNvSpPr/>
          <p:nvPr/>
        </p:nvSpPr>
        <p:spPr>
          <a:xfrm>
            <a:off x="9604858" y="1874520"/>
            <a:ext cx="2035454" cy="2926080"/>
          </a:xfrm>
          <a:prstGeom prst="roundRect">
            <a:avLst>
              <a:gd name="adj" fmla="val 4492"/>
            </a:avLst>
          </a:prstGeom>
          <a:solidFill>
            <a:srgbClr val="EEF2F7"/>
          </a:solidFill>
          <a:ln/>
        </p:spPr>
      </p:sp>
      <p:sp>
        <p:nvSpPr>
          <p:cNvPr id="56" name="Shape 50"/>
          <p:cNvSpPr/>
          <p:nvPr/>
        </p:nvSpPr>
        <p:spPr>
          <a:xfrm>
            <a:off x="9769450" y="2057400"/>
            <a:ext cx="457200" cy="457200"/>
          </a:xfrm>
          <a:prstGeom prst="ellipse">
            <a:avLst/>
          </a:prstGeom>
          <a:solidFill>
            <a:srgbClr val="0068B5"/>
          </a:solidFill>
          <a:ln/>
        </p:spPr>
      </p:sp>
      <p:pic>
        <p:nvPicPr>
          <p:cNvPr id="57" name="Image 4" descr="preencoded.png">    </p:cNvPr>
          <p:cNvPicPr>
            <a:picLocks noChangeAspect="1"/>
          </p:cNvPicPr>
          <p:nvPr/>
        </p:nvPicPr>
        <p:blipFill>
          <a:blip r:embed="rId5"/>
          <a:stretch>
            <a:fillRect/>
          </a:stretch>
        </p:blipFill>
        <p:spPr>
          <a:xfrm>
            <a:off x="9870034" y="2157984"/>
            <a:ext cx="256032" cy="256032"/>
          </a:xfrm>
          <a:prstGeom prst="rect">
            <a:avLst/>
          </a:prstGeom>
        </p:spPr>
      </p:pic>
      <p:sp>
        <p:nvSpPr>
          <p:cNvPr id="58" name="Text 51"/>
          <p:cNvSpPr txBox="1"/>
          <p:nvPr/>
        </p:nvSpPr>
        <p:spPr>
          <a:xfrm>
            <a:off x="11000232" y="1984248"/>
            <a:ext cx="502920" cy="548640"/>
          </a:xfrm>
          <a:prstGeom prst="rect">
            <a:avLst/>
          </a:prstGeom>
          <a:noFill/>
          <a:ln/>
        </p:spPr>
        <p:txBody>
          <a:bodyPr wrap="square" lIns="0" tIns="0" rIns="0" bIns="0" rtlCol="0" anchor="ctr"/>
          <a:lstStyle/>
          <a:p>
            <a:pPr algn="r" indent="0" marL="0">
              <a:buNone/>
            </a:pPr>
            <a:r>
              <a:rPr lang="en-US" sz="3000" b="1" dirty="0">
                <a:solidFill>
                  <a:srgbClr val="C5CDD8"/>
                </a:solidFill>
                <a:latin typeface="Calibri" pitchFamily="34" charset="0"/>
                <a:ea typeface="Calibri" pitchFamily="34" charset="-122"/>
                <a:cs typeface="Calibri" pitchFamily="34" charset="-120"/>
              </a:rPr>
              <a:t>5</a:t>
            </a:r>
            <a:endParaRPr lang="en-US" sz="3000" dirty="0"/>
          </a:p>
        </p:txBody>
      </p:sp>
      <p:sp>
        <p:nvSpPr>
          <p:cNvPr id="59" name="Text 52"/>
          <p:cNvSpPr txBox="1"/>
          <p:nvPr/>
        </p:nvSpPr>
        <p:spPr>
          <a:xfrm>
            <a:off x="9769450" y="2606040"/>
            <a:ext cx="1761134" cy="502920"/>
          </a:xfrm>
          <a:prstGeom prst="rect">
            <a:avLst/>
          </a:prstGeom>
          <a:noFill/>
          <a:ln/>
        </p:spPr>
        <p:txBody>
          <a:bodyPr wrap="square" lIns="0" tIns="0" rIns="0" bIns="0" rtlCol="0" anchor="t"/>
          <a:lstStyle/>
          <a:p>
            <a:pPr indent="0" marL="0">
              <a:buNone/>
            </a:pPr>
            <a:r>
              <a:rPr lang="en-US" sz="1500" b="1" dirty="0">
                <a:solidFill>
                  <a:srgbClr val="16213A"/>
                </a:solidFill>
                <a:latin typeface="Calibri" pitchFamily="34" charset="0"/>
                <a:ea typeface="Calibri" pitchFamily="34" charset="-122"/>
                <a:cs typeface="Calibri" pitchFamily="34" charset="-120"/>
              </a:rPr>
              <a:t>Grasp</a:t>
            </a:r>
            <a:endParaRPr lang="en-US" sz="1500" dirty="0"/>
          </a:p>
        </p:txBody>
      </p:sp>
      <p:sp>
        <p:nvSpPr>
          <p:cNvPr id="60" name="Text 53"/>
          <p:cNvSpPr txBox="1"/>
          <p:nvPr/>
        </p:nvSpPr>
        <p:spPr>
          <a:xfrm>
            <a:off x="9769450" y="3136392"/>
            <a:ext cx="1761134" cy="640080"/>
          </a:xfrm>
          <a:prstGeom prst="rect">
            <a:avLst/>
          </a:prstGeom>
          <a:noFill/>
          <a:ln/>
        </p:spPr>
        <p:txBody>
          <a:bodyPr wrap="square" lIns="0" tIns="0" rIns="0" bIns="0" rtlCol="0" anchor="t"/>
          <a:lstStyle/>
          <a:p>
            <a:pPr indent="0" marL="0">
              <a:buNone/>
            </a:pPr>
            <a:r>
              <a:rPr lang="en-US" sz="1200" dirty="0">
                <a:solidFill>
                  <a:srgbClr val="4B5563"/>
                </a:solidFill>
                <a:latin typeface="Calibri" pitchFamily="34" charset="0"/>
                <a:ea typeface="Calibri" pitchFamily="34" charset="-122"/>
                <a:cs typeface="Calibri" pitchFamily="34" charset="-120"/>
              </a:rPr>
              <a:t>Choose, plan and execute the grasp</a:t>
            </a:r>
            <a:endParaRPr lang="en-US" sz="1200" dirty="0"/>
          </a:p>
        </p:txBody>
      </p:sp>
      <p:sp>
        <p:nvSpPr>
          <p:cNvPr id="61" name="Shape 54"/>
          <p:cNvSpPr/>
          <p:nvPr/>
        </p:nvSpPr>
        <p:spPr>
          <a:xfrm>
            <a:off x="9742018" y="3767328"/>
            <a:ext cx="1761134" cy="237744"/>
          </a:xfrm>
          <a:prstGeom prst="roundRect">
            <a:avLst>
              <a:gd name="adj" fmla="val 50000"/>
            </a:avLst>
          </a:prstGeom>
          <a:solidFill>
            <a:srgbClr val="DCFCE7"/>
          </a:solidFill>
          <a:ln/>
        </p:spPr>
      </p:sp>
      <p:sp>
        <p:nvSpPr>
          <p:cNvPr id="62" name="Text 55"/>
          <p:cNvSpPr txBox="1"/>
          <p:nvPr/>
        </p:nvSpPr>
        <p:spPr>
          <a:xfrm>
            <a:off x="9742018" y="3767328"/>
            <a:ext cx="1761134" cy="237744"/>
          </a:xfrm>
          <a:prstGeom prst="rect">
            <a:avLst/>
          </a:prstGeom>
          <a:noFill/>
          <a:ln/>
        </p:spPr>
        <p:txBody>
          <a:bodyPr wrap="square" lIns="0" tIns="0" rIns="0" bIns="0" rtlCol="0" anchor="ctr"/>
          <a:lstStyle/>
          <a:p>
            <a:pPr algn="ctr" indent="0" marL="0">
              <a:buNone/>
            </a:pPr>
            <a:r>
              <a:rPr lang="en-US" sz="1100" b="1" dirty="0">
                <a:solidFill>
                  <a:srgbClr val="15803D"/>
                </a:solidFill>
                <a:latin typeface="Calibri" pitchFamily="34" charset="0"/>
                <a:ea typeface="Calibri" pitchFamily="34" charset="-122"/>
                <a:cs typeface="Calibri" pitchFamily="34" charset="-120"/>
              </a:rPr>
              <a:t>Tested on real arm</a:t>
            </a:r>
            <a:endParaRPr lang="en-US" sz="1100" dirty="0"/>
          </a:p>
        </p:txBody>
      </p:sp>
      <p:sp>
        <p:nvSpPr>
          <p:cNvPr id="63" name="Text 56"/>
          <p:cNvSpPr txBox="1"/>
          <p:nvPr/>
        </p:nvSpPr>
        <p:spPr>
          <a:xfrm>
            <a:off x="9604858" y="4864608"/>
            <a:ext cx="2035454" cy="22860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Dion</a:t>
            </a:r>
            <a:endParaRPr lang="en-US" sz="1100" dirty="0"/>
          </a:p>
        </p:txBody>
      </p:sp>
      <p:sp>
        <p:nvSpPr>
          <p:cNvPr id="64" name="Shape 57"/>
          <p:cNvSpPr/>
          <p:nvPr/>
        </p:nvSpPr>
        <p:spPr>
          <a:xfrm>
            <a:off x="548640" y="5212080"/>
            <a:ext cx="2569464" cy="685800"/>
          </a:xfrm>
          <a:prstGeom prst="roundRect">
            <a:avLst>
              <a:gd name="adj" fmla="val 13333"/>
            </a:avLst>
          </a:prstGeom>
          <a:solidFill>
            <a:srgbClr val="EEF2F7"/>
          </a:solidFill>
          <a:ln/>
        </p:spPr>
      </p:sp>
      <p:sp>
        <p:nvSpPr>
          <p:cNvPr id="65" name="Shape 58"/>
          <p:cNvSpPr/>
          <p:nvPr/>
        </p:nvSpPr>
        <p:spPr>
          <a:xfrm>
            <a:off x="713232" y="5349240"/>
            <a:ext cx="411480" cy="411480"/>
          </a:xfrm>
          <a:prstGeom prst="ellipse">
            <a:avLst/>
          </a:prstGeom>
          <a:solidFill>
            <a:srgbClr val="0068B5"/>
          </a:solidFill>
          <a:ln/>
        </p:spPr>
      </p:sp>
      <p:pic>
        <p:nvPicPr>
          <p:cNvPr id="66" name="Image 5" descr="preencoded.png">    </p:cNvPr>
          <p:cNvPicPr>
            <a:picLocks noChangeAspect="1"/>
          </p:cNvPicPr>
          <p:nvPr/>
        </p:nvPicPr>
        <p:blipFill>
          <a:blip r:embed="rId6"/>
          <a:stretch>
            <a:fillRect/>
          </a:stretch>
        </p:blipFill>
        <p:spPr>
          <a:xfrm>
            <a:off x="803758" y="5439766"/>
            <a:ext cx="230429" cy="230429"/>
          </a:xfrm>
          <a:prstGeom prst="rect">
            <a:avLst/>
          </a:prstGeom>
        </p:spPr>
      </p:pic>
      <p:sp>
        <p:nvSpPr>
          <p:cNvPr id="67" name="Text 59"/>
          <p:cNvSpPr txBox="1"/>
          <p:nvPr/>
        </p:nvSpPr>
        <p:spPr>
          <a:xfrm>
            <a:off x="1261872" y="5212080"/>
            <a:ext cx="1792224" cy="685800"/>
          </a:xfrm>
          <a:prstGeom prst="rect">
            <a:avLst/>
          </a:prstGeom>
          <a:noFill/>
          <a:ln/>
        </p:spPr>
        <p:txBody>
          <a:bodyPr wrap="square" lIns="0" tIns="0" rIns="0" bIns="0" rtlCol="0" anchor="ctr"/>
          <a:lstStyle/>
          <a:p>
            <a:pPr indent="0" marL="0">
              <a:buNone/>
            </a:pPr>
            <a:r>
              <a:rPr lang="en-US" sz="1300" b="1" dirty="0">
                <a:solidFill>
                  <a:srgbClr val="16213A"/>
                </a:solidFill>
                <a:latin typeface="Calibri" pitchFamily="34" charset="0"/>
                <a:ea typeface="Calibri" pitchFamily="34" charset="-122"/>
                <a:cs typeface="Calibri" pitchFamily="34" charset="-120"/>
              </a:rPr>
              <a:t>Exploration is the core</a:t>
            </a:r>
            <a:endParaRPr lang="en-US" sz="1300" dirty="0"/>
          </a:p>
        </p:txBody>
      </p:sp>
      <p:sp>
        <p:nvSpPr>
          <p:cNvPr id="68" name="Shape 60"/>
          <p:cNvSpPr/>
          <p:nvPr/>
        </p:nvSpPr>
        <p:spPr>
          <a:xfrm>
            <a:off x="3300984" y="5212080"/>
            <a:ext cx="2569464" cy="685800"/>
          </a:xfrm>
          <a:prstGeom prst="roundRect">
            <a:avLst>
              <a:gd name="adj" fmla="val 13333"/>
            </a:avLst>
          </a:prstGeom>
          <a:solidFill>
            <a:srgbClr val="EEF2F7"/>
          </a:solidFill>
          <a:ln/>
        </p:spPr>
      </p:sp>
      <p:sp>
        <p:nvSpPr>
          <p:cNvPr id="69" name="Shape 61"/>
          <p:cNvSpPr/>
          <p:nvPr/>
        </p:nvSpPr>
        <p:spPr>
          <a:xfrm>
            <a:off x="3465576" y="5349240"/>
            <a:ext cx="411480" cy="411480"/>
          </a:xfrm>
          <a:prstGeom prst="ellipse">
            <a:avLst/>
          </a:prstGeom>
          <a:solidFill>
            <a:srgbClr val="0068B5"/>
          </a:solidFill>
          <a:ln/>
        </p:spPr>
      </p:sp>
      <p:pic>
        <p:nvPicPr>
          <p:cNvPr id="70" name="Image 6" descr="preencoded.png">    </p:cNvPr>
          <p:cNvPicPr>
            <a:picLocks noChangeAspect="1"/>
          </p:cNvPicPr>
          <p:nvPr/>
        </p:nvPicPr>
        <p:blipFill>
          <a:blip r:embed="rId7"/>
          <a:stretch>
            <a:fillRect/>
          </a:stretch>
        </p:blipFill>
        <p:spPr>
          <a:xfrm>
            <a:off x="3556102" y="5439766"/>
            <a:ext cx="230429" cy="230429"/>
          </a:xfrm>
          <a:prstGeom prst="rect">
            <a:avLst/>
          </a:prstGeom>
        </p:spPr>
      </p:pic>
      <p:sp>
        <p:nvSpPr>
          <p:cNvPr id="71" name="Text 62"/>
          <p:cNvSpPr txBox="1"/>
          <p:nvPr/>
        </p:nvSpPr>
        <p:spPr>
          <a:xfrm>
            <a:off x="4014216" y="5212080"/>
            <a:ext cx="1792224" cy="685800"/>
          </a:xfrm>
          <a:prstGeom prst="rect">
            <a:avLst/>
          </a:prstGeom>
          <a:noFill/>
          <a:ln/>
        </p:spPr>
        <p:txBody>
          <a:bodyPr wrap="square" lIns="0" tIns="0" rIns="0" bIns="0" rtlCol="0" anchor="ctr"/>
          <a:lstStyle/>
          <a:p>
            <a:pPr indent="0" marL="0">
              <a:buNone/>
            </a:pPr>
            <a:r>
              <a:rPr lang="en-US" sz="1300" b="1" dirty="0">
                <a:solidFill>
                  <a:srgbClr val="16213A"/>
                </a:solidFill>
                <a:latin typeface="Calibri" pitchFamily="34" charset="0"/>
                <a:ea typeface="Calibri" pitchFamily="34" charset="-122"/>
                <a:cs typeface="Calibri" pitchFamily="34" charset="-120"/>
              </a:rPr>
              <a:t>M9 cut first if late</a:t>
            </a:r>
            <a:endParaRPr lang="en-US" sz="1300" dirty="0"/>
          </a:p>
        </p:txBody>
      </p:sp>
      <p:sp>
        <p:nvSpPr>
          <p:cNvPr id="72" name="Shape 63"/>
          <p:cNvSpPr/>
          <p:nvPr/>
        </p:nvSpPr>
        <p:spPr>
          <a:xfrm>
            <a:off x="6053328" y="5212080"/>
            <a:ext cx="2569464" cy="685800"/>
          </a:xfrm>
          <a:prstGeom prst="roundRect">
            <a:avLst>
              <a:gd name="adj" fmla="val 13333"/>
            </a:avLst>
          </a:prstGeom>
          <a:solidFill>
            <a:srgbClr val="EEF2F7"/>
          </a:solidFill>
          <a:ln/>
        </p:spPr>
      </p:sp>
      <p:sp>
        <p:nvSpPr>
          <p:cNvPr id="73" name="Shape 64"/>
          <p:cNvSpPr/>
          <p:nvPr/>
        </p:nvSpPr>
        <p:spPr>
          <a:xfrm>
            <a:off x="6217920" y="5349240"/>
            <a:ext cx="411480" cy="411480"/>
          </a:xfrm>
          <a:prstGeom prst="ellipse">
            <a:avLst/>
          </a:prstGeom>
          <a:solidFill>
            <a:srgbClr val="0068B5"/>
          </a:solidFill>
          <a:ln/>
        </p:spPr>
      </p:sp>
      <p:pic>
        <p:nvPicPr>
          <p:cNvPr id="74" name="Image 7" descr="preencoded.png">    </p:cNvPr>
          <p:cNvPicPr>
            <a:picLocks noChangeAspect="1"/>
          </p:cNvPicPr>
          <p:nvPr/>
        </p:nvPicPr>
        <p:blipFill>
          <a:blip r:embed="rId8"/>
          <a:stretch>
            <a:fillRect/>
          </a:stretch>
        </p:blipFill>
        <p:spPr>
          <a:xfrm>
            <a:off x="6308446" y="5439766"/>
            <a:ext cx="230429" cy="230429"/>
          </a:xfrm>
          <a:prstGeom prst="rect">
            <a:avLst/>
          </a:prstGeom>
        </p:spPr>
      </p:pic>
      <p:sp>
        <p:nvSpPr>
          <p:cNvPr id="75" name="Text 65"/>
          <p:cNvSpPr txBox="1"/>
          <p:nvPr/>
        </p:nvSpPr>
        <p:spPr>
          <a:xfrm>
            <a:off x="6766560" y="5212080"/>
            <a:ext cx="1792224" cy="685800"/>
          </a:xfrm>
          <a:prstGeom prst="rect">
            <a:avLst/>
          </a:prstGeom>
          <a:noFill/>
          <a:ln/>
        </p:spPr>
        <p:txBody>
          <a:bodyPr wrap="square" lIns="0" tIns="0" rIns="0" bIns="0" rtlCol="0" anchor="ctr"/>
          <a:lstStyle/>
          <a:p>
            <a:pPr indent="0" marL="0">
              <a:buNone/>
            </a:pPr>
            <a:r>
              <a:rPr lang="en-US" sz="1300" b="1" dirty="0">
                <a:solidFill>
                  <a:srgbClr val="16213A"/>
                </a:solidFill>
                <a:latin typeface="Calibri" pitchFamily="34" charset="0"/>
                <a:ea typeface="Calibri" pitchFamily="34" charset="-122"/>
                <a:cs typeface="Calibri" pitchFamily="34" charset="-120"/>
              </a:rPr>
              <a:t>Not in scope: bringing it back</a:t>
            </a:r>
            <a:endParaRPr lang="en-US" sz="1300" dirty="0"/>
          </a:p>
        </p:txBody>
      </p:sp>
      <p:sp>
        <p:nvSpPr>
          <p:cNvPr id="76" name="Shape 66"/>
          <p:cNvSpPr/>
          <p:nvPr/>
        </p:nvSpPr>
        <p:spPr>
          <a:xfrm>
            <a:off x="8805672" y="5212080"/>
            <a:ext cx="2834640" cy="685800"/>
          </a:xfrm>
          <a:prstGeom prst="roundRect">
            <a:avLst>
              <a:gd name="adj" fmla="val 13333"/>
            </a:avLst>
          </a:prstGeom>
          <a:solidFill>
            <a:srgbClr val="16213A"/>
          </a:solidFill>
          <a:ln/>
        </p:spPr>
      </p:sp>
      <p:sp>
        <p:nvSpPr>
          <p:cNvPr id="77" name="Text 67"/>
          <p:cNvSpPr txBox="1"/>
          <p:nvPr/>
        </p:nvSpPr>
        <p:spPr>
          <a:xfrm>
            <a:off x="8988552" y="5212080"/>
            <a:ext cx="2560320" cy="6858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March 2027  </a:t>
            </a:r>
            <a:pPr indent="0" marL="0">
              <a:buNone/>
            </a:pPr>
            <a:r>
              <a:rPr lang="en-US" sz="1200" dirty="0">
                <a:solidFill>
                  <a:srgbClr val="CBD5E1"/>
                </a:solidFill>
                <a:latin typeface="Calibri" pitchFamily="34" charset="0"/>
                <a:ea typeface="Calibri" pitchFamily="34" charset="-122"/>
                <a:cs typeface="Calibri" pitchFamily="34" charset="-120"/>
              </a:rPr>
              <a:t>final demonstration (M10)</a:t>
            </a:r>
            <a:endParaRPr lang="en-US" sz="1600" dirty="0"/>
          </a:p>
        </p:txBody>
      </p:sp>
      <p:sp>
        <p:nvSpPr>
          <p:cNvPr id="78" name="Shape 68"/>
          <p:cNvSpPr/>
          <p:nvPr/>
        </p:nvSpPr>
        <p:spPr>
          <a:xfrm>
            <a:off x="594360" y="6400800"/>
            <a:ext cx="1295019" cy="13716"/>
          </a:xfrm>
          <a:prstGeom prst="rect">
            <a:avLst/>
          </a:prstGeom>
          <a:solidFill>
            <a:srgbClr val="D7DEE8"/>
          </a:solidFill>
          <a:ln/>
        </p:spPr>
      </p:sp>
      <p:sp>
        <p:nvSpPr>
          <p:cNvPr id="79" name="Text 69"/>
          <p:cNvSpPr txBox="1"/>
          <p:nvPr/>
        </p:nvSpPr>
        <p:spPr>
          <a:xfrm>
            <a:off x="548640"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Problem</a:t>
            </a:r>
            <a:endParaRPr lang="en-US" sz="1100" dirty="0"/>
          </a:p>
        </p:txBody>
      </p:sp>
      <p:sp>
        <p:nvSpPr>
          <p:cNvPr id="80" name="Shape 70"/>
          <p:cNvSpPr/>
          <p:nvPr/>
        </p:nvSpPr>
        <p:spPr>
          <a:xfrm>
            <a:off x="1980819" y="6400800"/>
            <a:ext cx="1295019" cy="36576"/>
          </a:xfrm>
          <a:prstGeom prst="rect">
            <a:avLst/>
          </a:prstGeom>
          <a:solidFill>
            <a:srgbClr val="0068B5"/>
          </a:solidFill>
          <a:ln/>
        </p:spPr>
      </p:sp>
      <p:sp>
        <p:nvSpPr>
          <p:cNvPr id="81" name="Text 71"/>
          <p:cNvSpPr txBox="1"/>
          <p:nvPr/>
        </p:nvSpPr>
        <p:spPr>
          <a:xfrm>
            <a:off x="1935099" y="6473952"/>
            <a:ext cx="1386459" cy="201168"/>
          </a:xfrm>
          <a:prstGeom prst="rect">
            <a:avLst/>
          </a:prstGeom>
          <a:noFill/>
          <a:ln/>
        </p:spPr>
        <p:txBody>
          <a:bodyPr wrap="square" lIns="0" tIns="0" rIns="0" bIns="0" rtlCol="0" anchor="ctr"/>
          <a:lstStyle/>
          <a:p>
            <a:pPr algn="ctr" indent="0" marL="0">
              <a:buNone/>
            </a:pPr>
            <a:r>
              <a:rPr lang="en-US" sz="1100" b="1" dirty="0">
                <a:solidFill>
                  <a:srgbClr val="16213A"/>
                </a:solidFill>
                <a:latin typeface="Calibri" pitchFamily="34" charset="0"/>
                <a:ea typeface="Calibri" pitchFamily="34" charset="-122"/>
                <a:cs typeface="Calibri" pitchFamily="34" charset="-120"/>
              </a:rPr>
              <a:t>System</a:t>
            </a:r>
            <a:endParaRPr lang="en-US" sz="1100" dirty="0"/>
          </a:p>
        </p:txBody>
      </p:sp>
      <p:sp>
        <p:nvSpPr>
          <p:cNvPr id="82" name="Shape 72"/>
          <p:cNvSpPr/>
          <p:nvPr/>
        </p:nvSpPr>
        <p:spPr>
          <a:xfrm>
            <a:off x="3367278" y="6400800"/>
            <a:ext cx="1295019" cy="13716"/>
          </a:xfrm>
          <a:prstGeom prst="rect">
            <a:avLst/>
          </a:prstGeom>
          <a:solidFill>
            <a:srgbClr val="D7DEE8"/>
          </a:solidFill>
          <a:ln/>
        </p:spPr>
      </p:sp>
      <p:sp>
        <p:nvSpPr>
          <p:cNvPr id="83" name="Text 73"/>
          <p:cNvSpPr txBox="1"/>
          <p:nvPr/>
        </p:nvSpPr>
        <p:spPr>
          <a:xfrm>
            <a:off x="3321558"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Intent</a:t>
            </a:r>
            <a:endParaRPr lang="en-US" sz="1100" dirty="0"/>
          </a:p>
        </p:txBody>
      </p:sp>
      <p:sp>
        <p:nvSpPr>
          <p:cNvPr id="84" name="Shape 74"/>
          <p:cNvSpPr/>
          <p:nvPr/>
        </p:nvSpPr>
        <p:spPr>
          <a:xfrm>
            <a:off x="4753737" y="6400800"/>
            <a:ext cx="1295019" cy="13716"/>
          </a:xfrm>
          <a:prstGeom prst="rect">
            <a:avLst/>
          </a:prstGeom>
          <a:solidFill>
            <a:srgbClr val="D7DEE8"/>
          </a:solidFill>
          <a:ln/>
        </p:spPr>
      </p:sp>
      <p:sp>
        <p:nvSpPr>
          <p:cNvPr id="85" name="Text 75"/>
          <p:cNvSpPr txBox="1"/>
          <p:nvPr/>
        </p:nvSpPr>
        <p:spPr>
          <a:xfrm>
            <a:off x="4708017"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Explore</a:t>
            </a:r>
            <a:endParaRPr lang="en-US" sz="1100" dirty="0"/>
          </a:p>
        </p:txBody>
      </p:sp>
      <p:sp>
        <p:nvSpPr>
          <p:cNvPr id="86" name="Shape 76"/>
          <p:cNvSpPr/>
          <p:nvPr/>
        </p:nvSpPr>
        <p:spPr>
          <a:xfrm>
            <a:off x="6140196" y="6400800"/>
            <a:ext cx="1295019" cy="13716"/>
          </a:xfrm>
          <a:prstGeom prst="rect">
            <a:avLst/>
          </a:prstGeom>
          <a:solidFill>
            <a:srgbClr val="D7DEE8"/>
          </a:solidFill>
          <a:ln/>
        </p:spPr>
      </p:sp>
      <p:sp>
        <p:nvSpPr>
          <p:cNvPr id="87" name="Text 77"/>
          <p:cNvSpPr txBox="1"/>
          <p:nvPr/>
        </p:nvSpPr>
        <p:spPr>
          <a:xfrm>
            <a:off x="6094476"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Search</a:t>
            </a:r>
            <a:endParaRPr lang="en-US" sz="1100" dirty="0"/>
          </a:p>
        </p:txBody>
      </p:sp>
      <p:sp>
        <p:nvSpPr>
          <p:cNvPr id="88" name="Shape 78"/>
          <p:cNvSpPr/>
          <p:nvPr/>
        </p:nvSpPr>
        <p:spPr>
          <a:xfrm>
            <a:off x="7526655" y="6400800"/>
            <a:ext cx="1295019" cy="13716"/>
          </a:xfrm>
          <a:prstGeom prst="rect">
            <a:avLst/>
          </a:prstGeom>
          <a:solidFill>
            <a:srgbClr val="D7DEE8"/>
          </a:solidFill>
          <a:ln/>
        </p:spPr>
      </p:sp>
      <p:sp>
        <p:nvSpPr>
          <p:cNvPr id="89" name="Text 79"/>
          <p:cNvSpPr txBox="1"/>
          <p:nvPr/>
        </p:nvSpPr>
        <p:spPr>
          <a:xfrm>
            <a:off x="7480935"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Confirm</a:t>
            </a:r>
            <a:endParaRPr lang="en-US" sz="1100" dirty="0"/>
          </a:p>
        </p:txBody>
      </p:sp>
      <p:sp>
        <p:nvSpPr>
          <p:cNvPr id="90" name="Shape 80"/>
          <p:cNvSpPr/>
          <p:nvPr/>
        </p:nvSpPr>
        <p:spPr>
          <a:xfrm>
            <a:off x="8913114" y="6400800"/>
            <a:ext cx="1295019" cy="13716"/>
          </a:xfrm>
          <a:prstGeom prst="rect">
            <a:avLst/>
          </a:prstGeom>
          <a:solidFill>
            <a:srgbClr val="D7DEE8"/>
          </a:solidFill>
          <a:ln/>
        </p:spPr>
      </p:sp>
      <p:sp>
        <p:nvSpPr>
          <p:cNvPr id="91" name="Text 81"/>
          <p:cNvSpPr txBox="1"/>
          <p:nvPr/>
        </p:nvSpPr>
        <p:spPr>
          <a:xfrm>
            <a:off x="8867394"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Grasp</a:t>
            </a:r>
            <a:endParaRPr lang="en-US" sz="1100" dirty="0"/>
          </a:p>
        </p:txBody>
      </p:sp>
      <p:sp>
        <p:nvSpPr>
          <p:cNvPr id="92" name="Shape 82"/>
          <p:cNvSpPr/>
          <p:nvPr/>
        </p:nvSpPr>
        <p:spPr>
          <a:xfrm>
            <a:off x="10299573" y="6400800"/>
            <a:ext cx="1295019" cy="13716"/>
          </a:xfrm>
          <a:prstGeom prst="rect">
            <a:avLst/>
          </a:prstGeom>
          <a:solidFill>
            <a:srgbClr val="D7DEE8"/>
          </a:solidFill>
          <a:ln/>
        </p:spPr>
      </p:sp>
      <p:sp>
        <p:nvSpPr>
          <p:cNvPr id="93" name="Text 83"/>
          <p:cNvSpPr txBox="1"/>
          <p:nvPr/>
        </p:nvSpPr>
        <p:spPr>
          <a:xfrm>
            <a:off x="10253853"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Plan</a:t>
            </a:r>
            <a:endParaRPr lang="en-US" sz="1100" dirty="0"/>
          </a:p>
        </p:txBody>
      </p:sp>
      <p:sp>
        <p:nvSpPr>
          <p:cNvPr id="94" name="Text 84"/>
          <p:cNvSpPr txBox="1"/>
          <p:nvPr/>
        </p:nvSpPr>
        <p:spPr>
          <a:xfrm>
            <a:off x="11091672" y="6035040"/>
            <a:ext cx="548640" cy="22860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28600"/>
          </a:xfrm>
          <a:prstGeom prst="rect">
            <a:avLst/>
          </a:prstGeom>
          <a:noFill/>
          <a:ln/>
        </p:spPr>
        <p:txBody>
          <a:bodyPr wrap="square" lIns="0" tIns="0" rIns="0" bIns="0" rtlCol="0" anchor="ctr"/>
          <a:lstStyle/>
          <a:p>
            <a:pPr indent="0" marL="0">
              <a:buNone/>
            </a:pPr>
            <a:r>
              <a:rPr lang="en-US" sz="1100" b="1" spc="150" kern="0" dirty="0">
                <a:solidFill>
                  <a:srgbClr val="0068B5"/>
                </a:solidFill>
                <a:latin typeface="Calibri" pitchFamily="34" charset="0"/>
                <a:ea typeface="Calibri" pitchFamily="34" charset="-122"/>
                <a:cs typeface="Calibri" pitchFamily="34" charset="-120"/>
              </a:rPr>
              <a:t>GAPPLER  ·  SHERMAN</a:t>
            </a:r>
            <a:endParaRPr lang="en-US" sz="1100" dirty="0"/>
          </a:p>
        </p:txBody>
      </p:sp>
      <p:sp>
        <p:nvSpPr>
          <p:cNvPr id="3" name="Shape 1"/>
          <p:cNvSpPr/>
          <p:nvPr/>
        </p:nvSpPr>
        <p:spPr>
          <a:xfrm>
            <a:off x="9445752" y="347472"/>
            <a:ext cx="2194560" cy="347472"/>
          </a:xfrm>
          <a:prstGeom prst="roundRect">
            <a:avLst>
              <a:gd name="adj" fmla="val 50000"/>
            </a:avLst>
          </a:prstGeom>
          <a:solidFill>
            <a:srgbClr val="16213A"/>
          </a:solidFill>
          <a:ln/>
        </p:spPr>
      </p:sp>
      <p:sp>
        <p:nvSpPr>
          <p:cNvPr id="4" name="Text 2"/>
          <p:cNvSpPr txBox="1"/>
          <p:nvPr/>
        </p:nvSpPr>
        <p:spPr>
          <a:xfrm>
            <a:off x="9445752" y="347472"/>
            <a:ext cx="2194560" cy="347472"/>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OUR APPROACH</a:t>
            </a:r>
            <a:endParaRPr lang="en-US" sz="1100" dirty="0"/>
          </a:p>
        </p:txBody>
      </p:sp>
      <p:sp>
        <p:nvSpPr>
          <p:cNvPr id="5" name="Text 3"/>
          <p:cNvSpPr txBox="1"/>
          <p:nvPr/>
        </p:nvSpPr>
        <p:spPr>
          <a:xfrm>
            <a:off x="548640" y="777240"/>
            <a:ext cx="11091672" cy="548640"/>
          </a:xfrm>
          <a:prstGeom prst="rect">
            <a:avLst/>
          </a:prstGeom>
          <a:noFill/>
          <a:ln/>
        </p:spPr>
        <p:txBody>
          <a:bodyPr wrap="square" lIns="0" tIns="0" rIns="0" bIns="0" rtlCol="0" anchor="ctr"/>
          <a:lstStyle/>
          <a:p>
            <a:pPr indent="0" marL="0">
              <a:buNone/>
            </a:pPr>
            <a:r>
              <a:rPr lang="en-US" sz="3000" b="1" dirty="0">
                <a:solidFill>
                  <a:srgbClr val="16213A"/>
                </a:solidFill>
                <a:latin typeface="Calibri" pitchFamily="34" charset="0"/>
                <a:ea typeface="Calibri" pitchFamily="34" charset="-122"/>
                <a:cs typeface="Calibri" pitchFamily="34" charset="-120"/>
              </a:rPr>
              <a:t>The inherited code did not run, so we built a test bench first</a:t>
            </a:r>
            <a:endParaRPr lang="en-US" sz="3000" dirty="0"/>
          </a:p>
        </p:txBody>
      </p:sp>
      <p:sp>
        <p:nvSpPr>
          <p:cNvPr id="6" name="Text 4"/>
          <p:cNvSpPr txBox="1"/>
          <p:nvPr/>
        </p:nvSpPr>
        <p:spPr>
          <a:xfrm>
            <a:off x="548640" y="1325880"/>
            <a:ext cx="11091672" cy="320040"/>
          </a:xfrm>
          <a:prstGeom prst="rect">
            <a:avLst/>
          </a:prstGeom>
          <a:noFill/>
          <a:ln/>
        </p:spPr>
        <p:txBody>
          <a:bodyPr wrap="square" lIns="0" tIns="0" rIns="0" bIns="0" rtlCol="0" anchor="ctr"/>
          <a:lstStyle/>
          <a:p>
            <a:pPr indent="0" marL="0">
              <a:buNone/>
            </a:pPr>
            <a:r>
              <a:rPr lang="en-US" sz="1700" dirty="0">
                <a:solidFill>
                  <a:srgbClr val="4B5563"/>
                </a:solidFill>
                <a:latin typeface="Calibri" pitchFamily="34" charset="0"/>
                <a:ea typeface="Calibri" pitchFamily="34" charset="-122"/>
                <a:cs typeface="Calibri" pitchFamily="34" charset="-120"/>
              </a:rPr>
              <a:t>Rebuilt from tested open-source parts, with a baseline measured before every change</a:t>
            </a:r>
            <a:endParaRPr lang="en-US" sz="1700" dirty="0"/>
          </a:p>
        </p:txBody>
      </p:sp>
      <p:sp>
        <p:nvSpPr>
          <p:cNvPr id="7" name="Shape 5"/>
          <p:cNvSpPr/>
          <p:nvPr/>
        </p:nvSpPr>
        <p:spPr>
          <a:xfrm>
            <a:off x="548640" y="1874520"/>
            <a:ext cx="3383280" cy="4023360"/>
          </a:xfrm>
          <a:prstGeom prst="roundRect">
            <a:avLst>
              <a:gd name="adj" fmla="val 2703"/>
            </a:avLst>
          </a:prstGeom>
          <a:solidFill>
            <a:srgbClr val="EEF2F7"/>
          </a:solidFill>
          <a:ln/>
        </p:spPr>
      </p:sp>
      <p:sp>
        <p:nvSpPr>
          <p:cNvPr id="8" name="Text 6"/>
          <p:cNvSpPr txBox="1"/>
          <p:nvPr/>
        </p:nvSpPr>
        <p:spPr>
          <a:xfrm>
            <a:off x="731520" y="2029968"/>
            <a:ext cx="3108960" cy="228600"/>
          </a:xfrm>
          <a:prstGeom prst="rect">
            <a:avLst/>
          </a:prstGeom>
          <a:noFill/>
          <a:ln/>
        </p:spPr>
        <p:txBody>
          <a:bodyPr wrap="square" lIns="0" tIns="0" rIns="0" bIns="0" rtlCol="0" anchor="ctr"/>
          <a:lstStyle/>
          <a:p>
            <a:pPr indent="0" marL="0">
              <a:buNone/>
            </a:pPr>
            <a:r>
              <a:rPr lang="en-US" sz="1100" b="1" spc="150" kern="0" dirty="0">
                <a:solidFill>
                  <a:srgbClr val="C2410C"/>
                </a:solidFill>
                <a:latin typeface="Calibri" pitchFamily="34" charset="0"/>
                <a:ea typeface="Calibri" pitchFamily="34" charset="-122"/>
                <a:cs typeface="Calibri" pitchFamily="34" charset="-120"/>
              </a:rPr>
              <a:t>SEPTEMBER 2026  ·  WHERE WE STARTED</a:t>
            </a:r>
            <a:endParaRPr lang="en-US" sz="1100" dirty="0"/>
          </a:p>
        </p:txBody>
      </p:sp>
      <p:sp>
        <p:nvSpPr>
          <p:cNvPr id="9" name="Shape 7"/>
          <p:cNvSpPr/>
          <p:nvPr/>
        </p:nvSpPr>
        <p:spPr>
          <a:xfrm>
            <a:off x="731520" y="2459736"/>
            <a:ext cx="292608" cy="292608"/>
          </a:xfrm>
          <a:prstGeom prst="ellipse">
            <a:avLst/>
          </a:prstGeom>
          <a:solidFill>
            <a:srgbClr val="DC2626"/>
          </a:solidFill>
          <a:ln/>
        </p:spPr>
      </p:sp>
      <p:pic>
        <p:nvPicPr>
          <p:cNvPr id="10" name="Image 0" descr="preencoded.png">    </p:cNvPr>
          <p:cNvPicPr>
            <a:picLocks noChangeAspect="1"/>
          </p:cNvPicPr>
          <p:nvPr/>
        </p:nvPicPr>
        <p:blipFill>
          <a:blip r:embed="rId1"/>
          <a:stretch>
            <a:fillRect/>
          </a:stretch>
        </p:blipFill>
        <p:spPr>
          <a:xfrm>
            <a:off x="795894" y="2524110"/>
            <a:ext cx="163860" cy="163860"/>
          </a:xfrm>
          <a:prstGeom prst="rect">
            <a:avLst/>
          </a:prstGeom>
        </p:spPr>
      </p:pic>
      <p:sp>
        <p:nvSpPr>
          <p:cNvPr id="11" name="Text 8"/>
          <p:cNvSpPr txBox="1"/>
          <p:nvPr/>
        </p:nvSpPr>
        <p:spPr>
          <a:xfrm>
            <a:off x="1143000" y="2423160"/>
            <a:ext cx="2651760" cy="548640"/>
          </a:xfrm>
          <a:prstGeom prst="rect">
            <a:avLst/>
          </a:prstGeom>
          <a:noFill/>
          <a:ln/>
        </p:spPr>
        <p:txBody>
          <a:bodyPr wrap="square" lIns="0" tIns="0" rIns="0" bIns="0" rtlCol="0" anchor="t"/>
          <a:lstStyle/>
          <a:p>
            <a:pPr indent="0" marL="0">
              <a:buNone/>
            </a:pPr>
            <a:r>
              <a:rPr lang="en-US" sz="1300" dirty="0">
                <a:solidFill>
                  <a:srgbClr val="16213A"/>
                </a:solidFill>
                <a:latin typeface="Calibri" pitchFamily="34" charset="0"/>
                <a:ea typeface="Calibri" pitchFamily="34" charset="-122"/>
                <a:cs typeface="Calibri" pitchFamily="34" charset="-120"/>
              </a:rPr>
              <a:t>No tests, no CI</a:t>
            </a:r>
            <a:endParaRPr lang="en-US" sz="1300" dirty="0"/>
          </a:p>
        </p:txBody>
      </p:sp>
      <p:sp>
        <p:nvSpPr>
          <p:cNvPr id="12" name="Shape 9"/>
          <p:cNvSpPr/>
          <p:nvPr/>
        </p:nvSpPr>
        <p:spPr>
          <a:xfrm>
            <a:off x="731520" y="3145536"/>
            <a:ext cx="292608" cy="292608"/>
          </a:xfrm>
          <a:prstGeom prst="ellipse">
            <a:avLst/>
          </a:prstGeom>
          <a:solidFill>
            <a:srgbClr val="DC2626"/>
          </a:solidFill>
          <a:ln/>
        </p:spPr>
      </p:sp>
      <p:pic>
        <p:nvPicPr>
          <p:cNvPr id="13" name="Image 1" descr="preencoded.png">    </p:cNvPr>
          <p:cNvPicPr>
            <a:picLocks noChangeAspect="1"/>
          </p:cNvPicPr>
          <p:nvPr/>
        </p:nvPicPr>
        <p:blipFill>
          <a:blip r:embed="rId2"/>
          <a:stretch>
            <a:fillRect/>
          </a:stretch>
        </p:blipFill>
        <p:spPr>
          <a:xfrm>
            <a:off x="795894" y="3209910"/>
            <a:ext cx="163860" cy="163860"/>
          </a:xfrm>
          <a:prstGeom prst="rect">
            <a:avLst/>
          </a:prstGeom>
        </p:spPr>
      </p:pic>
      <p:sp>
        <p:nvSpPr>
          <p:cNvPr id="14" name="Text 10"/>
          <p:cNvSpPr txBox="1"/>
          <p:nvPr/>
        </p:nvSpPr>
        <p:spPr>
          <a:xfrm>
            <a:off x="1143000" y="3108960"/>
            <a:ext cx="2651760" cy="548640"/>
          </a:xfrm>
          <a:prstGeom prst="rect">
            <a:avLst/>
          </a:prstGeom>
          <a:noFill/>
          <a:ln/>
        </p:spPr>
        <p:txBody>
          <a:bodyPr wrap="square" lIns="0" tIns="0" rIns="0" bIns="0" rtlCol="0" anchor="t"/>
          <a:lstStyle/>
          <a:p>
            <a:pPr indent="0" marL="0">
              <a:buNone/>
            </a:pPr>
            <a:r>
              <a:rPr lang="en-US" sz="1300" dirty="0">
                <a:solidFill>
                  <a:srgbClr val="16213A"/>
                </a:solidFill>
                <a:latin typeface="Calibri" pitchFamily="34" charset="0"/>
                <a:ea typeface="Calibri" pitchFamily="34" charset="-122"/>
                <a:cs typeface="Calibri" pitchFamily="34" charset="-120"/>
              </a:rPr>
              <a:t>Arm moved on its own at start-up</a:t>
            </a:r>
            <a:endParaRPr lang="en-US" sz="1300" dirty="0"/>
          </a:p>
        </p:txBody>
      </p:sp>
      <p:sp>
        <p:nvSpPr>
          <p:cNvPr id="15" name="Shape 11"/>
          <p:cNvSpPr/>
          <p:nvPr/>
        </p:nvSpPr>
        <p:spPr>
          <a:xfrm>
            <a:off x="731520" y="3831336"/>
            <a:ext cx="292608" cy="292608"/>
          </a:xfrm>
          <a:prstGeom prst="ellipse">
            <a:avLst/>
          </a:prstGeom>
          <a:solidFill>
            <a:srgbClr val="DC2626"/>
          </a:solidFill>
          <a:ln/>
        </p:spPr>
      </p:sp>
      <p:pic>
        <p:nvPicPr>
          <p:cNvPr id="16" name="Image 2" descr="preencoded.png">    </p:cNvPr>
          <p:cNvPicPr>
            <a:picLocks noChangeAspect="1"/>
          </p:cNvPicPr>
          <p:nvPr/>
        </p:nvPicPr>
        <p:blipFill>
          <a:blip r:embed="rId3"/>
          <a:stretch>
            <a:fillRect/>
          </a:stretch>
        </p:blipFill>
        <p:spPr>
          <a:xfrm>
            <a:off x="795894" y="3895710"/>
            <a:ext cx="163860" cy="163860"/>
          </a:xfrm>
          <a:prstGeom prst="rect">
            <a:avLst/>
          </a:prstGeom>
        </p:spPr>
      </p:pic>
      <p:sp>
        <p:nvSpPr>
          <p:cNvPr id="17" name="Text 12"/>
          <p:cNvSpPr txBox="1"/>
          <p:nvPr/>
        </p:nvSpPr>
        <p:spPr>
          <a:xfrm>
            <a:off x="1143000" y="3794760"/>
            <a:ext cx="2651760" cy="548640"/>
          </a:xfrm>
          <a:prstGeom prst="rect">
            <a:avLst/>
          </a:prstGeom>
          <a:noFill/>
          <a:ln/>
        </p:spPr>
        <p:txBody>
          <a:bodyPr wrap="square" lIns="0" tIns="0" rIns="0" bIns="0" rtlCol="0" anchor="t"/>
          <a:lstStyle/>
          <a:p>
            <a:pPr indent="0" marL="0">
              <a:buNone/>
            </a:pPr>
            <a:r>
              <a:rPr lang="en-US" sz="1300" dirty="0">
                <a:solidFill>
                  <a:srgbClr val="16213A"/>
                </a:solidFill>
                <a:latin typeface="Calibri" pitchFamily="34" charset="0"/>
                <a:ea typeface="Calibri" pitchFamily="34" charset="-122"/>
                <a:cs typeface="Calibri" pitchFamily="34" charset="-120"/>
              </a:rPr>
              <a:t>AnyGrasp path unreachable</a:t>
            </a:r>
            <a:endParaRPr lang="en-US" sz="1300" dirty="0"/>
          </a:p>
        </p:txBody>
      </p:sp>
      <p:sp>
        <p:nvSpPr>
          <p:cNvPr id="18" name="Shape 13"/>
          <p:cNvSpPr/>
          <p:nvPr/>
        </p:nvSpPr>
        <p:spPr>
          <a:xfrm>
            <a:off x="731520" y="4517136"/>
            <a:ext cx="292608" cy="292608"/>
          </a:xfrm>
          <a:prstGeom prst="ellipse">
            <a:avLst/>
          </a:prstGeom>
          <a:solidFill>
            <a:srgbClr val="DC2626"/>
          </a:solidFill>
          <a:ln/>
        </p:spPr>
      </p:sp>
      <p:pic>
        <p:nvPicPr>
          <p:cNvPr id="19" name="Image 3" descr="preencoded.png">    </p:cNvPr>
          <p:cNvPicPr>
            <a:picLocks noChangeAspect="1"/>
          </p:cNvPicPr>
          <p:nvPr/>
        </p:nvPicPr>
        <p:blipFill>
          <a:blip r:embed="rId4"/>
          <a:stretch>
            <a:fillRect/>
          </a:stretch>
        </p:blipFill>
        <p:spPr>
          <a:xfrm>
            <a:off x="795894" y="4581510"/>
            <a:ext cx="163860" cy="163860"/>
          </a:xfrm>
          <a:prstGeom prst="rect">
            <a:avLst/>
          </a:prstGeom>
        </p:spPr>
      </p:pic>
      <p:sp>
        <p:nvSpPr>
          <p:cNvPr id="20" name="Text 14"/>
          <p:cNvSpPr txBox="1"/>
          <p:nvPr/>
        </p:nvSpPr>
        <p:spPr>
          <a:xfrm>
            <a:off x="1143000" y="4480560"/>
            <a:ext cx="2651760" cy="548640"/>
          </a:xfrm>
          <a:prstGeom prst="rect">
            <a:avLst/>
          </a:prstGeom>
          <a:noFill/>
          <a:ln/>
        </p:spPr>
        <p:txBody>
          <a:bodyPr wrap="square" lIns="0" tIns="0" rIns="0" bIns="0" rtlCol="0" anchor="t"/>
          <a:lstStyle/>
          <a:p>
            <a:pPr indent="0" marL="0">
              <a:buNone/>
            </a:pPr>
            <a:r>
              <a:rPr lang="en-US" sz="1300" dirty="0">
                <a:solidFill>
                  <a:srgbClr val="16213A"/>
                </a:solidFill>
                <a:latin typeface="Calibri" pitchFamily="34" charset="0"/>
                <a:ea typeface="Calibri" pitchFamily="34" charset="-122"/>
                <a:cs typeface="Calibri" pitchFamily="34" charset="-120"/>
              </a:rPr>
              <a:t>Navigation ran only from another user's folder</a:t>
            </a:r>
            <a:endParaRPr lang="en-US" sz="1300" dirty="0"/>
          </a:p>
        </p:txBody>
      </p:sp>
      <p:sp>
        <p:nvSpPr>
          <p:cNvPr id="21" name="Shape 15"/>
          <p:cNvSpPr/>
          <p:nvPr/>
        </p:nvSpPr>
        <p:spPr>
          <a:xfrm>
            <a:off x="731520" y="5202936"/>
            <a:ext cx="292608" cy="292608"/>
          </a:xfrm>
          <a:prstGeom prst="ellipse">
            <a:avLst/>
          </a:prstGeom>
          <a:solidFill>
            <a:srgbClr val="DC2626"/>
          </a:solidFill>
          <a:ln/>
        </p:spPr>
      </p:sp>
      <p:pic>
        <p:nvPicPr>
          <p:cNvPr id="22" name="Image 4" descr="preencoded.png">    </p:cNvPr>
          <p:cNvPicPr>
            <a:picLocks noChangeAspect="1"/>
          </p:cNvPicPr>
          <p:nvPr/>
        </p:nvPicPr>
        <p:blipFill>
          <a:blip r:embed="rId5"/>
          <a:stretch>
            <a:fillRect/>
          </a:stretch>
        </p:blipFill>
        <p:spPr>
          <a:xfrm>
            <a:off x="795894" y="5267310"/>
            <a:ext cx="163860" cy="163860"/>
          </a:xfrm>
          <a:prstGeom prst="rect">
            <a:avLst/>
          </a:prstGeom>
        </p:spPr>
      </p:pic>
      <p:sp>
        <p:nvSpPr>
          <p:cNvPr id="23" name="Text 16"/>
          <p:cNvSpPr txBox="1"/>
          <p:nvPr/>
        </p:nvSpPr>
        <p:spPr>
          <a:xfrm>
            <a:off x="1143000" y="5166360"/>
            <a:ext cx="2651760" cy="548640"/>
          </a:xfrm>
          <a:prstGeom prst="rect">
            <a:avLst/>
          </a:prstGeom>
          <a:noFill/>
          <a:ln/>
        </p:spPr>
        <p:txBody>
          <a:bodyPr wrap="square" lIns="0" tIns="0" rIns="0" bIns="0" rtlCol="0" anchor="t"/>
          <a:lstStyle/>
          <a:p>
            <a:pPr indent="0" marL="0">
              <a:buNone/>
            </a:pPr>
            <a:r>
              <a:rPr lang="en-US" sz="1300" dirty="0">
                <a:solidFill>
                  <a:srgbClr val="16213A"/>
                </a:solidFill>
                <a:latin typeface="Calibri" pitchFamily="34" charset="0"/>
                <a:ea typeface="Calibri" pitchFamily="34" charset="-122"/>
                <a:cs typeface="Calibri" pitchFamily="34" charset="-120"/>
              </a:rPr>
              <a:t>No memory graph code</a:t>
            </a:r>
            <a:endParaRPr lang="en-US" sz="1300" dirty="0"/>
          </a:p>
        </p:txBody>
      </p:sp>
      <p:sp>
        <p:nvSpPr>
          <p:cNvPr id="24" name="Shape 17"/>
          <p:cNvSpPr/>
          <p:nvPr/>
        </p:nvSpPr>
        <p:spPr>
          <a:xfrm>
            <a:off x="4160520" y="1874520"/>
            <a:ext cx="2371344" cy="2651760"/>
          </a:xfrm>
          <a:prstGeom prst="roundRect">
            <a:avLst>
              <a:gd name="adj" fmla="val 3856"/>
            </a:avLst>
          </a:prstGeom>
          <a:solidFill>
            <a:srgbClr val="EEF2F7"/>
          </a:solidFill>
          <a:ln/>
        </p:spPr>
      </p:sp>
      <p:sp>
        <p:nvSpPr>
          <p:cNvPr id="25" name="Shape 18"/>
          <p:cNvSpPr/>
          <p:nvPr/>
        </p:nvSpPr>
        <p:spPr>
          <a:xfrm>
            <a:off x="4343400" y="2057400"/>
            <a:ext cx="502920" cy="502920"/>
          </a:xfrm>
          <a:prstGeom prst="ellipse">
            <a:avLst/>
          </a:prstGeom>
          <a:solidFill>
            <a:srgbClr val="16213A"/>
          </a:solidFill>
          <a:ln/>
        </p:spPr>
      </p:sp>
      <p:sp>
        <p:nvSpPr>
          <p:cNvPr id="26" name="Text 19"/>
          <p:cNvSpPr txBox="1"/>
          <p:nvPr/>
        </p:nvSpPr>
        <p:spPr>
          <a:xfrm>
            <a:off x="434340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7" name="Text 20"/>
          <p:cNvSpPr txBox="1"/>
          <p:nvPr/>
        </p:nvSpPr>
        <p:spPr>
          <a:xfrm>
            <a:off x="4983480" y="2057400"/>
            <a:ext cx="1456944" cy="502920"/>
          </a:xfrm>
          <a:prstGeom prst="rect">
            <a:avLst/>
          </a:prstGeom>
          <a:noFill/>
          <a:ln/>
        </p:spPr>
        <p:txBody>
          <a:bodyPr wrap="square" lIns="0" tIns="0" rIns="0" bIns="0" rtlCol="0" anchor="ctr"/>
          <a:lstStyle/>
          <a:p>
            <a:pPr indent="0" marL="0">
              <a:buNone/>
            </a:pPr>
            <a:r>
              <a:rPr lang="en-US" sz="1800" b="1" dirty="0">
                <a:solidFill>
                  <a:srgbClr val="16213A"/>
                </a:solidFill>
                <a:latin typeface="Calibri" pitchFamily="34" charset="0"/>
                <a:ea typeface="Calibri" pitchFamily="34" charset="-122"/>
                <a:cs typeface="Calibri" pitchFamily="34" charset="-120"/>
              </a:rPr>
              <a:t>Dion</a:t>
            </a:r>
            <a:endParaRPr lang="en-US" sz="1800" dirty="0"/>
          </a:p>
        </p:txBody>
      </p:sp>
      <p:sp>
        <p:nvSpPr>
          <p:cNvPr id="28" name="Shape 21"/>
          <p:cNvSpPr/>
          <p:nvPr/>
        </p:nvSpPr>
        <p:spPr>
          <a:xfrm>
            <a:off x="4343400" y="2743200"/>
            <a:ext cx="708660" cy="237744"/>
          </a:xfrm>
          <a:prstGeom prst="roundRect">
            <a:avLst>
              <a:gd name="adj" fmla="val 50000"/>
            </a:avLst>
          </a:prstGeom>
          <a:solidFill>
            <a:srgbClr val="FFFFFF"/>
          </a:solidFill>
          <a:ln/>
        </p:spPr>
      </p:sp>
      <p:sp>
        <p:nvSpPr>
          <p:cNvPr id="29" name="Text 22"/>
          <p:cNvSpPr txBox="1"/>
          <p:nvPr/>
        </p:nvSpPr>
        <p:spPr>
          <a:xfrm>
            <a:off x="4343400" y="2743200"/>
            <a:ext cx="708660" cy="237744"/>
          </a:xfrm>
          <a:prstGeom prst="rect">
            <a:avLst/>
          </a:prstGeom>
          <a:noFill/>
          <a:ln/>
        </p:spPr>
        <p:txBody>
          <a:bodyPr wrap="square" lIns="0" tIns="0" rIns="0" bIns="0" rtlCol="0" anchor="ctr"/>
          <a:lstStyle/>
          <a:p>
            <a:pPr algn="ctr" indent="0" marL="0">
              <a:buNone/>
            </a:pPr>
            <a:r>
              <a:rPr lang="en-US" sz="1100" b="1" dirty="0">
                <a:solidFill>
                  <a:srgbClr val="16213A"/>
                </a:solidFill>
                <a:latin typeface="Calibri" pitchFamily="34" charset="0"/>
                <a:ea typeface="Calibri" pitchFamily="34" charset="-122"/>
                <a:cs typeface="Calibri" pitchFamily="34" charset="-120"/>
              </a:rPr>
              <a:t>Glasses</a:t>
            </a:r>
            <a:endParaRPr lang="en-US" sz="1100" dirty="0"/>
          </a:p>
        </p:txBody>
      </p:sp>
      <p:sp>
        <p:nvSpPr>
          <p:cNvPr id="30" name="Shape 23"/>
          <p:cNvSpPr/>
          <p:nvPr/>
        </p:nvSpPr>
        <p:spPr>
          <a:xfrm>
            <a:off x="5125212" y="2743200"/>
            <a:ext cx="777240" cy="237744"/>
          </a:xfrm>
          <a:prstGeom prst="roundRect">
            <a:avLst>
              <a:gd name="adj" fmla="val 50000"/>
            </a:avLst>
          </a:prstGeom>
          <a:solidFill>
            <a:srgbClr val="FFFFFF"/>
          </a:solidFill>
          <a:ln/>
        </p:spPr>
      </p:sp>
      <p:sp>
        <p:nvSpPr>
          <p:cNvPr id="31" name="Text 24"/>
          <p:cNvSpPr txBox="1"/>
          <p:nvPr/>
        </p:nvSpPr>
        <p:spPr>
          <a:xfrm>
            <a:off x="5125212" y="2743200"/>
            <a:ext cx="777240" cy="237744"/>
          </a:xfrm>
          <a:prstGeom prst="rect">
            <a:avLst/>
          </a:prstGeom>
          <a:noFill/>
          <a:ln/>
        </p:spPr>
        <p:txBody>
          <a:bodyPr wrap="square" lIns="0" tIns="0" rIns="0" bIns="0" rtlCol="0" anchor="ctr"/>
          <a:lstStyle/>
          <a:p>
            <a:pPr algn="ctr" indent="0" marL="0">
              <a:buNone/>
            </a:pPr>
            <a:r>
              <a:rPr lang="en-US" sz="1100" b="1" dirty="0">
                <a:solidFill>
                  <a:srgbClr val="16213A"/>
                </a:solidFill>
                <a:latin typeface="Calibri" pitchFamily="34" charset="0"/>
                <a:ea typeface="Calibri" pitchFamily="34" charset="-122"/>
                <a:cs typeface="Calibri" pitchFamily="34" charset="-120"/>
              </a:rPr>
              <a:t>Matching</a:t>
            </a:r>
            <a:endParaRPr lang="en-US" sz="1100" dirty="0"/>
          </a:p>
        </p:txBody>
      </p:sp>
      <p:sp>
        <p:nvSpPr>
          <p:cNvPr id="32" name="Shape 25"/>
          <p:cNvSpPr/>
          <p:nvPr/>
        </p:nvSpPr>
        <p:spPr>
          <a:xfrm>
            <a:off x="4343400" y="3072384"/>
            <a:ext cx="914400" cy="237744"/>
          </a:xfrm>
          <a:prstGeom prst="roundRect">
            <a:avLst>
              <a:gd name="adj" fmla="val 50000"/>
            </a:avLst>
          </a:prstGeom>
          <a:solidFill>
            <a:srgbClr val="FFFFFF"/>
          </a:solidFill>
          <a:ln/>
        </p:spPr>
      </p:sp>
      <p:sp>
        <p:nvSpPr>
          <p:cNvPr id="33" name="Text 26"/>
          <p:cNvSpPr txBox="1"/>
          <p:nvPr/>
        </p:nvSpPr>
        <p:spPr>
          <a:xfrm>
            <a:off x="4343400" y="3072384"/>
            <a:ext cx="914400" cy="237744"/>
          </a:xfrm>
          <a:prstGeom prst="rect">
            <a:avLst/>
          </a:prstGeom>
          <a:noFill/>
          <a:ln/>
        </p:spPr>
        <p:txBody>
          <a:bodyPr wrap="square" lIns="0" tIns="0" rIns="0" bIns="0" rtlCol="0" anchor="ctr"/>
          <a:lstStyle/>
          <a:p>
            <a:pPr algn="ctr" indent="0" marL="0">
              <a:buNone/>
            </a:pPr>
            <a:r>
              <a:rPr lang="en-US" sz="1100" b="1" dirty="0">
                <a:solidFill>
                  <a:srgbClr val="16213A"/>
                </a:solidFill>
                <a:latin typeface="Calibri" pitchFamily="34" charset="0"/>
                <a:ea typeface="Calibri" pitchFamily="34" charset="-122"/>
                <a:cs typeface="Calibri" pitchFamily="34" charset="-120"/>
              </a:rPr>
              <a:t>Arm, grasp</a:t>
            </a:r>
            <a:endParaRPr lang="en-US" sz="1100" dirty="0"/>
          </a:p>
        </p:txBody>
      </p:sp>
      <p:sp>
        <p:nvSpPr>
          <p:cNvPr id="34" name="Shape 27"/>
          <p:cNvSpPr/>
          <p:nvPr/>
        </p:nvSpPr>
        <p:spPr>
          <a:xfrm>
            <a:off x="5330952" y="3072384"/>
            <a:ext cx="845820" cy="237744"/>
          </a:xfrm>
          <a:prstGeom prst="roundRect">
            <a:avLst>
              <a:gd name="adj" fmla="val 50000"/>
            </a:avLst>
          </a:prstGeom>
          <a:solidFill>
            <a:srgbClr val="FFFFFF"/>
          </a:solidFill>
          <a:ln/>
        </p:spPr>
      </p:sp>
      <p:sp>
        <p:nvSpPr>
          <p:cNvPr id="35" name="Text 28"/>
          <p:cNvSpPr txBox="1"/>
          <p:nvPr/>
        </p:nvSpPr>
        <p:spPr>
          <a:xfrm>
            <a:off x="5330952" y="3072384"/>
            <a:ext cx="845820" cy="237744"/>
          </a:xfrm>
          <a:prstGeom prst="rect">
            <a:avLst/>
          </a:prstGeom>
          <a:noFill/>
          <a:ln/>
        </p:spPr>
        <p:txBody>
          <a:bodyPr wrap="square" lIns="0" tIns="0" rIns="0" bIns="0" rtlCol="0" anchor="ctr"/>
          <a:lstStyle/>
          <a:p>
            <a:pPr algn="ctr" indent="0" marL="0">
              <a:buNone/>
            </a:pPr>
            <a:r>
              <a:rPr lang="en-US" sz="1100" b="1" dirty="0">
                <a:solidFill>
                  <a:srgbClr val="16213A"/>
                </a:solidFill>
                <a:latin typeface="Calibri" pitchFamily="34" charset="0"/>
                <a:ea typeface="Calibri" pitchFamily="34" charset="-122"/>
                <a:cs typeface="Calibri" pitchFamily="34" charset="-120"/>
              </a:rPr>
              <a:t>Bench, CI</a:t>
            </a:r>
            <a:endParaRPr lang="en-US" sz="1100" dirty="0"/>
          </a:p>
        </p:txBody>
      </p:sp>
      <p:sp>
        <p:nvSpPr>
          <p:cNvPr id="36" name="Text 29"/>
          <p:cNvSpPr txBox="1"/>
          <p:nvPr/>
        </p:nvSpPr>
        <p:spPr>
          <a:xfrm>
            <a:off x="4343400" y="3502152"/>
            <a:ext cx="2097024" cy="228600"/>
          </a:xfrm>
          <a:prstGeom prst="rect">
            <a:avLst/>
          </a:prstGeom>
          <a:noFill/>
          <a:ln/>
        </p:spPr>
        <p:txBody>
          <a:bodyPr wrap="square" lIns="0" tIns="0" rIns="0" bIns="0" rtlCol="0" anchor="ctr"/>
          <a:lstStyle/>
          <a:p>
            <a:pPr indent="0" marL="0">
              <a:buNone/>
            </a:pPr>
            <a:r>
              <a:rPr lang="en-US" sz="1100" b="1" spc="150" kern="0" dirty="0">
                <a:solidFill>
                  <a:srgbClr val="6B7280"/>
                </a:solidFill>
                <a:latin typeface="Calibri" pitchFamily="34" charset="0"/>
                <a:ea typeface="Calibri" pitchFamily="34" charset="-122"/>
                <a:cs typeface="Calibri" pitchFamily="34" charset="-120"/>
              </a:rPr>
              <a:t>BUILDS ON</a:t>
            </a:r>
            <a:endParaRPr lang="en-US" sz="1100" dirty="0"/>
          </a:p>
        </p:txBody>
      </p:sp>
      <p:sp>
        <p:nvSpPr>
          <p:cNvPr id="37" name="Text 30"/>
          <p:cNvSpPr txBox="1"/>
          <p:nvPr/>
        </p:nvSpPr>
        <p:spPr>
          <a:xfrm>
            <a:off x="4343400" y="3721608"/>
            <a:ext cx="2051304" cy="411480"/>
          </a:xfrm>
          <a:prstGeom prst="rect">
            <a:avLst/>
          </a:prstGeom>
          <a:noFill/>
          <a:ln/>
        </p:spPr>
        <p:txBody>
          <a:bodyPr wrap="square" lIns="0" tIns="0" rIns="0" bIns="0" rtlCol="0" anchor="t"/>
          <a:lstStyle/>
          <a:p>
            <a:pPr indent="0" marL="0">
              <a:buNone/>
            </a:pPr>
            <a:r>
              <a:rPr lang="en-US" sz="1200" dirty="0">
                <a:solidFill>
                  <a:srgbClr val="4B5563"/>
                </a:solidFill>
                <a:latin typeface="Calibri" pitchFamily="34" charset="0"/>
                <a:ea typeface="Calibri" pitchFamily="34" charset="-122"/>
                <a:cs typeface="Calibri" pitchFamily="34" charset="-120"/>
              </a:rPr>
              <a:t>Aria SDK, SAM 3, AnyGrasp, MoveIt 2</a:t>
            </a:r>
            <a:endParaRPr lang="en-US" sz="1200" dirty="0"/>
          </a:p>
        </p:txBody>
      </p:sp>
      <p:sp>
        <p:nvSpPr>
          <p:cNvPr id="38" name="Shape 31"/>
          <p:cNvSpPr/>
          <p:nvPr/>
        </p:nvSpPr>
        <p:spPr>
          <a:xfrm>
            <a:off x="4343400" y="4160520"/>
            <a:ext cx="2005584" cy="237744"/>
          </a:xfrm>
          <a:prstGeom prst="roundRect">
            <a:avLst>
              <a:gd name="adj" fmla="val 50000"/>
            </a:avLst>
          </a:prstGeom>
          <a:solidFill>
            <a:srgbClr val="DBEAFE"/>
          </a:solidFill>
          <a:ln/>
        </p:spPr>
      </p:sp>
      <p:sp>
        <p:nvSpPr>
          <p:cNvPr id="39" name="Text 32"/>
          <p:cNvSpPr txBox="1"/>
          <p:nvPr/>
        </p:nvSpPr>
        <p:spPr>
          <a:xfrm>
            <a:off x="4343400" y="4160520"/>
            <a:ext cx="2005584" cy="237744"/>
          </a:xfrm>
          <a:prstGeom prst="rect">
            <a:avLst/>
          </a:prstGeom>
          <a:noFill/>
          <a:ln/>
        </p:spPr>
        <p:txBody>
          <a:bodyPr wrap="square" lIns="0" tIns="0" rIns="0" bIns="0" rtlCol="0" anchor="ctr"/>
          <a:lstStyle/>
          <a:p>
            <a:pPr algn="ctr" indent="0" marL="0">
              <a:buNone/>
            </a:pPr>
            <a:r>
              <a:rPr lang="en-US" sz="1100" b="1" dirty="0">
                <a:solidFill>
                  <a:srgbClr val="0068B5"/>
                </a:solidFill>
                <a:latin typeface="Calibri" pitchFamily="34" charset="0"/>
                <a:ea typeface="Calibri" pitchFamily="34" charset="-122"/>
                <a:cs typeface="Calibri" pitchFamily="34" charset="-120"/>
              </a:rPr>
              <a:t>Leads M1 M2 M4 M7 M8</a:t>
            </a:r>
            <a:endParaRPr lang="en-US" sz="1100" dirty="0"/>
          </a:p>
        </p:txBody>
      </p:sp>
      <p:sp>
        <p:nvSpPr>
          <p:cNvPr id="40" name="Shape 33"/>
          <p:cNvSpPr/>
          <p:nvPr/>
        </p:nvSpPr>
        <p:spPr>
          <a:xfrm>
            <a:off x="6714744" y="1874520"/>
            <a:ext cx="2371344" cy="2651760"/>
          </a:xfrm>
          <a:prstGeom prst="roundRect">
            <a:avLst>
              <a:gd name="adj" fmla="val 3856"/>
            </a:avLst>
          </a:prstGeom>
          <a:solidFill>
            <a:srgbClr val="EEF2F7"/>
          </a:solidFill>
          <a:ln/>
        </p:spPr>
      </p:sp>
      <p:sp>
        <p:nvSpPr>
          <p:cNvPr id="41" name="Shape 34"/>
          <p:cNvSpPr/>
          <p:nvPr/>
        </p:nvSpPr>
        <p:spPr>
          <a:xfrm>
            <a:off x="6897624" y="2057400"/>
            <a:ext cx="502920" cy="502920"/>
          </a:xfrm>
          <a:prstGeom prst="ellipse">
            <a:avLst/>
          </a:prstGeom>
          <a:solidFill>
            <a:srgbClr val="16213A"/>
          </a:solidFill>
          <a:ln/>
        </p:spPr>
      </p:sp>
      <p:sp>
        <p:nvSpPr>
          <p:cNvPr id="42" name="Text 35"/>
          <p:cNvSpPr txBox="1"/>
          <p:nvPr/>
        </p:nvSpPr>
        <p:spPr>
          <a:xfrm>
            <a:off x="6897624"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S</a:t>
            </a:r>
            <a:endParaRPr lang="en-US" sz="1800" dirty="0"/>
          </a:p>
        </p:txBody>
      </p:sp>
      <p:sp>
        <p:nvSpPr>
          <p:cNvPr id="43" name="Text 36"/>
          <p:cNvSpPr txBox="1"/>
          <p:nvPr/>
        </p:nvSpPr>
        <p:spPr>
          <a:xfrm>
            <a:off x="7537704" y="2057400"/>
            <a:ext cx="1456944" cy="502920"/>
          </a:xfrm>
          <a:prstGeom prst="rect">
            <a:avLst/>
          </a:prstGeom>
          <a:noFill/>
          <a:ln/>
        </p:spPr>
        <p:txBody>
          <a:bodyPr wrap="square" lIns="0" tIns="0" rIns="0" bIns="0" rtlCol="0" anchor="ctr"/>
          <a:lstStyle/>
          <a:p>
            <a:pPr indent="0" marL="0">
              <a:buNone/>
            </a:pPr>
            <a:r>
              <a:rPr lang="en-US" sz="1800" b="1" dirty="0">
                <a:solidFill>
                  <a:srgbClr val="16213A"/>
                </a:solidFill>
                <a:latin typeface="Calibri" pitchFamily="34" charset="0"/>
                <a:ea typeface="Calibri" pitchFamily="34" charset="-122"/>
                <a:cs typeface="Calibri" pitchFamily="34" charset="-120"/>
              </a:rPr>
              <a:t>Sherman</a:t>
            </a:r>
            <a:endParaRPr lang="en-US" sz="1800" dirty="0"/>
          </a:p>
        </p:txBody>
      </p:sp>
      <p:sp>
        <p:nvSpPr>
          <p:cNvPr id="44" name="Shape 37"/>
          <p:cNvSpPr/>
          <p:nvPr/>
        </p:nvSpPr>
        <p:spPr>
          <a:xfrm>
            <a:off x="6897624" y="2743200"/>
            <a:ext cx="502920" cy="237744"/>
          </a:xfrm>
          <a:prstGeom prst="roundRect">
            <a:avLst>
              <a:gd name="adj" fmla="val 50000"/>
            </a:avLst>
          </a:prstGeom>
          <a:solidFill>
            <a:srgbClr val="FFFFFF"/>
          </a:solidFill>
          <a:ln/>
        </p:spPr>
      </p:sp>
      <p:sp>
        <p:nvSpPr>
          <p:cNvPr id="45" name="Text 38"/>
          <p:cNvSpPr txBox="1"/>
          <p:nvPr/>
        </p:nvSpPr>
        <p:spPr>
          <a:xfrm>
            <a:off x="6897624" y="2743200"/>
            <a:ext cx="502920" cy="237744"/>
          </a:xfrm>
          <a:prstGeom prst="rect">
            <a:avLst/>
          </a:prstGeom>
          <a:noFill/>
          <a:ln/>
        </p:spPr>
        <p:txBody>
          <a:bodyPr wrap="square" lIns="0" tIns="0" rIns="0" bIns="0" rtlCol="0" anchor="ctr"/>
          <a:lstStyle/>
          <a:p>
            <a:pPr algn="ctr" indent="0" marL="0">
              <a:buNone/>
            </a:pPr>
            <a:r>
              <a:rPr lang="en-US" sz="1100" b="1" dirty="0">
                <a:solidFill>
                  <a:srgbClr val="16213A"/>
                </a:solidFill>
                <a:latin typeface="Calibri" pitchFamily="34" charset="0"/>
                <a:ea typeface="Calibri" pitchFamily="34" charset="-122"/>
                <a:cs typeface="Calibri" pitchFamily="34" charset="-120"/>
              </a:rPr>
              <a:t>Base</a:t>
            </a:r>
            <a:endParaRPr lang="en-US" sz="1100" dirty="0"/>
          </a:p>
        </p:txBody>
      </p:sp>
      <p:sp>
        <p:nvSpPr>
          <p:cNvPr id="46" name="Shape 39"/>
          <p:cNvSpPr/>
          <p:nvPr/>
        </p:nvSpPr>
        <p:spPr>
          <a:xfrm>
            <a:off x="7473696" y="2743200"/>
            <a:ext cx="571500" cy="237744"/>
          </a:xfrm>
          <a:prstGeom prst="roundRect">
            <a:avLst>
              <a:gd name="adj" fmla="val 50000"/>
            </a:avLst>
          </a:prstGeom>
          <a:solidFill>
            <a:srgbClr val="FFFFFF"/>
          </a:solidFill>
          <a:ln/>
        </p:spPr>
      </p:sp>
      <p:sp>
        <p:nvSpPr>
          <p:cNvPr id="47" name="Text 40"/>
          <p:cNvSpPr txBox="1"/>
          <p:nvPr/>
        </p:nvSpPr>
        <p:spPr>
          <a:xfrm>
            <a:off x="7473696" y="2743200"/>
            <a:ext cx="571500" cy="237744"/>
          </a:xfrm>
          <a:prstGeom prst="rect">
            <a:avLst/>
          </a:prstGeom>
          <a:noFill/>
          <a:ln/>
        </p:spPr>
        <p:txBody>
          <a:bodyPr wrap="square" lIns="0" tIns="0" rIns="0" bIns="0" rtlCol="0" anchor="ctr"/>
          <a:lstStyle/>
          <a:p>
            <a:pPr algn="ctr" indent="0" marL="0">
              <a:buNone/>
            </a:pPr>
            <a:r>
              <a:rPr lang="en-US" sz="1100" b="1" dirty="0">
                <a:solidFill>
                  <a:srgbClr val="16213A"/>
                </a:solidFill>
                <a:latin typeface="Calibri" pitchFamily="34" charset="0"/>
                <a:ea typeface="Calibri" pitchFamily="34" charset="-122"/>
                <a:cs typeface="Calibri" pitchFamily="34" charset="-120"/>
              </a:rPr>
              <a:t>LiDAR</a:t>
            </a:r>
            <a:endParaRPr lang="en-US" sz="1100" dirty="0"/>
          </a:p>
        </p:txBody>
      </p:sp>
      <p:sp>
        <p:nvSpPr>
          <p:cNvPr id="48" name="Shape 41"/>
          <p:cNvSpPr/>
          <p:nvPr/>
        </p:nvSpPr>
        <p:spPr>
          <a:xfrm>
            <a:off x="8118348" y="2743200"/>
            <a:ext cx="571500" cy="237744"/>
          </a:xfrm>
          <a:prstGeom prst="roundRect">
            <a:avLst>
              <a:gd name="adj" fmla="val 50000"/>
            </a:avLst>
          </a:prstGeom>
          <a:solidFill>
            <a:srgbClr val="FFFFFF"/>
          </a:solidFill>
          <a:ln/>
        </p:spPr>
      </p:sp>
      <p:sp>
        <p:nvSpPr>
          <p:cNvPr id="49" name="Text 42"/>
          <p:cNvSpPr txBox="1"/>
          <p:nvPr/>
        </p:nvSpPr>
        <p:spPr>
          <a:xfrm>
            <a:off x="8118348" y="2743200"/>
            <a:ext cx="571500" cy="237744"/>
          </a:xfrm>
          <a:prstGeom prst="rect">
            <a:avLst/>
          </a:prstGeom>
          <a:noFill/>
          <a:ln/>
        </p:spPr>
        <p:txBody>
          <a:bodyPr wrap="square" lIns="0" tIns="0" rIns="0" bIns="0" rtlCol="0" anchor="ctr"/>
          <a:lstStyle/>
          <a:p>
            <a:pPr algn="ctr" indent="0" marL="0">
              <a:buNone/>
            </a:pPr>
            <a:r>
              <a:rPr lang="en-US" sz="1100" b="1" dirty="0">
                <a:solidFill>
                  <a:srgbClr val="16213A"/>
                </a:solidFill>
                <a:latin typeface="Calibri" pitchFamily="34" charset="0"/>
                <a:ea typeface="Calibri" pitchFamily="34" charset="-122"/>
                <a:cs typeface="Calibri" pitchFamily="34" charset="-120"/>
              </a:rPr>
              <a:t>Mount</a:t>
            </a:r>
            <a:endParaRPr lang="en-US" sz="1100" dirty="0"/>
          </a:p>
        </p:txBody>
      </p:sp>
      <p:sp>
        <p:nvSpPr>
          <p:cNvPr id="50" name="Shape 43"/>
          <p:cNvSpPr/>
          <p:nvPr/>
        </p:nvSpPr>
        <p:spPr>
          <a:xfrm>
            <a:off x="6897624" y="3072384"/>
            <a:ext cx="708660" cy="237744"/>
          </a:xfrm>
          <a:prstGeom prst="roundRect">
            <a:avLst>
              <a:gd name="adj" fmla="val 50000"/>
            </a:avLst>
          </a:prstGeom>
          <a:solidFill>
            <a:srgbClr val="FFFFFF"/>
          </a:solidFill>
          <a:ln/>
        </p:spPr>
      </p:sp>
      <p:sp>
        <p:nvSpPr>
          <p:cNvPr id="51" name="Text 44"/>
          <p:cNvSpPr txBox="1"/>
          <p:nvPr/>
        </p:nvSpPr>
        <p:spPr>
          <a:xfrm>
            <a:off x="6897624" y="3072384"/>
            <a:ext cx="708660" cy="237744"/>
          </a:xfrm>
          <a:prstGeom prst="rect">
            <a:avLst/>
          </a:prstGeom>
          <a:noFill/>
          <a:ln/>
        </p:spPr>
        <p:txBody>
          <a:bodyPr wrap="square" lIns="0" tIns="0" rIns="0" bIns="0" rtlCol="0" anchor="ctr"/>
          <a:lstStyle/>
          <a:p>
            <a:pPr algn="ctr" indent="0" marL="0">
              <a:buNone/>
            </a:pPr>
            <a:r>
              <a:rPr lang="en-US" sz="1100" b="1" dirty="0">
                <a:solidFill>
                  <a:srgbClr val="16213A"/>
                </a:solidFill>
                <a:latin typeface="Calibri" pitchFamily="34" charset="0"/>
                <a:ea typeface="Calibri" pitchFamily="34" charset="-122"/>
                <a:cs typeface="Calibri" pitchFamily="34" charset="-120"/>
              </a:rPr>
              <a:t>Mapping</a:t>
            </a:r>
            <a:endParaRPr lang="en-US" sz="1100" dirty="0"/>
          </a:p>
        </p:txBody>
      </p:sp>
      <p:sp>
        <p:nvSpPr>
          <p:cNvPr id="52" name="Text 45"/>
          <p:cNvSpPr txBox="1"/>
          <p:nvPr/>
        </p:nvSpPr>
        <p:spPr>
          <a:xfrm>
            <a:off x="6897624" y="3502152"/>
            <a:ext cx="2097024" cy="228600"/>
          </a:xfrm>
          <a:prstGeom prst="rect">
            <a:avLst/>
          </a:prstGeom>
          <a:noFill/>
          <a:ln/>
        </p:spPr>
        <p:txBody>
          <a:bodyPr wrap="square" lIns="0" tIns="0" rIns="0" bIns="0" rtlCol="0" anchor="ctr"/>
          <a:lstStyle/>
          <a:p>
            <a:pPr indent="0" marL="0">
              <a:buNone/>
            </a:pPr>
            <a:r>
              <a:rPr lang="en-US" sz="1100" b="1" spc="150" kern="0" dirty="0">
                <a:solidFill>
                  <a:srgbClr val="6B7280"/>
                </a:solidFill>
                <a:latin typeface="Calibri" pitchFamily="34" charset="0"/>
                <a:ea typeface="Calibri" pitchFamily="34" charset="-122"/>
                <a:cs typeface="Calibri" pitchFamily="34" charset="-120"/>
              </a:rPr>
              <a:t>BUILDS ON</a:t>
            </a:r>
            <a:endParaRPr lang="en-US" sz="1100" dirty="0"/>
          </a:p>
        </p:txBody>
      </p:sp>
      <p:sp>
        <p:nvSpPr>
          <p:cNvPr id="53" name="Text 46"/>
          <p:cNvSpPr txBox="1"/>
          <p:nvPr/>
        </p:nvSpPr>
        <p:spPr>
          <a:xfrm>
            <a:off x="6897624" y="3721608"/>
            <a:ext cx="2051304" cy="411480"/>
          </a:xfrm>
          <a:prstGeom prst="rect">
            <a:avLst/>
          </a:prstGeom>
          <a:noFill/>
          <a:ln/>
        </p:spPr>
        <p:txBody>
          <a:bodyPr wrap="square" lIns="0" tIns="0" rIns="0" bIns="0" rtlCol="0" anchor="t"/>
          <a:lstStyle/>
          <a:p>
            <a:pPr indent="0" marL="0">
              <a:buNone/>
            </a:pPr>
            <a:r>
              <a:rPr lang="en-US" sz="1200" dirty="0">
                <a:solidFill>
                  <a:srgbClr val="4B5563"/>
                </a:solidFill>
                <a:latin typeface="Calibri" pitchFamily="34" charset="0"/>
                <a:ea typeface="Calibri" pitchFamily="34" charset="-122"/>
                <a:cs typeface="Calibri" pitchFamily="34" charset="-120"/>
              </a:rPr>
              <a:t>FAST-LIVO2, Nav2, SLAM Toolbox</a:t>
            </a:r>
            <a:endParaRPr lang="en-US" sz="1200" dirty="0"/>
          </a:p>
        </p:txBody>
      </p:sp>
      <p:sp>
        <p:nvSpPr>
          <p:cNvPr id="54" name="Shape 47"/>
          <p:cNvSpPr/>
          <p:nvPr/>
        </p:nvSpPr>
        <p:spPr>
          <a:xfrm>
            <a:off x="6897624" y="4160520"/>
            <a:ext cx="2005584" cy="237744"/>
          </a:xfrm>
          <a:prstGeom prst="roundRect">
            <a:avLst>
              <a:gd name="adj" fmla="val 50000"/>
            </a:avLst>
          </a:prstGeom>
          <a:solidFill>
            <a:srgbClr val="DBEAFE"/>
          </a:solidFill>
          <a:ln/>
        </p:spPr>
      </p:sp>
      <p:sp>
        <p:nvSpPr>
          <p:cNvPr id="55" name="Text 48"/>
          <p:cNvSpPr txBox="1"/>
          <p:nvPr/>
        </p:nvSpPr>
        <p:spPr>
          <a:xfrm>
            <a:off x="6897624" y="4160520"/>
            <a:ext cx="2005584" cy="237744"/>
          </a:xfrm>
          <a:prstGeom prst="rect">
            <a:avLst/>
          </a:prstGeom>
          <a:noFill/>
          <a:ln/>
        </p:spPr>
        <p:txBody>
          <a:bodyPr wrap="square" lIns="0" tIns="0" rIns="0" bIns="0" rtlCol="0" anchor="ctr"/>
          <a:lstStyle/>
          <a:p>
            <a:pPr algn="ctr" indent="0" marL="0">
              <a:buNone/>
            </a:pPr>
            <a:r>
              <a:rPr lang="en-US" sz="1100" b="1" dirty="0">
                <a:solidFill>
                  <a:srgbClr val="0068B5"/>
                </a:solidFill>
                <a:latin typeface="Calibri" pitchFamily="34" charset="0"/>
                <a:ea typeface="Calibri" pitchFamily="34" charset="-122"/>
                <a:cs typeface="Calibri" pitchFamily="34" charset="-120"/>
              </a:rPr>
              <a:t>Leads M3, M5 mount</a:t>
            </a:r>
            <a:endParaRPr lang="en-US" sz="1100" dirty="0"/>
          </a:p>
        </p:txBody>
      </p:sp>
      <p:sp>
        <p:nvSpPr>
          <p:cNvPr id="56" name="Shape 49"/>
          <p:cNvSpPr/>
          <p:nvPr/>
        </p:nvSpPr>
        <p:spPr>
          <a:xfrm>
            <a:off x="9268968" y="1874520"/>
            <a:ext cx="2371344" cy="2651760"/>
          </a:xfrm>
          <a:prstGeom prst="roundRect">
            <a:avLst>
              <a:gd name="adj" fmla="val 3856"/>
            </a:avLst>
          </a:prstGeom>
          <a:solidFill>
            <a:srgbClr val="EEF2F7"/>
          </a:solidFill>
          <a:ln/>
        </p:spPr>
      </p:sp>
      <p:sp>
        <p:nvSpPr>
          <p:cNvPr id="57" name="Shape 50"/>
          <p:cNvSpPr/>
          <p:nvPr/>
        </p:nvSpPr>
        <p:spPr>
          <a:xfrm>
            <a:off x="9451848" y="2057400"/>
            <a:ext cx="502920" cy="502920"/>
          </a:xfrm>
          <a:prstGeom prst="ellipse">
            <a:avLst/>
          </a:prstGeom>
          <a:solidFill>
            <a:srgbClr val="16213A"/>
          </a:solidFill>
          <a:ln/>
        </p:spPr>
      </p:sp>
      <p:sp>
        <p:nvSpPr>
          <p:cNvPr id="58" name="Text 51"/>
          <p:cNvSpPr txBox="1"/>
          <p:nvPr/>
        </p:nvSpPr>
        <p:spPr>
          <a:xfrm>
            <a:off x="9451848"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Z</a:t>
            </a:r>
            <a:endParaRPr lang="en-US" sz="1800" dirty="0"/>
          </a:p>
        </p:txBody>
      </p:sp>
      <p:sp>
        <p:nvSpPr>
          <p:cNvPr id="59" name="Text 52"/>
          <p:cNvSpPr txBox="1"/>
          <p:nvPr/>
        </p:nvSpPr>
        <p:spPr>
          <a:xfrm>
            <a:off x="10091928" y="2057400"/>
            <a:ext cx="1456944" cy="502920"/>
          </a:xfrm>
          <a:prstGeom prst="rect">
            <a:avLst/>
          </a:prstGeom>
          <a:noFill/>
          <a:ln/>
        </p:spPr>
        <p:txBody>
          <a:bodyPr wrap="square" lIns="0" tIns="0" rIns="0" bIns="0" rtlCol="0" anchor="ctr"/>
          <a:lstStyle/>
          <a:p>
            <a:pPr indent="0" marL="0">
              <a:buNone/>
            </a:pPr>
            <a:r>
              <a:rPr lang="en-US" sz="1800" b="1" dirty="0">
                <a:solidFill>
                  <a:srgbClr val="16213A"/>
                </a:solidFill>
                <a:latin typeface="Calibri" pitchFamily="34" charset="0"/>
                <a:ea typeface="Calibri" pitchFamily="34" charset="-122"/>
                <a:cs typeface="Calibri" pitchFamily="34" charset="-120"/>
              </a:rPr>
              <a:t>Zongzhe</a:t>
            </a:r>
            <a:endParaRPr lang="en-US" sz="1800" dirty="0"/>
          </a:p>
        </p:txBody>
      </p:sp>
      <p:sp>
        <p:nvSpPr>
          <p:cNvPr id="60" name="Shape 53"/>
          <p:cNvSpPr/>
          <p:nvPr/>
        </p:nvSpPr>
        <p:spPr>
          <a:xfrm>
            <a:off x="9451848" y="2743200"/>
            <a:ext cx="1051560" cy="237744"/>
          </a:xfrm>
          <a:prstGeom prst="roundRect">
            <a:avLst>
              <a:gd name="adj" fmla="val 50000"/>
            </a:avLst>
          </a:prstGeom>
          <a:solidFill>
            <a:srgbClr val="FFFFFF"/>
          </a:solidFill>
          <a:ln/>
        </p:spPr>
      </p:sp>
      <p:sp>
        <p:nvSpPr>
          <p:cNvPr id="61" name="Text 54"/>
          <p:cNvSpPr txBox="1"/>
          <p:nvPr/>
        </p:nvSpPr>
        <p:spPr>
          <a:xfrm>
            <a:off x="9451848" y="2743200"/>
            <a:ext cx="1051560" cy="237744"/>
          </a:xfrm>
          <a:prstGeom prst="rect">
            <a:avLst/>
          </a:prstGeom>
          <a:noFill/>
          <a:ln/>
        </p:spPr>
        <p:txBody>
          <a:bodyPr wrap="square" lIns="0" tIns="0" rIns="0" bIns="0" rtlCol="0" anchor="ctr"/>
          <a:lstStyle/>
          <a:p>
            <a:pPr algn="ctr" indent="0" marL="0">
              <a:buNone/>
            </a:pPr>
            <a:r>
              <a:rPr lang="en-US" sz="1100" b="1" dirty="0">
                <a:solidFill>
                  <a:srgbClr val="16213A"/>
                </a:solidFill>
                <a:latin typeface="Calibri" pitchFamily="34" charset="0"/>
                <a:ea typeface="Calibri" pitchFamily="34" charset="-122"/>
                <a:cs typeface="Calibri" pitchFamily="34" charset="-120"/>
              </a:rPr>
              <a:t>Memory graph</a:t>
            </a:r>
            <a:endParaRPr lang="en-US" sz="1100" dirty="0"/>
          </a:p>
        </p:txBody>
      </p:sp>
      <p:sp>
        <p:nvSpPr>
          <p:cNvPr id="62" name="Shape 55"/>
          <p:cNvSpPr/>
          <p:nvPr/>
        </p:nvSpPr>
        <p:spPr>
          <a:xfrm>
            <a:off x="10576560" y="2743200"/>
            <a:ext cx="845820" cy="237744"/>
          </a:xfrm>
          <a:prstGeom prst="roundRect">
            <a:avLst>
              <a:gd name="adj" fmla="val 50000"/>
            </a:avLst>
          </a:prstGeom>
          <a:solidFill>
            <a:srgbClr val="FFFFFF"/>
          </a:solidFill>
          <a:ln/>
        </p:spPr>
      </p:sp>
      <p:sp>
        <p:nvSpPr>
          <p:cNvPr id="63" name="Text 56"/>
          <p:cNvSpPr txBox="1"/>
          <p:nvPr/>
        </p:nvSpPr>
        <p:spPr>
          <a:xfrm>
            <a:off x="10576560" y="2743200"/>
            <a:ext cx="845820" cy="237744"/>
          </a:xfrm>
          <a:prstGeom prst="rect">
            <a:avLst/>
          </a:prstGeom>
          <a:noFill/>
          <a:ln/>
        </p:spPr>
        <p:txBody>
          <a:bodyPr wrap="square" lIns="0" tIns="0" rIns="0" bIns="0" rtlCol="0" anchor="ctr"/>
          <a:lstStyle/>
          <a:p>
            <a:pPr algn="ctr" indent="0" marL="0">
              <a:buNone/>
            </a:pPr>
            <a:r>
              <a:rPr lang="en-US" sz="1100" b="1" dirty="0">
                <a:solidFill>
                  <a:srgbClr val="16213A"/>
                </a:solidFill>
                <a:latin typeface="Calibri" pitchFamily="34" charset="0"/>
                <a:ea typeface="Calibri" pitchFamily="34" charset="-122"/>
                <a:cs typeface="Calibri" pitchFamily="34" charset="-120"/>
              </a:rPr>
              <a:t>Reasoning</a:t>
            </a:r>
            <a:endParaRPr lang="en-US" sz="1100" dirty="0"/>
          </a:p>
        </p:txBody>
      </p:sp>
      <p:sp>
        <p:nvSpPr>
          <p:cNvPr id="64" name="Shape 57"/>
          <p:cNvSpPr/>
          <p:nvPr/>
        </p:nvSpPr>
        <p:spPr>
          <a:xfrm>
            <a:off x="9451848" y="3072384"/>
            <a:ext cx="845820" cy="237744"/>
          </a:xfrm>
          <a:prstGeom prst="roundRect">
            <a:avLst>
              <a:gd name="adj" fmla="val 50000"/>
            </a:avLst>
          </a:prstGeom>
          <a:solidFill>
            <a:srgbClr val="FFFFFF"/>
          </a:solidFill>
          <a:ln/>
        </p:spPr>
      </p:sp>
      <p:sp>
        <p:nvSpPr>
          <p:cNvPr id="65" name="Text 58"/>
          <p:cNvSpPr txBox="1"/>
          <p:nvPr/>
        </p:nvSpPr>
        <p:spPr>
          <a:xfrm>
            <a:off x="9451848" y="3072384"/>
            <a:ext cx="845820" cy="237744"/>
          </a:xfrm>
          <a:prstGeom prst="rect">
            <a:avLst/>
          </a:prstGeom>
          <a:noFill/>
          <a:ln/>
        </p:spPr>
        <p:txBody>
          <a:bodyPr wrap="square" lIns="0" tIns="0" rIns="0" bIns="0" rtlCol="0" anchor="ctr"/>
          <a:lstStyle/>
          <a:p>
            <a:pPr algn="ctr" indent="0" marL="0">
              <a:buNone/>
            </a:pPr>
            <a:r>
              <a:rPr lang="en-US" sz="1100" b="1" dirty="0">
                <a:solidFill>
                  <a:srgbClr val="16213A"/>
                </a:solidFill>
                <a:latin typeface="Calibri" pitchFamily="34" charset="0"/>
                <a:ea typeface="Calibri" pitchFamily="34" charset="-122"/>
                <a:cs typeface="Calibri" pitchFamily="34" charset="-120"/>
              </a:rPr>
              <a:t>Nav goals</a:t>
            </a:r>
            <a:endParaRPr lang="en-US" sz="1100" dirty="0"/>
          </a:p>
        </p:txBody>
      </p:sp>
      <p:sp>
        <p:nvSpPr>
          <p:cNvPr id="66" name="Text 59"/>
          <p:cNvSpPr txBox="1"/>
          <p:nvPr/>
        </p:nvSpPr>
        <p:spPr>
          <a:xfrm>
            <a:off x="9451848" y="3502152"/>
            <a:ext cx="2097024" cy="228600"/>
          </a:xfrm>
          <a:prstGeom prst="rect">
            <a:avLst/>
          </a:prstGeom>
          <a:noFill/>
          <a:ln/>
        </p:spPr>
        <p:txBody>
          <a:bodyPr wrap="square" lIns="0" tIns="0" rIns="0" bIns="0" rtlCol="0" anchor="ctr"/>
          <a:lstStyle/>
          <a:p>
            <a:pPr indent="0" marL="0">
              <a:buNone/>
            </a:pPr>
            <a:r>
              <a:rPr lang="en-US" sz="1100" b="1" spc="150" kern="0" dirty="0">
                <a:solidFill>
                  <a:srgbClr val="6B7280"/>
                </a:solidFill>
                <a:latin typeface="Calibri" pitchFamily="34" charset="0"/>
                <a:ea typeface="Calibri" pitchFamily="34" charset="-122"/>
                <a:cs typeface="Calibri" pitchFamily="34" charset="-120"/>
              </a:rPr>
              <a:t>BUILDS ON</a:t>
            </a:r>
            <a:endParaRPr lang="en-US" sz="1100" dirty="0"/>
          </a:p>
        </p:txBody>
      </p:sp>
      <p:sp>
        <p:nvSpPr>
          <p:cNvPr id="67" name="Text 60"/>
          <p:cNvSpPr txBox="1"/>
          <p:nvPr/>
        </p:nvSpPr>
        <p:spPr>
          <a:xfrm>
            <a:off x="9451848" y="3721608"/>
            <a:ext cx="2051304" cy="411480"/>
          </a:xfrm>
          <a:prstGeom prst="rect">
            <a:avLst/>
          </a:prstGeom>
          <a:noFill/>
          <a:ln/>
        </p:spPr>
        <p:txBody>
          <a:bodyPr wrap="square" lIns="0" tIns="0" rIns="0" bIns="0" rtlCol="0" anchor="t"/>
          <a:lstStyle/>
          <a:p>
            <a:pPr indent="0" marL="0">
              <a:buNone/>
            </a:pPr>
            <a:r>
              <a:rPr lang="en-US" sz="1200" dirty="0">
                <a:solidFill>
                  <a:srgbClr val="4B5563"/>
                </a:solidFill>
                <a:latin typeface="Calibri" pitchFamily="34" charset="0"/>
                <a:ea typeface="Calibri" pitchFamily="34" charset="-122"/>
                <a:cs typeface="Calibri" pitchFamily="34" charset="-120"/>
              </a:rPr>
              <a:t>HiCo-Nav method, open_clip, Qwen2.5</a:t>
            </a:r>
            <a:endParaRPr lang="en-US" sz="1200" dirty="0"/>
          </a:p>
        </p:txBody>
      </p:sp>
      <p:sp>
        <p:nvSpPr>
          <p:cNvPr id="68" name="Shape 61"/>
          <p:cNvSpPr/>
          <p:nvPr/>
        </p:nvSpPr>
        <p:spPr>
          <a:xfrm>
            <a:off x="9451848" y="4160520"/>
            <a:ext cx="2005584" cy="237744"/>
          </a:xfrm>
          <a:prstGeom prst="roundRect">
            <a:avLst>
              <a:gd name="adj" fmla="val 50000"/>
            </a:avLst>
          </a:prstGeom>
          <a:solidFill>
            <a:srgbClr val="DBEAFE"/>
          </a:solidFill>
          <a:ln/>
        </p:spPr>
      </p:sp>
      <p:sp>
        <p:nvSpPr>
          <p:cNvPr id="69" name="Text 62"/>
          <p:cNvSpPr txBox="1"/>
          <p:nvPr/>
        </p:nvSpPr>
        <p:spPr>
          <a:xfrm>
            <a:off x="9451848" y="4160520"/>
            <a:ext cx="2005584" cy="237744"/>
          </a:xfrm>
          <a:prstGeom prst="rect">
            <a:avLst/>
          </a:prstGeom>
          <a:noFill/>
          <a:ln/>
        </p:spPr>
        <p:txBody>
          <a:bodyPr wrap="square" lIns="0" tIns="0" rIns="0" bIns="0" rtlCol="0" anchor="ctr"/>
          <a:lstStyle/>
          <a:p>
            <a:pPr algn="ctr" indent="0" marL="0">
              <a:buNone/>
            </a:pPr>
            <a:r>
              <a:rPr lang="en-US" sz="1100" b="1" dirty="0">
                <a:solidFill>
                  <a:srgbClr val="0068B5"/>
                </a:solidFill>
                <a:latin typeface="Calibri" pitchFamily="34" charset="0"/>
                <a:ea typeface="Calibri" pitchFamily="34" charset="-122"/>
                <a:cs typeface="Calibri" pitchFamily="34" charset="-120"/>
              </a:rPr>
              <a:t>Leads M0 M6 M9</a:t>
            </a:r>
            <a:endParaRPr lang="en-US" sz="1100" dirty="0"/>
          </a:p>
        </p:txBody>
      </p:sp>
      <p:sp>
        <p:nvSpPr>
          <p:cNvPr id="70" name="Shape 63"/>
          <p:cNvSpPr/>
          <p:nvPr/>
        </p:nvSpPr>
        <p:spPr>
          <a:xfrm>
            <a:off x="4160520" y="4709160"/>
            <a:ext cx="7479792" cy="1188720"/>
          </a:xfrm>
          <a:prstGeom prst="roundRect">
            <a:avLst>
              <a:gd name="adj" fmla="val 7692"/>
            </a:avLst>
          </a:prstGeom>
          <a:solidFill>
            <a:srgbClr val="16213A"/>
          </a:solidFill>
          <a:ln/>
        </p:spPr>
      </p:sp>
      <p:sp>
        <p:nvSpPr>
          <p:cNvPr id="71" name="Text 64"/>
          <p:cNvSpPr txBox="1"/>
          <p:nvPr/>
        </p:nvSpPr>
        <p:spPr>
          <a:xfrm>
            <a:off x="4389120" y="4828032"/>
            <a:ext cx="2743200" cy="228600"/>
          </a:xfrm>
          <a:prstGeom prst="rect">
            <a:avLst/>
          </a:prstGeom>
          <a:noFill/>
          <a:ln/>
        </p:spPr>
        <p:txBody>
          <a:bodyPr wrap="square" lIns="0" tIns="0" rIns="0" bIns="0" rtlCol="0" anchor="ctr"/>
          <a:lstStyle/>
          <a:p>
            <a:pPr indent="0" marL="0">
              <a:buNone/>
            </a:pPr>
            <a:r>
              <a:rPr lang="en-US" sz="1100" b="1" spc="150" kern="0" dirty="0">
                <a:solidFill>
                  <a:srgbClr val="7DD3FC"/>
                </a:solidFill>
                <a:latin typeface="Calibri" pitchFamily="34" charset="0"/>
                <a:ea typeface="Calibri" pitchFamily="34" charset="-122"/>
                <a:cs typeface="Calibri" pitchFamily="34" charset="-120"/>
              </a:rPr>
              <a:t>SHARED BASE</a:t>
            </a:r>
            <a:endParaRPr lang="en-US" sz="1100" dirty="0"/>
          </a:p>
        </p:txBody>
      </p:sp>
      <p:sp>
        <p:nvSpPr>
          <p:cNvPr id="72" name="Shape 65"/>
          <p:cNvSpPr/>
          <p:nvPr/>
        </p:nvSpPr>
        <p:spPr>
          <a:xfrm>
            <a:off x="4389120" y="5148072"/>
            <a:ext cx="502920" cy="502920"/>
          </a:xfrm>
          <a:prstGeom prst="ellipse">
            <a:avLst/>
          </a:prstGeom>
          <a:solidFill>
            <a:srgbClr val="0068B5"/>
          </a:solidFill>
          <a:ln/>
        </p:spPr>
      </p:sp>
      <p:pic>
        <p:nvPicPr>
          <p:cNvPr id="73" name="Image 5" descr="preencoded.png">    </p:cNvPr>
          <p:cNvPicPr>
            <a:picLocks noChangeAspect="1"/>
          </p:cNvPicPr>
          <p:nvPr/>
        </p:nvPicPr>
        <p:blipFill>
          <a:blip r:embed="rId6"/>
          <a:stretch>
            <a:fillRect/>
          </a:stretch>
        </p:blipFill>
        <p:spPr>
          <a:xfrm>
            <a:off x="4499762" y="5258714"/>
            <a:ext cx="281635" cy="281635"/>
          </a:xfrm>
          <a:prstGeom prst="rect">
            <a:avLst/>
          </a:prstGeom>
        </p:spPr>
      </p:pic>
      <p:sp>
        <p:nvSpPr>
          <p:cNvPr id="74" name="Text 66"/>
          <p:cNvSpPr txBox="1"/>
          <p:nvPr/>
        </p:nvSpPr>
        <p:spPr>
          <a:xfrm>
            <a:off x="5010912" y="5120640"/>
            <a:ext cx="1655064"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Channel contract</a:t>
            </a:r>
            <a:endParaRPr lang="en-US" sz="1400" dirty="0"/>
          </a:p>
        </p:txBody>
      </p:sp>
      <p:sp>
        <p:nvSpPr>
          <p:cNvPr id="75" name="Text 67"/>
          <p:cNvSpPr txBox="1"/>
          <p:nvPr/>
        </p:nvSpPr>
        <p:spPr>
          <a:xfrm>
            <a:off x="5010912" y="5404104"/>
            <a:ext cx="1655064" cy="274320"/>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an owner for every topic</a:t>
            </a:r>
            <a:endParaRPr lang="en-US" sz="1200" dirty="0"/>
          </a:p>
        </p:txBody>
      </p:sp>
      <p:sp>
        <p:nvSpPr>
          <p:cNvPr id="76" name="Shape 68"/>
          <p:cNvSpPr/>
          <p:nvPr/>
        </p:nvSpPr>
        <p:spPr>
          <a:xfrm>
            <a:off x="6729984" y="5148072"/>
            <a:ext cx="502920" cy="502920"/>
          </a:xfrm>
          <a:prstGeom prst="ellipse">
            <a:avLst/>
          </a:prstGeom>
          <a:solidFill>
            <a:srgbClr val="0068B5"/>
          </a:solidFill>
          <a:ln/>
        </p:spPr>
      </p:sp>
      <p:pic>
        <p:nvPicPr>
          <p:cNvPr id="77" name="Image 6" descr="preencoded.png">    </p:cNvPr>
          <p:cNvPicPr>
            <a:picLocks noChangeAspect="1"/>
          </p:cNvPicPr>
          <p:nvPr/>
        </p:nvPicPr>
        <p:blipFill>
          <a:blip r:embed="rId7"/>
          <a:stretch>
            <a:fillRect/>
          </a:stretch>
        </p:blipFill>
        <p:spPr>
          <a:xfrm>
            <a:off x="6840626" y="5258714"/>
            <a:ext cx="281635" cy="281635"/>
          </a:xfrm>
          <a:prstGeom prst="rect">
            <a:avLst/>
          </a:prstGeom>
        </p:spPr>
      </p:pic>
      <p:sp>
        <p:nvSpPr>
          <p:cNvPr id="78" name="Text 69"/>
          <p:cNvSpPr txBox="1"/>
          <p:nvPr/>
        </p:nvSpPr>
        <p:spPr>
          <a:xfrm>
            <a:off x="7351776" y="5120640"/>
            <a:ext cx="1655064"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7-level test bench</a:t>
            </a:r>
            <a:endParaRPr lang="en-US" sz="1400" dirty="0"/>
          </a:p>
        </p:txBody>
      </p:sp>
      <p:sp>
        <p:nvSpPr>
          <p:cNvPr id="79" name="Text 70"/>
          <p:cNvSpPr txBox="1"/>
          <p:nvPr/>
        </p:nvSpPr>
        <p:spPr>
          <a:xfrm>
            <a:off x="7351776" y="5404104"/>
            <a:ext cx="1655064" cy="274320"/>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L0 static to L6 robot</a:t>
            </a:r>
            <a:endParaRPr lang="en-US" sz="1200" dirty="0"/>
          </a:p>
        </p:txBody>
      </p:sp>
      <p:sp>
        <p:nvSpPr>
          <p:cNvPr id="80" name="Shape 71"/>
          <p:cNvSpPr/>
          <p:nvPr/>
        </p:nvSpPr>
        <p:spPr>
          <a:xfrm>
            <a:off x="9070848" y="5148072"/>
            <a:ext cx="502920" cy="502920"/>
          </a:xfrm>
          <a:prstGeom prst="ellipse">
            <a:avLst/>
          </a:prstGeom>
          <a:solidFill>
            <a:srgbClr val="0068B5"/>
          </a:solidFill>
          <a:ln/>
        </p:spPr>
      </p:sp>
      <p:pic>
        <p:nvPicPr>
          <p:cNvPr id="81" name="Image 7" descr="preencoded.png">    </p:cNvPr>
          <p:cNvPicPr>
            <a:picLocks noChangeAspect="1"/>
          </p:cNvPicPr>
          <p:nvPr/>
        </p:nvPicPr>
        <p:blipFill>
          <a:blip r:embed="rId8"/>
          <a:stretch>
            <a:fillRect/>
          </a:stretch>
        </p:blipFill>
        <p:spPr>
          <a:xfrm>
            <a:off x="9181490" y="5258714"/>
            <a:ext cx="281635" cy="281635"/>
          </a:xfrm>
          <a:prstGeom prst="rect">
            <a:avLst/>
          </a:prstGeom>
        </p:spPr>
      </p:pic>
      <p:sp>
        <p:nvSpPr>
          <p:cNvPr id="82" name="Text 72"/>
          <p:cNvSpPr txBox="1"/>
          <p:nvPr/>
        </p:nvSpPr>
        <p:spPr>
          <a:xfrm>
            <a:off x="9692640" y="5120640"/>
            <a:ext cx="1655064"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CI on every PR</a:t>
            </a:r>
            <a:endParaRPr lang="en-US" sz="1400" dirty="0"/>
          </a:p>
        </p:txBody>
      </p:sp>
      <p:sp>
        <p:nvSpPr>
          <p:cNvPr id="83" name="Text 73"/>
          <p:cNvSpPr txBox="1"/>
          <p:nvPr/>
        </p:nvSpPr>
        <p:spPr>
          <a:xfrm>
            <a:off x="9692640" y="5404104"/>
            <a:ext cx="1655064" cy="274320"/>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plus a GPU runner</a:t>
            </a:r>
            <a:endParaRPr lang="en-US" sz="1200" dirty="0"/>
          </a:p>
        </p:txBody>
      </p:sp>
      <p:sp>
        <p:nvSpPr>
          <p:cNvPr id="84" name="Shape 74"/>
          <p:cNvSpPr/>
          <p:nvPr/>
        </p:nvSpPr>
        <p:spPr>
          <a:xfrm>
            <a:off x="594360" y="6400800"/>
            <a:ext cx="1295019" cy="13716"/>
          </a:xfrm>
          <a:prstGeom prst="rect">
            <a:avLst/>
          </a:prstGeom>
          <a:solidFill>
            <a:srgbClr val="D7DEE8"/>
          </a:solidFill>
          <a:ln/>
        </p:spPr>
      </p:sp>
      <p:sp>
        <p:nvSpPr>
          <p:cNvPr id="85" name="Text 75"/>
          <p:cNvSpPr txBox="1"/>
          <p:nvPr/>
        </p:nvSpPr>
        <p:spPr>
          <a:xfrm>
            <a:off x="548640"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Problem</a:t>
            </a:r>
            <a:endParaRPr lang="en-US" sz="1100" dirty="0"/>
          </a:p>
        </p:txBody>
      </p:sp>
      <p:sp>
        <p:nvSpPr>
          <p:cNvPr id="86" name="Shape 76"/>
          <p:cNvSpPr/>
          <p:nvPr/>
        </p:nvSpPr>
        <p:spPr>
          <a:xfrm>
            <a:off x="1980819" y="6400800"/>
            <a:ext cx="1295019" cy="36576"/>
          </a:xfrm>
          <a:prstGeom prst="rect">
            <a:avLst/>
          </a:prstGeom>
          <a:solidFill>
            <a:srgbClr val="0068B5"/>
          </a:solidFill>
          <a:ln/>
        </p:spPr>
      </p:sp>
      <p:sp>
        <p:nvSpPr>
          <p:cNvPr id="87" name="Text 77"/>
          <p:cNvSpPr txBox="1"/>
          <p:nvPr/>
        </p:nvSpPr>
        <p:spPr>
          <a:xfrm>
            <a:off x="1935099" y="6473952"/>
            <a:ext cx="1386459" cy="201168"/>
          </a:xfrm>
          <a:prstGeom prst="rect">
            <a:avLst/>
          </a:prstGeom>
          <a:noFill/>
          <a:ln/>
        </p:spPr>
        <p:txBody>
          <a:bodyPr wrap="square" lIns="0" tIns="0" rIns="0" bIns="0" rtlCol="0" anchor="ctr"/>
          <a:lstStyle/>
          <a:p>
            <a:pPr algn="ctr" indent="0" marL="0">
              <a:buNone/>
            </a:pPr>
            <a:r>
              <a:rPr lang="en-US" sz="1100" b="1" dirty="0">
                <a:solidFill>
                  <a:srgbClr val="16213A"/>
                </a:solidFill>
                <a:latin typeface="Calibri" pitchFamily="34" charset="0"/>
                <a:ea typeface="Calibri" pitchFamily="34" charset="-122"/>
                <a:cs typeface="Calibri" pitchFamily="34" charset="-120"/>
              </a:rPr>
              <a:t>System</a:t>
            </a:r>
            <a:endParaRPr lang="en-US" sz="1100" dirty="0"/>
          </a:p>
        </p:txBody>
      </p:sp>
      <p:sp>
        <p:nvSpPr>
          <p:cNvPr id="88" name="Shape 78"/>
          <p:cNvSpPr/>
          <p:nvPr/>
        </p:nvSpPr>
        <p:spPr>
          <a:xfrm>
            <a:off x="3367278" y="6400800"/>
            <a:ext cx="1295019" cy="13716"/>
          </a:xfrm>
          <a:prstGeom prst="rect">
            <a:avLst/>
          </a:prstGeom>
          <a:solidFill>
            <a:srgbClr val="D7DEE8"/>
          </a:solidFill>
          <a:ln/>
        </p:spPr>
      </p:sp>
      <p:sp>
        <p:nvSpPr>
          <p:cNvPr id="89" name="Text 79"/>
          <p:cNvSpPr txBox="1"/>
          <p:nvPr/>
        </p:nvSpPr>
        <p:spPr>
          <a:xfrm>
            <a:off x="3321558"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Intent</a:t>
            </a:r>
            <a:endParaRPr lang="en-US" sz="1100" dirty="0"/>
          </a:p>
        </p:txBody>
      </p:sp>
      <p:sp>
        <p:nvSpPr>
          <p:cNvPr id="90" name="Shape 80"/>
          <p:cNvSpPr/>
          <p:nvPr/>
        </p:nvSpPr>
        <p:spPr>
          <a:xfrm>
            <a:off x="4753737" y="6400800"/>
            <a:ext cx="1295019" cy="13716"/>
          </a:xfrm>
          <a:prstGeom prst="rect">
            <a:avLst/>
          </a:prstGeom>
          <a:solidFill>
            <a:srgbClr val="D7DEE8"/>
          </a:solidFill>
          <a:ln/>
        </p:spPr>
      </p:sp>
      <p:sp>
        <p:nvSpPr>
          <p:cNvPr id="91" name="Text 81"/>
          <p:cNvSpPr txBox="1"/>
          <p:nvPr/>
        </p:nvSpPr>
        <p:spPr>
          <a:xfrm>
            <a:off x="4708017"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Explore</a:t>
            </a:r>
            <a:endParaRPr lang="en-US" sz="1100" dirty="0"/>
          </a:p>
        </p:txBody>
      </p:sp>
      <p:sp>
        <p:nvSpPr>
          <p:cNvPr id="92" name="Shape 82"/>
          <p:cNvSpPr/>
          <p:nvPr/>
        </p:nvSpPr>
        <p:spPr>
          <a:xfrm>
            <a:off x="6140196" y="6400800"/>
            <a:ext cx="1295019" cy="13716"/>
          </a:xfrm>
          <a:prstGeom prst="rect">
            <a:avLst/>
          </a:prstGeom>
          <a:solidFill>
            <a:srgbClr val="D7DEE8"/>
          </a:solidFill>
          <a:ln/>
        </p:spPr>
      </p:sp>
      <p:sp>
        <p:nvSpPr>
          <p:cNvPr id="93" name="Text 83"/>
          <p:cNvSpPr txBox="1"/>
          <p:nvPr/>
        </p:nvSpPr>
        <p:spPr>
          <a:xfrm>
            <a:off x="6094476"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Search</a:t>
            </a:r>
            <a:endParaRPr lang="en-US" sz="1100" dirty="0"/>
          </a:p>
        </p:txBody>
      </p:sp>
      <p:sp>
        <p:nvSpPr>
          <p:cNvPr id="94" name="Shape 84"/>
          <p:cNvSpPr/>
          <p:nvPr/>
        </p:nvSpPr>
        <p:spPr>
          <a:xfrm>
            <a:off x="7526655" y="6400800"/>
            <a:ext cx="1295019" cy="13716"/>
          </a:xfrm>
          <a:prstGeom prst="rect">
            <a:avLst/>
          </a:prstGeom>
          <a:solidFill>
            <a:srgbClr val="D7DEE8"/>
          </a:solidFill>
          <a:ln/>
        </p:spPr>
      </p:sp>
      <p:sp>
        <p:nvSpPr>
          <p:cNvPr id="95" name="Text 85"/>
          <p:cNvSpPr txBox="1"/>
          <p:nvPr/>
        </p:nvSpPr>
        <p:spPr>
          <a:xfrm>
            <a:off x="7480935"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Confirm</a:t>
            </a:r>
            <a:endParaRPr lang="en-US" sz="1100" dirty="0"/>
          </a:p>
        </p:txBody>
      </p:sp>
      <p:sp>
        <p:nvSpPr>
          <p:cNvPr id="96" name="Shape 86"/>
          <p:cNvSpPr/>
          <p:nvPr/>
        </p:nvSpPr>
        <p:spPr>
          <a:xfrm>
            <a:off x="8913114" y="6400800"/>
            <a:ext cx="1295019" cy="13716"/>
          </a:xfrm>
          <a:prstGeom prst="rect">
            <a:avLst/>
          </a:prstGeom>
          <a:solidFill>
            <a:srgbClr val="D7DEE8"/>
          </a:solidFill>
          <a:ln/>
        </p:spPr>
      </p:sp>
      <p:sp>
        <p:nvSpPr>
          <p:cNvPr id="97" name="Text 87"/>
          <p:cNvSpPr txBox="1"/>
          <p:nvPr/>
        </p:nvSpPr>
        <p:spPr>
          <a:xfrm>
            <a:off x="8867394"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Grasp</a:t>
            </a:r>
            <a:endParaRPr lang="en-US" sz="1100" dirty="0"/>
          </a:p>
        </p:txBody>
      </p:sp>
      <p:sp>
        <p:nvSpPr>
          <p:cNvPr id="98" name="Shape 88"/>
          <p:cNvSpPr/>
          <p:nvPr/>
        </p:nvSpPr>
        <p:spPr>
          <a:xfrm>
            <a:off x="10299573" y="6400800"/>
            <a:ext cx="1295019" cy="13716"/>
          </a:xfrm>
          <a:prstGeom prst="rect">
            <a:avLst/>
          </a:prstGeom>
          <a:solidFill>
            <a:srgbClr val="D7DEE8"/>
          </a:solidFill>
          <a:ln/>
        </p:spPr>
      </p:sp>
      <p:sp>
        <p:nvSpPr>
          <p:cNvPr id="99" name="Text 89"/>
          <p:cNvSpPr txBox="1"/>
          <p:nvPr/>
        </p:nvSpPr>
        <p:spPr>
          <a:xfrm>
            <a:off x="10253853"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Plan</a:t>
            </a:r>
            <a:endParaRPr lang="en-US" sz="1100" dirty="0"/>
          </a:p>
        </p:txBody>
      </p:sp>
      <p:sp>
        <p:nvSpPr>
          <p:cNvPr id="100" name="Text 90"/>
          <p:cNvSpPr txBox="1"/>
          <p:nvPr/>
        </p:nvSpPr>
        <p:spPr>
          <a:xfrm>
            <a:off x="11091672" y="6035040"/>
            <a:ext cx="548640" cy="22860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213A"/>
        </a:solidFill>
      </p:bgPr>
    </p:bg>
    <p:spTree>
      <p:nvGrpSpPr>
        <p:cNvPr id="1" name=""/>
        <p:cNvGrpSpPr/>
        <p:nvPr/>
      </p:nvGrpSpPr>
      <p:grpSpPr>
        <a:xfrm>
          <a:off x="0" y="0"/>
          <a:ext cx="0" cy="0"/>
          <a:chOff x="0" y="0"/>
          <a:chExt cx="0" cy="0"/>
        </a:xfrm>
      </p:grpSpPr>
      <p:pic>
        <p:nvPicPr>
          <p:cNvPr id="2" name="Image 0" descr="Inside the lab map. Orange: the 26 m hand-pushed path.">    </p:cNvPr>
          <p:cNvPicPr>
            <a:picLocks noChangeAspect="1"/>
          </p:cNvPicPr>
          <p:nvPr/>
        </p:nvPicPr>
        <p:blipFill>
          <a:blip r:embed="rId1"/>
          <a:srcRect l="0" r="0" t="0" b="0"/>
          <a:stretch/>
        </p:blipFill>
        <p:spPr>
          <a:xfrm>
            <a:off x="6355080" y="868680"/>
            <a:ext cx="5285232" cy="4526280"/>
          </a:xfrm>
          <a:prstGeom prst="rect">
            <a:avLst/>
          </a:prstGeom>
        </p:spPr>
      </p:pic>
      <p:sp>
        <p:nvSpPr>
          <p:cNvPr id="3" name="Shape 0"/>
          <p:cNvSpPr/>
          <p:nvPr/>
        </p:nvSpPr>
        <p:spPr>
          <a:xfrm>
            <a:off x="6227064" y="740664"/>
            <a:ext cx="457200" cy="914"/>
          </a:xfrm>
          <a:prstGeom prst="line">
            <a:avLst/>
          </a:prstGeom>
          <a:noFill/>
          <a:ln w="31750">
            <a:solidFill>
              <a:srgbClr val="7DD3FC"/>
            </a:solidFill>
            <a:prstDash val="solid"/>
          </a:ln>
        </p:spPr>
      </p:sp>
      <p:sp>
        <p:nvSpPr>
          <p:cNvPr id="4" name="Shape 1"/>
          <p:cNvSpPr/>
          <p:nvPr/>
        </p:nvSpPr>
        <p:spPr>
          <a:xfrm>
            <a:off x="6227064" y="740664"/>
            <a:ext cx="914" cy="457200"/>
          </a:xfrm>
          <a:prstGeom prst="line">
            <a:avLst/>
          </a:prstGeom>
          <a:noFill/>
          <a:ln w="31750">
            <a:solidFill>
              <a:srgbClr val="7DD3FC"/>
            </a:solidFill>
            <a:prstDash val="solid"/>
          </a:ln>
        </p:spPr>
      </p:sp>
      <p:sp>
        <p:nvSpPr>
          <p:cNvPr id="5" name="Shape 2"/>
          <p:cNvSpPr/>
          <p:nvPr/>
        </p:nvSpPr>
        <p:spPr>
          <a:xfrm flipH="1">
            <a:off x="11311128" y="740664"/>
            <a:ext cx="457200" cy="914"/>
          </a:xfrm>
          <a:prstGeom prst="line">
            <a:avLst/>
          </a:prstGeom>
          <a:noFill/>
          <a:ln w="31750">
            <a:solidFill>
              <a:srgbClr val="7DD3FC"/>
            </a:solidFill>
            <a:prstDash val="solid"/>
          </a:ln>
        </p:spPr>
      </p:sp>
      <p:sp>
        <p:nvSpPr>
          <p:cNvPr id="6" name="Shape 3"/>
          <p:cNvSpPr/>
          <p:nvPr/>
        </p:nvSpPr>
        <p:spPr>
          <a:xfrm>
            <a:off x="11768328" y="740664"/>
            <a:ext cx="914" cy="457200"/>
          </a:xfrm>
          <a:prstGeom prst="line">
            <a:avLst/>
          </a:prstGeom>
          <a:noFill/>
          <a:ln w="31750">
            <a:solidFill>
              <a:srgbClr val="7DD3FC"/>
            </a:solidFill>
            <a:prstDash val="solid"/>
          </a:ln>
        </p:spPr>
      </p:sp>
      <p:sp>
        <p:nvSpPr>
          <p:cNvPr id="7" name="Shape 4"/>
          <p:cNvSpPr/>
          <p:nvPr/>
        </p:nvSpPr>
        <p:spPr>
          <a:xfrm>
            <a:off x="6227064" y="5522976"/>
            <a:ext cx="457200" cy="914"/>
          </a:xfrm>
          <a:prstGeom prst="line">
            <a:avLst/>
          </a:prstGeom>
          <a:noFill/>
          <a:ln w="31750">
            <a:solidFill>
              <a:srgbClr val="7DD3FC"/>
            </a:solidFill>
            <a:prstDash val="solid"/>
          </a:ln>
        </p:spPr>
      </p:sp>
      <p:sp>
        <p:nvSpPr>
          <p:cNvPr id="8" name="Shape 5"/>
          <p:cNvSpPr/>
          <p:nvPr/>
        </p:nvSpPr>
        <p:spPr>
          <a:xfrm flipV="1">
            <a:off x="6227064" y="5065776"/>
            <a:ext cx="914" cy="457200"/>
          </a:xfrm>
          <a:prstGeom prst="line">
            <a:avLst/>
          </a:prstGeom>
          <a:noFill/>
          <a:ln w="31750">
            <a:solidFill>
              <a:srgbClr val="7DD3FC"/>
            </a:solidFill>
            <a:prstDash val="solid"/>
          </a:ln>
        </p:spPr>
      </p:sp>
      <p:sp>
        <p:nvSpPr>
          <p:cNvPr id="9" name="Shape 6"/>
          <p:cNvSpPr/>
          <p:nvPr/>
        </p:nvSpPr>
        <p:spPr>
          <a:xfrm flipH="1">
            <a:off x="11311128" y="5522976"/>
            <a:ext cx="457200" cy="914"/>
          </a:xfrm>
          <a:prstGeom prst="line">
            <a:avLst/>
          </a:prstGeom>
          <a:noFill/>
          <a:ln w="31750">
            <a:solidFill>
              <a:srgbClr val="7DD3FC"/>
            </a:solidFill>
            <a:prstDash val="solid"/>
          </a:ln>
        </p:spPr>
      </p:sp>
      <p:sp>
        <p:nvSpPr>
          <p:cNvPr id="10" name="Shape 7"/>
          <p:cNvSpPr/>
          <p:nvPr/>
        </p:nvSpPr>
        <p:spPr>
          <a:xfrm flipV="1">
            <a:off x="11768328" y="5065776"/>
            <a:ext cx="914" cy="457200"/>
          </a:xfrm>
          <a:prstGeom prst="line">
            <a:avLst/>
          </a:prstGeom>
          <a:noFill/>
          <a:ln w="31750">
            <a:solidFill>
              <a:srgbClr val="7DD3FC"/>
            </a:solidFill>
            <a:prstDash val="solid"/>
          </a:ln>
        </p:spPr>
      </p:sp>
      <p:sp>
        <p:nvSpPr>
          <p:cNvPr id="11" name="Shape 8"/>
          <p:cNvSpPr/>
          <p:nvPr/>
        </p:nvSpPr>
        <p:spPr>
          <a:xfrm>
            <a:off x="8037195" y="4266819"/>
            <a:ext cx="621792" cy="621792"/>
          </a:xfrm>
          <a:prstGeom prst="ellipse">
            <a:avLst/>
          </a:prstGeom>
          <a:ln w="31750">
            <a:solidFill>
              <a:srgbClr val="FF7A3A"/>
            </a:solidFill>
            <a:prstDash val="solid"/>
          </a:ln>
        </p:spPr>
      </p:sp>
      <p:sp>
        <p:nvSpPr>
          <p:cNvPr id="12" name="Shape 9"/>
          <p:cNvSpPr/>
          <p:nvPr/>
        </p:nvSpPr>
        <p:spPr>
          <a:xfrm>
            <a:off x="8302371" y="4531995"/>
            <a:ext cx="91440" cy="91440"/>
          </a:xfrm>
          <a:prstGeom prst="ellipse">
            <a:avLst/>
          </a:prstGeom>
          <a:solidFill>
            <a:srgbClr val="FF7A3A"/>
          </a:solidFill>
          <a:ln/>
        </p:spPr>
      </p:sp>
      <p:sp>
        <p:nvSpPr>
          <p:cNvPr id="13" name="Shape 10"/>
          <p:cNvSpPr/>
          <p:nvPr/>
        </p:nvSpPr>
        <p:spPr>
          <a:xfrm>
            <a:off x="7872603" y="4577715"/>
            <a:ext cx="219456" cy="914"/>
          </a:xfrm>
          <a:prstGeom prst="line">
            <a:avLst/>
          </a:prstGeom>
          <a:noFill/>
          <a:ln w="31750">
            <a:solidFill>
              <a:srgbClr val="FF7A3A"/>
            </a:solidFill>
            <a:prstDash val="solid"/>
          </a:ln>
        </p:spPr>
      </p:sp>
      <p:sp>
        <p:nvSpPr>
          <p:cNvPr id="14" name="Shape 11"/>
          <p:cNvSpPr/>
          <p:nvPr/>
        </p:nvSpPr>
        <p:spPr>
          <a:xfrm>
            <a:off x="8604123" y="4577715"/>
            <a:ext cx="219456" cy="914"/>
          </a:xfrm>
          <a:prstGeom prst="line">
            <a:avLst/>
          </a:prstGeom>
          <a:noFill/>
          <a:ln w="31750">
            <a:solidFill>
              <a:srgbClr val="FF7A3A"/>
            </a:solidFill>
            <a:prstDash val="solid"/>
          </a:ln>
        </p:spPr>
      </p:sp>
      <p:sp>
        <p:nvSpPr>
          <p:cNvPr id="15" name="Shape 12"/>
          <p:cNvSpPr/>
          <p:nvPr/>
        </p:nvSpPr>
        <p:spPr>
          <a:xfrm>
            <a:off x="8348091" y="4102227"/>
            <a:ext cx="914" cy="219456"/>
          </a:xfrm>
          <a:prstGeom prst="line">
            <a:avLst/>
          </a:prstGeom>
          <a:noFill/>
          <a:ln w="31750">
            <a:solidFill>
              <a:srgbClr val="FF7A3A"/>
            </a:solidFill>
            <a:prstDash val="solid"/>
          </a:ln>
        </p:spPr>
      </p:sp>
      <p:sp>
        <p:nvSpPr>
          <p:cNvPr id="16" name="Shape 13"/>
          <p:cNvSpPr/>
          <p:nvPr/>
        </p:nvSpPr>
        <p:spPr>
          <a:xfrm>
            <a:off x="8348091" y="4833747"/>
            <a:ext cx="914" cy="219456"/>
          </a:xfrm>
          <a:prstGeom prst="line">
            <a:avLst/>
          </a:prstGeom>
          <a:noFill/>
          <a:ln w="31750">
            <a:solidFill>
              <a:srgbClr val="FF7A3A"/>
            </a:solidFill>
            <a:prstDash val="solid"/>
          </a:ln>
        </p:spPr>
      </p:sp>
      <p:sp>
        <p:nvSpPr>
          <p:cNvPr id="17" name="Shape 14"/>
          <p:cNvSpPr/>
          <p:nvPr/>
        </p:nvSpPr>
        <p:spPr>
          <a:xfrm>
            <a:off x="6355080" y="411480"/>
            <a:ext cx="2779776" cy="292608"/>
          </a:xfrm>
          <a:prstGeom prst="roundRect">
            <a:avLst>
              <a:gd name="adj" fmla="val 15625"/>
            </a:avLst>
          </a:prstGeom>
          <a:solidFill>
            <a:srgbClr val="FF7A3A"/>
          </a:solidFill>
          <a:ln/>
        </p:spPr>
      </p:sp>
      <p:sp>
        <p:nvSpPr>
          <p:cNvPr id="18" name="Text 15"/>
          <p:cNvSpPr txBox="1"/>
          <p:nvPr/>
        </p:nvSpPr>
        <p:spPr>
          <a:xfrm>
            <a:off x="6355080" y="411480"/>
            <a:ext cx="2779776" cy="292608"/>
          </a:xfrm>
          <a:prstGeom prst="rect">
            <a:avLst/>
          </a:prstGeom>
          <a:noFill/>
          <a:ln/>
        </p:spPr>
        <p:txBody>
          <a:bodyPr wrap="square" lIns="0" tIns="0" rIns="0" bIns="0" rtlCol="0" anchor="ctr"/>
          <a:lstStyle/>
          <a:p>
            <a:pPr algn="ctr" indent="0" marL="0">
              <a:buNone/>
            </a:pPr>
            <a:r>
              <a:rPr lang="en-US" sz="1100" b="1" spc="100" kern="0" dirty="0">
                <a:solidFill>
                  <a:srgbClr val="16213A"/>
                </a:solidFill>
                <a:latin typeface="Calibri" pitchFamily="34" charset="0"/>
                <a:ea typeface="Calibri" pitchFamily="34" charset="-122"/>
                <a:cs typeface="Calibri" pitchFamily="34" charset="-120"/>
              </a:rPr>
              <a:t>MOBILE BASE  ·  FAST-LIVO2 MAP</a:t>
            </a:r>
            <a:endParaRPr lang="en-US" sz="1100" dirty="0"/>
          </a:p>
        </p:txBody>
      </p:sp>
      <p:sp>
        <p:nvSpPr>
          <p:cNvPr id="19" name="Text 16"/>
          <p:cNvSpPr txBox="1"/>
          <p:nvPr/>
        </p:nvSpPr>
        <p:spPr>
          <a:xfrm>
            <a:off x="6355080" y="5650992"/>
            <a:ext cx="5285232" cy="274320"/>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Inside the lab map. Orange: the 26 m hand-pushed path.</a:t>
            </a:r>
            <a:endParaRPr lang="en-US" sz="1200" dirty="0"/>
          </a:p>
        </p:txBody>
      </p:sp>
      <p:sp>
        <p:nvSpPr>
          <p:cNvPr id="20" name="Text 17"/>
          <p:cNvSpPr txBox="1"/>
          <p:nvPr/>
        </p:nvSpPr>
        <p:spPr>
          <a:xfrm>
            <a:off x="548640" y="1051560"/>
            <a:ext cx="4572000" cy="274320"/>
          </a:xfrm>
          <a:prstGeom prst="rect">
            <a:avLst/>
          </a:prstGeom>
          <a:noFill/>
          <a:ln/>
        </p:spPr>
        <p:txBody>
          <a:bodyPr wrap="square" lIns="0" tIns="0" rIns="0" bIns="0" rtlCol="0" anchor="ctr"/>
          <a:lstStyle/>
          <a:p>
            <a:pPr indent="0" marL="0">
              <a:buNone/>
            </a:pPr>
            <a:r>
              <a:rPr lang="en-US" sz="1200" b="1" spc="200" kern="0" dirty="0">
                <a:solidFill>
                  <a:srgbClr val="FF7A3A"/>
                </a:solidFill>
                <a:latin typeface="Calibri" pitchFamily="34" charset="0"/>
                <a:ea typeface="Calibri" pitchFamily="34" charset="-122"/>
                <a:cs typeface="Calibri" pitchFamily="34" charset="-120"/>
              </a:rPr>
              <a:t>PART 2 / 3</a:t>
            </a:r>
            <a:endParaRPr lang="en-US" sz="1200" dirty="0"/>
          </a:p>
        </p:txBody>
      </p:sp>
      <p:sp>
        <p:nvSpPr>
          <p:cNvPr id="21" name="Text 18"/>
          <p:cNvSpPr txBox="1"/>
          <p:nvPr/>
        </p:nvSpPr>
        <p:spPr>
          <a:xfrm>
            <a:off x="548640" y="1371600"/>
            <a:ext cx="5394960" cy="64008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Results, phase by phase</a:t>
            </a:r>
            <a:endParaRPr lang="en-US" sz="4000" dirty="0"/>
          </a:p>
        </p:txBody>
      </p:sp>
      <p:sp>
        <p:nvSpPr>
          <p:cNvPr id="22" name="Text 19"/>
          <p:cNvSpPr txBox="1"/>
          <p:nvPr/>
        </p:nvSpPr>
        <p:spPr>
          <a:xfrm>
            <a:off x="548640" y="2039112"/>
            <a:ext cx="5394960" cy="365760"/>
          </a:xfrm>
          <a:prstGeom prst="rect">
            <a:avLst/>
          </a:prstGeom>
          <a:noFill/>
          <a:ln/>
        </p:spPr>
        <p:txBody>
          <a:bodyPr wrap="square" lIns="0" tIns="0" rIns="0" bIns="0" rtlCol="0" anchor="t"/>
          <a:lstStyle/>
          <a:p>
            <a:pPr indent="0" marL="0">
              <a:buNone/>
            </a:pPr>
            <a:r>
              <a:rPr lang="en-US" sz="1700" dirty="0">
                <a:solidFill>
                  <a:srgbClr val="CBD5E1"/>
                </a:solidFill>
                <a:latin typeface="Calibri" pitchFamily="34" charset="0"/>
                <a:ea typeface="Calibri" pitchFamily="34" charset="-122"/>
                <a:cs typeface="Calibri" pitchFamily="34" charset="-120"/>
              </a:rPr>
              <a:t>Every stage measured on real hardware or real recordings</a:t>
            </a:r>
            <a:endParaRPr lang="en-US" sz="1700" dirty="0"/>
          </a:p>
        </p:txBody>
      </p:sp>
      <p:sp>
        <p:nvSpPr>
          <p:cNvPr id="23" name="Shape 20"/>
          <p:cNvSpPr/>
          <p:nvPr/>
        </p:nvSpPr>
        <p:spPr>
          <a:xfrm>
            <a:off x="548640" y="2843784"/>
            <a:ext cx="475488" cy="292608"/>
          </a:xfrm>
          <a:prstGeom prst="rect">
            <a:avLst/>
          </a:prstGeom>
          <a:ln w="15875">
            <a:solidFill>
              <a:srgbClr val="7DD3FC"/>
            </a:solidFill>
            <a:prstDash val="solid"/>
          </a:ln>
        </p:spPr>
      </p:sp>
      <p:sp>
        <p:nvSpPr>
          <p:cNvPr id="24" name="Text 21"/>
          <p:cNvSpPr txBox="1"/>
          <p:nvPr/>
        </p:nvSpPr>
        <p:spPr>
          <a:xfrm>
            <a:off x="548640" y="2843784"/>
            <a:ext cx="475488" cy="292608"/>
          </a:xfrm>
          <a:prstGeom prst="rect">
            <a:avLst/>
          </a:prstGeom>
          <a:noFill/>
          <a:ln/>
        </p:spPr>
        <p:txBody>
          <a:bodyPr wrap="square" lIns="0" tIns="0" rIns="0" bIns="0" rtlCol="0" anchor="ctr"/>
          <a:lstStyle/>
          <a:p>
            <a:pPr algn="ctr" indent="0" marL="0">
              <a:buNone/>
            </a:pPr>
            <a:r>
              <a:rPr lang="en-US" sz="1200" b="1" dirty="0">
                <a:solidFill>
                  <a:srgbClr val="7DD3FC"/>
                </a:solidFill>
                <a:latin typeface="Calibri" pitchFamily="34" charset="0"/>
                <a:ea typeface="Calibri" pitchFamily="34" charset="-122"/>
                <a:cs typeface="Calibri" pitchFamily="34" charset="-120"/>
              </a:rPr>
              <a:t>#1</a:t>
            </a:r>
            <a:endParaRPr lang="en-US" sz="1200" dirty="0"/>
          </a:p>
        </p:txBody>
      </p:sp>
      <p:sp>
        <p:nvSpPr>
          <p:cNvPr id="25" name="Text 22"/>
          <p:cNvSpPr txBox="1"/>
          <p:nvPr/>
        </p:nvSpPr>
        <p:spPr>
          <a:xfrm>
            <a:off x="1188720" y="2816352"/>
            <a:ext cx="4937760" cy="34747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Dion</a:t>
            </a:r>
            <a:pPr indent="0" marL="0">
              <a:buNone/>
            </a:pPr>
            <a:r>
              <a:rPr lang="en-US" sz="1500" dirty="0">
                <a:solidFill>
                  <a:srgbClr val="CBD5E1"/>
                </a:solidFill>
                <a:latin typeface="Calibri" pitchFamily="34" charset="0"/>
                <a:ea typeface="Calibri" pitchFamily="34" charset="-122"/>
                <a:cs typeface="Calibri" pitchFamily="34" charset="-120"/>
              </a:rPr>
              <a:t>   intent capture</a:t>
            </a:r>
            <a:endParaRPr lang="en-US" sz="1500" dirty="0"/>
          </a:p>
        </p:txBody>
      </p:sp>
      <p:sp>
        <p:nvSpPr>
          <p:cNvPr id="26" name="Shape 23"/>
          <p:cNvSpPr/>
          <p:nvPr/>
        </p:nvSpPr>
        <p:spPr>
          <a:xfrm>
            <a:off x="548640" y="3319272"/>
            <a:ext cx="475488" cy="292608"/>
          </a:xfrm>
          <a:prstGeom prst="rect">
            <a:avLst/>
          </a:prstGeom>
          <a:ln w="15875">
            <a:solidFill>
              <a:srgbClr val="7DD3FC"/>
            </a:solidFill>
            <a:prstDash val="solid"/>
          </a:ln>
        </p:spPr>
      </p:sp>
      <p:sp>
        <p:nvSpPr>
          <p:cNvPr id="27" name="Text 24"/>
          <p:cNvSpPr txBox="1"/>
          <p:nvPr/>
        </p:nvSpPr>
        <p:spPr>
          <a:xfrm>
            <a:off x="548640" y="3319272"/>
            <a:ext cx="475488" cy="292608"/>
          </a:xfrm>
          <a:prstGeom prst="rect">
            <a:avLst/>
          </a:prstGeom>
          <a:noFill/>
          <a:ln/>
        </p:spPr>
        <p:txBody>
          <a:bodyPr wrap="square" lIns="0" tIns="0" rIns="0" bIns="0" rtlCol="0" anchor="ctr"/>
          <a:lstStyle/>
          <a:p>
            <a:pPr algn="ctr" indent="0" marL="0">
              <a:buNone/>
            </a:pPr>
            <a:r>
              <a:rPr lang="en-US" sz="1200" b="1" dirty="0">
                <a:solidFill>
                  <a:srgbClr val="7DD3FC"/>
                </a:solidFill>
                <a:latin typeface="Calibri" pitchFamily="34" charset="0"/>
                <a:ea typeface="Calibri" pitchFamily="34" charset="-122"/>
                <a:cs typeface="Calibri" pitchFamily="34" charset="-120"/>
              </a:rPr>
              <a:t>#2</a:t>
            </a:r>
            <a:endParaRPr lang="en-US" sz="1200" dirty="0"/>
          </a:p>
        </p:txBody>
      </p:sp>
      <p:sp>
        <p:nvSpPr>
          <p:cNvPr id="28" name="Text 25"/>
          <p:cNvSpPr txBox="1"/>
          <p:nvPr/>
        </p:nvSpPr>
        <p:spPr>
          <a:xfrm>
            <a:off x="1188720" y="3291840"/>
            <a:ext cx="4937760" cy="34747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Sherman</a:t>
            </a:r>
            <a:pPr indent="0" marL="0">
              <a:buNone/>
            </a:pPr>
            <a:r>
              <a:rPr lang="en-US" sz="1500" dirty="0">
                <a:solidFill>
                  <a:srgbClr val="CBD5E1"/>
                </a:solidFill>
                <a:latin typeface="Calibri" pitchFamily="34" charset="0"/>
                <a:ea typeface="Calibri" pitchFamily="34" charset="-122"/>
                <a:cs typeface="Calibri" pitchFamily="34" charset="-120"/>
              </a:rPr>
              <a:t>   the 3D map and the camera frames</a:t>
            </a:r>
            <a:endParaRPr lang="en-US" sz="1500" dirty="0"/>
          </a:p>
        </p:txBody>
      </p:sp>
      <p:sp>
        <p:nvSpPr>
          <p:cNvPr id="29" name="Shape 26"/>
          <p:cNvSpPr/>
          <p:nvPr/>
        </p:nvSpPr>
        <p:spPr>
          <a:xfrm>
            <a:off x="548640" y="3794760"/>
            <a:ext cx="475488" cy="292608"/>
          </a:xfrm>
          <a:prstGeom prst="rect">
            <a:avLst/>
          </a:prstGeom>
          <a:ln w="15875">
            <a:solidFill>
              <a:srgbClr val="7DD3FC"/>
            </a:solidFill>
            <a:prstDash val="solid"/>
          </a:ln>
        </p:spPr>
      </p:sp>
      <p:sp>
        <p:nvSpPr>
          <p:cNvPr id="30" name="Text 27"/>
          <p:cNvSpPr txBox="1"/>
          <p:nvPr/>
        </p:nvSpPr>
        <p:spPr>
          <a:xfrm>
            <a:off x="548640" y="3794760"/>
            <a:ext cx="475488" cy="292608"/>
          </a:xfrm>
          <a:prstGeom prst="rect">
            <a:avLst/>
          </a:prstGeom>
          <a:noFill/>
          <a:ln/>
        </p:spPr>
        <p:txBody>
          <a:bodyPr wrap="square" lIns="0" tIns="0" rIns="0" bIns="0" rtlCol="0" anchor="ctr"/>
          <a:lstStyle/>
          <a:p>
            <a:pPr algn="ctr" indent="0" marL="0">
              <a:buNone/>
            </a:pPr>
            <a:r>
              <a:rPr lang="en-US" sz="1200" b="1" dirty="0">
                <a:solidFill>
                  <a:srgbClr val="7DD3FC"/>
                </a:solidFill>
                <a:latin typeface="Calibri" pitchFamily="34" charset="0"/>
                <a:ea typeface="Calibri" pitchFamily="34" charset="-122"/>
                <a:cs typeface="Calibri" pitchFamily="34" charset="-120"/>
              </a:rPr>
              <a:t>#3</a:t>
            </a:r>
            <a:endParaRPr lang="en-US" sz="1200" dirty="0"/>
          </a:p>
        </p:txBody>
      </p:sp>
      <p:sp>
        <p:nvSpPr>
          <p:cNvPr id="31" name="Text 28"/>
          <p:cNvSpPr txBox="1"/>
          <p:nvPr/>
        </p:nvSpPr>
        <p:spPr>
          <a:xfrm>
            <a:off x="1188720" y="3767328"/>
            <a:ext cx="4937760" cy="34747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Zongzhe</a:t>
            </a:r>
            <a:pPr indent="0" marL="0">
              <a:buNone/>
            </a:pPr>
            <a:r>
              <a:rPr lang="en-US" sz="1500" dirty="0">
                <a:solidFill>
                  <a:srgbClr val="CBD5E1"/>
                </a:solidFill>
                <a:latin typeface="Calibri" pitchFamily="34" charset="0"/>
                <a:ea typeface="Calibri" pitchFamily="34" charset="-122"/>
                <a:cs typeface="Calibri" pitchFamily="34" charset="-120"/>
              </a:rPr>
              <a:t>   the memory graph and search</a:t>
            </a:r>
            <a:endParaRPr lang="en-US" sz="1500" dirty="0"/>
          </a:p>
        </p:txBody>
      </p:sp>
      <p:sp>
        <p:nvSpPr>
          <p:cNvPr id="32" name="Shape 29"/>
          <p:cNvSpPr/>
          <p:nvPr/>
        </p:nvSpPr>
        <p:spPr>
          <a:xfrm>
            <a:off x="548640" y="4270248"/>
            <a:ext cx="475488" cy="292608"/>
          </a:xfrm>
          <a:prstGeom prst="rect">
            <a:avLst/>
          </a:prstGeom>
          <a:ln w="15875">
            <a:solidFill>
              <a:srgbClr val="7DD3FC"/>
            </a:solidFill>
            <a:prstDash val="solid"/>
          </a:ln>
        </p:spPr>
      </p:sp>
      <p:sp>
        <p:nvSpPr>
          <p:cNvPr id="33" name="Text 30"/>
          <p:cNvSpPr txBox="1"/>
          <p:nvPr/>
        </p:nvSpPr>
        <p:spPr>
          <a:xfrm>
            <a:off x="548640" y="4270248"/>
            <a:ext cx="475488" cy="292608"/>
          </a:xfrm>
          <a:prstGeom prst="rect">
            <a:avLst/>
          </a:prstGeom>
          <a:noFill/>
          <a:ln/>
        </p:spPr>
        <p:txBody>
          <a:bodyPr wrap="square" lIns="0" tIns="0" rIns="0" bIns="0" rtlCol="0" anchor="ctr"/>
          <a:lstStyle/>
          <a:p>
            <a:pPr algn="ctr" indent="0" marL="0">
              <a:buNone/>
            </a:pPr>
            <a:r>
              <a:rPr lang="en-US" sz="1200" b="1" dirty="0">
                <a:solidFill>
                  <a:srgbClr val="7DD3FC"/>
                </a:solidFill>
                <a:latin typeface="Calibri" pitchFamily="34" charset="0"/>
                <a:ea typeface="Calibri" pitchFamily="34" charset="-122"/>
                <a:cs typeface="Calibri" pitchFamily="34" charset="-120"/>
              </a:rPr>
              <a:t>#4</a:t>
            </a:r>
            <a:endParaRPr lang="en-US" sz="1200" dirty="0"/>
          </a:p>
        </p:txBody>
      </p:sp>
      <p:sp>
        <p:nvSpPr>
          <p:cNvPr id="34" name="Text 31"/>
          <p:cNvSpPr txBox="1"/>
          <p:nvPr/>
        </p:nvSpPr>
        <p:spPr>
          <a:xfrm>
            <a:off x="1188720" y="4242816"/>
            <a:ext cx="4937760" cy="34747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Dion</a:t>
            </a:r>
            <a:pPr indent="0" marL="0">
              <a:buNone/>
            </a:pPr>
            <a:r>
              <a:rPr lang="en-US" sz="1500" dirty="0">
                <a:solidFill>
                  <a:srgbClr val="CBD5E1"/>
                </a:solidFill>
                <a:latin typeface="Calibri" pitchFamily="34" charset="0"/>
                <a:ea typeface="Calibri" pitchFamily="34" charset="-122"/>
                <a:cs typeface="Calibri" pitchFamily="34" charset="-120"/>
              </a:rPr>
              <a:t>   confirm and grasp</a:t>
            </a:r>
            <a:endParaRPr lang="en-US" sz="1500" dirty="0"/>
          </a:p>
        </p:txBody>
      </p:sp>
      <p:sp>
        <p:nvSpPr>
          <p:cNvPr id="35" name="Shape 32"/>
          <p:cNvSpPr/>
          <p:nvPr/>
        </p:nvSpPr>
        <p:spPr>
          <a:xfrm>
            <a:off x="548640" y="5989320"/>
            <a:ext cx="1600200" cy="64008"/>
          </a:xfrm>
          <a:prstGeom prst="roundRect">
            <a:avLst>
              <a:gd name="adj" fmla="val 42857"/>
            </a:avLst>
          </a:prstGeom>
          <a:solidFill>
            <a:srgbClr val="64748B"/>
          </a:solidFill>
          <a:ln/>
        </p:spPr>
      </p:sp>
      <p:sp>
        <p:nvSpPr>
          <p:cNvPr id="36" name="Text 33"/>
          <p:cNvSpPr txBox="1"/>
          <p:nvPr/>
        </p:nvSpPr>
        <p:spPr>
          <a:xfrm>
            <a:off x="548640" y="6108192"/>
            <a:ext cx="1600200" cy="22860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Problem and plan</a:t>
            </a:r>
            <a:endParaRPr lang="en-US" sz="1100" dirty="0"/>
          </a:p>
        </p:txBody>
      </p:sp>
      <p:sp>
        <p:nvSpPr>
          <p:cNvPr id="37" name="Shape 34"/>
          <p:cNvSpPr/>
          <p:nvPr/>
        </p:nvSpPr>
        <p:spPr>
          <a:xfrm>
            <a:off x="2258568" y="5989320"/>
            <a:ext cx="1600200" cy="64008"/>
          </a:xfrm>
          <a:prstGeom prst="roundRect">
            <a:avLst>
              <a:gd name="adj" fmla="val 42857"/>
            </a:avLst>
          </a:prstGeom>
          <a:solidFill>
            <a:srgbClr val="FF7A3A"/>
          </a:solidFill>
          <a:ln/>
        </p:spPr>
      </p:sp>
      <p:sp>
        <p:nvSpPr>
          <p:cNvPr id="38" name="Text 35"/>
          <p:cNvSpPr txBox="1"/>
          <p:nvPr/>
        </p:nvSpPr>
        <p:spPr>
          <a:xfrm>
            <a:off x="2258568" y="6108192"/>
            <a:ext cx="1600200" cy="2286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Results</a:t>
            </a:r>
            <a:endParaRPr lang="en-US" sz="1100" dirty="0"/>
          </a:p>
        </p:txBody>
      </p:sp>
      <p:sp>
        <p:nvSpPr>
          <p:cNvPr id="39" name="Shape 36"/>
          <p:cNvSpPr/>
          <p:nvPr/>
        </p:nvSpPr>
        <p:spPr>
          <a:xfrm>
            <a:off x="3968496" y="5989320"/>
            <a:ext cx="1600200" cy="64008"/>
          </a:xfrm>
          <a:prstGeom prst="roundRect">
            <a:avLst>
              <a:gd name="adj" fmla="val 42857"/>
            </a:avLst>
          </a:prstGeom>
          <a:solidFill>
            <a:srgbClr val="334155"/>
          </a:solidFill>
          <a:ln/>
        </p:spPr>
      </p:sp>
      <p:sp>
        <p:nvSpPr>
          <p:cNvPr id="40" name="Text 37"/>
          <p:cNvSpPr txBox="1"/>
          <p:nvPr/>
        </p:nvSpPr>
        <p:spPr>
          <a:xfrm>
            <a:off x="3968496" y="6108192"/>
            <a:ext cx="1600200" cy="22860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Where we stand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28600"/>
          </a:xfrm>
          <a:prstGeom prst="rect">
            <a:avLst/>
          </a:prstGeom>
          <a:noFill/>
          <a:ln/>
        </p:spPr>
        <p:txBody>
          <a:bodyPr wrap="square" lIns="0" tIns="0" rIns="0" bIns="0" rtlCol="0" anchor="ctr"/>
          <a:lstStyle/>
          <a:p>
            <a:pPr indent="0" marL="0">
              <a:buNone/>
            </a:pPr>
            <a:r>
              <a:rPr lang="en-US" sz="1100" b="1" spc="150" kern="0" dirty="0">
                <a:solidFill>
                  <a:srgbClr val="0068B5"/>
                </a:solidFill>
                <a:latin typeface="Calibri" pitchFamily="34" charset="0"/>
                <a:ea typeface="Calibri" pitchFamily="34" charset="-122"/>
                <a:cs typeface="Calibri" pitchFamily="34" charset="-120"/>
              </a:rPr>
              <a:t>GAPPLER  ·  DION</a:t>
            </a:r>
            <a:endParaRPr lang="en-US" sz="1100" dirty="0"/>
          </a:p>
        </p:txBody>
      </p:sp>
      <p:sp>
        <p:nvSpPr>
          <p:cNvPr id="3" name="Shape 1"/>
          <p:cNvSpPr/>
          <p:nvPr/>
        </p:nvSpPr>
        <p:spPr>
          <a:xfrm>
            <a:off x="8595360" y="347472"/>
            <a:ext cx="3044952" cy="347472"/>
          </a:xfrm>
          <a:prstGeom prst="roundRect">
            <a:avLst>
              <a:gd name="adj" fmla="val 50000"/>
            </a:avLst>
          </a:prstGeom>
          <a:solidFill>
            <a:srgbClr val="16213A"/>
          </a:solidFill>
          <a:ln/>
        </p:spPr>
      </p:sp>
      <p:sp>
        <p:nvSpPr>
          <p:cNvPr id="4" name="Text 2"/>
          <p:cNvSpPr txBox="1"/>
          <p:nvPr/>
        </p:nvSpPr>
        <p:spPr>
          <a:xfrm>
            <a:off x="8595360" y="347472"/>
            <a:ext cx="3044952" cy="347472"/>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PHASE 1  ·  INTENT CAPTURE</a:t>
            </a:r>
            <a:endParaRPr lang="en-US" sz="1100" dirty="0"/>
          </a:p>
        </p:txBody>
      </p:sp>
      <p:sp>
        <p:nvSpPr>
          <p:cNvPr id="5" name="Text 3"/>
          <p:cNvSpPr txBox="1"/>
          <p:nvPr/>
        </p:nvSpPr>
        <p:spPr>
          <a:xfrm>
            <a:off x="548640" y="777240"/>
            <a:ext cx="11091672" cy="548640"/>
          </a:xfrm>
          <a:prstGeom prst="rect">
            <a:avLst/>
          </a:prstGeom>
          <a:noFill/>
          <a:ln/>
        </p:spPr>
        <p:txBody>
          <a:bodyPr wrap="square" lIns="0" tIns="0" rIns="0" bIns="0" rtlCol="0" anchor="ctr"/>
          <a:lstStyle/>
          <a:p>
            <a:pPr indent="0" marL="0">
              <a:buNone/>
            </a:pPr>
            <a:r>
              <a:rPr lang="en-US" sz="3000" b="1" dirty="0">
                <a:solidFill>
                  <a:srgbClr val="16213A"/>
                </a:solidFill>
                <a:latin typeface="Calibri" pitchFamily="34" charset="0"/>
                <a:ea typeface="Calibri" pitchFamily="34" charset="-122"/>
                <a:cs typeface="Calibri" pitchFamily="34" charset="-120"/>
              </a:rPr>
              <a:t>Speech gives the word, gaze picks the object</a:t>
            </a:r>
            <a:endParaRPr lang="en-US" sz="3000" dirty="0"/>
          </a:p>
        </p:txBody>
      </p:sp>
      <p:sp>
        <p:nvSpPr>
          <p:cNvPr id="6" name="Text 4"/>
          <p:cNvSpPr txBox="1"/>
          <p:nvPr/>
        </p:nvSpPr>
        <p:spPr>
          <a:xfrm>
            <a:off x="548640" y="1325880"/>
            <a:ext cx="11091672" cy="320040"/>
          </a:xfrm>
          <a:prstGeom prst="rect">
            <a:avLst/>
          </a:prstGeom>
          <a:noFill/>
          <a:ln/>
        </p:spPr>
        <p:txBody>
          <a:bodyPr wrap="square" lIns="0" tIns="0" rIns="0" bIns="0" rtlCol="0" anchor="ctr"/>
          <a:lstStyle/>
          <a:p>
            <a:pPr indent="0" marL="0">
              <a:buNone/>
            </a:pPr>
            <a:r>
              <a:rPr lang="en-US" sz="1700" dirty="0">
                <a:solidFill>
                  <a:srgbClr val="4B5563"/>
                </a:solidFill>
                <a:latin typeface="Calibri" pitchFamily="34" charset="0"/>
                <a:ea typeface="Calibri" pitchFamily="34" charset="-122"/>
                <a:cs typeface="Calibri" pitchFamily="34" charset="-120"/>
              </a:rPr>
              <a:t>A one-second gaze vote over SAM 3 masks makes the reference crop sent to the robot</a:t>
            </a:r>
            <a:endParaRPr lang="en-US" sz="1700" dirty="0"/>
          </a:p>
        </p:txBody>
      </p:sp>
      <p:sp>
        <p:nvSpPr>
          <p:cNvPr id="7" name="Shape 5"/>
          <p:cNvSpPr/>
          <p:nvPr/>
        </p:nvSpPr>
        <p:spPr>
          <a:xfrm>
            <a:off x="548640" y="1874520"/>
            <a:ext cx="1805940" cy="777240"/>
          </a:xfrm>
          <a:prstGeom prst="roundRect">
            <a:avLst>
              <a:gd name="adj" fmla="val 11765"/>
            </a:avLst>
          </a:prstGeom>
          <a:solidFill>
            <a:srgbClr val="EEF2F7"/>
          </a:solidFill>
          <a:ln/>
        </p:spPr>
      </p:sp>
      <p:sp>
        <p:nvSpPr>
          <p:cNvPr id="8" name="Shape 6"/>
          <p:cNvSpPr/>
          <p:nvPr/>
        </p:nvSpPr>
        <p:spPr>
          <a:xfrm>
            <a:off x="658368" y="2011680"/>
            <a:ext cx="384048" cy="384048"/>
          </a:xfrm>
          <a:prstGeom prst="ellipse">
            <a:avLst/>
          </a:prstGeom>
          <a:solidFill>
            <a:srgbClr val="0068B5"/>
          </a:solidFill>
          <a:ln/>
        </p:spPr>
      </p:sp>
      <p:pic>
        <p:nvPicPr>
          <p:cNvPr id="9" name="Image 0" descr="preencoded.png">    </p:cNvPr>
          <p:cNvPicPr>
            <a:picLocks noChangeAspect="1"/>
          </p:cNvPicPr>
          <p:nvPr/>
        </p:nvPicPr>
        <p:blipFill>
          <a:blip r:embed="rId1"/>
          <a:stretch>
            <a:fillRect/>
          </a:stretch>
        </p:blipFill>
        <p:spPr>
          <a:xfrm>
            <a:off x="742859" y="2096171"/>
            <a:ext cx="215067" cy="215067"/>
          </a:xfrm>
          <a:prstGeom prst="rect">
            <a:avLst/>
          </a:prstGeom>
        </p:spPr>
      </p:pic>
      <p:sp>
        <p:nvSpPr>
          <p:cNvPr id="10" name="Text 7"/>
          <p:cNvSpPr txBox="1"/>
          <p:nvPr/>
        </p:nvSpPr>
        <p:spPr>
          <a:xfrm>
            <a:off x="1143000" y="1938528"/>
            <a:ext cx="1165860" cy="274320"/>
          </a:xfrm>
          <a:prstGeom prst="rect">
            <a:avLst/>
          </a:prstGeom>
          <a:noFill/>
          <a:ln/>
        </p:spPr>
        <p:txBody>
          <a:bodyPr wrap="square" lIns="0" tIns="0" rIns="0" bIns="0" rtlCol="0" anchor="ctr"/>
          <a:lstStyle/>
          <a:p>
            <a:pPr indent="0" marL="0">
              <a:buNone/>
            </a:pPr>
            <a:r>
              <a:rPr lang="en-US" sz="1400" b="1" dirty="0">
                <a:solidFill>
                  <a:srgbClr val="16213A"/>
                </a:solidFill>
                <a:latin typeface="Calibri" pitchFamily="34" charset="0"/>
                <a:ea typeface="Calibri" pitchFamily="34" charset="-122"/>
                <a:cs typeface="Calibri" pitchFamily="34" charset="-120"/>
              </a:rPr>
              <a:t>Voice</a:t>
            </a:r>
            <a:endParaRPr lang="en-US" sz="1400" dirty="0"/>
          </a:p>
        </p:txBody>
      </p:sp>
      <p:sp>
        <p:nvSpPr>
          <p:cNvPr id="11" name="Text 8"/>
          <p:cNvSpPr txBox="1"/>
          <p:nvPr/>
        </p:nvSpPr>
        <p:spPr>
          <a:xfrm>
            <a:off x="1143000" y="2212848"/>
            <a:ext cx="1147572" cy="411480"/>
          </a:xfrm>
          <a:prstGeom prst="rect">
            <a:avLst/>
          </a:prstGeom>
          <a:noFill/>
          <a:ln/>
        </p:spPr>
        <p:txBody>
          <a:bodyPr wrap="square" lIns="0" tIns="0" rIns="0" bIns="0" rtlCol="0" anchor="t"/>
          <a:lstStyle/>
          <a:p>
            <a:pPr indent="0" marL="0">
              <a:buNone/>
            </a:pPr>
            <a:r>
              <a:rPr lang="en-US" sz="1100" dirty="0">
                <a:solidFill>
                  <a:srgbClr val="4B5563"/>
                </a:solidFill>
                <a:latin typeface="Calibri" pitchFamily="34" charset="0"/>
                <a:ea typeface="Calibri" pitchFamily="34" charset="-122"/>
                <a:cs typeface="Calibri" pitchFamily="34" charset="-120"/>
              </a:rPr>
              <a:t>one word per sentence</a:t>
            </a:r>
            <a:endParaRPr lang="en-US" sz="1100" dirty="0"/>
          </a:p>
        </p:txBody>
      </p:sp>
      <p:sp>
        <p:nvSpPr>
          <p:cNvPr id="12" name="Shape 9"/>
          <p:cNvSpPr/>
          <p:nvPr/>
        </p:nvSpPr>
        <p:spPr>
          <a:xfrm>
            <a:off x="2491740" y="1874520"/>
            <a:ext cx="1805940" cy="777240"/>
          </a:xfrm>
          <a:prstGeom prst="roundRect">
            <a:avLst>
              <a:gd name="adj" fmla="val 11765"/>
            </a:avLst>
          </a:prstGeom>
          <a:solidFill>
            <a:srgbClr val="EEF2F7"/>
          </a:solidFill>
          <a:ln/>
        </p:spPr>
      </p:sp>
      <p:sp>
        <p:nvSpPr>
          <p:cNvPr id="13" name="Shape 10"/>
          <p:cNvSpPr/>
          <p:nvPr/>
        </p:nvSpPr>
        <p:spPr>
          <a:xfrm>
            <a:off x="2601468" y="2011680"/>
            <a:ext cx="384048" cy="384048"/>
          </a:xfrm>
          <a:prstGeom prst="ellipse">
            <a:avLst/>
          </a:prstGeom>
          <a:solidFill>
            <a:srgbClr val="0068B5"/>
          </a:solidFill>
          <a:ln/>
        </p:spPr>
      </p:sp>
      <p:pic>
        <p:nvPicPr>
          <p:cNvPr id="14" name="Image 1" descr="preencoded.png">    </p:cNvPr>
          <p:cNvPicPr>
            <a:picLocks noChangeAspect="1"/>
          </p:cNvPicPr>
          <p:nvPr/>
        </p:nvPicPr>
        <p:blipFill>
          <a:blip r:embed="rId2"/>
          <a:stretch>
            <a:fillRect/>
          </a:stretch>
        </p:blipFill>
        <p:spPr>
          <a:xfrm>
            <a:off x="2685959" y="2096171"/>
            <a:ext cx="215067" cy="215067"/>
          </a:xfrm>
          <a:prstGeom prst="rect">
            <a:avLst/>
          </a:prstGeom>
        </p:spPr>
      </p:pic>
      <p:sp>
        <p:nvSpPr>
          <p:cNvPr id="15" name="Text 11"/>
          <p:cNvSpPr txBox="1"/>
          <p:nvPr/>
        </p:nvSpPr>
        <p:spPr>
          <a:xfrm>
            <a:off x="3086100" y="1938528"/>
            <a:ext cx="1165860" cy="274320"/>
          </a:xfrm>
          <a:prstGeom prst="rect">
            <a:avLst/>
          </a:prstGeom>
          <a:noFill/>
          <a:ln/>
        </p:spPr>
        <p:txBody>
          <a:bodyPr wrap="square" lIns="0" tIns="0" rIns="0" bIns="0" rtlCol="0" anchor="ctr"/>
          <a:lstStyle/>
          <a:p>
            <a:pPr indent="0" marL="0">
              <a:buNone/>
            </a:pPr>
            <a:r>
              <a:rPr lang="en-US" sz="1400" b="1" dirty="0">
                <a:solidFill>
                  <a:srgbClr val="16213A"/>
                </a:solidFill>
                <a:latin typeface="Calibri" pitchFamily="34" charset="0"/>
                <a:ea typeface="Calibri" pitchFamily="34" charset="-122"/>
                <a:cs typeface="Calibri" pitchFamily="34" charset="-120"/>
              </a:rPr>
              <a:t>Moment</a:t>
            </a:r>
            <a:endParaRPr lang="en-US" sz="1400" dirty="0"/>
          </a:p>
        </p:txBody>
      </p:sp>
      <p:sp>
        <p:nvSpPr>
          <p:cNvPr id="16" name="Text 12"/>
          <p:cNvSpPr txBox="1"/>
          <p:nvPr/>
        </p:nvSpPr>
        <p:spPr>
          <a:xfrm>
            <a:off x="3086100" y="2212848"/>
            <a:ext cx="1147572" cy="411480"/>
          </a:xfrm>
          <a:prstGeom prst="rect">
            <a:avLst/>
          </a:prstGeom>
          <a:noFill/>
          <a:ln/>
        </p:spPr>
        <p:txBody>
          <a:bodyPr wrap="square" lIns="0" tIns="0" rIns="0" bIns="0" rtlCol="0" anchor="t"/>
          <a:lstStyle/>
          <a:p>
            <a:pPr indent="0" marL="0">
              <a:buNone/>
            </a:pPr>
            <a:r>
              <a:rPr lang="en-US" sz="1100" dirty="0">
                <a:solidFill>
                  <a:srgbClr val="4B5563"/>
                </a:solidFill>
                <a:latin typeface="Calibri" pitchFamily="34" charset="0"/>
                <a:ea typeface="Calibri" pitchFamily="34" charset="-122"/>
                <a:cs typeface="Calibri" pitchFamily="34" charset="-120"/>
              </a:rPr>
              <a:t>the frame from when you spoke</a:t>
            </a:r>
            <a:endParaRPr lang="en-US" sz="1100" dirty="0"/>
          </a:p>
        </p:txBody>
      </p:sp>
      <p:sp>
        <p:nvSpPr>
          <p:cNvPr id="17" name="Shape 13"/>
          <p:cNvSpPr/>
          <p:nvPr/>
        </p:nvSpPr>
        <p:spPr>
          <a:xfrm>
            <a:off x="4434840" y="1874520"/>
            <a:ext cx="1805940" cy="777240"/>
          </a:xfrm>
          <a:prstGeom prst="roundRect">
            <a:avLst>
              <a:gd name="adj" fmla="val 11765"/>
            </a:avLst>
          </a:prstGeom>
          <a:solidFill>
            <a:srgbClr val="EEF2F7"/>
          </a:solidFill>
          <a:ln/>
        </p:spPr>
      </p:sp>
      <p:sp>
        <p:nvSpPr>
          <p:cNvPr id="18" name="Shape 14"/>
          <p:cNvSpPr/>
          <p:nvPr/>
        </p:nvSpPr>
        <p:spPr>
          <a:xfrm>
            <a:off x="4544568" y="2011680"/>
            <a:ext cx="384048" cy="384048"/>
          </a:xfrm>
          <a:prstGeom prst="ellipse">
            <a:avLst/>
          </a:prstGeom>
          <a:solidFill>
            <a:srgbClr val="0068B5"/>
          </a:solidFill>
          <a:ln/>
        </p:spPr>
      </p:sp>
      <p:pic>
        <p:nvPicPr>
          <p:cNvPr id="19" name="Image 2" descr="preencoded.png">    </p:cNvPr>
          <p:cNvPicPr>
            <a:picLocks noChangeAspect="1"/>
          </p:cNvPicPr>
          <p:nvPr/>
        </p:nvPicPr>
        <p:blipFill>
          <a:blip r:embed="rId3"/>
          <a:stretch>
            <a:fillRect/>
          </a:stretch>
        </p:blipFill>
        <p:spPr>
          <a:xfrm>
            <a:off x="4629059" y="2096171"/>
            <a:ext cx="215067" cy="215067"/>
          </a:xfrm>
          <a:prstGeom prst="rect">
            <a:avLst/>
          </a:prstGeom>
        </p:spPr>
      </p:pic>
      <p:sp>
        <p:nvSpPr>
          <p:cNvPr id="20" name="Text 15"/>
          <p:cNvSpPr txBox="1"/>
          <p:nvPr/>
        </p:nvSpPr>
        <p:spPr>
          <a:xfrm>
            <a:off x="5029200" y="1938528"/>
            <a:ext cx="1165860" cy="274320"/>
          </a:xfrm>
          <a:prstGeom prst="rect">
            <a:avLst/>
          </a:prstGeom>
          <a:noFill/>
          <a:ln/>
        </p:spPr>
        <p:txBody>
          <a:bodyPr wrap="square" lIns="0" tIns="0" rIns="0" bIns="0" rtlCol="0" anchor="ctr"/>
          <a:lstStyle/>
          <a:p>
            <a:pPr indent="0" marL="0">
              <a:buNone/>
            </a:pPr>
            <a:r>
              <a:rPr lang="en-US" sz="1400" b="1" dirty="0">
                <a:solidFill>
                  <a:srgbClr val="16213A"/>
                </a:solidFill>
                <a:latin typeface="Calibri" pitchFamily="34" charset="0"/>
                <a:ea typeface="Calibri" pitchFamily="34" charset="-122"/>
                <a:cs typeface="Calibri" pitchFamily="34" charset="-120"/>
              </a:rPr>
              <a:t>Segment</a:t>
            </a:r>
            <a:endParaRPr lang="en-US" sz="1400" dirty="0"/>
          </a:p>
        </p:txBody>
      </p:sp>
      <p:sp>
        <p:nvSpPr>
          <p:cNvPr id="21" name="Text 16"/>
          <p:cNvSpPr txBox="1"/>
          <p:nvPr/>
        </p:nvSpPr>
        <p:spPr>
          <a:xfrm>
            <a:off x="5029200" y="2212848"/>
            <a:ext cx="1147572" cy="411480"/>
          </a:xfrm>
          <a:prstGeom prst="rect">
            <a:avLst/>
          </a:prstGeom>
          <a:noFill/>
          <a:ln/>
        </p:spPr>
        <p:txBody>
          <a:bodyPr wrap="square" lIns="0" tIns="0" rIns="0" bIns="0" rtlCol="0" anchor="t"/>
          <a:lstStyle/>
          <a:p>
            <a:pPr indent="0" marL="0">
              <a:buNone/>
            </a:pPr>
            <a:r>
              <a:rPr lang="en-US" sz="1100" dirty="0">
                <a:solidFill>
                  <a:srgbClr val="4B5563"/>
                </a:solidFill>
                <a:latin typeface="Calibri" pitchFamily="34" charset="0"/>
                <a:ea typeface="Calibri" pitchFamily="34" charset="-122"/>
                <a:cs typeface="Calibri" pitchFamily="34" charset="-120"/>
              </a:rPr>
              <a:t>SAM 3 finds every “box”</a:t>
            </a:r>
            <a:endParaRPr lang="en-US" sz="1100" dirty="0"/>
          </a:p>
        </p:txBody>
      </p:sp>
      <p:sp>
        <p:nvSpPr>
          <p:cNvPr id="22" name="Shape 17"/>
          <p:cNvSpPr/>
          <p:nvPr/>
        </p:nvSpPr>
        <p:spPr>
          <a:xfrm>
            <a:off x="6377940" y="1874520"/>
            <a:ext cx="1805940" cy="777240"/>
          </a:xfrm>
          <a:prstGeom prst="roundRect">
            <a:avLst>
              <a:gd name="adj" fmla="val 11765"/>
            </a:avLst>
          </a:prstGeom>
          <a:solidFill>
            <a:srgbClr val="EEF2F7"/>
          </a:solidFill>
          <a:ln/>
        </p:spPr>
      </p:sp>
      <p:sp>
        <p:nvSpPr>
          <p:cNvPr id="23" name="Shape 18"/>
          <p:cNvSpPr/>
          <p:nvPr/>
        </p:nvSpPr>
        <p:spPr>
          <a:xfrm>
            <a:off x="6487668" y="2011680"/>
            <a:ext cx="384048" cy="384048"/>
          </a:xfrm>
          <a:prstGeom prst="ellipse">
            <a:avLst/>
          </a:prstGeom>
          <a:solidFill>
            <a:srgbClr val="0068B5"/>
          </a:solidFill>
          <a:ln/>
        </p:spPr>
      </p:sp>
      <p:pic>
        <p:nvPicPr>
          <p:cNvPr id="24" name="Image 3" descr="preencoded.png">    </p:cNvPr>
          <p:cNvPicPr>
            <a:picLocks noChangeAspect="1"/>
          </p:cNvPicPr>
          <p:nvPr/>
        </p:nvPicPr>
        <p:blipFill>
          <a:blip r:embed="rId4"/>
          <a:stretch>
            <a:fillRect/>
          </a:stretch>
        </p:blipFill>
        <p:spPr>
          <a:xfrm>
            <a:off x="6572159" y="2096171"/>
            <a:ext cx="215067" cy="215067"/>
          </a:xfrm>
          <a:prstGeom prst="rect">
            <a:avLst/>
          </a:prstGeom>
        </p:spPr>
      </p:pic>
      <p:sp>
        <p:nvSpPr>
          <p:cNvPr id="25" name="Text 19"/>
          <p:cNvSpPr txBox="1"/>
          <p:nvPr/>
        </p:nvSpPr>
        <p:spPr>
          <a:xfrm>
            <a:off x="6972300" y="1938528"/>
            <a:ext cx="1165860" cy="274320"/>
          </a:xfrm>
          <a:prstGeom prst="rect">
            <a:avLst/>
          </a:prstGeom>
          <a:noFill/>
          <a:ln/>
        </p:spPr>
        <p:txBody>
          <a:bodyPr wrap="square" lIns="0" tIns="0" rIns="0" bIns="0" rtlCol="0" anchor="ctr"/>
          <a:lstStyle/>
          <a:p>
            <a:pPr indent="0" marL="0">
              <a:buNone/>
            </a:pPr>
            <a:r>
              <a:rPr lang="en-US" sz="1400" b="1" dirty="0">
                <a:solidFill>
                  <a:srgbClr val="16213A"/>
                </a:solidFill>
                <a:latin typeface="Calibri" pitchFamily="34" charset="0"/>
                <a:ea typeface="Calibri" pitchFamily="34" charset="-122"/>
                <a:cs typeface="Calibri" pitchFamily="34" charset="-120"/>
              </a:rPr>
              <a:t>Vote</a:t>
            </a:r>
            <a:endParaRPr lang="en-US" sz="1400" dirty="0"/>
          </a:p>
        </p:txBody>
      </p:sp>
      <p:sp>
        <p:nvSpPr>
          <p:cNvPr id="26" name="Text 20"/>
          <p:cNvSpPr txBox="1"/>
          <p:nvPr/>
        </p:nvSpPr>
        <p:spPr>
          <a:xfrm>
            <a:off x="6972300" y="2212848"/>
            <a:ext cx="1147572" cy="411480"/>
          </a:xfrm>
          <a:prstGeom prst="rect">
            <a:avLst/>
          </a:prstGeom>
          <a:noFill/>
          <a:ln/>
        </p:spPr>
        <p:txBody>
          <a:bodyPr wrap="square" lIns="0" tIns="0" rIns="0" bIns="0" rtlCol="0" anchor="t"/>
          <a:lstStyle/>
          <a:p>
            <a:pPr indent="0" marL="0">
              <a:buNone/>
            </a:pPr>
            <a:r>
              <a:rPr lang="en-US" sz="1100" dirty="0">
                <a:solidFill>
                  <a:srgbClr val="4B5563"/>
                </a:solidFill>
                <a:latin typeface="Calibri" pitchFamily="34" charset="0"/>
                <a:ea typeface="Calibri" pitchFamily="34" charset="-122"/>
                <a:cs typeface="Calibri" pitchFamily="34" charset="-120"/>
              </a:rPr>
              <a:t>gaze picks a mask, then crop it</a:t>
            </a:r>
            <a:endParaRPr lang="en-US" sz="1100" dirty="0"/>
          </a:p>
        </p:txBody>
      </p:sp>
      <p:pic>
        <p:nvPicPr>
          <p:cNvPr id="27" name="Image 4" descr="1.0 M  ·  GAZE ON THE BOX, BOX PICKED">    </p:cNvPr>
          <p:cNvPicPr>
            <a:picLocks noChangeAspect="1"/>
          </p:cNvPicPr>
          <p:nvPr/>
        </p:nvPicPr>
        <p:blipFill>
          <a:blip r:embed="rId5"/>
          <a:srcRect l="0" r="0" t="0" b="0"/>
          <a:stretch/>
        </p:blipFill>
        <p:spPr>
          <a:xfrm>
            <a:off x="548640" y="2834640"/>
            <a:ext cx="3726180" cy="2834640"/>
          </a:xfrm>
          <a:prstGeom prst="rect">
            <a:avLst/>
          </a:prstGeom>
        </p:spPr>
      </p:pic>
      <p:sp>
        <p:nvSpPr>
          <p:cNvPr id="28" name="Shape 21"/>
          <p:cNvSpPr/>
          <p:nvPr/>
        </p:nvSpPr>
        <p:spPr>
          <a:xfrm>
            <a:off x="548640" y="5340096"/>
            <a:ext cx="3726180" cy="329184"/>
          </a:xfrm>
          <a:prstGeom prst="rect">
            <a:avLst/>
          </a:prstGeom>
          <a:solidFill>
            <a:srgbClr val="16213A">
              <a:alpha val="80000"/>
            </a:srgbClr>
          </a:solidFill>
          <a:ln/>
        </p:spPr>
      </p:sp>
      <p:sp>
        <p:nvSpPr>
          <p:cNvPr id="29" name="Text 22"/>
          <p:cNvSpPr txBox="1"/>
          <p:nvPr/>
        </p:nvSpPr>
        <p:spPr>
          <a:xfrm>
            <a:off x="685800" y="5340096"/>
            <a:ext cx="3451860" cy="329184"/>
          </a:xfrm>
          <a:prstGeom prst="rect">
            <a:avLst/>
          </a:prstGeom>
          <a:noFill/>
          <a:ln/>
        </p:spPr>
        <p:txBody>
          <a:bodyPr wrap="square" lIns="0" tIns="0" rIns="0" bIns="0"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1.0 M  ·  GAZE ON THE BOX, BOX PICKED</a:t>
            </a:r>
            <a:endParaRPr lang="en-US" sz="1100" dirty="0"/>
          </a:p>
        </p:txBody>
      </p:sp>
      <p:pic>
        <p:nvPicPr>
          <p:cNvPr id="30" name="Image 5" descr="1.5 M  ·  GAZE LANDED ON THE MATS">    </p:cNvPr>
          <p:cNvPicPr>
            <a:picLocks noChangeAspect="1"/>
          </p:cNvPicPr>
          <p:nvPr/>
        </p:nvPicPr>
        <p:blipFill>
          <a:blip r:embed="rId6"/>
          <a:srcRect l="0" r="0" t="0" b="0"/>
          <a:stretch/>
        </p:blipFill>
        <p:spPr>
          <a:xfrm>
            <a:off x="4457700" y="2834640"/>
            <a:ext cx="3726180" cy="2834640"/>
          </a:xfrm>
          <a:prstGeom prst="rect">
            <a:avLst/>
          </a:prstGeom>
        </p:spPr>
      </p:pic>
      <p:sp>
        <p:nvSpPr>
          <p:cNvPr id="31" name="Shape 23"/>
          <p:cNvSpPr/>
          <p:nvPr/>
        </p:nvSpPr>
        <p:spPr>
          <a:xfrm>
            <a:off x="4457700" y="5340096"/>
            <a:ext cx="3726180" cy="329184"/>
          </a:xfrm>
          <a:prstGeom prst="rect">
            <a:avLst/>
          </a:prstGeom>
          <a:solidFill>
            <a:srgbClr val="16213A">
              <a:alpha val="80000"/>
            </a:srgbClr>
          </a:solidFill>
          <a:ln/>
        </p:spPr>
      </p:sp>
      <p:sp>
        <p:nvSpPr>
          <p:cNvPr id="32" name="Text 24"/>
          <p:cNvSpPr txBox="1"/>
          <p:nvPr/>
        </p:nvSpPr>
        <p:spPr>
          <a:xfrm>
            <a:off x="4594860" y="5340096"/>
            <a:ext cx="3451860" cy="329184"/>
          </a:xfrm>
          <a:prstGeom prst="rect">
            <a:avLst/>
          </a:prstGeom>
          <a:noFill/>
          <a:ln/>
        </p:spPr>
        <p:txBody>
          <a:bodyPr wrap="square" lIns="0" tIns="0" rIns="0" bIns="0"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1.5 M  ·  GAZE LANDED ON THE MATS</a:t>
            </a:r>
            <a:endParaRPr lang="en-US" sz="1100" dirty="0"/>
          </a:p>
        </p:txBody>
      </p:sp>
      <p:sp>
        <p:nvSpPr>
          <p:cNvPr id="33" name="Shape 25"/>
          <p:cNvSpPr/>
          <p:nvPr/>
        </p:nvSpPr>
        <p:spPr>
          <a:xfrm>
            <a:off x="8412480" y="1874520"/>
            <a:ext cx="3227832" cy="1737360"/>
          </a:xfrm>
          <a:prstGeom prst="roundRect">
            <a:avLst>
              <a:gd name="adj" fmla="val 5263"/>
            </a:avLst>
          </a:prstGeom>
          <a:solidFill>
            <a:srgbClr val="16213A"/>
          </a:solidFill>
          <a:ln/>
        </p:spPr>
      </p:sp>
      <p:sp>
        <p:nvSpPr>
          <p:cNvPr id="34" name="Text 26"/>
          <p:cNvSpPr txBox="1"/>
          <p:nvPr/>
        </p:nvSpPr>
        <p:spPr>
          <a:xfrm>
            <a:off x="8641080" y="2057400"/>
            <a:ext cx="2862072" cy="228600"/>
          </a:xfrm>
          <a:prstGeom prst="rect">
            <a:avLst/>
          </a:prstGeom>
          <a:noFill/>
          <a:ln/>
        </p:spPr>
        <p:txBody>
          <a:bodyPr wrap="square" lIns="0" tIns="0" rIns="0" bIns="0" rtlCol="0" anchor="ctr"/>
          <a:lstStyle/>
          <a:p>
            <a:pPr indent="0" marL="0">
              <a:buNone/>
            </a:pPr>
            <a:r>
              <a:rPr lang="en-US" sz="1100" b="1" spc="150" kern="0" dirty="0">
                <a:solidFill>
                  <a:srgbClr val="7DD3FC"/>
                </a:solidFill>
                <a:latin typeface="Calibri" pitchFamily="34" charset="0"/>
                <a:ea typeface="Calibri" pitchFamily="34" charset="-122"/>
                <a:cs typeface="Calibri" pitchFamily="34" charset="-120"/>
              </a:rPr>
              <a:t>RIGHT BOX, STEADY STARE</a:t>
            </a:r>
            <a:endParaRPr lang="en-US" sz="1100" dirty="0"/>
          </a:p>
        </p:txBody>
      </p:sp>
      <p:sp>
        <p:nvSpPr>
          <p:cNvPr id="35" name="Text 27"/>
          <p:cNvSpPr txBox="1"/>
          <p:nvPr/>
        </p:nvSpPr>
        <p:spPr>
          <a:xfrm>
            <a:off x="8641080" y="2286000"/>
            <a:ext cx="2862072" cy="777240"/>
          </a:xfrm>
          <a:prstGeom prst="rect">
            <a:avLst/>
          </a:prstGeom>
          <a:noFill/>
          <a:ln/>
        </p:spPr>
        <p:txBody>
          <a:bodyPr wrap="square" lIns="0" tIns="0" rIns="0" bIns="0" rtlCol="0" anchor="b"/>
          <a:lstStyle/>
          <a:p>
            <a:pPr indent="0" marL="0">
              <a:buNone/>
            </a:pPr>
            <a:r>
              <a:rPr lang="en-US" sz="5000" b="1" dirty="0">
                <a:solidFill>
                  <a:srgbClr val="FFFFFF"/>
                </a:solidFill>
                <a:latin typeface="Calibri" pitchFamily="34" charset="0"/>
                <a:ea typeface="Calibri" pitchFamily="34" charset="-122"/>
                <a:cs typeface="Calibri" pitchFamily="34" charset="-120"/>
              </a:rPr>
              <a:t>60</a:t>
            </a:r>
            <a:pPr indent="0" marL="0">
              <a:buNone/>
            </a:pPr>
            <a:r>
              <a:rPr lang="en-US" sz="2200" b="1" dirty="0">
                <a:solidFill>
                  <a:srgbClr val="FF7A3A"/>
                </a:solidFill>
                <a:latin typeface="Calibri" pitchFamily="34" charset="0"/>
                <a:ea typeface="Calibri" pitchFamily="34" charset="-122"/>
                <a:cs typeface="Calibri" pitchFamily="34" charset="-120"/>
              </a:rPr>
              <a:t> of 61</a:t>
            </a:r>
            <a:endParaRPr lang="en-US" sz="5000" dirty="0"/>
          </a:p>
        </p:txBody>
      </p:sp>
      <p:sp>
        <p:nvSpPr>
          <p:cNvPr id="36" name="Text 28"/>
          <p:cNvSpPr txBox="1"/>
          <p:nvPr/>
        </p:nvSpPr>
        <p:spPr>
          <a:xfrm>
            <a:off x="8641080" y="3108960"/>
            <a:ext cx="2862072" cy="411480"/>
          </a:xfrm>
          <a:prstGeom prst="rect">
            <a:avLst/>
          </a:prstGeom>
          <a:noFill/>
          <a:ln/>
        </p:spPr>
        <p:txBody>
          <a:bodyPr wrap="square" lIns="0" tIns="0" rIns="0" bIns="0" rtlCol="0" anchor="t"/>
          <a:lstStyle/>
          <a:p>
            <a:pPr indent="0" marL="0">
              <a:buNone/>
            </a:pPr>
            <a:r>
              <a:rPr lang="en-US" sz="1300" dirty="0">
                <a:solidFill>
                  <a:srgbClr val="CBD5E1"/>
                </a:solidFill>
                <a:latin typeface="Calibri" pitchFamily="34" charset="0"/>
                <a:ea typeface="Calibri" pitchFamily="34" charset="-122"/>
                <a:cs typeface="Calibri" pitchFamily="34" charset="-120"/>
              </a:rPr>
              <a:t>recorded frames, at 1.4 to 2.4 m</a:t>
            </a:r>
            <a:endParaRPr lang="en-US" sz="1300" dirty="0"/>
          </a:p>
        </p:txBody>
      </p:sp>
      <p:sp>
        <p:nvSpPr>
          <p:cNvPr id="37" name="Shape 29"/>
          <p:cNvSpPr/>
          <p:nvPr/>
        </p:nvSpPr>
        <p:spPr>
          <a:xfrm>
            <a:off x="8412480" y="3749040"/>
            <a:ext cx="3227832" cy="822960"/>
          </a:xfrm>
          <a:prstGeom prst="roundRect">
            <a:avLst>
              <a:gd name="adj" fmla="val 11111"/>
            </a:avLst>
          </a:prstGeom>
          <a:solidFill>
            <a:srgbClr val="EEF2F7"/>
          </a:solidFill>
          <a:ln/>
        </p:spPr>
      </p:sp>
      <p:sp>
        <p:nvSpPr>
          <p:cNvPr id="38" name="Shape 30"/>
          <p:cNvSpPr/>
          <p:nvPr/>
        </p:nvSpPr>
        <p:spPr>
          <a:xfrm>
            <a:off x="8577072" y="3931920"/>
            <a:ext cx="457200" cy="457200"/>
          </a:xfrm>
          <a:prstGeom prst="ellipse">
            <a:avLst/>
          </a:prstGeom>
          <a:solidFill>
            <a:srgbClr val="0068B5"/>
          </a:solidFill>
          <a:ln/>
        </p:spPr>
      </p:sp>
      <p:pic>
        <p:nvPicPr>
          <p:cNvPr id="39" name="Image 6" descr="preencoded.png">    </p:cNvPr>
          <p:cNvPicPr>
            <a:picLocks noChangeAspect="1"/>
          </p:cNvPicPr>
          <p:nvPr/>
        </p:nvPicPr>
        <p:blipFill>
          <a:blip r:embed="rId7"/>
          <a:stretch>
            <a:fillRect/>
          </a:stretch>
        </p:blipFill>
        <p:spPr>
          <a:xfrm>
            <a:off x="8677656" y="4032504"/>
            <a:ext cx="256032" cy="256032"/>
          </a:xfrm>
          <a:prstGeom prst="rect">
            <a:avLst/>
          </a:prstGeom>
        </p:spPr>
      </p:pic>
      <p:sp>
        <p:nvSpPr>
          <p:cNvPr id="40" name="Text 31"/>
          <p:cNvSpPr txBox="1"/>
          <p:nvPr/>
        </p:nvSpPr>
        <p:spPr>
          <a:xfrm>
            <a:off x="9189720" y="3831336"/>
            <a:ext cx="2313432" cy="329184"/>
          </a:xfrm>
          <a:prstGeom prst="rect">
            <a:avLst/>
          </a:prstGeom>
          <a:noFill/>
          <a:ln/>
        </p:spPr>
        <p:txBody>
          <a:bodyPr wrap="square" lIns="0" tIns="0" rIns="0" bIns="0" rtlCol="0" anchor="b"/>
          <a:lstStyle/>
          <a:p>
            <a:pPr indent="0" marL="0">
              <a:buNone/>
            </a:pPr>
            <a:r>
              <a:rPr lang="en-US" sz="2000" b="1" dirty="0">
                <a:solidFill>
                  <a:srgbClr val="16213A"/>
                </a:solidFill>
                <a:latin typeface="Calibri" pitchFamily="34" charset="0"/>
                <a:ea typeface="Calibri" pitchFamily="34" charset="-122"/>
                <a:cs typeface="Calibri" pitchFamily="34" charset="-120"/>
              </a:rPr>
              <a:t>4 of 4</a:t>
            </a:r>
            <a:endParaRPr lang="en-US" sz="2000" dirty="0"/>
          </a:p>
        </p:txBody>
      </p:sp>
      <p:sp>
        <p:nvSpPr>
          <p:cNvPr id="41" name="Text 32"/>
          <p:cNvSpPr txBox="1"/>
          <p:nvPr/>
        </p:nvSpPr>
        <p:spPr>
          <a:xfrm>
            <a:off x="9189720" y="4178808"/>
            <a:ext cx="2313432" cy="274320"/>
          </a:xfrm>
          <a:prstGeom prst="rect">
            <a:avLst/>
          </a:prstGeom>
          <a:noFill/>
          <a:ln/>
        </p:spPr>
        <p:txBody>
          <a:bodyPr wrap="square" lIns="0" tIns="0" rIns="0" bIns="0" rtlCol="0" anchor="t"/>
          <a:lstStyle/>
          <a:p>
            <a:pPr indent="0" marL="0">
              <a:buNone/>
            </a:pPr>
            <a:r>
              <a:rPr lang="en-US" sz="1200" dirty="0">
                <a:solidFill>
                  <a:srgbClr val="4B5563"/>
                </a:solidFill>
                <a:latin typeface="Calibri" pitchFamily="34" charset="0"/>
                <a:ea typeface="Calibri" pitchFamily="34" charset="-122"/>
                <a:cs typeface="Calibri" pitchFamily="34" charset="-120"/>
              </a:rPr>
              <a:t>spoken words gave a crop (replay)</a:t>
            </a:r>
            <a:endParaRPr lang="en-US" sz="1200" dirty="0"/>
          </a:p>
        </p:txBody>
      </p:sp>
      <p:sp>
        <p:nvSpPr>
          <p:cNvPr id="42" name="Shape 33"/>
          <p:cNvSpPr/>
          <p:nvPr/>
        </p:nvSpPr>
        <p:spPr>
          <a:xfrm>
            <a:off x="8412480" y="4709160"/>
            <a:ext cx="3227832" cy="960120"/>
          </a:xfrm>
          <a:prstGeom prst="roundRect">
            <a:avLst>
              <a:gd name="adj" fmla="val 9524"/>
            </a:avLst>
          </a:prstGeom>
          <a:solidFill>
            <a:srgbClr val="EEF2F7"/>
          </a:solidFill>
          <a:ln/>
        </p:spPr>
      </p:sp>
      <p:sp>
        <p:nvSpPr>
          <p:cNvPr id="43" name="Text 34"/>
          <p:cNvSpPr txBox="1"/>
          <p:nvPr/>
        </p:nvSpPr>
        <p:spPr>
          <a:xfrm>
            <a:off x="8577072" y="4846320"/>
            <a:ext cx="2953512" cy="201168"/>
          </a:xfrm>
          <a:prstGeom prst="rect">
            <a:avLst/>
          </a:prstGeom>
          <a:noFill/>
          <a:ln/>
        </p:spPr>
        <p:txBody>
          <a:bodyPr wrap="square" lIns="0" tIns="0" rIns="0" bIns="0" rtlCol="0" anchor="ctr"/>
          <a:lstStyle/>
          <a:p>
            <a:pPr indent="0" marL="0">
              <a:buNone/>
            </a:pPr>
            <a:r>
              <a:rPr lang="en-US" sz="1100" b="1" spc="150" kern="0" dirty="0">
                <a:solidFill>
                  <a:srgbClr val="C2410C"/>
                </a:solidFill>
                <a:latin typeface="Calibri" pitchFamily="34" charset="0"/>
                <a:ea typeface="Calibri" pitchFamily="34" charset="-122"/>
                <a:cs typeface="Calibri" pitchFamily="34" charset="-120"/>
              </a:rPr>
              <a:t>LIMIT</a:t>
            </a:r>
            <a:endParaRPr lang="en-US" sz="1100" dirty="0"/>
          </a:p>
        </p:txBody>
      </p:sp>
      <p:sp>
        <p:nvSpPr>
          <p:cNvPr id="44" name="Text 35"/>
          <p:cNvSpPr txBox="1"/>
          <p:nvPr/>
        </p:nvSpPr>
        <p:spPr>
          <a:xfrm>
            <a:off x="8577072" y="5093208"/>
            <a:ext cx="2953512" cy="502920"/>
          </a:xfrm>
          <a:prstGeom prst="rect">
            <a:avLst/>
          </a:prstGeom>
          <a:noFill/>
          <a:ln/>
        </p:spPr>
        <p:txBody>
          <a:bodyPr wrap="square" lIns="0" tIns="0" rIns="0" bIns="0" rtlCol="0" anchor="t"/>
          <a:lstStyle/>
          <a:p>
            <a:pPr indent="0" marL="0">
              <a:buNone/>
            </a:pPr>
            <a:r>
              <a:rPr lang="en-US" sz="1300" dirty="0">
                <a:solidFill>
                  <a:srgbClr val="16213A"/>
                </a:solidFill>
                <a:latin typeface="Calibri" pitchFamily="34" charset="0"/>
                <a:ea typeface="Calibri" pitchFamily="34" charset="-122"/>
                <a:cs typeface="Calibri" pitchFamily="34" charset="-120"/>
              </a:rPr>
              <a:t>Gaze is off by about 5.6 degrees: about 15 cm at 1.5 m</a:t>
            </a:r>
            <a:endParaRPr lang="en-US" sz="1300" dirty="0"/>
          </a:p>
        </p:txBody>
      </p:sp>
      <p:sp>
        <p:nvSpPr>
          <p:cNvPr id="45" name="Text 36"/>
          <p:cNvSpPr txBox="1"/>
          <p:nvPr/>
        </p:nvSpPr>
        <p:spPr>
          <a:xfrm>
            <a:off x="548640" y="5742432"/>
            <a:ext cx="11091672" cy="22860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Blue ring: gaze vote window. Tested on recordings and replay; live stream still throttled.</a:t>
            </a:r>
            <a:endParaRPr lang="en-US" sz="1100" dirty="0"/>
          </a:p>
        </p:txBody>
      </p:sp>
      <p:sp>
        <p:nvSpPr>
          <p:cNvPr id="46" name="Shape 37"/>
          <p:cNvSpPr/>
          <p:nvPr/>
        </p:nvSpPr>
        <p:spPr>
          <a:xfrm>
            <a:off x="594360" y="6400800"/>
            <a:ext cx="1295019" cy="13716"/>
          </a:xfrm>
          <a:prstGeom prst="rect">
            <a:avLst/>
          </a:prstGeom>
          <a:solidFill>
            <a:srgbClr val="D7DEE8"/>
          </a:solidFill>
          <a:ln/>
        </p:spPr>
      </p:sp>
      <p:sp>
        <p:nvSpPr>
          <p:cNvPr id="47" name="Text 38"/>
          <p:cNvSpPr txBox="1"/>
          <p:nvPr/>
        </p:nvSpPr>
        <p:spPr>
          <a:xfrm>
            <a:off x="548640"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Problem</a:t>
            </a:r>
            <a:endParaRPr lang="en-US" sz="1100" dirty="0"/>
          </a:p>
        </p:txBody>
      </p:sp>
      <p:sp>
        <p:nvSpPr>
          <p:cNvPr id="48" name="Shape 39"/>
          <p:cNvSpPr/>
          <p:nvPr/>
        </p:nvSpPr>
        <p:spPr>
          <a:xfrm>
            <a:off x="1980819" y="6400800"/>
            <a:ext cx="1295019" cy="13716"/>
          </a:xfrm>
          <a:prstGeom prst="rect">
            <a:avLst/>
          </a:prstGeom>
          <a:solidFill>
            <a:srgbClr val="D7DEE8"/>
          </a:solidFill>
          <a:ln/>
        </p:spPr>
      </p:sp>
      <p:sp>
        <p:nvSpPr>
          <p:cNvPr id="49" name="Text 40"/>
          <p:cNvSpPr txBox="1"/>
          <p:nvPr/>
        </p:nvSpPr>
        <p:spPr>
          <a:xfrm>
            <a:off x="1935099"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System</a:t>
            </a:r>
            <a:endParaRPr lang="en-US" sz="1100" dirty="0"/>
          </a:p>
        </p:txBody>
      </p:sp>
      <p:sp>
        <p:nvSpPr>
          <p:cNvPr id="50" name="Shape 41"/>
          <p:cNvSpPr/>
          <p:nvPr/>
        </p:nvSpPr>
        <p:spPr>
          <a:xfrm>
            <a:off x="3367278" y="6400800"/>
            <a:ext cx="1295019" cy="36576"/>
          </a:xfrm>
          <a:prstGeom prst="rect">
            <a:avLst/>
          </a:prstGeom>
          <a:solidFill>
            <a:srgbClr val="0068B5"/>
          </a:solidFill>
          <a:ln/>
        </p:spPr>
      </p:sp>
      <p:sp>
        <p:nvSpPr>
          <p:cNvPr id="51" name="Text 42"/>
          <p:cNvSpPr txBox="1"/>
          <p:nvPr/>
        </p:nvSpPr>
        <p:spPr>
          <a:xfrm>
            <a:off x="3321558" y="6473952"/>
            <a:ext cx="1386459" cy="201168"/>
          </a:xfrm>
          <a:prstGeom prst="rect">
            <a:avLst/>
          </a:prstGeom>
          <a:noFill/>
          <a:ln/>
        </p:spPr>
        <p:txBody>
          <a:bodyPr wrap="square" lIns="0" tIns="0" rIns="0" bIns="0" rtlCol="0" anchor="ctr"/>
          <a:lstStyle/>
          <a:p>
            <a:pPr algn="ctr" indent="0" marL="0">
              <a:buNone/>
            </a:pPr>
            <a:r>
              <a:rPr lang="en-US" sz="1100" b="1" dirty="0">
                <a:solidFill>
                  <a:srgbClr val="16213A"/>
                </a:solidFill>
                <a:latin typeface="Calibri" pitchFamily="34" charset="0"/>
                <a:ea typeface="Calibri" pitchFamily="34" charset="-122"/>
                <a:cs typeface="Calibri" pitchFamily="34" charset="-120"/>
              </a:rPr>
              <a:t>Intent</a:t>
            </a:r>
            <a:endParaRPr lang="en-US" sz="1100" dirty="0"/>
          </a:p>
        </p:txBody>
      </p:sp>
      <p:sp>
        <p:nvSpPr>
          <p:cNvPr id="52" name="Shape 43"/>
          <p:cNvSpPr/>
          <p:nvPr/>
        </p:nvSpPr>
        <p:spPr>
          <a:xfrm>
            <a:off x="4753737" y="6400800"/>
            <a:ext cx="1295019" cy="13716"/>
          </a:xfrm>
          <a:prstGeom prst="rect">
            <a:avLst/>
          </a:prstGeom>
          <a:solidFill>
            <a:srgbClr val="D7DEE8"/>
          </a:solidFill>
          <a:ln/>
        </p:spPr>
      </p:sp>
      <p:sp>
        <p:nvSpPr>
          <p:cNvPr id="53" name="Text 44"/>
          <p:cNvSpPr txBox="1"/>
          <p:nvPr/>
        </p:nvSpPr>
        <p:spPr>
          <a:xfrm>
            <a:off x="4708017"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Explore</a:t>
            </a:r>
            <a:endParaRPr lang="en-US" sz="1100" dirty="0"/>
          </a:p>
        </p:txBody>
      </p:sp>
      <p:sp>
        <p:nvSpPr>
          <p:cNvPr id="54" name="Shape 45"/>
          <p:cNvSpPr/>
          <p:nvPr/>
        </p:nvSpPr>
        <p:spPr>
          <a:xfrm>
            <a:off x="6140196" y="6400800"/>
            <a:ext cx="1295019" cy="13716"/>
          </a:xfrm>
          <a:prstGeom prst="rect">
            <a:avLst/>
          </a:prstGeom>
          <a:solidFill>
            <a:srgbClr val="D7DEE8"/>
          </a:solidFill>
          <a:ln/>
        </p:spPr>
      </p:sp>
      <p:sp>
        <p:nvSpPr>
          <p:cNvPr id="55" name="Text 46"/>
          <p:cNvSpPr txBox="1"/>
          <p:nvPr/>
        </p:nvSpPr>
        <p:spPr>
          <a:xfrm>
            <a:off x="6094476"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Search</a:t>
            </a:r>
            <a:endParaRPr lang="en-US" sz="1100" dirty="0"/>
          </a:p>
        </p:txBody>
      </p:sp>
      <p:sp>
        <p:nvSpPr>
          <p:cNvPr id="56" name="Shape 47"/>
          <p:cNvSpPr/>
          <p:nvPr/>
        </p:nvSpPr>
        <p:spPr>
          <a:xfrm>
            <a:off x="7526655" y="6400800"/>
            <a:ext cx="1295019" cy="13716"/>
          </a:xfrm>
          <a:prstGeom prst="rect">
            <a:avLst/>
          </a:prstGeom>
          <a:solidFill>
            <a:srgbClr val="D7DEE8"/>
          </a:solidFill>
          <a:ln/>
        </p:spPr>
      </p:sp>
      <p:sp>
        <p:nvSpPr>
          <p:cNvPr id="57" name="Text 48"/>
          <p:cNvSpPr txBox="1"/>
          <p:nvPr/>
        </p:nvSpPr>
        <p:spPr>
          <a:xfrm>
            <a:off x="7480935"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Confirm</a:t>
            </a:r>
            <a:endParaRPr lang="en-US" sz="1100" dirty="0"/>
          </a:p>
        </p:txBody>
      </p:sp>
      <p:sp>
        <p:nvSpPr>
          <p:cNvPr id="58" name="Shape 49"/>
          <p:cNvSpPr/>
          <p:nvPr/>
        </p:nvSpPr>
        <p:spPr>
          <a:xfrm>
            <a:off x="8913114" y="6400800"/>
            <a:ext cx="1295019" cy="13716"/>
          </a:xfrm>
          <a:prstGeom prst="rect">
            <a:avLst/>
          </a:prstGeom>
          <a:solidFill>
            <a:srgbClr val="D7DEE8"/>
          </a:solidFill>
          <a:ln/>
        </p:spPr>
      </p:sp>
      <p:sp>
        <p:nvSpPr>
          <p:cNvPr id="59" name="Text 50"/>
          <p:cNvSpPr txBox="1"/>
          <p:nvPr/>
        </p:nvSpPr>
        <p:spPr>
          <a:xfrm>
            <a:off x="8867394"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Grasp</a:t>
            </a:r>
            <a:endParaRPr lang="en-US" sz="1100" dirty="0"/>
          </a:p>
        </p:txBody>
      </p:sp>
      <p:sp>
        <p:nvSpPr>
          <p:cNvPr id="60" name="Shape 51"/>
          <p:cNvSpPr/>
          <p:nvPr/>
        </p:nvSpPr>
        <p:spPr>
          <a:xfrm>
            <a:off x="10299573" y="6400800"/>
            <a:ext cx="1295019" cy="13716"/>
          </a:xfrm>
          <a:prstGeom prst="rect">
            <a:avLst/>
          </a:prstGeom>
          <a:solidFill>
            <a:srgbClr val="D7DEE8"/>
          </a:solidFill>
          <a:ln/>
        </p:spPr>
      </p:sp>
      <p:sp>
        <p:nvSpPr>
          <p:cNvPr id="61" name="Text 52"/>
          <p:cNvSpPr txBox="1"/>
          <p:nvPr/>
        </p:nvSpPr>
        <p:spPr>
          <a:xfrm>
            <a:off x="10253853"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Plan</a:t>
            </a:r>
            <a:endParaRPr lang="en-US" sz="1100" dirty="0"/>
          </a:p>
        </p:txBody>
      </p:sp>
      <p:sp>
        <p:nvSpPr>
          <p:cNvPr id="62" name="Text 53"/>
          <p:cNvSpPr txBox="1"/>
          <p:nvPr/>
        </p:nvSpPr>
        <p:spPr>
          <a:xfrm>
            <a:off x="11091672" y="6035040"/>
            <a:ext cx="548640" cy="22860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28600"/>
          </a:xfrm>
          <a:prstGeom prst="rect">
            <a:avLst/>
          </a:prstGeom>
          <a:noFill/>
          <a:ln/>
        </p:spPr>
        <p:txBody>
          <a:bodyPr wrap="square" lIns="0" tIns="0" rIns="0" bIns="0" rtlCol="0" anchor="ctr"/>
          <a:lstStyle/>
          <a:p>
            <a:pPr indent="0" marL="0">
              <a:buNone/>
            </a:pPr>
            <a:r>
              <a:rPr lang="en-US" sz="1100" b="1" spc="150" kern="0" dirty="0">
                <a:solidFill>
                  <a:srgbClr val="0068B5"/>
                </a:solidFill>
                <a:latin typeface="Calibri" pitchFamily="34" charset="0"/>
                <a:ea typeface="Calibri" pitchFamily="34" charset="-122"/>
                <a:cs typeface="Calibri" pitchFamily="34" charset="-120"/>
              </a:rPr>
              <a:t>GAPPLER  ·  SHERMAN</a:t>
            </a:r>
            <a:endParaRPr lang="en-US" sz="1100" dirty="0"/>
          </a:p>
        </p:txBody>
      </p:sp>
      <p:sp>
        <p:nvSpPr>
          <p:cNvPr id="3" name="Shape 1"/>
          <p:cNvSpPr/>
          <p:nvPr/>
        </p:nvSpPr>
        <p:spPr>
          <a:xfrm>
            <a:off x="8499348" y="347472"/>
            <a:ext cx="3140964" cy="347472"/>
          </a:xfrm>
          <a:prstGeom prst="roundRect">
            <a:avLst>
              <a:gd name="adj" fmla="val 50000"/>
            </a:avLst>
          </a:prstGeom>
          <a:solidFill>
            <a:srgbClr val="16213A"/>
          </a:solidFill>
          <a:ln/>
        </p:spPr>
      </p:sp>
      <p:sp>
        <p:nvSpPr>
          <p:cNvPr id="4" name="Text 2"/>
          <p:cNvSpPr txBox="1"/>
          <p:nvPr/>
        </p:nvSpPr>
        <p:spPr>
          <a:xfrm>
            <a:off x="8499348" y="347472"/>
            <a:ext cx="3140964" cy="347472"/>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PHASE 2  ·  EXPLORE AND MAP</a:t>
            </a:r>
            <a:endParaRPr lang="en-US" sz="1100" dirty="0"/>
          </a:p>
        </p:txBody>
      </p:sp>
      <p:sp>
        <p:nvSpPr>
          <p:cNvPr id="5" name="Text 3"/>
          <p:cNvSpPr txBox="1"/>
          <p:nvPr/>
        </p:nvSpPr>
        <p:spPr>
          <a:xfrm>
            <a:off x="548640" y="777240"/>
            <a:ext cx="11091672" cy="548640"/>
          </a:xfrm>
          <a:prstGeom prst="rect">
            <a:avLst/>
          </a:prstGeom>
          <a:noFill/>
          <a:ln/>
        </p:spPr>
        <p:txBody>
          <a:bodyPr wrap="square" lIns="0" tIns="0" rIns="0" bIns="0" rtlCol="0" anchor="ctr"/>
          <a:lstStyle/>
          <a:p>
            <a:pPr indent="0" marL="0">
              <a:buNone/>
            </a:pPr>
            <a:r>
              <a:rPr lang="en-US" sz="3000" b="1" dirty="0">
                <a:solidFill>
                  <a:srgbClr val="16213A"/>
                </a:solidFill>
                <a:latin typeface="Calibri" pitchFamily="34" charset="0"/>
                <a:ea typeface="Calibri" pitchFamily="34" charset="-122"/>
                <a:cs typeface="Calibri" pitchFamily="34" charset="-120"/>
              </a:rPr>
              <a:t>A 3D map that closes within 12 mm</a:t>
            </a:r>
            <a:endParaRPr lang="en-US" sz="3000" dirty="0"/>
          </a:p>
        </p:txBody>
      </p:sp>
      <p:sp>
        <p:nvSpPr>
          <p:cNvPr id="6" name="Text 4"/>
          <p:cNvSpPr txBox="1"/>
          <p:nvPr/>
        </p:nvSpPr>
        <p:spPr>
          <a:xfrm>
            <a:off x="548640" y="1325880"/>
            <a:ext cx="11091672" cy="320040"/>
          </a:xfrm>
          <a:prstGeom prst="rect">
            <a:avLst/>
          </a:prstGeom>
          <a:noFill/>
          <a:ln/>
        </p:spPr>
        <p:txBody>
          <a:bodyPr wrap="square" lIns="0" tIns="0" rIns="0" bIns="0" rtlCol="0" anchor="ctr"/>
          <a:lstStyle/>
          <a:p>
            <a:pPr indent="0" marL="0">
              <a:buNone/>
            </a:pPr>
            <a:r>
              <a:rPr lang="en-US" sz="1700" dirty="0">
                <a:solidFill>
                  <a:srgbClr val="4B5563"/>
                </a:solidFill>
                <a:latin typeface="Calibri" pitchFamily="34" charset="0"/>
                <a:ea typeface="Calibri" pitchFamily="34" charset="-122"/>
                <a:cs typeface="Calibri" pitchFamily="34" charset="-120"/>
              </a:rPr>
              <a:t>FAST-LIVO2 fuses LiDAR, IMU and colour camera into one 3D pose</a:t>
            </a:r>
            <a:endParaRPr lang="en-US" sz="1700" dirty="0"/>
          </a:p>
        </p:txBody>
      </p:sp>
      <p:sp>
        <p:nvSpPr>
          <p:cNvPr id="7" name="Text 5"/>
          <p:cNvSpPr txBox="1"/>
          <p:nvPr/>
        </p:nvSpPr>
        <p:spPr>
          <a:xfrm>
            <a:off x="548640" y="1874520"/>
            <a:ext cx="1828800" cy="228600"/>
          </a:xfrm>
          <a:prstGeom prst="rect">
            <a:avLst/>
          </a:prstGeom>
          <a:noFill/>
          <a:ln/>
        </p:spPr>
        <p:txBody>
          <a:bodyPr wrap="square" lIns="0" tIns="0" rIns="0" bIns="0" rtlCol="0" anchor="ctr"/>
          <a:lstStyle/>
          <a:p>
            <a:pPr indent="0" marL="0">
              <a:buNone/>
            </a:pPr>
            <a:r>
              <a:rPr lang="en-US" sz="1100" b="1" spc="150" kern="0" dirty="0">
                <a:solidFill>
                  <a:srgbClr val="6B7280"/>
                </a:solidFill>
                <a:latin typeface="Calibri" pitchFamily="34" charset="0"/>
                <a:ea typeface="Calibri" pitchFamily="34" charset="-122"/>
                <a:cs typeface="Calibri" pitchFamily="34" charset="-120"/>
              </a:rPr>
              <a:t>THIS PART</a:t>
            </a:r>
            <a:endParaRPr lang="en-US" sz="1100" dirty="0"/>
          </a:p>
        </p:txBody>
      </p:sp>
      <p:sp>
        <p:nvSpPr>
          <p:cNvPr id="8" name="Shape 6"/>
          <p:cNvSpPr/>
          <p:nvPr/>
        </p:nvSpPr>
        <p:spPr>
          <a:xfrm>
            <a:off x="548640" y="2194560"/>
            <a:ext cx="1920240" cy="530352"/>
          </a:xfrm>
          <a:prstGeom prst="roundRect">
            <a:avLst>
              <a:gd name="adj" fmla="val 17241"/>
            </a:avLst>
          </a:prstGeom>
          <a:solidFill>
            <a:srgbClr val="16213A"/>
          </a:solidFill>
          <a:ln/>
        </p:spPr>
      </p:sp>
      <p:sp>
        <p:nvSpPr>
          <p:cNvPr id="9" name="Shape 7"/>
          <p:cNvSpPr/>
          <p:nvPr/>
        </p:nvSpPr>
        <p:spPr>
          <a:xfrm>
            <a:off x="685800" y="2304288"/>
            <a:ext cx="310896" cy="310896"/>
          </a:xfrm>
          <a:prstGeom prst="ellipse">
            <a:avLst/>
          </a:prstGeom>
          <a:solidFill>
            <a:srgbClr val="FFFFFF"/>
          </a:solidFill>
          <a:ln w="12700">
            <a:solidFill>
              <a:srgbClr val="FFFFFF"/>
            </a:solidFill>
            <a:prstDash val="solid"/>
          </a:ln>
        </p:spPr>
      </p:sp>
      <p:sp>
        <p:nvSpPr>
          <p:cNvPr id="10" name="Text 8"/>
          <p:cNvSpPr txBox="1"/>
          <p:nvPr/>
        </p:nvSpPr>
        <p:spPr>
          <a:xfrm>
            <a:off x="685800" y="2304288"/>
            <a:ext cx="310896" cy="310896"/>
          </a:xfrm>
          <a:prstGeom prst="rect">
            <a:avLst/>
          </a:prstGeom>
          <a:noFill/>
          <a:ln/>
        </p:spPr>
        <p:txBody>
          <a:bodyPr wrap="square" lIns="0" tIns="0" rIns="0" bIns="0" rtlCol="0" anchor="ctr"/>
          <a:lstStyle/>
          <a:p>
            <a:pPr algn="ctr" indent="0" marL="0">
              <a:buNone/>
            </a:pPr>
            <a:r>
              <a:rPr lang="en-US" sz="1300" b="1" dirty="0">
                <a:solidFill>
                  <a:srgbClr val="16213A"/>
                </a:solidFill>
                <a:latin typeface="Calibri" pitchFamily="34" charset="0"/>
                <a:ea typeface="Calibri" pitchFamily="34" charset="-122"/>
                <a:cs typeface="Calibri" pitchFamily="34" charset="-120"/>
              </a:rPr>
              <a:t>1</a:t>
            </a:r>
            <a:endParaRPr lang="en-US" sz="1300" dirty="0"/>
          </a:p>
        </p:txBody>
      </p:sp>
      <p:sp>
        <p:nvSpPr>
          <p:cNvPr id="11" name="Text 9"/>
          <p:cNvSpPr txBox="1"/>
          <p:nvPr/>
        </p:nvSpPr>
        <p:spPr>
          <a:xfrm>
            <a:off x="1115568" y="2194560"/>
            <a:ext cx="1325880" cy="53035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3D map</a:t>
            </a:r>
            <a:endParaRPr lang="en-US" sz="1400" dirty="0"/>
          </a:p>
        </p:txBody>
      </p:sp>
      <p:sp>
        <p:nvSpPr>
          <p:cNvPr id="12" name="Shape 10"/>
          <p:cNvSpPr/>
          <p:nvPr/>
        </p:nvSpPr>
        <p:spPr>
          <a:xfrm>
            <a:off x="548640" y="2834640"/>
            <a:ext cx="1920240" cy="530352"/>
          </a:xfrm>
          <a:prstGeom prst="roundRect">
            <a:avLst>
              <a:gd name="adj" fmla="val 17241"/>
            </a:avLst>
          </a:prstGeom>
          <a:solidFill>
            <a:srgbClr val="EEF2F7"/>
          </a:solidFill>
          <a:ln/>
        </p:spPr>
      </p:sp>
      <p:sp>
        <p:nvSpPr>
          <p:cNvPr id="13" name="Shape 11"/>
          <p:cNvSpPr/>
          <p:nvPr/>
        </p:nvSpPr>
        <p:spPr>
          <a:xfrm>
            <a:off x="685800" y="2944368"/>
            <a:ext cx="310896" cy="310896"/>
          </a:xfrm>
          <a:prstGeom prst="ellipse">
            <a:avLst/>
          </a:prstGeom>
          <a:solidFill>
            <a:srgbClr val="EEF2F7"/>
          </a:solidFill>
          <a:ln w="12700">
            <a:solidFill>
              <a:srgbClr val="6B7280"/>
            </a:solidFill>
            <a:prstDash val="solid"/>
          </a:ln>
        </p:spPr>
      </p:sp>
      <p:sp>
        <p:nvSpPr>
          <p:cNvPr id="14" name="Text 12"/>
          <p:cNvSpPr txBox="1"/>
          <p:nvPr/>
        </p:nvSpPr>
        <p:spPr>
          <a:xfrm>
            <a:off x="685800" y="2944368"/>
            <a:ext cx="310896" cy="310896"/>
          </a:xfrm>
          <a:prstGeom prst="rect">
            <a:avLst/>
          </a:prstGeom>
          <a:noFill/>
          <a:ln/>
        </p:spPr>
        <p:txBody>
          <a:bodyPr wrap="square" lIns="0" tIns="0" rIns="0" bIns="0" rtlCol="0" anchor="ctr"/>
          <a:lstStyle/>
          <a:p>
            <a:pPr algn="ctr" indent="0" marL="0">
              <a:buNone/>
            </a:pPr>
            <a:r>
              <a:rPr lang="en-US" sz="1300" b="1" dirty="0">
                <a:solidFill>
                  <a:srgbClr val="6B7280"/>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1115568" y="2834640"/>
            <a:ext cx="1325880" cy="530352"/>
          </a:xfrm>
          <a:prstGeom prst="rect">
            <a:avLst/>
          </a:prstGeom>
          <a:noFill/>
          <a:ln/>
        </p:spPr>
        <p:txBody>
          <a:bodyPr wrap="square" lIns="0" tIns="0" rIns="0" bIns="0" rtlCol="0" anchor="ctr"/>
          <a:lstStyle/>
          <a:p>
            <a:pPr indent="0" marL="0">
              <a:buNone/>
            </a:pPr>
            <a:r>
              <a:rPr lang="en-US" sz="1400" dirty="0">
                <a:solidFill>
                  <a:srgbClr val="4B5563"/>
                </a:solidFill>
                <a:latin typeface="Calibri" pitchFamily="34" charset="0"/>
                <a:ea typeface="Calibri" pitchFamily="34" charset="-122"/>
                <a:cs typeface="Calibri" pitchFamily="34" charset="-120"/>
              </a:rPr>
              <a:t>Camera frames</a:t>
            </a:r>
            <a:endParaRPr lang="en-US" sz="1400" dirty="0"/>
          </a:p>
        </p:txBody>
      </p:sp>
      <p:sp>
        <p:nvSpPr>
          <p:cNvPr id="16" name="Shape 14"/>
          <p:cNvSpPr/>
          <p:nvPr/>
        </p:nvSpPr>
        <p:spPr>
          <a:xfrm>
            <a:off x="548640" y="4434840"/>
            <a:ext cx="1920240" cy="1463040"/>
          </a:xfrm>
          <a:prstGeom prst="roundRect">
            <a:avLst>
              <a:gd name="adj" fmla="val 6250"/>
            </a:avLst>
          </a:prstGeom>
          <a:solidFill>
            <a:srgbClr val="EEF2F7"/>
          </a:solidFill>
          <a:ln/>
        </p:spPr>
      </p:sp>
      <p:sp>
        <p:nvSpPr>
          <p:cNvPr id="17" name="Text 15"/>
          <p:cNvSpPr txBox="1"/>
          <p:nvPr/>
        </p:nvSpPr>
        <p:spPr>
          <a:xfrm>
            <a:off x="713232" y="4572000"/>
            <a:ext cx="1645920" cy="201168"/>
          </a:xfrm>
          <a:prstGeom prst="rect">
            <a:avLst/>
          </a:prstGeom>
          <a:noFill/>
          <a:ln/>
        </p:spPr>
        <p:txBody>
          <a:bodyPr wrap="square" lIns="0" tIns="0" rIns="0" bIns="0" rtlCol="0" anchor="ctr"/>
          <a:lstStyle/>
          <a:p>
            <a:pPr indent="0" marL="0">
              <a:buNone/>
            </a:pPr>
            <a:r>
              <a:rPr lang="en-US" sz="1100" b="1" spc="150" kern="0" dirty="0">
                <a:solidFill>
                  <a:srgbClr val="C2410C"/>
                </a:solidFill>
                <a:latin typeface="Calibri" pitchFamily="34" charset="0"/>
                <a:ea typeface="Calibri" pitchFamily="34" charset="-122"/>
                <a:cs typeface="Calibri" pitchFamily="34" charset="-120"/>
              </a:rPr>
              <a:t>LIMIT</a:t>
            </a:r>
            <a:endParaRPr lang="en-US" sz="1100" dirty="0"/>
          </a:p>
        </p:txBody>
      </p:sp>
      <p:sp>
        <p:nvSpPr>
          <p:cNvPr id="18" name="Text 16"/>
          <p:cNvSpPr txBox="1"/>
          <p:nvPr/>
        </p:nvSpPr>
        <p:spPr>
          <a:xfrm>
            <a:off x="713232" y="4818888"/>
            <a:ext cx="1645920" cy="1005840"/>
          </a:xfrm>
          <a:prstGeom prst="rect">
            <a:avLst/>
          </a:prstGeom>
          <a:noFill/>
          <a:ln/>
        </p:spPr>
        <p:txBody>
          <a:bodyPr wrap="square" lIns="0" tIns="0" rIns="0" bIns="0" rtlCol="0" anchor="t"/>
          <a:lstStyle/>
          <a:p>
            <a:pPr indent="0" marL="0">
              <a:buNone/>
            </a:pPr>
            <a:r>
              <a:rPr lang="en-US" sz="1300" dirty="0">
                <a:solidFill>
                  <a:srgbClr val="16213A"/>
                </a:solidFill>
                <a:latin typeface="Calibri" pitchFamily="34" charset="0"/>
                <a:ea typeface="Calibri" pitchFamily="34" charset="-122"/>
                <a:cs typeface="Calibri" pitchFamily="34" charset="-120"/>
              </a:rPr>
              <a:t>Pushed by hand, not yet driven by Nav2</a:t>
            </a:r>
            <a:endParaRPr lang="en-US" sz="1300" dirty="0"/>
          </a:p>
        </p:txBody>
      </p:sp>
      <p:pic>
        <p:nvPicPr>
          <p:cNvPr id="19" name="Image 0" descr="FAST-LIVO2 coloured point-cloud map of the lab with the 26 m path in orange">    </p:cNvPr>
          <p:cNvPicPr>
            <a:picLocks noChangeAspect="1"/>
          </p:cNvPicPr>
          <p:nvPr/>
        </p:nvPicPr>
        <p:blipFill>
          <a:blip r:embed="rId1"/>
          <a:srcRect l="0" r="0" t="0" b="0"/>
          <a:stretch/>
        </p:blipFill>
        <p:spPr>
          <a:xfrm>
            <a:off x="2697480" y="1874520"/>
            <a:ext cx="5486400" cy="3794760"/>
          </a:xfrm>
          <a:prstGeom prst="rect">
            <a:avLst/>
          </a:prstGeom>
        </p:spPr>
      </p:pic>
      <p:sp>
        <p:nvSpPr>
          <p:cNvPr id="20" name="Shape 17"/>
          <p:cNvSpPr/>
          <p:nvPr/>
        </p:nvSpPr>
        <p:spPr>
          <a:xfrm>
            <a:off x="5495290" y="3921379"/>
            <a:ext cx="438912" cy="438912"/>
          </a:xfrm>
          <a:prstGeom prst="ellipse">
            <a:avLst/>
          </a:prstGeom>
          <a:ln w="25400">
            <a:solidFill>
              <a:srgbClr val="FF7A3A"/>
            </a:solidFill>
            <a:prstDash val="solid"/>
          </a:ln>
        </p:spPr>
      </p:sp>
      <p:sp>
        <p:nvSpPr>
          <p:cNvPr id="21" name="Text 18"/>
          <p:cNvSpPr txBox="1"/>
          <p:nvPr/>
        </p:nvSpPr>
        <p:spPr>
          <a:xfrm>
            <a:off x="2697480" y="5742432"/>
            <a:ext cx="5486400" cy="22860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Hand-pushed 26 m loop, 20 Oct. Orange = path, ring = start and end.</a:t>
            </a:r>
            <a:endParaRPr lang="en-US" sz="1100" dirty="0"/>
          </a:p>
        </p:txBody>
      </p:sp>
      <p:sp>
        <p:nvSpPr>
          <p:cNvPr id="22" name="Shape 19"/>
          <p:cNvSpPr/>
          <p:nvPr/>
        </p:nvSpPr>
        <p:spPr>
          <a:xfrm>
            <a:off x="8412480" y="1874520"/>
            <a:ext cx="3227832" cy="1737360"/>
          </a:xfrm>
          <a:prstGeom prst="roundRect">
            <a:avLst>
              <a:gd name="adj" fmla="val 5263"/>
            </a:avLst>
          </a:prstGeom>
          <a:solidFill>
            <a:srgbClr val="16213A"/>
          </a:solidFill>
          <a:ln/>
        </p:spPr>
      </p:sp>
      <p:sp>
        <p:nvSpPr>
          <p:cNvPr id="23" name="Text 20"/>
          <p:cNvSpPr txBox="1"/>
          <p:nvPr/>
        </p:nvSpPr>
        <p:spPr>
          <a:xfrm>
            <a:off x="8641080" y="2057400"/>
            <a:ext cx="2862072" cy="228600"/>
          </a:xfrm>
          <a:prstGeom prst="rect">
            <a:avLst/>
          </a:prstGeom>
          <a:noFill/>
          <a:ln/>
        </p:spPr>
        <p:txBody>
          <a:bodyPr wrap="square" lIns="0" tIns="0" rIns="0" bIns="0" rtlCol="0" anchor="ctr"/>
          <a:lstStyle/>
          <a:p>
            <a:pPr indent="0" marL="0">
              <a:buNone/>
            </a:pPr>
            <a:r>
              <a:rPr lang="en-US" sz="1100" b="1" spc="150" kern="0" dirty="0">
                <a:solidFill>
                  <a:srgbClr val="7DD3FC"/>
                </a:solidFill>
                <a:latin typeface="Calibri" pitchFamily="34" charset="0"/>
                <a:ea typeface="Calibri" pitchFamily="34" charset="-122"/>
                <a:cs typeface="Calibri" pitchFamily="34" charset="-120"/>
              </a:rPr>
              <a:t>LOOP CLOSURE</a:t>
            </a:r>
            <a:endParaRPr lang="en-US" sz="1100" dirty="0"/>
          </a:p>
        </p:txBody>
      </p:sp>
      <p:sp>
        <p:nvSpPr>
          <p:cNvPr id="24" name="Text 21"/>
          <p:cNvSpPr txBox="1"/>
          <p:nvPr/>
        </p:nvSpPr>
        <p:spPr>
          <a:xfrm>
            <a:off x="8641080" y="2286000"/>
            <a:ext cx="2862072" cy="777240"/>
          </a:xfrm>
          <a:prstGeom prst="rect">
            <a:avLst/>
          </a:prstGeom>
          <a:noFill/>
          <a:ln/>
        </p:spPr>
        <p:txBody>
          <a:bodyPr wrap="square" lIns="0" tIns="0" rIns="0" bIns="0" rtlCol="0" anchor="b"/>
          <a:lstStyle/>
          <a:p>
            <a:pPr indent="0" marL="0">
              <a:buNone/>
            </a:pPr>
            <a:r>
              <a:rPr lang="en-US" sz="5000" b="1" dirty="0">
                <a:solidFill>
                  <a:srgbClr val="FFFFFF"/>
                </a:solidFill>
                <a:latin typeface="Calibri" pitchFamily="34" charset="0"/>
                <a:ea typeface="Calibri" pitchFamily="34" charset="-122"/>
                <a:cs typeface="Calibri" pitchFamily="34" charset="-120"/>
              </a:rPr>
              <a:t>12</a:t>
            </a:r>
            <a:pPr indent="0" marL="0">
              <a:buNone/>
            </a:pPr>
            <a:r>
              <a:rPr lang="en-US" sz="2200" b="1" dirty="0">
                <a:solidFill>
                  <a:srgbClr val="FF7A3A"/>
                </a:solidFill>
                <a:latin typeface="Calibri" pitchFamily="34" charset="0"/>
                <a:ea typeface="Calibri" pitchFamily="34" charset="-122"/>
                <a:cs typeface="Calibri" pitchFamily="34" charset="-120"/>
              </a:rPr>
              <a:t> mm</a:t>
            </a:r>
            <a:endParaRPr lang="en-US" sz="5000" dirty="0"/>
          </a:p>
        </p:txBody>
      </p:sp>
      <p:sp>
        <p:nvSpPr>
          <p:cNvPr id="25" name="Text 22"/>
          <p:cNvSpPr txBox="1"/>
          <p:nvPr/>
        </p:nvSpPr>
        <p:spPr>
          <a:xfrm>
            <a:off x="8641080" y="3108960"/>
            <a:ext cx="2862072" cy="411480"/>
          </a:xfrm>
          <a:prstGeom prst="rect">
            <a:avLst/>
          </a:prstGeom>
          <a:noFill/>
          <a:ln/>
        </p:spPr>
        <p:txBody>
          <a:bodyPr wrap="square" lIns="0" tIns="0" rIns="0" bIns="0" rtlCol="0" anchor="t"/>
          <a:lstStyle/>
          <a:p>
            <a:pPr indent="0" marL="0">
              <a:buNone/>
            </a:pPr>
            <a:r>
              <a:rPr lang="en-US" sz="1300" dirty="0">
                <a:solidFill>
                  <a:srgbClr val="CBD5E1"/>
                </a:solidFill>
                <a:latin typeface="Calibri" pitchFamily="34" charset="0"/>
                <a:ea typeface="Calibri" pitchFamily="34" charset="-122"/>
                <a:cs typeface="Calibri" pitchFamily="34" charset="-120"/>
              </a:rPr>
              <a:t>back to start after 26 m</a:t>
            </a:r>
            <a:endParaRPr lang="en-US" sz="1300" dirty="0"/>
          </a:p>
        </p:txBody>
      </p:sp>
      <p:sp>
        <p:nvSpPr>
          <p:cNvPr id="26" name="Shape 23"/>
          <p:cNvSpPr/>
          <p:nvPr/>
        </p:nvSpPr>
        <p:spPr>
          <a:xfrm>
            <a:off x="8412480" y="3794760"/>
            <a:ext cx="3227832" cy="868680"/>
          </a:xfrm>
          <a:prstGeom prst="roundRect">
            <a:avLst>
              <a:gd name="adj" fmla="val 10526"/>
            </a:avLst>
          </a:prstGeom>
          <a:solidFill>
            <a:srgbClr val="EEF2F7"/>
          </a:solidFill>
          <a:ln/>
        </p:spPr>
      </p:sp>
      <p:sp>
        <p:nvSpPr>
          <p:cNvPr id="27" name="Shape 24"/>
          <p:cNvSpPr/>
          <p:nvPr/>
        </p:nvSpPr>
        <p:spPr>
          <a:xfrm>
            <a:off x="8577072" y="4000500"/>
            <a:ext cx="457200" cy="457200"/>
          </a:xfrm>
          <a:prstGeom prst="ellipse">
            <a:avLst/>
          </a:prstGeom>
          <a:solidFill>
            <a:srgbClr val="0068B5"/>
          </a:solidFill>
          <a:ln/>
        </p:spPr>
      </p:sp>
      <p:pic>
        <p:nvPicPr>
          <p:cNvPr id="28" name="Image 1" descr="preencoded.png">    </p:cNvPr>
          <p:cNvPicPr>
            <a:picLocks noChangeAspect="1"/>
          </p:cNvPicPr>
          <p:nvPr/>
        </p:nvPicPr>
        <p:blipFill>
          <a:blip r:embed="rId2"/>
          <a:stretch>
            <a:fillRect/>
          </a:stretch>
        </p:blipFill>
        <p:spPr>
          <a:xfrm>
            <a:off x="8677656" y="4101084"/>
            <a:ext cx="256032" cy="256032"/>
          </a:xfrm>
          <a:prstGeom prst="rect">
            <a:avLst/>
          </a:prstGeom>
        </p:spPr>
      </p:pic>
      <p:sp>
        <p:nvSpPr>
          <p:cNvPr id="29" name="Text 25"/>
          <p:cNvSpPr txBox="1"/>
          <p:nvPr/>
        </p:nvSpPr>
        <p:spPr>
          <a:xfrm>
            <a:off x="9189720" y="3899916"/>
            <a:ext cx="2313432" cy="329184"/>
          </a:xfrm>
          <a:prstGeom prst="rect">
            <a:avLst/>
          </a:prstGeom>
          <a:noFill/>
          <a:ln/>
        </p:spPr>
        <p:txBody>
          <a:bodyPr wrap="square" lIns="0" tIns="0" rIns="0" bIns="0" rtlCol="0" anchor="b"/>
          <a:lstStyle/>
          <a:p>
            <a:pPr indent="0" marL="0">
              <a:buNone/>
            </a:pPr>
            <a:r>
              <a:rPr lang="en-US" sz="2000" b="1" dirty="0">
                <a:solidFill>
                  <a:srgbClr val="16213A"/>
                </a:solidFill>
                <a:latin typeface="Calibri" pitchFamily="34" charset="0"/>
                <a:ea typeface="Calibri" pitchFamily="34" charset="-122"/>
                <a:cs typeface="Calibri" pitchFamily="34" charset="-120"/>
              </a:rPr>
              <a:t>6.7 cm</a:t>
            </a:r>
            <a:endParaRPr lang="en-US" sz="2000" dirty="0"/>
          </a:p>
        </p:txBody>
      </p:sp>
      <p:sp>
        <p:nvSpPr>
          <p:cNvPr id="30" name="Text 26"/>
          <p:cNvSpPr txBox="1"/>
          <p:nvPr/>
        </p:nvSpPr>
        <p:spPr>
          <a:xfrm>
            <a:off x="9189720" y="4247388"/>
            <a:ext cx="2313432" cy="274320"/>
          </a:xfrm>
          <a:prstGeom prst="rect">
            <a:avLst/>
          </a:prstGeom>
          <a:noFill/>
          <a:ln/>
        </p:spPr>
        <p:txBody>
          <a:bodyPr wrap="square" lIns="0" tIns="0" rIns="0" bIns="0" rtlCol="0" anchor="t"/>
          <a:lstStyle/>
          <a:p>
            <a:pPr indent="0" marL="0">
              <a:buNone/>
            </a:pPr>
            <a:r>
              <a:rPr lang="en-US" sz="1200" dirty="0">
                <a:solidFill>
                  <a:srgbClr val="4B5563"/>
                </a:solidFill>
                <a:latin typeface="Calibri" pitchFamily="34" charset="0"/>
                <a:ea typeface="Calibri" pitchFamily="34" charset="-122"/>
                <a:cs typeface="Calibri" pitchFamily="34" charset="-120"/>
              </a:rPr>
              <a:t>worst error mid-route</a:t>
            </a:r>
            <a:endParaRPr lang="en-US" sz="1200" dirty="0"/>
          </a:p>
        </p:txBody>
      </p:sp>
      <p:sp>
        <p:nvSpPr>
          <p:cNvPr id="31" name="Shape 27"/>
          <p:cNvSpPr/>
          <p:nvPr/>
        </p:nvSpPr>
        <p:spPr>
          <a:xfrm>
            <a:off x="8412480" y="4800600"/>
            <a:ext cx="3227832" cy="868680"/>
          </a:xfrm>
          <a:prstGeom prst="roundRect">
            <a:avLst>
              <a:gd name="adj" fmla="val 10526"/>
            </a:avLst>
          </a:prstGeom>
          <a:solidFill>
            <a:srgbClr val="EEF2F7"/>
          </a:solidFill>
          <a:ln/>
        </p:spPr>
      </p:sp>
      <p:sp>
        <p:nvSpPr>
          <p:cNvPr id="32" name="Shape 28"/>
          <p:cNvSpPr/>
          <p:nvPr/>
        </p:nvSpPr>
        <p:spPr>
          <a:xfrm>
            <a:off x="8577072" y="5006340"/>
            <a:ext cx="457200" cy="457200"/>
          </a:xfrm>
          <a:prstGeom prst="ellipse">
            <a:avLst/>
          </a:prstGeom>
          <a:solidFill>
            <a:srgbClr val="0068B5"/>
          </a:solidFill>
          <a:ln/>
        </p:spPr>
      </p:sp>
      <p:pic>
        <p:nvPicPr>
          <p:cNvPr id="33" name="Image 2" descr="preencoded.png">    </p:cNvPr>
          <p:cNvPicPr>
            <a:picLocks noChangeAspect="1"/>
          </p:cNvPicPr>
          <p:nvPr/>
        </p:nvPicPr>
        <p:blipFill>
          <a:blip r:embed="rId3"/>
          <a:stretch>
            <a:fillRect/>
          </a:stretch>
        </p:blipFill>
        <p:spPr>
          <a:xfrm>
            <a:off x="8677656" y="5106924"/>
            <a:ext cx="256032" cy="256032"/>
          </a:xfrm>
          <a:prstGeom prst="rect">
            <a:avLst/>
          </a:prstGeom>
        </p:spPr>
      </p:pic>
      <p:sp>
        <p:nvSpPr>
          <p:cNvPr id="34" name="Text 29"/>
          <p:cNvSpPr txBox="1"/>
          <p:nvPr/>
        </p:nvSpPr>
        <p:spPr>
          <a:xfrm>
            <a:off x="9189720" y="4905756"/>
            <a:ext cx="2313432" cy="329184"/>
          </a:xfrm>
          <a:prstGeom prst="rect">
            <a:avLst/>
          </a:prstGeom>
          <a:noFill/>
          <a:ln/>
        </p:spPr>
        <p:txBody>
          <a:bodyPr wrap="square" lIns="0" tIns="0" rIns="0" bIns="0" rtlCol="0" anchor="b"/>
          <a:lstStyle/>
          <a:p>
            <a:pPr indent="0" marL="0">
              <a:buNone/>
            </a:pPr>
            <a:r>
              <a:rPr lang="en-US" sz="2000" b="1" dirty="0">
                <a:solidFill>
                  <a:srgbClr val="16213A"/>
                </a:solidFill>
                <a:latin typeface="Calibri" pitchFamily="34" charset="0"/>
                <a:ea typeface="Calibri" pitchFamily="34" charset="-122"/>
                <a:cs typeface="Calibri" pitchFamily="34" charset="-120"/>
              </a:rPr>
              <a:t>11–14 ms</a:t>
            </a:r>
            <a:endParaRPr lang="en-US" sz="2000" dirty="0"/>
          </a:p>
        </p:txBody>
      </p:sp>
      <p:sp>
        <p:nvSpPr>
          <p:cNvPr id="35" name="Text 30"/>
          <p:cNvSpPr txBox="1"/>
          <p:nvPr/>
        </p:nvSpPr>
        <p:spPr>
          <a:xfrm>
            <a:off x="9189720" y="5253228"/>
            <a:ext cx="2313432" cy="274320"/>
          </a:xfrm>
          <a:prstGeom prst="rect">
            <a:avLst/>
          </a:prstGeom>
          <a:noFill/>
          <a:ln/>
        </p:spPr>
        <p:txBody>
          <a:bodyPr wrap="square" lIns="0" tIns="0" rIns="0" bIns="0" rtlCol="0" anchor="t"/>
          <a:lstStyle/>
          <a:p>
            <a:pPr indent="0" marL="0">
              <a:buNone/>
            </a:pPr>
            <a:r>
              <a:rPr lang="en-US" sz="1200" dirty="0">
                <a:solidFill>
                  <a:srgbClr val="4B5563"/>
                </a:solidFill>
                <a:latin typeface="Calibri" pitchFamily="34" charset="0"/>
                <a:ea typeface="Calibri" pitchFamily="34" charset="-122"/>
                <a:cs typeface="Calibri" pitchFamily="34" charset="-120"/>
              </a:rPr>
              <a:t>per frame on CPU (budget 100)</a:t>
            </a:r>
            <a:endParaRPr lang="en-US" sz="1200" dirty="0"/>
          </a:p>
        </p:txBody>
      </p:sp>
      <p:sp>
        <p:nvSpPr>
          <p:cNvPr id="36" name="Shape 31"/>
          <p:cNvSpPr/>
          <p:nvPr/>
        </p:nvSpPr>
        <p:spPr>
          <a:xfrm>
            <a:off x="594360" y="6400800"/>
            <a:ext cx="1295019" cy="13716"/>
          </a:xfrm>
          <a:prstGeom prst="rect">
            <a:avLst/>
          </a:prstGeom>
          <a:solidFill>
            <a:srgbClr val="D7DEE8"/>
          </a:solidFill>
          <a:ln/>
        </p:spPr>
      </p:sp>
      <p:sp>
        <p:nvSpPr>
          <p:cNvPr id="37" name="Text 32"/>
          <p:cNvSpPr txBox="1"/>
          <p:nvPr/>
        </p:nvSpPr>
        <p:spPr>
          <a:xfrm>
            <a:off x="548640"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Problem</a:t>
            </a:r>
            <a:endParaRPr lang="en-US" sz="1100" dirty="0"/>
          </a:p>
        </p:txBody>
      </p:sp>
      <p:sp>
        <p:nvSpPr>
          <p:cNvPr id="38" name="Shape 33"/>
          <p:cNvSpPr/>
          <p:nvPr/>
        </p:nvSpPr>
        <p:spPr>
          <a:xfrm>
            <a:off x="1980819" y="6400800"/>
            <a:ext cx="1295019" cy="13716"/>
          </a:xfrm>
          <a:prstGeom prst="rect">
            <a:avLst/>
          </a:prstGeom>
          <a:solidFill>
            <a:srgbClr val="D7DEE8"/>
          </a:solidFill>
          <a:ln/>
        </p:spPr>
      </p:sp>
      <p:sp>
        <p:nvSpPr>
          <p:cNvPr id="39" name="Text 34"/>
          <p:cNvSpPr txBox="1"/>
          <p:nvPr/>
        </p:nvSpPr>
        <p:spPr>
          <a:xfrm>
            <a:off x="1935099"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System</a:t>
            </a:r>
            <a:endParaRPr lang="en-US" sz="1100" dirty="0"/>
          </a:p>
        </p:txBody>
      </p:sp>
      <p:sp>
        <p:nvSpPr>
          <p:cNvPr id="40" name="Shape 35"/>
          <p:cNvSpPr/>
          <p:nvPr/>
        </p:nvSpPr>
        <p:spPr>
          <a:xfrm>
            <a:off x="3367278" y="6400800"/>
            <a:ext cx="1295019" cy="13716"/>
          </a:xfrm>
          <a:prstGeom prst="rect">
            <a:avLst/>
          </a:prstGeom>
          <a:solidFill>
            <a:srgbClr val="D7DEE8"/>
          </a:solidFill>
          <a:ln/>
        </p:spPr>
      </p:sp>
      <p:sp>
        <p:nvSpPr>
          <p:cNvPr id="41" name="Text 36"/>
          <p:cNvSpPr txBox="1"/>
          <p:nvPr/>
        </p:nvSpPr>
        <p:spPr>
          <a:xfrm>
            <a:off x="3321558"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Intent</a:t>
            </a:r>
            <a:endParaRPr lang="en-US" sz="1100" dirty="0"/>
          </a:p>
        </p:txBody>
      </p:sp>
      <p:sp>
        <p:nvSpPr>
          <p:cNvPr id="42" name="Shape 37"/>
          <p:cNvSpPr/>
          <p:nvPr/>
        </p:nvSpPr>
        <p:spPr>
          <a:xfrm>
            <a:off x="4753737" y="6400800"/>
            <a:ext cx="1295019" cy="36576"/>
          </a:xfrm>
          <a:prstGeom prst="rect">
            <a:avLst/>
          </a:prstGeom>
          <a:solidFill>
            <a:srgbClr val="0068B5"/>
          </a:solidFill>
          <a:ln/>
        </p:spPr>
      </p:sp>
      <p:sp>
        <p:nvSpPr>
          <p:cNvPr id="43" name="Text 38"/>
          <p:cNvSpPr txBox="1"/>
          <p:nvPr/>
        </p:nvSpPr>
        <p:spPr>
          <a:xfrm>
            <a:off x="4708017" y="6473952"/>
            <a:ext cx="1386459" cy="201168"/>
          </a:xfrm>
          <a:prstGeom prst="rect">
            <a:avLst/>
          </a:prstGeom>
          <a:noFill/>
          <a:ln/>
        </p:spPr>
        <p:txBody>
          <a:bodyPr wrap="square" lIns="0" tIns="0" rIns="0" bIns="0" rtlCol="0" anchor="ctr"/>
          <a:lstStyle/>
          <a:p>
            <a:pPr algn="ctr" indent="0" marL="0">
              <a:buNone/>
            </a:pPr>
            <a:r>
              <a:rPr lang="en-US" sz="1100" b="1" dirty="0">
                <a:solidFill>
                  <a:srgbClr val="16213A"/>
                </a:solidFill>
                <a:latin typeface="Calibri" pitchFamily="34" charset="0"/>
                <a:ea typeface="Calibri" pitchFamily="34" charset="-122"/>
                <a:cs typeface="Calibri" pitchFamily="34" charset="-120"/>
              </a:rPr>
              <a:t>Explore</a:t>
            </a:r>
            <a:endParaRPr lang="en-US" sz="1100" dirty="0"/>
          </a:p>
        </p:txBody>
      </p:sp>
      <p:sp>
        <p:nvSpPr>
          <p:cNvPr id="44" name="Shape 39"/>
          <p:cNvSpPr/>
          <p:nvPr/>
        </p:nvSpPr>
        <p:spPr>
          <a:xfrm>
            <a:off x="6140196" y="6400800"/>
            <a:ext cx="1295019" cy="13716"/>
          </a:xfrm>
          <a:prstGeom prst="rect">
            <a:avLst/>
          </a:prstGeom>
          <a:solidFill>
            <a:srgbClr val="D7DEE8"/>
          </a:solidFill>
          <a:ln/>
        </p:spPr>
      </p:sp>
      <p:sp>
        <p:nvSpPr>
          <p:cNvPr id="45" name="Text 40"/>
          <p:cNvSpPr txBox="1"/>
          <p:nvPr/>
        </p:nvSpPr>
        <p:spPr>
          <a:xfrm>
            <a:off x="6094476"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Search</a:t>
            </a:r>
            <a:endParaRPr lang="en-US" sz="1100" dirty="0"/>
          </a:p>
        </p:txBody>
      </p:sp>
      <p:sp>
        <p:nvSpPr>
          <p:cNvPr id="46" name="Shape 41"/>
          <p:cNvSpPr/>
          <p:nvPr/>
        </p:nvSpPr>
        <p:spPr>
          <a:xfrm>
            <a:off x="7526655" y="6400800"/>
            <a:ext cx="1295019" cy="13716"/>
          </a:xfrm>
          <a:prstGeom prst="rect">
            <a:avLst/>
          </a:prstGeom>
          <a:solidFill>
            <a:srgbClr val="D7DEE8"/>
          </a:solidFill>
          <a:ln/>
        </p:spPr>
      </p:sp>
      <p:sp>
        <p:nvSpPr>
          <p:cNvPr id="47" name="Text 42"/>
          <p:cNvSpPr txBox="1"/>
          <p:nvPr/>
        </p:nvSpPr>
        <p:spPr>
          <a:xfrm>
            <a:off x="7480935"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Confirm</a:t>
            </a:r>
            <a:endParaRPr lang="en-US" sz="1100" dirty="0"/>
          </a:p>
        </p:txBody>
      </p:sp>
      <p:sp>
        <p:nvSpPr>
          <p:cNvPr id="48" name="Shape 43"/>
          <p:cNvSpPr/>
          <p:nvPr/>
        </p:nvSpPr>
        <p:spPr>
          <a:xfrm>
            <a:off x="8913114" y="6400800"/>
            <a:ext cx="1295019" cy="13716"/>
          </a:xfrm>
          <a:prstGeom prst="rect">
            <a:avLst/>
          </a:prstGeom>
          <a:solidFill>
            <a:srgbClr val="D7DEE8"/>
          </a:solidFill>
          <a:ln/>
        </p:spPr>
      </p:sp>
      <p:sp>
        <p:nvSpPr>
          <p:cNvPr id="49" name="Text 44"/>
          <p:cNvSpPr txBox="1"/>
          <p:nvPr/>
        </p:nvSpPr>
        <p:spPr>
          <a:xfrm>
            <a:off x="8867394"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Grasp</a:t>
            </a:r>
            <a:endParaRPr lang="en-US" sz="1100" dirty="0"/>
          </a:p>
        </p:txBody>
      </p:sp>
      <p:sp>
        <p:nvSpPr>
          <p:cNvPr id="50" name="Shape 45"/>
          <p:cNvSpPr/>
          <p:nvPr/>
        </p:nvSpPr>
        <p:spPr>
          <a:xfrm>
            <a:off x="10299573" y="6400800"/>
            <a:ext cx="1295019" cy="13716"/>
          </a:xfrm>
          <a:prstGeom prst="rect">
            <a:avLst/>
          </a:prstGeom>
          <a:solidFill>
            <a:srgbClr val="D7DEE8"/>
          </a:solidFill>
          <a:ln/>
        </p:spPr>
      </p:sp>
      <p:sp>
        <p:nvSpPr>
          <p:cNvPr id="51" name="Text 46"/>
          <p:cNvSpPr txBox="1"/>
          <p:nvPr/>
        </p:nvSpPr>
        <p:spPr>
          <a:xfrm>
            <a:off x="10253853"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Plan</a:t>
            </a:r>
            <a:endParaRPr lang="en-US" sz="1100" dirty="0"/>
          </a:p>
        </p:txBody>
      </p:sp>
      <p:sp>
        <p:nvSpPr>
          <p:cNvPr id="52" name="Text 47"/>
          <p:cNvSpPr txBox="1"/>
          <p:nvPr/>
        </p:nvSpPr>
        <p:spPr>
          <a:xfrm>
            <a:off x="11091672" y="6035040"/>
            <a:ext cx="548640" cy="22860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28600"/>
          </a:xfrm>
          <a:prstGeom prst="rect">
            <a:avLst/>
          </a:prstGeom>
          <a:noFill/>
          <a:ln/>
        </p:spPr>
        <p:txBody>
          <a:bodyPr wrap="square" lIns="0" tIns="0" rIns="0" bIns="0" rtlCol="0" anchor="ctr"/>
          <a:lstStyle/>
          <a:p>
            <a:pPr indent="0" marL="0">
              <a:buNone/>
            </a:pPr>
            <a:r>
              <a:rPr lang="en-US" sz="1100" b="1" spc="150" kern="0" dirty="0">
                <a:solidFill>
                  <a:srgbClr val="0068B5"/>
                </a:solidFill>
                <a:latin typeface="Calibri" pitchFamily="34" charset="0"/>
                <a:ea typeface="Calibri" pitchFamily="34" charset="-122"/>
                <a:cs typeface="Calibri" pitchFamily="34" charset="-120"/>
              </a:rPr>
              <a:t>GAPPLER  ·  SHERMAN</a:t>
            </a:r>
            <a:endParaRPr lang="en-US" sz="1100" dirty="0"/>
          </a:p>
        </p:txBody>
      </p:sp>
      <p:sp>
        <p:nvSpPr>
          <p:cNvPr id="3" name="Shape 1"/>
          <p:cNvSpPr/>
          <p:nvPr/>
        </p:nvSpPr>
        <p:spPr>
          <a:xfrm>
            <a:off x="8499348" y="347472"/>
            <a:ext cx="3140964" cy="347472"/>
          </a:xfrm>
          <a:prstGeom prst="roundRect">
            <a:avLst>
              <a:gd name="adj" fmla="val 50000"/>
            </a:avLst>
          </a:prstGeom>
          <a:solidFill>
            <a:srgbClr val="16213A"/>
          </a:solidFill>
          <a:ln/>
        </p:spPr>
      </p:sp>
      <p:sp>
        <p:nvSpPr>
          <p:cNvPr id="4" name="Text 2"/>
          <p:cNvSpPr txBox="1"/>
          <p:nvPr/>
        </p:nvSpPr>
        <p:spPr>
          <a:xfrm>
            <a:off x="8499348" y="347472"/>
            <a:ext cx="3140964" cy="347472"/>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PHASE 2  ·  EXPLORE AND MAP</a:t>
            </a:r>
            <a:endParaRPr lang="en-US" sz="1100" dirty="0"/>
          </a:p>
        </p:txBody>
      </p:sp>
      <p:sp>
        <p:nvSpPr>
          <p:cNvPr id="5" name="Text 3"/>
          <p:cNvSpPr txBox="1"/>
          <p:nvPr/>
        </p:nvSpPr>
        <p:spPr>
          <a:xfrm>
            <a:off x="548640" y="777240"/>
            <a:ext cx="11091672" cy="548640"/>
          </a:xfrm>
          <a:prstGeom prst="rect">
            <a:avLst/>
          </a:prstGeom>
          <a:noFill/>
          <a:ln/>
        </p:spPr>
        <p:txBody>
          <a:bodyPr wrap="square" lIns="0" tIns="0" rIns="0" bIns="0" rtlCol="0" anchor="ctr"/>
          <a:lstStyle/>
          <a:p>
            <a:pPr indent="0" marL="0">
              <a:buNone/>
            </a:pPr>
            <a:r>
              <a:rPr lang="en-US" sz="3000" b="1" dirty="0">
                <a:solidFill>
                  <a:srgbClr val="16213A"/>
                </a:solidFill>
                <a:latin typeface="Calibri" pitchFamily="34" charset="0"/>
                <a:ea typeface="Calibri" pitchFamily="34" charset="-122"/>
                <a:cs typeface="Calibri" pitchFamily="34" charset="-120"/>
              </a:rPr>
              <a:t>Four camera links, four states of calibration</a:t>
            </a:r>
            <a:endParaRPr lang="en-US" sz="3000" dirty="0"/>
          </a:p>
        </p:txBody>
      </p:sp>
      <p:sp>
        <p:nvSpPr>
          <p:cNvPr id="6" name="Text 4"/>
          <p:cNvSpPr txBox="1"/>
          <p:nvPr/>
        </p:nvSpPr>
        <p:spPr>
          <a:xfrm>
            <a:off x="548640" y="1325880"/>
            <a:ext cx="11091672" cy="320040"/>
          </a:xfrm>
          <a:prstGeom prst="rect">
            <a:avLst/>
          </a:prstGeom>
          <a:noFill/>
          <a:ln/>
        </p:spPr>
        <p:txBody>
          <a:bodyPr wrap="square" lIns="0" tIns="0" rIns="0" bIns="0" rtlCol="0" anchor="ctr"/>
          <a:lstStyle/>
          <a:p>
            <a:pPr indent="0" marL="0">
              <a:buNone/>
            </a:pPr>
            <a:r>
              <a:rPr lang="en-US" sz="1700" dirty="0">
                <a:solidFill>
                  <a:srgbClr val="4B5563"/>
                </a:solidFill>
                <a:latin typeface="Calibri" pitchFamily="34" charset="0"/>
                <a:ea typeface="Calibri" pitchFamily="34" charset="-122"/>
                <a:cs typeface="Calibri" pitchFamily="34" charset="-120"/>
              </a:rPr>
              <a:t>Each missing calibration blocks a specific later step</a:t>
            </a:r>
            <a:endParaRPr lang="en-US" sz="1700" dirty="0"/>
          </a:p>
        </p:txBody>
      </p:sp>
      <p:sp>
        <p:nvSpPr>
          <p:cNvPr id="7" name="Text 5"/>
          <p:cNvSpPr txBox="1"/>
          <p:nvPr/>
        </p:nvSpPr>
        <p:spPr>
          <a:xfrm>
            <a:off x="548640" y="1874520"/>
            <a:ext cx="1828800" cy="228600"/>
          </a:xfrm>
          <a:prstGeom prst="rect">
            <a:avLst/>
          </a:prstGeom>
          <a:noFill/>
          <a:ln/>
        </p:spPr>
        <p:txBody>
          <a:bodyPr wrap="square" lIns="0" tIns="0" rIns="0" bIns="0" rtlCol="0" anchor="ctr"/>
          <a:lstStyle/>
          <a:p>
            <a:pPr indent="0" marL="0">
              <a:buNone/>
            </a:pPr>
            <a:r>
              <a:rPr lang="en-US" sz="1100" b="1" spc="150" kern="0" dirty="0">
                <a:solidFill>
                  <a:srgbClr val="6B7280"/>
                </a:solidFill>
                <a:latin typeface="Calibri" pitchFamily="34" charset="0"/>
                <a:ea typeface="Calibri" pitchFamily="34" charset="-122"/>
                <a:cs typeface="Calibri" pitchFamily="34" charset="-120"/>
              </a:rPr>
              <a:t>THIS PART</a:t>
            </a:r>
            <a:endParaRPr lang="en-US" sz="1100" dirty="0"/>
          </a:p>
        </p:txBody>
      </p:sp>
      <p:sp>
        <p:nvSpPr>
          <p:cNvPr id="8" name="Shape 6"/>
          <p:cNvSpPr/>
          <p:nvPr/>
        </p:nvSpPr>
        <p:spPr>
          <a:xfrm>
            <a:off x="548640" y="2194560"/>
            <a:ext cx="1920240" cy="530352"/>
          </a:xfrm>
          <a:prstGeom prst="roundRect">
            <a:avLst>
              <a:gd name="adj" fmla="val 17241"/>
            </a:avLst>
          </a:prstGeom>
          <a:solidFill>
            <a:srgbClr val="EEF2F7"/>
          </a:solidFill>
          <a:ln/>
        </p:spPr>
      </p:sp>
      <p:sp>
        <p:nvSpPr>
          <p:cNvPr id="9" name="Shape 7"/>
          <p:cNvSpPr/>
          <p:nvPr/>
        </p:nvSpPr>
        <p:spPr>
          <a:xfrm>
            <a:off x="685800" y="2304288"/>
            <a:ext cx="310896" cy="310896"/>
          </a:xfrm>
          <a:prstGeom prst="ellipse">
            <a:avLst/>
          </a:prstGeom>
          <a:solidFill>
            <a:srgbClr val="EEF2F7"/>
          </a:solidFill>
          <a:ln w="12700">
            <a:solidFill>
              <a:srgbClr val="6B7280"/>
            </a:solidFill>
            <a:prstDash val="solid"/>
          </a:ln>
        </p:spPr>
      </p:sp>
      <p:sp>
        <p:nvSpPr>
          <p:cNvPr id="10" name="Text 8"/>
          <p:cNvSpPr txBox="1"/>
          <p:nvPr/>
        </p:nvSpPr>
        <p:spPr>
          <a:xfrm>
            <a:off x="685800" y="2304288"/>
            <a:ext cx="310896" cy="310896"/>
          </a:xfrm>
          <a:prstGeom prst="rect">
            <a:avLst/>
          </a:prstGeom>
          <a:noFill/>
          <a:ln/>
        </p:spPr>
        <p:txBody>
          <a:bodyPr wrap="square" lIns="0" tIns="0" rIns="0" bIns="0" rtlCol="0" anchor="ctr"/>
          <a:lstStyle/>
          <a:p>
            <a:pPr algn="ctr" indent="0" marL="0">
              <a:buNone/>
            </a:pPr>
            <a:r>
              <a:rPr lang="en-US" sz="1300" b="1" dirty="0">
                <a:solidFill>
                  <a:srgbClr val="6B7280"/>
                </a:solidFill>
                <a:latin typeface="Calibri" pitchFamily="34" charset="0"/>
                <a:ea typeface="Calibri" pitchFamily="34" charset="-122"/>
                <a:cs typeface="Calibri" pitchFamily="34" charset="-120"/>
              </a:rPr>
              <a:t>1</a:t>
            </a:r>
            <a:endParaRPr lang="en-US" sz="1300" dirty="0"/>
          </a:p>
        </p:txBody>
      </p:sp>
      <p:sp>
        <p:nvSpPr>
          <p:cNvPr id="11" name="Text 9"/>
          <p:cNvSpPr txBox="1"/>
          <p:nvPr/>
        </p:nvSpPr>
        <p:spPr>
          <a:xfrm>
            <a:off x="1115568" y="2194560"/>
            <a:ext cx="1325880" cy="530352"/>
          </a:xfrm>
          <a:prstGeom prst="rect">
            <a:avLst/>
          </a:prstGeom>
          <a:noFill/>
          <a:ln/>
        </p:spPr>
        <p:txBody>
          <a:bodyPr wrap="square" lIns="0" tIns="0" rIns="0" bIns="0" rtlCol="0" anchor="ctr"/>
          <a:lstStyle/>
          <a:p>
            <a:pPr indent="0" marL="0">
              <a:buNone/>
            </a:pPr>
            <a:r>
              <a:rPr lang="en-US" sz="1400" dirty="0">
                <a:solidFill>
                  <a:srgbClr val="4B5563"/>
                </a:solidFill>
                <a:latin typeface="Calibri" pitchFamily="34" charset="0"/>
                <a:ea typeface="Calibri" pitchFamily="34" charset="-122"/>
                <a:cs typeface="Calibri" pitchFamily="34" charset="-120"/>
              </a:rPr>
              <a:t>3D map</a:t>
            </a:r>
            <a:endParaRPr lang="en-US" sz="1400" dirty="0"/>
          </a:p>
        </p:txBody>
      </p:sp>
      <p:sp>
        <p:nvSpPr>
          <p:cNvPr id="12" name="Shape 10"/>
          <p:cNvSpPr/>
          <p:nvPr/>
        </p:nvSpPr>
        <p:spPr>
          <a:xfrm>
            <a:off x="548640" y="2834640"/>
            <a:ext cx="1920240" cy="530352"/>
          </a:xfrm>
          <a:prstGeom prst="roundRect">
            <a:avLst>
              <a:gd name="adj" fmla="val 17241"/>
            </a:avLst>
          </a:prstGeom>
          <a:solidFill>
            <a:srgbClr val="16213A"/>
          </a:solidFill>
          <a:ln/>
        </p:spPr>
      </p:sp>
      <p:sp>
        <p:nvSpPr>
          <p:cNvPr id="13" name="Shape 11"/>
          <p:cNvSpPr/>
          <p:nvPr/>
        </p:nvSpPr>
        <p:spPr>
          <a:xfrm>
            <a:off x="685800" y="2944368"/>
            <a:ext cx="310896" cy="310896"/>
          </a:xfrm>
          <a:prstGeom prst="ellipse">
            <a:avLst/>
          </a:prstGeom>
          <a:solidFill>
            <a:srgbClr val="FFFFFF"/>
          </a:solidFill>
          <a:ln w="12700">
            <a:solidFill>
              <a:srgbClr val="FFFFFF"/>
            </a:solidFill>
            <a:prstDash val="solid"/>
          </a:ln>
        </p:spPr>
      </p:sp>
      <p:sp>
        <p:nvSpPr>
          <p:cNvPr id="14" name="Text 12"/>
          <p:cNvSpPr txBox="1"/>
          <p:nvPr/>
        </p:nvSpPr>
        <p:spPr>
          <a:xfrm>
            <a:off x="685800" y="2944368"/>
            <a:ext cx="310896" cy="310896"/>
          </a:xfrm>
          <a:prstGeom prst="rect">
            <a:avLst/>
          </a:prstGeom>
          <a:noFill/>
          <a:ln/>
        </p:spPr>
        <p:txBody>
          <a:bodyPr wrap="square" lIns="0" tIns="0" rIns="0" bIns="0" rtlCol="0" anchor="ctr"/>
          <a:lstStyle/>
          <a:p>
            <a:pPr algn="ctr" indent="0" marL="0">
              <a:buNone/>
            </a:pPr>
            <a:r>
              <a:rPr lang="en-US" sz="1300" b="1" dirty="0">
                <a:solidFill>
                  <a:srgbClr val="16213A"/>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1115568" y="2834640"/>
            <a:ext cx="1325880" cy="53035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Camera frames</a:t>
            </a:r>
            <a:endParaRPr lang="en-US" sz="1400" dirty="0"/>
          </a:p>
        </p:txBody>
      </p:sp>
      <p:sp>
        <p:nvSpPr>
          <p:cNvPr id="16" name="Shape 14"/>
          <p:cNvSpPr/>
          <p:nvPr/>
        </p:nvSpPr>
        <p:spPr>
          <a:xfrm>
            <a:off x="548640" y="4434840"/>
            <a:ext cx="1920240" cy="1463040"/>
          </a:xfrm>
          <a:prstGeom prst="roundRect">
            <a:avLst>
              <a:gd name="adj" fmla="val 6250"/>
            </a:avLst>
          </a:prstGeom>
          <a:solidFill>
            <a:srgbClr val="EEF2F7"/>
          </a:solidFill>
          <a:ln/>
        </p:spPr>
      </p:sp>
      <p:sp>
        <p:nvSpPr>
          <p:cNvPr id="17" name="Text 15"/>
          <p:cNvSpPr txBox="1"/>
          <p:nvPr/>
        </p:nvSpPr>
        <p:spPr>
          <a:xfrm>
            <a:off x="713232" y="4572000"/>
            <a:ext cx="1645920" cy="201168"/>
          </a:xfrm>
          <a:prstGeom prst="rect">
            <a:avLst/>
          </a:prstGeom>
          <a:noFill/>
          <a:ln/>
        </p:spPr>
        <p:txBody>
          <a:bodyPr wrap="square" lIns="0" tIns="0" rIns="0" bIns="0" rtlCol="0" anchor="ctr"/>
          <a:lstStyle/>
          <a:p>
            <a:pPr indent="0" marL="0">
              <a:buNone/>
            </a:pPr>
            <a:r>
              <a:rPr lang="en-US" sz="1100" b="1" spc="150" kern="0" dirty="0">
                <a:solidFill>
                  <a:srgbClr val="C2410C"/>
                </a:solidFill>
                <a:latin typeface="Calibri" pitchFamily="34" charset="0"/>
                <a:ea typeface="Calibri" pitchFamily="34" charset="-122"/>
                <a:cs typeface="Calibri" pitchFamily="34" charset="-120"/>
              </a:rPr>
              <a:t>LIMIT</a:t>
            </a:r>
            <a:endParaRPr lang="en-US" sz="1100" dirty="0"/>
          </a:p>
        </p:txBody>
      </p:sp>
      <p:sp>
        <p:nvSpPr>
          <p:cNvPr id="18" name="Text 16"/>
          <p:cNvSpPr txBox="1"/>
          <p:nvPr/>
        </p:nvSpPr>
        <p:spPr>
          <a:xfrm>
            <a:off x="713232" y="4818888"/>
            <a:ext cx="1645920" cy="1005840"/>
          </a:xfrm>
          <a:prstGeom prst="rect">
            <a:avLst/>
          </a:prstGeom>
          <a:noFill/>
          <a:ln/>
        </p:spPr>
        <p:txBody>
          <a:bodyPr wrap="square" lIns="0" tIns="0" rIns="0" bIns="0" rtlCol="0" anchor="t"/>
          <a:lstStyle/>
          <a:p>
            <a:pPr indent="0" marL="0">
              <a:buNone/>
            </a:pPr>
            <a:r>
              <a:rPr lang="en-US" sz="1300" dirty="0">
                <a:solidFill>
                  <a:srgbClr val="16213A"/>
                </a:solidFill>
                <a:latin typeface="Calibri" pitchFamily="34" charset="0"/>
                <a:ea typeface="Calibri" pitchFamily="34" charset="-122"/>
                <a:cs typeface="Calibri" pitchFamily="34" charset="-120"/>
              </a:rPr>
              <a:t>Base camera not yet calibrated: about 6.7 px of error per degree</a:t>
            </a:r>
            <a:endParaRPr lang="en-US" sz="1300" dirty="0"/>
          </a:p>
        </p:txBody>
      </p:sp>
      <p:sp>
        <p:nvSpPr>
          <p:cNvPr id="19" name="Shape 17"/>
          <p:cNvSpPr/>
          <p:nvPr/>
        </p:nvSpPr>
        <p:spPr>
          <a:xfrm>
            <a:off x="2697480" y="1874520"/>
            <a:ext cx="5486400" cy="3794760"/>
          </a:xfrm>
          <a:prstGeom prst="roundRect">
            <a:avLst>
              <a:gd name="adj" fmla="val 2410"/>
            </a:avLst>
          </a:prstGeom>
          <a:solidFill>
            <a:srgbClr val="F8FAFC"/>
          </a:solidFill>
          <a:ln/>
        </p:spPr>
      </p:sp>
      <p:sp>
        <p:nvSpPr>
          <p:cNvPr id="20" name="Shape 18"/>
          <p:cNvSpPr/>
          <p:nvPr/>
        </p:nvSpPr>
        <p:spPr>
          <a:xfrm>
            <a:off x="2880360" y="5440680"/>
            <a:ext cx="5120640" cy="914"/>
          </a:xfrm>
          <a:prstGeom prst="line">
            <a:avLst/>
          </a:prstGeom>
          <a:noFill/>
          <a:ln w="12700">
            <a:solidFill>
              <a:srgbClr val="C5CDD8"/>
            </a:solidFill>
            <a:prstDash val="solid"/>
          </a:ln>
        </p:spPr>
      </p:sp>
      <p:sp>
        <p:nvSpPr>
          <p:cNvPr id="21" name="Shape 19"/>
          <p:cNvSpPr/>
          <p:nvPr/>
        </p:nvSpPr>
        <p:spPr>
          <a:xfrm>
            <a:off x="2971800" y="4480560"/>
            <a:ext cx="3017520" cy="658368"/>
          </a:xfrm>
          <a:prstGeom prst="roundRect">
            <a:avLst>
              <a:gd name="adj" fmla="val 13889"/>
            </a:avLst>
          </a:prstGeom>
          <a:solidFill>
            <a:srgbClr val="334155"/>
          </a:solidFill>
          <a:ln/>
        </p:spPr>
      </p:sp>
      <p:sp>
        <p:nvSpPr>
          <p:cNvPr id="22" name="Text 20"/>
          <p:cNvSpPr txBox="1"/>
          <p:nvPr/>
        </p:nvSpPr>
        <p:spPr>
          <a:xfrm>
            <a:off x="2971800" y="4480560"/>
            <a:ext cx="2011680"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Mobile base</a:t>
            </a:r>
            <a:endParaRPr lang="en-US" sz="1300" dirty="0"/>
          </a:p>
        </p:txBody>
      </p:sp>
      <p:sp>
        <p:nvSpPr>
          <p:cNvPr id="23" name="Shape 21"/>
          <p:cNvSpPr/>
          <p:nvPr/>
        </p:nvSpPr>
        <p:spPr>
          <a:xfrm>
            <a:off x="3246120" y="5120640"/>
            <a:ext cx="329184" cy="329184"/>
          </a:xfrm>
          <a:prstGeom prst="ellipse">
            <a:avLst/>
          </a:prstGeom>
          <a:solidFill>
            <a:srgbClr val="16213A"/>
          </a:solidFill>
          <a:ln/>
        </p:spPr>
      </p:sp>
      <p:sp>
        <p:nvSpPr>
          <p:cNvPr id="24" name="Shape 22"/>
          <p:cNvSpPr/>
          <p:nvPr/>
        </p:nvSpPr>
        <p:spPr>
          <a:xfrm>
            <a:off x="5349240" y="5120640"/>
            <a:ext cx="329184" cy="329184"/>
          </a:xfrm>
          <a:prstGeom prst="ellipse">
            <a:avLst/>
          </a:prstGeom>
          <a:solidFill>
            <a:srgbClr val="16213A"/>
          </a:solidFill>
          <a:ln/>
        </p:spPr>
      </p:sp>
      <p:sp>
        <p:nvSpPr>
          <p:cNvPr id="25" name="Shape 23"/>
          <p:cNvSpPr/>
          <p:nvPr/>
        </p:nvSpPr>
        <p:spPr>
          <a:xfrm>
            <a:off x="5120640" y="4114800"/>
            <a:ext cx="594360" cy="365760"/>
          </a:xfrm>
          <a:prstGeom prst="roundRect">
            <a:avLst>
              <a:gd name="adj" fmla="val 12500"/>
            </a:avLst>
          </a:prstGeom>
          <a:solidFill>
            <a:srgbClr val="64748B"/>
          </a:solidFill>
          <a:ln/>
        </p:spPr>
      </p:sp>
      <p:sp>
        <p:nvSpPr>
          <p:cNvPr id="26" name="Text 24"/>
          <p:cNvSpPr txBox="1"/>
          <p:nvPr/>
        </p:nvSpPr>
        <p:spPr>
          <a:xfrm>
            <a:off x="5120640" y="4114800"/>
            <a:ext cx="5943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LiDAR</a:t>
            </a:r>
            <a:endParaRPr lang="en-US" sz="1100" dirty="0"/>
          </a:p>
        </p:txBody>
      </p:sp>
      <p:sp>
        <p:nvSpPr>
          <p:cNvPr id="27" name="Shape 25"/>
          <p:cNvSpPr/>
          <p:nvPr/>
        </p:nvSpPr>
        <p:spPr>
          <a:xfrm>
            <a:off x="5989320" y="4617720"/>
            <a:ext cx="256032" cy="274320"/>
          </a:xfrm>
          <a:prstGeom prst="roundRect">
            <a:avLst>
              <a:gd name="adj" fmla="val 14286"/>
            </a:avLst>
          </a:prstGeom>
          <a:solidFill>
            <a:srgbClr val="64748B"/>
          </a:solidFill>
          <a:ln/>
        </p:spPr>
      </p:sp>
      <p:sp>
        <p:nvSpPr>
          <p:cNvPr id="28" name="Text 26"/>
          <p:cNvSpPr txBox="1"/>
          <p:nvPr/>
        </p:nvSpPr>
        <p:spPr>
          <a:xfrm>
            <a:off x="6309360" y="4645152"/>
            <a:ext cx="1097280" cy="228600"/>
          </a:xfrm>
          <a:prstGeom prst="rect">
            <a:avLst/>
          </a:prstGeom>
          <a:noFill/>
          <a:ln/>
        </p:spPr>
        <p:txBody>
          <a:bodyPr wrap="square" lIns="0" tIns="0" rIns="0" bIns="0" rtlCol="0" anchor="ctr"/>
          <a:lstStyle/>
          <a:p>
            <a:pPr indent="0" marL="0">
              <a:buNone/>
            </a:pPr>
            <a:r>
              <a:rPr lang="en-US" sz="1100" dirty="0">
                <a:solidFill>
                  <a:srgbClr val="16213A"/>
                </a:solidFill>
                <a:latin typeface="Calibri" pitchFamily="34" charset="0"/>
                <a:ea typeface="Calibri" pitchFamily="34" charset="-122"/>
                <a:cs typeface="Calibri" pitchFamily="34" charset="-120"/>
              </a:rPr>
              <a:t>Base camera</a:t>
            </a:r>
            <a:endParaRPr lang="en-US" sz="1100" dirty="0"/>
          </a:p>
        </p:txBody>
      </p:sp>
      <p:sp>
        <p:nvSpPr>
          <p:cNvPr id="29" name="Shape 27"/>
          <p:cNvSpPr/>
          <p:nvPr/>
        </p:nvSpPr>
        <p:spPr>
          <a:xfrm flipV="1">
            <a:off x="3611880" y="3246120"/>
            <a:ext cx="914" cy="1234440"/>
          </a:xfrm>
          <a:prstGeom prst="line">
            <a:avLst/>
          </a:prstGeom>
          <a:noFill/>
          <a:ln w="88900">
            <a:solidFill>
              <a:srgbClr val="64748B"/>
            </a:solidFill>
            <a:prstDash val="solid"/>
          </a:ln>
        </p:spPr>
      </p:sp>
      <p:sp>
        <p:nvSpPr>
          <p:cNvPr id="30" name="Shape 28"/>
          <p:cNvSpPr/>
          <p:nvPr/>
        </p:nvSpPr>
        <p:spPr>
          <a:xfrm flipV="1">
            <a:off x="3611880" y="2606040"/>
            <a:ext cx="960120" cy="640080"/>
          </a:xfrm>
          <a:prstGeom prst="line">
            <a:avLst/>
          </a:prstGeom>
          <a:noFill/>
          <a:ln w="88900">
            <a:solidFill>
              <a:srgbClr val="64748B"/>
            </a:solidFill>
            <a:prstDash val="solid"/>
          </a:ln>
        </p:spPr>
      </p:sp>
      <p:sp>
        <p:nvSpPr>
          <p:cNvPr id="31" name="Shape 29"/>
          <p:cNvSpPr/>
          <p:nvPr/>
        </p:nvSpPr>
        <p:spPr>
          <a:xfrm>
            <a:off x="4572000" y="2606040"/>
            <a:ext cx="274320" cy="320040"/>
          </a:xfrm>
          <a:prstGeom prst="line">
            <a:avLst/>
          </a:prstGeom>
          <a:noFill/>
          <a:ln w="63500">
            <a:solidFill>
              <a:srgbClr val="64748B"/>
            </a:solidFill>
            <a:prstDash val="solid"/>
          </a:ln>
        </p:spPr>
      </p:sp>
      <p:sp>
        <p:nvSpPr>
          <p:cNvPr id="32" name="Shape 30"/>
          <p:cNvSpPr/>
          <p:nvPr/>
        </p:nvSpPr>
        <p:spPr>
          <a:xfrm>
            <a:off x="4754880" y="2926080"/>
            <a:ext cx="347472" cy="237744"/>
          </a:xfrm>
          <a:prstGeom prst="roundRect">
            <a:avLst>
              <a:gd name="adj" fmla="val 15385"/>
            </a:avLst>
          </a:prstGeom>
          <a:solidFill>
            <a:srgbClr val="64748B"/>
          </a:solidFill>
          <a:ln/>
        </p:spPr>
      </p:sp>
      <p:sp>
        <p:nvSpPr>
          <p:cNvPr id="33" name="Text 31"/>
          <p:cNvSpPr txBox="1"/>
          <p:nvPr/>
        </p:nvSpPr>
        <p:spPr>
          <a:xfrm>
            <a:off x="5166360" y="2926080"/>
            <a:ext cx="1188720" cy="228600"/>
          </a:xfrm>
          <a:prstGeom prst="rect">
            <a:avLst/>
          </a:prstGeom>
          <a:noFill/>
          <a:ln/>
        </p:spPr>
        <p:txBody>
          <a:bodyPr wrap="square" lIns="0" tIns="0" rIns="0" bIns="0" rtlCol="0" anchor="ctr"/>
          <a:lstStyle/>
          <a:p>
            <a:pPr indent="0" marL="0">
              <a:buNone/>
            </a:pPr>
            <a:r>
              <a:rPr lang="en-US" sz="1100" dirty="0">
                <a:solidFill>
                  <a:srgbClr val="16213A"/>
                </a:solidFill>
                <a:latin typeface="Calibri" pitchFamily="34" charset="0"/>
                <a:ea typeface="Calibri" pitchFamily="34" charset="-122"/>
                <a:cs typeface="Calibri" pitchFamily="34" charset="-120"/>
              </a:rPr>
              <a:t>Wrist camera</a:t>
            </a:r>
            <a:endParaRPr lang="en-US" sz="1100" dirty="0"/>
          </a:p>
        </p:txBody>
      </p:sp>
      <p:sp>
        <p:nvSpPr>
          <p:cNvPr id="34" name="Text 32"/>
          <p:cNvSpPr txBox="1"/>
          <p:nvPr/>
        </p:nvSpPr>
        <p:spPr>
          <a:xfrm>
            <a:off x="3017520" y="3429000"/>
            <a:ext cx="502920" cy="228600"/>
          </a:xfrm>
          <a:prstGeom prst="rect">
            <a:avLst/>
          </a:prstGeom>
          <a:noFill/>
          <a:ln/>
        </p:spPr>
        <p:txBody>
          <a:bodyPr wrap="square" lIns="0" tIns="0" rIns="0" bIns="0" rtlCol="0" anchor="ctr"/>
          <a:lstStyle/>
          <a:p>
            <a:pPr algn="r" indent="0" marL="0">
              <a:buNone/>
            </a:pPr>
            <a:r>
              <a:rPr lang="en-US" sz="1100" dirty="0">
                <a:solidFill>
                  <a:srgbClr val="16213A"/>
                </a:solidFill>
                <a:latin typeface="Calibri" pitchFamily="34" charset="0"/>
                <a:ea typeface="Calibri" pitchFamily="34" charset="-122"/>
                <a:cs typeface="Calibri" pitchFamily="34" charset="-120"/>
              </a:rPr>
              <a:t>Arm</a:t>
            </a:r>
            <a:endParaRPr lang="en-US" sz="1100" dirty="0"/>
          </a:p>
        </p:txBody>
      </p:sp>
      <p:sp>
        <p:nvSpPr>
          <p:cNvPr id="35" name="Shape 33"/>
          <p:cNvSpPr/>
          <p:nvPr/>
        </p:nvSpPr>
        <p:spPr>
          <a:xfrm>
            <a:off x="7406640" y="2743200"/>
            <a:ext cx="365760" cy="365760"/>
          </a:xfrm>
          <a:prstGeom prst="ellipse">
            <a:avLst/>
          </a:prstGeom>
          <a:ln w="19050">
            <a:solidFill>
              <a:srgbClr val="16213A"/>
            </a:solidFill>
            <a:prstDash val="solid"/>
          </a:ln>
        </p:spPr>
      </p:sp>
      <p:sp>
        <p:nvSpPr>
          <p:cNvPr id="36" name="Shape 34"/>
          <p:cNvSpPr/>
          <p:nvPr/>
        </p:nvSpPr>
        <p:spPr>
          <a:xfrm>
            <a:off x="7406640" y="2871216"/>
            <a:ext cx="274320" cy="73152"/>
          </a:xfrm>
          <a:prstGeom prst="rect">
            <a:avLst/>
          </a:prstGeom>
          <a:solidFill>
            <a:srgbClr val="FF7A3A"/>
          </a:solidFill>
          <a:ln/>
        </p:spPr>
      </p:sp>
      <p:sp>
        <p:nvSpPr>
          <p:cNvPr id="37" name="Shape 35"/>
          <p:cNvSpPr/>
          <p:nvPr/>
        </p:nvSpPr>
        <p:spPr>
          <a:xfrm>
            <a:off x="7589520" y="3108960"/>
            <a:ext cx="914" cy="1280160"/>
          </a:xfrm>
          <a:prstGeom prst="line">
            <a:avLst/>
          </a:prstGeom>
          <a:noFill/>
          <a:ln w="19050">
            <a:solidFill>
              <a:srgbClr val="16213A"/>
            </a:solidFill>
            <a:prstDash val="solid"/>
          </a:ln>
        </p:spPr>
      </p:sp>
      <p:sp>
        <p:nvSpPr>
          <p:cNvPr id="38" name="Shape 36"/>
          <p:cNvSpPr/>
          <p:nvPr/>
        </p:nvSpPr>
        <p:spPr>
          <a:xfrm flipH="1">
            <a:off x="7315200" y="3383280"/>
            <a:ext cx="274320" cy="502920"/>
          </a:xfrm>
          <a:prstGeom prst="line">
            <a:avLst/>
          </a:prstGeom>
          <a:noFill/>
          <a:ln w="19050">
            <a:solidFill>
              <a:srgbClr val="16213A"/>
            </a:solidFill>
            <a:prstDash val="solid"/>
          </a:ln>
        </p:spPr>
      </p:sp>
      <p:sp>
        <p:nvSpPr>
          <p:cNvPr id="39" name="Shape 37"/>
          <p:cNvSpPr/>
          <p:nvPr/>
        </p:nvSpPr>
        <p:spPr>
          <a:xfrm>
            <a:off x="7589520" y="3383280"/>
            <a:ext cx="274320" cy="502920"/>
          </a:xfrm>
          <a:prstGeom prst="line">
            <a:avLst/>
          </a:prstGeom>
          <a:noFill/>
          <a:ln w="19050">
            <a:solidFill>
              <a:srgbClr val="16213A"/>
            </a:solidFill>
            <a:prstDash val="solid"/>
          </a:ln>
        </p:spPr>
      </p:sp>
      <p:sp>
        <p:nvSpPr>
          <p:cNvPr id="40" name="Shape 38"/>
          <p:cNvSpPr/>
          <p:nvPr/>
        </p:nvSpPr>
        <p:spPr>
          <a:xfrm flipH="1">
            <a:off x="7360920" y="4389120"/>
            <a:ext cx="228600" cy="1051560"/>
          </a:xfrm>
          <a:prstGeom prst="line">
            <a:avLst/>
          </a:prstGeom>
          <a:noFill/>
          <a:ln w="19050">
            <a:solidFill>
              <a:srgbClr val="16213A"/>
            </a:solidFill>
            <a:prstDash val="solid"/>
          </a:ln>
        </p:spPr>
      </p:sp>
      <p:sp>
        <p:nvSpPr>
          <p:cNvPr id="41" name="Shape 39"/>
          <p:cNvSpPr/>
          <p:nvPr/>
        </p:nvSpPr>
        <p:spPr>
          <a:xfrm>
            <a:off x="7589520" y="4389120"/>
            <a:ext cx="228600" cy="1051560"/>
          </a:xfrm>
          <a:prstGeom prst="line">
            <a:avLst/>
          </a:prstGeom>
          <a:noFill/>
          <a:ln w="19050">
            <a:solidFill>
              <a:srgbClr val="16213A"/>
            </a:solidFill>
            <a:prstDash val="solid"/>
          </a:ln>
        </p:spPr>
      </p:sp>
      <p:sp>
        <p:nvSpPr>
          <p:cNvPr id="42" name="Text 40"/>
          <p:cNvSpPr txBox="1"/>
          <p:nvPr/>
        </p:nvSpPr>
        <p:spPr>
          <a:xfrm>
            <a:off x="6995160" y="2423160"/>
            <a:ext cx="1188720" cy="228600"/>
          </a:xfrm>
          <a:prstGeom prst="rect">
            <a:avLst/>
          </a:prstGeom>
          <a:noFill/>
          <a:ln/>
        </p:spPr>
        <p:txBody>
          <a:bodyPr wrap="square" lIns="0" tIns="0" rIns="0" bIns="0" rtlCol="0" anchor="ctr"/>
          <a:lstStyle/>
          <a:p>
            <a:pPr algn="ctr" indent="0" marL="0">
              <a:buNone/>
            </a:pPr>
            <a:r>
              <a:rPr lang="en-US" sz="1100" dirty="0">
                <a:solidFill>
                  <a:srgbClr val="16213A"/>
                </a:solidFill>
                <a:latin typeface="Calibri" pitchFamily="34" charset="0"/>
                <a:ea typeface="Calibri" pitchFamily="34" charset="-122"/>
                <a:cs typeface="Calibri" pitchFamily="34" charset="-120"/>
              </a:rPr>
              <a:t>User + glasses</a:t>
            </a:r>
            <a:endParaRPr lang="en-US" sz="1100" dirty="0"/>
          </a:p>
        </p:txBody>
      </p:sp>
      <p:sp>
        <p:nvSpPr>
          <p:cNvPr id="43" name="Shape 41"/>
          <p:cNvSpPr/>
          <p:nvPr/>
        </p:nvSpPr>
        <p:spPr>
          <a:xfrm flipV="1">
            <a:off x="5641848" y="4069080"/>
            <a:ext cx="594360" cy="228600"/>
          </a:xfrm>
          <a:prstGeom prst="line">
            <a:avLst/>
          </a:prstGeom>
          <a:noFill/>
          <a:ln w="25400">
            <a:solidFill>
              <a:srgbClr val="D97706"/>
            </a:solidFill>
            <a:prstDash val="solid"/>
          </a:ln>
        </p:spPr>
      </p:sp>
      <p:sp>
        <p:nvSpPr>
          <p:cNvPr id="44" name="Shape 42"/>
          <p:cNvSpPr/>
          <p:nvPr/>
        </p:nvSpPr>
        <p:spPr>
          <a:xfrm flipH="1">
            <a:off x="6126480" y="4069080"/>
            <a:ext cx="109728" cy="548640"/>
          </a:xfrm>
          <a:prstGeom prst="line">
            <a:avLst/>
          </a:prstGeom>
          <a:noFill/>
          <a:ln w="25400">
            <a:solidFill>
              <a:srgbClr val="D97706"/>
            </a:solidFill>
            <a:prstDash val="solid"/>
          </a:ln>
        </p:spPr>
      </p:sp>
      <p:sp>
        <p:nvSpPr>
          <p:cNvPr id="45" name="Shape 43"/>
          <p:cNvSpPr/>
          <p:nvPr/>
        </p:nvSpPr>
        <p:spPr>
          <a:xfrm flipH="1">
            <a:off x="5715000" y="2926080"/>
            <a:ext cx="1673352" cy="1143000"/>
          </a:xfrm>
          <a:prstGeom prst="line">
            <a:avLst/>
          </a:prstGeom>
          <a:noFill/>
          <a:ln w="25400">
            <a:solidFill>
              <a:srgbClr val="9CA3AF"/>
            </a:solidFill>
            <a:prstDash val="dash"/>
          </a:ln>
        </p:spPr>
      </p:sp>
      <p:sp>
        <p:nvSpPr>
          <p:cNvPr id="46" name="Shape 44"/>
          <p:cNvSpPr/>
          <p:nvPr/>
        </p:nvSpPr>
        <p:spPr>
          <a:xfrm>
            <a:off x="3127248" y="4005072"/>
            <a:ext cx="329184" cy="329184"/>
          </a:xfrm>
          <a:prstGeom prst="ellipse">
            <a:avLst/>
          </a:prstGeom>
          <a:solidFill>
            <a:srgbClr val="16A34A"/>
          </a:solidFill>
          <a:ln/>
        </p:spPr>
      </p:sp>
      <p:sp>
        <p:nvSpPr>
          <p:cNvPr id="47" name="Text 45"/>
          <p:cNvSpPr txBox="1"/>
          <p:nvPr/>
        </p:nvSpPr>
        <p:spPr>
          <a:xfrm>
            <a:off x="3127248" y="40050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48" name="Shape 46"/>
          <p:cNvSpPr/>
          <p:nvPr/>
        </p:nvSpPr>
        <p:spPr>
          <a:xfrm>
            <a:off x="6144768" y="3840480"/>
            <a:ext cx="329184" cy="329184"/>
          </a:xfrm>
          <a:prstGeom prst="ellipse">
            <a:avLst/>
          </a:prstGeom>
          <a:solidFill>
            <a:srgbClr val="D97706"/>
          </a:solidFill>
          <a:ln/>
        </p:spPr>
      </p:sp>
      <p:sp>
        <p:nvSpPr>
          <p:cNvPr id="49" name="Text 47"/>
          <p:cNvSpPr txBox="1"/>
          <p:nvPr/>
        </p:nvSpPr>
        <p:spPr>
          <a:xfrm>
            <a:off x="6144768" y="38404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50" name="Shape 48"/>
          <p:cNvSpPr/>
          <p:nvPr/>
        </p:nvSpPr>
        <p:spPr>
          <a:xfrm>
            <a:off x="4096512" y="3154680"/>
            <a:ext cx="329184" cy="329184"/>
          </a:xfrm>
          <a:prstGeom prst="ellipse">
            <a:avLst/>
          </a:prstGeom>
          <a:solidFill>
            <a:srgbClr val="16A34A"/>
          </a:solidFill>
          <a:ln/>
        </p:spPr>
      </p:sp>
      <p:sp>
        <p:nvSpPr>
          <p:cNvPr id="51" name="Text 49"/>
          <p:cNvSpPr txBox="1"/>
          <p:nvPr/>
        </p:nvSpPr>
        <p:spPr>
          <a:xfrm>
            <a:off x="4096512" y="31546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52" name="Shape 50"/>
          <p:cNvSpPr/>
          <p:nvPr/>
        </p:nvSpPr>
        <p:spPr>
          <a:xfrm>
            <a:off x="6446520" y="3310128"/>
            <a:ext cx="329184" cy="329184"/>
          </a:xfrm>
          <a:prstGeom prst="ellipse">
            <a:avLst/>
          </a:prstGeom>
          <a:solidFill>
            <a:srgbClr val="9CA3AF"/>
          </a:solidFill>
          <a:ln/>
        </p:spPr>
      </p:sp>
      <p:sp>
        <p:nvSpPr>
          <p:cNvPr id="53" name="Text 51"/>
          <p:cNvSpPr txBox="1"/>
          <p:nvPr/>
        </p:nvSpPr>
        <p:spPr>
          <a:xfrm>
            <a:off x="6446520" y="331012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54" name="Text 52"/>
          <p:cNvSpPr txBox="1"/>
          <p:nvPr/>
        </p:nvSpPr>
        <p:spPr>
          <a:xfrm>
            <a:off x="2697480" y="5742432"/>
            <a:ext cx="5486400" cy="22860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Camera calibration is a separate problem from the robot's frame tree (appendix A2).</a:t>
            </a:r>
            <a:endParaRPr lang="en-US" sz="1100" dirty="0"/>
          </a:p>
        </p:txBody>
      </p:sp>
      <p:sp>
        <p:nvSpPr>
          <p:cNvPr id="55" name="Shape 53"/>
          <p:cNvSpPr/>
          <p:nvPr/>
        </p:nvSpPr>
        <p:spPr>
          <a:xfrm>
            <a:off x="8412480" y="1874520"/>
            <a:ext cx="3227832" cy="868680"/>
          </a:xfrm>
          <a:prstGeom prst="roundRect">
            <a:avLst>
              <a:gd name="adj" fmla="val 10526"/>
            </a:avLst>
          </a:prstGeom>
          <a:solidFill>
            <a:srgbClr val="EEF2F7"/>
          </a:solidFill>
          <a:ln/>
        </p:spPr>
      </p:sp>
      <p:sp>
        <p:nvSpPr>
          <p:cNvPr id="56" name="Shape 54"/>
          <p:cNvSpPr/>
          <p:nvPr/>
        </p:nvSpPr>
        <p:spPr>
          <a:xfrm>
            <a:off x="8549640" y="2011680"/>
            <a:ext cx="329184" cy="329184"/>
          </a:xfrm>
          <a:prstGeom prst="ellipse">
            <a:avLst/>
          </a:prstGeom>
          <a:solidFill>
            <a:srgbClr val="16A34A"/>
          </a:solidFill>
          <a:ln/>
        </p:spPr>
      </p:sp>
      <p:sp>
        <p:nvSpPr>
          <p:cNvPr id="57" name="Text 55"/>
          <p:cNvSpPr txBox="1"/>
          <p:nvPr/>
        </p:nvSpPr>
        <p:spPr>
          <a:xfrm>
            <a:off x="8549640" y="20116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8" name="Text 56"/>
          <p:cNvSpPr txBox="1"/>
          <p:nvPr/>
        </p:nvSpPr>
        <p:spPr>
          <a:xfrm>
            <a:off x="8979408" y="1965960"/>
            <a:ext cx="2542032" cy="256032"/>
          </a:xfrm>
          <a:prstGeom prst="rect">
            <a:avLst/>
          </a:prstGeom>
          <a:noFill/>
          <a:ln/>
        </p:spPr>
        <p:txBody>
          <a:bodyPr wrap="square" lIns="0" tIns="0" rIns="0" bIns="0" rtlCol="0" anchor="ctr"/>
          <a:lstStyle/>
          <a:p>
            <a:pPr indent="0" marL="0">
              <a:buNone/>
            </a:pPr>
            <a:r>
              <a:rPr lang="en-US" sz="1400" b="1" dirty="0">
                <a:solidFill>
                  <a:srgbClr val="16213A"/>
                </a:solidFill>
                <a:latin typeface="Calibri" pitchFamily="34" charset="0"/>
                <a:ea typeface="Calibri" pitchFamily="34" charset="-122"/>
                <a:cs typeface="Calibri" pitchFamily="34" charset="-120"/>
              </a:rPr>
              <a:t>Base to arm</a:t>
            </a:r>
            <a:endParaRPr lang="en-US" sz="1400" dirty="0"/>
          </a:p>
        </p:txBody>
      </p:sp>
      <p:sp>
        <p:nvSpPr>
          <p:cNvPr id="59" name="Text 57"/>
          <p:cNvSpPr txBox="1"/>
          <p:nvPr/>
        </p:nvSpPr>
        <p:spPr>
          <a:xfrm>
            <a:off x="8979408" y="2212848"/>
            <a:ext cx="2542032" cy="201168"/>
          </a:xfrm>
          <a:prstGeom prst="rect">
            <a:avLst/>
          </a:prstGeom>
          <a:noFill/>
          <a:ln/>
        </p:spPr>
        <p:txBody>
          <a:bodyPr wrap="square" lIns="0" tIns="0" rIns="0" bIns="0" rtlCol="0" anchor="ctr"/>
          <a:lstStyle/>
          <a:p>
            <a:pPr indent="0" marL="0">
              <a:buNone/>
            </a:pPr>
            <a:r>
              <a:rPr lang="en-US" sz="1100" b="1" dirty="0">
                <a:solidFill>
                  <a:srgbClr val="15803D"/>
                </a:solidFill>
                <a:latin typeface="Calibri" pitchFamily="34" charset="0"/>
                <a:ea typeface="Calibri" pitchFamily="34" charset="-122"/>
                <a:cs typeface="Calibri" pitchFamily="34" charset="-120"/>
              </a:rPr>
              <a:t>Measured</a:t>
            </a:r>
            <a:endParaRPr lang="en-US" sz="1100" dirty="0"/>
          </a:p>
        </p:txBody>
      </p:sp>
      <p:sp>
        <p:nvSpPr>
          <p:cNvPr id="60" name="Text 58"/>
          <p:cNvSpPr txBox="1"/>
          <p:nvPr/>
        </p:nvSpPr>
        <p:spPr>
          <a:xfrm>
            <a:off x="8979408" y="2404872"/>
            <a:ext cx="2542032" cy="320040"/>
          </a:xfrm>
          <a:prstGeom prst="rect">
            <a:avLst/>
          </a:prstGeom>
          <a:noFill/>
          <a:ln/>
        </p:spPr>
        <p:txBody>
          <a:bodyPr wrap="square" lIns="0" tIns="0" rIns="0" bIns="0" rtlCol="0" anchor="t"/>
          <a:lstStyle/>
          <a:p>
            <a:pPr indent="0" marL="0">
              <a:buNone/>
            </a:pPr>
            <a:r>
              <a:rPr lang="en-US" sz="1100" dirty="0">
                <a:solidFill>
                  <a:srgbClr val="4B5563"/>
                </a:solidFill>
                <a:latin typeface="Calibri" pitchFamily="34" charset="0"/>
                <a:ea typeface="Calibri" pitchFamily="34" charset="-122"/>
                <a:cs typeface="Calibri" pitchFamily="34" charset="-120"/>
              </a:rPr>
              <a:t>Arm grasps in the base's map</a:t>
            </a:r>
            <a:endParaRPr lang="en-US" sz="1100" dirty="0"/>
          </a:p>
        </p:txBody>
      </p:sp>
      <p:sp>
        <p:nvSpPr>
          <p:cNvPr id="61" name="Shape 59"/>
          <p:cNvSpPr/>
          <p:nvPr/>
        </p:nvSpPr>
        <p:spPr>
          <a:xfrm>
            <a:off x="8412480" y="2852928"/>
            <a:ext cx="3227832" cy="868680"/>
          </a:xfrm>
          <a:prstGeom prst="roundRect">
            <a:avLst>
              <a:gd name="adj" fmla="val 10526"/>
            </a:avLst>
          </a:prstGeom>
          <a:solidFill>
            <a:srgbClr val="EEF2F7"/>
          </a:solidFill>
          <a:ln/>
        </p:spPr>
      </p:sp>
      <p:sp>
        <p:nvSpPr>
          <p:cNvPr id="62" name="Shape 60"/>
          <p:cNvSpPr/>
          <p:nvPr/>
        </p:nvSpPr>
        <p:spPr>
          <a:xfrm>
            <a:off x="8549640" y="2990088"/>
            <a:ext cx="329184" cy="329184"/>
          </a:xfrm>
          <a:prstGeom prst="ellipse">
            <a:avLst/>
          </a:prstGeom>
          <a:solidFill>
            <a:srgbClr val="D97706"/>
          </a:solidFill>
          <a:ln/>
        </p:spPr>
      </p:sp>
      <p:sp>
        <p:nvSpPr>
          <p:cNvPr id="63" name="Text 61"/>
          <p:cNvSpPr txBox="1"/>
          <p:nvPr/>
        </p:nvSpPr>
        <p:spPr>
          <a:xfrm>
            <a:off x="8549640" y="299008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64" name="Text 62"/>
          <p:cNvSpPr txBox="1"/>
          <p:nvPr/>
        </p:nvSpPr>
        <p:spPr>
          <a:xfrm>
            <a:off x="8979408" y="2944368"/>
            <a:ext cx="2542032" cy="256032"/>
          </a:xfrm>
          <a:prstGeom prst="rect">
            <a:avLst/>
          </a:prstGeom>
          <a:noFill/>
          <a:ln/>
        </p:spPr>
        <p:txBody>
          <a:bodyPr wrap="square" lIns="0" tIns="0" rIns="0" bIns="0" rtlCol="0" anchor="ctr"/>
          <a:lstStyle/>
          <a:p>
            <a:pPr indent="0" marL="0">
              <a:buNone/>
            </a:pPr>
            <a:r>
              <a:rPr lang="en-US" sz="1400" b="1" dirty="0">
                <a:solidFill>
                  <a:srgbClr val="16213A"/>
                </a:solidFill>
                <a:latin typeface="Calibri" pitchFamily="34" charset="0"/>
                <a:ea typeface="Calibri" pitchFamily="34" charset="-122"/>
                <a:cs typeface="Calibri" pitchFamily="34" charset="-120"/>
              </a:rPr>
              <a:t>Base camera to LiDAR</a:t>
            </a:r>
            <a:endParaRPr lang="en-US" sz="1400" dirty="0"/>
          </a:p>
        </p:txBody>
      </p:sp>
      <p:sp>
        <p:nvSpPr>
          <p:cNvPr id="65" name="Text 63"/>
          <p:cNvSpPr txBox="1"/>
          <p:nvPr/>
        </p:nvSpPr>
        <p:spPr>
          <a:xfrm>
            <a:off x="8979408" y="3191256"/>
            <a:ext cx="2542032" cy="201168"/>
          </a:xfrm>
          <a:prstGeom prst="rect">
            <a:avLst/>
          </a:prstGeom>
          <a:noFill/>
          <a:ln/>
        </p:spPr>
        <p:txBody>
          <a:bodyPr wrap="square" lIns="0" tIns="0" rIns="0" bIns="0" rtlCol="0" anchor="ctr"/>
          <a:lstStyle/>
          <a:p>
            <a:pPr indent="0" marL="0">
              <a:buNone/>
            </a:pPr>
            <a:r>
              <a:rPr lang="en-US" sz="1100" b="1" dirty="0">
                <a:solidFill>
                  <a:srgbClr val="B45309"/>
                </a:solidFill>
                <a:latin typeface="Calibri" pitchFamily="34" charset="0"/>
                <a:ea typeface="Calibri" pitchFamily="34" charset="-122"/>
                <a:cs typeface="Calibri" pitchFamily="34" charset="-120"/>
              </a:rPr>
              <a:t>Mount measured, not calibrated</a:t>
            </a:r>
            <a:endParaRPr lang="en-US" sz="1100" dirty="0"/>
          </a:p>
        </p:txBody>
      </p:sp>
      <p:sp>
        <p:nvSpPr>
          <p:cNvPr id="66" name="Text 64"/>
          <p:cNvSpPr txBox="1"/>
          <p:nvPr/>
        </p:nvSpPr>
        <p:spPr>
          <a:xfrm>
            <a:off x="8979408" y="3383280"/>
            <a:ext cx="2542032" cy="320040"/>
          </a:xfrm>
          <a:prstGeom prst="rect">
            <a:avLst/>
          </a:prstGeom>
          <a:noFill/>
          <a:ln/>
        </p:spPr>
        <p:txBody>
          <a:bodyPr wrap="square" lIns="0" tIns="0" rIns="0" bIns="0" rtlCol="0" anchor="t"/>
          <a:lstStyle/>
          <a:p>
            <a:pPr indent="0" marL="0">
              <a:buNone/>
            </a:pPr>
            <a:r>
              <a:rPr lang="en-US" sz="1100" dirty="0">
                <a:solidFill>
                  <a:srgbClr val="4B5563"/>
                </a:solidFill>
                <a:latin typeface="Calibri" pitchFamily="34" charset="0"/>
                <a:ea typeface="Calibri" pitchFamily="34" charset="-122"/>
                <a:cs typeface="Calibri" pitchFamily="34" charset="-120"/>
              </a:rPr>
              <a:t>Graph objects. Rig planned (T5.5)</a:t>
            </a:r>
            <a:endParaRPr lang="en-US" sz="1100" dirty="0"/>
          </a:p>
        </p:txBody>
      </p:sp>
      <p:sp>
        <p:nvSpPr>
          <p:cNvPr id="67" name="Shape 65"/>
          <p:cNvSpPr/>
          <p:nvPr/>
        </p:nvSpPr>
        <p:spPr>
          <a:xfrm>
            <a:off x="8412480" y="3831336"/>
            <a:ext cx="3227832" cy="868680"/>
          </a:xfrm>
          <a:prstGeom prst="roundRect">
            <a:avLst>
              <a:gd name="adj" fmla="val 10526"/>
            </a:avLst>
          </a:prstGeom>
          <a:solidFill>
            <a:srgbClr val="EEF2F7"/>
          </a:solidFill>
          <a:ln/>
        </p:spPr>
      </p:sp>
      <p:sp>
        <p:nvSpPr>
          <p:cNvPr id="68" name="Shape 66"/>
          <p:cNvSpPr/>
          <p:nvPr/>
        </p:nvSpPr>
        <p:spPr>
          <a:xfrm>
            <a:off x="8549640" y="3968496"/>
            <a:ext cx="329184" cy="329184"/>
          </a:xfrm>
          <a:prstGeom prst="ellipse">
            <a:avLst/>
          </a:prstGeom>
          <a:solidFill>
            <a:srgbClr val="16A34A"/>
          </a:solidFill>
          <a:ln/>
        </p:spPr>
      </p:sp>
      <p:sp>
        <p:nvSpPr>
          <p:cNvPr id="69" name="Text 67"/>
          <p:cNvSpPr txBox="1"/>
          <p:nvPr/>
        </p:nvSpPr>
        <p:spPr>
          <a:xfrm>
            <a:off x="8549640" y="396849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70" name="Text 68"/>
          <p:cNvSpPr txBox="1"/>
          <p:nvPr/>
        </p:nvSpPr>
        <p:spPr>
          <a:xfrm>
            <a:off x="8979408" y="3922776"/>
            <a:ext cx="2542032" cy="256032"/>
          </a:xfrm>
          <a:prstGeom prst="rect">
            <a:avLst/>
          </a:prstGeom>
          <a:noFill/>
          <a:ln/>
        </p:spPr>
        <p:txBody>
          <a:bodyPr wrap="square" lIns="0" tIns="0" rIns="0" bIns="0" rtlCol="0" anchor="ctr"/>
          <a:lstStyle/>
          <a:p>
            <a:pPr indent="0" marL="0">
              <a:buNone/>
            </a:pPr>
            <a:r>
              <a:rPr lang="en-US" sz="1400" b="1" dirty="0">
                <a:solidFill>
                  <a:srgbClr val="16213A"/>
                </a:solidFill>
                <a:latin typeface="Calibri" pitchFamily="34" charset="0"/>
                <a:ea typeface="Calibri" pitchFamily="34" charset="-122"/>
                <a:cs typeface="Calibri" pitchFamily="34" charset="-120"/>
              </a:rPr>
              <a:t>Wrist camera to arm</a:t>
            </a:r>
            <a:endParaRPr lang="en-US" sz="1400" dirty="0"/>
          </a:p>
        </p:txBody>
      </p:sp>
      <p:sp>
        <p:nvSpPr>
          <p:cNvPr id="71" name="Text 69"/>
          <p:cNvSpPr txBox="1"/>
          <p:nvPr/>
        </p:nvSpPr>
        <p:spPr>
          <a:xfrm>
            <a:off x="8979408" y="4169664"/>
            <a:ext cx="2542032" cy="201168"/>
          </a:xfrm>
          <a:prstGeom prst="rect">
            <a:avLst/>
          </a:prstGeom>
          <a:noFill/>
          <a:ln/>
        </p:spPr>
        <p:txBody>
          <a:bodyPr wrap="square" lIns="0" tIns="0" rIns="0" bIns="0" rtlCol="0" anchor="ctr"/>
          <a:lstStyle/>
          <a:p>
            <a:pPr indent="0" marL="0">
              <a:buNone/>
            </a:pPr>
            <a:r>
              <a:rPr lang="en-US" sz="1100" b="1" dirty="0">
                <a:solidFill>
                  <a:srgbClr val="15803D"/>
                </a:solidFill>
                <a:latin typeface="Calibri" pitchFamily="34" charset="0"/>
                <a:ea typeface="Calibri" pitchFamily="34" charset="-122"/>
                <a:cs typeface="Calibri" pitchFamily="34" charset="-120"/>
              </a:rPr>
              <a:t>Calibrated</a:t>
            </a:r>
            <a:endParaRPr lang="en-US" sz="1100" dirty="0"/>
          </a:p>
        </p:txBody>
      </p:sp>
      <p:sp>
        <p:nvSpPr>
          <p:cNvPr id="72" name="Text 70"/>
          <p:cNvSpPr txBox="1"/>
          <p:nvPr/>
        </p:nvSpPr>
        <p:spPr>
          <a:xfrm>
            <a:off x="8979408" y="4361688"/>
            <a:ext cx="2542032" cy="320040"/>
          </a:xfrm>
          <a:prstGeom prst="rect">
            <a:avLst/>
          </a:prstGeom>
          <a:noFill/>
          <a:ln/>
        </p:spPr>
        <p:txBody>
          <a:bodyPr wrap="square" lIns="0" tIns="0" rIns="0" bIns="0" rtlCol="0" anchor="t"/>
          <a:lstStyle/>
          <a:p>
            <a:pPr indent="0" marL="0">
              <a:buNone/>
            </a:pPr>
            <a:r>
              <a:rPr lang="en-US" sz="1100" dirty="0">
                <a:solidFill>
                  <a:srgbClr val="4B5563"/>
                </a:solidFill>
                <a:latin typeface="Calibri" pitchFamily="34" charset="0"/>
                <a:ea typeface="Calibri" pitchFamily="34" charset="-122"/>
                <a:cs typeface="Calibri" pitchFamily="34" charset="-120"/>
              </a:rPr>
              <a:t>Camera grasp becomes an arm goal</a:t>
            </a:r>
            <a:endParaRPr lang="en-US" sz="1100" dirty="0"/>
          </a:p>
        </p:txBody>
      </p:sp>
      <p:sp>
        <p:nvSpPr>
          <p:cNvPr id="73" name="Shape 71"/>
          <p:cNvSpPr/>
          <p:nvPr/>
        </p:nvSpPr>
        <p:spPr>
          <a:xfrm>
            <a:off x="8412480" y="4809744"/>
            <a:ext cx="3227832" cy="868680"/>
          </a:xfrm>
          <a:prstGeom prst="roundRect">
            <a:avLst>
              <a:gd name="adj" fmla="val 10526"/>
            </a:avLst>
          </a:prstGeom>
          <a:solidFill>
            <a:srgbClr val="EEF2F7"/>
          </a:solidFill>
          <a:ln/>
        </p:spPr>
      </p:sp>
      <p:sp>
        <p:nvSpPr>
          <p:cNvPr id="74" name="Shape 72"/>
          <p:cNvSpPr/>
          <p:nvPr/>
        </p:nvSpPr>
        <p:spPr>
          <a:xfrm>
            <a:off x="8549640" y="4946904"/>
            <a:ext cx="329184" cy="329184"/>
          </a:xfrm>
          <a:prstGeom prst="ellipse">
            <a:avLst/>
          </a:prstGeom>
          <a:solidFill>
            <a:srgbClr val="9CA3AF"/>
          </a:solidFill>
          <a:ln/>
        </p:spPr>
      </p:sp>
      <p:sp>
        <p:nvSpPr>
          <p:cNvPr id="75" name="Text 73"/>
          <p:cNvSpPr txBox="1"/>
          <p:nvPr/>
        </p:nvSpPr>
        <p:spPr>
          <a:xfrm>
            <a:off x="8549640" y="49469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76" name="Text 74"/>
          <p:cNvSpPr txBox="1"/>
          <p:nvPr/>
        </p:nvSpPr>
        <p:spPr>
          <a:xfrm>
            <a:off x="8979408" y="4901184"/>
            <a:ext cx="2542032" cy="256032"/>
          </a:xfrm>
          <a:prstGeom prst="rect">
            <a:avLst/>
          </a:prstGeom>
          <a:noFill/>
          <a:ln/>
        </p:spPr>
        <p:txBody>
          <a:bodyPr wrap="square" lIns="0" tIns="0" rIns="0" bIns="0" rtlCol="0" anchor="ctr"/>
          <a:lstStyle/>
          <a:p>
            <a:pPr indent="0" marL="0">
              <a:buNone/>
            </a:pPr>
            <a:r>
              <a:rPr lang="en-US" sz="1400" b="1" dirty="0">
                <a:solidFill>
                  <a:srgbClr val="16213A"/>
                </a:solidFill>
                <a:latin typeface="Calibri" pitchFamily="34" charset="0"/>
                <a:ea typeface="Calibri" pitchFamily="34" charset="-122"/>
                <a:cs typeface="Calibri" pitchFamily="34" charset="-120"/>
              </a:rPr>
              <a:t>Glasses to robot</a:t>
            </a:r>
            <a:endParaRPr lang="en-US" sz="1400" dirty="0"/>
          </a:p>
        </p:txBody>
      </p:sp>
      <p:sp>
        <p:nvSpPr>
          <p:cNvPr id="77" name="Text 75"/>
          <p:cNvSpPr txBox="1"/>
          <p:nvPr/>
        </p:nvSpPr>
        <p:spPr>
          <a:xfrm>
            <a:off x="8979408" y="5148072"/>
            <a:ext cx="2542032" cy="201168"/>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Planned (T8.8)</a:t>
            </a:r>
            <a:endParaRPr lang="en-US" sz="1100" dirty="0"/>
          </a:p>
        </p:txBody>
      </p:sp>
      <p:sp>
        <p:nvSpPr>
          <p:cNvPr id="78" name="Text 76"/>
          <p:cNvSpPr txBox="1"/>
          <p:nvPr/>
        </p:nvSpPr>
        <p:spPr>
          <a:xfrm>
            <a:off x="8979408" y="5340096"/>
            <a:ext cx="2542032" cy="320040"/>
          </a:xfrm>
          <a:prstGeom prst="rect">
            <a:avLst/>
          </a:prstGeom>
          <a:noFill/>
          <a:ln/>
        </p:spPr>
        <p:txBody>
          <a:bodyPr wrap="square" lIns="0" tIns="0" rIns="0" bIns="0" rtlCol="0" anchor="t"/>
          <a:lstStyle/>
          <a:p>
            <a:pPr indent="0" marL="0">
              <a:buNone/>
            </a:pPr>
            <a:r>
              <a:rPr lang="en-US" sz="1100" dirty="0">
                <a:solidFill>
                  <a:srgbClr val="4B5563"/>
                </a:solidFill>
                <a:latin typeface="Calibri" pitchFamily="34" charset="0"/>
                <a:ea typeface="Calibri" pitchFamily="34" charset="-122"/>
                <a:cs typeface="Calibri" pitchFamily="34" charset="-120"/>
              </a:rPr>
              <a:t>Gaze ray in robot frame, look-alikes</a:t>
            </a:r>
            <a:endParaRPr lang="en-US" sz="1100" dirty="0"/>
          </a:p>
        </p:txBody>
      </p:sp>
      <p:sp>
        <p:nvSpPr>
          <p:cNvPr id="79" name="Shape 77"/>
          <p:cNvSpPr/>
          <p:nvPr/>
        </p:nvSpPr>
        <p:spPr>
          <a:xfrm>
            <a:off x="594360" y="6400800"/>
            <a:ext cx="1295019" cy="13716"/>
          </a:xfrm>
          <a:prstGeom prst="rect">
            <a:avLst/>
          </a:prstGeom>
          <a:solidFill>
            <a:srgbClr val="D7DEE8"/>
          </a:solidFill>
          <a:ln/>
        </p:spPr>
      </p:sp>
      <p:sp>
        <p:nvSpPr>
          <p:cNvPr id="80" name="Text 78"/>
          <p:cNvSpPr txBox="1"/>
          <p:nvPr/>
        </p:nvSpPr>
        <p:spPr>
          <a:xfrm>
            <a:off x="548640"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Problem</a:t>
            </a:r>
            <a:endParaRPr lang="en-US" sz="1100" dirty="0"/>
          </a:p>
        </p:txBody>
      </p:sp>
      <p:sp>
        <p:nvSpPr>
          <p:cNvPr id="81" name="Shape 79"/>
          <p:cNvSpPr/>
          <p:nvPr/>
        </p:nvSpPr>
        <p:spPr>
          <a:xfrm>
            <a:off x="1980819" y="6400800"/>
            <a:ext cx="1295019" cy="13716"/>
          </a:xfrm>
          <a:prstGeom prst="rect">
            <a:avLst/>
          </a:prstGeom>
          <a:solidFill>
            <a:srgbClr val="D7DEE8"/>
          </a:solidFill>
          <a:ln/>
        </p:spPr>
      </p:sp>
      <p:sp>
        <p:nvSpPr>
          <p:cNvPr id="82" name="Text 80"/>
          <p:cNvSpPr txBox="1"/>
          <p:nvPr/>
        </p:nvSpPr>
        <p:spPr>
          <a:xfrm>
            <a:off x="1935099"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System</a:t>
            </a:r>
            <a:endParaRPr lang="en-US" sz="1100" dirty="0"/>
          </a:p>
        </p:txBody>
      </p:sp>
      <p:sp>
        <p:nvSpPr>
          <p:cNvPr id="83" name="Shape 81"/>
          <p:cNvSpPr/>
          <p:nvPr/>
        </p:nvSpPr>
        <p:spPr>
          <a:xfrm>
            <a:off x="3367278" y="6400800"/>
            <a:ext cx="1295019" cy="13716"/>
          </a:xfrm>
          <a:prstGeom prst="rect">
            <a:avLst/>
          </a:prstGeom>
          <a:solidFill>
            <a:srgbClr val="D7DEE8"/>
          </a:solidFill>
          <a:ln/>
        </p:spPr>
      </p:sp>
      <p:sp>
        <p:nvSpPr>
          <p:cNvPr id="84" name="Text 82"/>
          <p:cNvSpPr txBox="1"/>
          <p:nvPr/>
        </p:nvSpPr>
        <p:spPr>
          <a:xfrm>
            <a:off x="3321558"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Intent</a:t>
            </a:r>
            <a:endParaRPr lang="en-US" sz="1100" dirty="0"/>
          </a:p>
        </p:txBody>
      </p:sp>
      <p:sp>
        <p:nvSpPr>
          <p:cNvPr id="85" name="Shape 83"/>
          <p:cNvSpPr/>
          <p:nvPr/>
        </p:nvSpPr>
        <p:spPr>
          <a:xfrm>
            <a:off x="4753737" y="6400800"/>
            <a:ext cx="1295019" cy="36576"/>
          </a:xfrm>
          <a:prstGeom prst="rect">
            <a:avLst/>
          </a:prstGeom>
          <a:solidFill>
            <a:srgbClr val="0068B5"/>
          </a:solidFill>
          <a:ln/>
        </p:spPr>
      </p:sp>
      <p:sp>
        <p:nvSpPr>
          <p:cNvPr id="86" name="Text 84"/>
          <p:cNvSpPr txBox="1"/>
          <p:nvPr/>
        </p:nvSpPr>
        <p:spPr>
          <a:xfrm>
            <a:off x="4708017" y="6473952"/>
            <a:ext cx="1386459" cy="201168"/>
          </a:xfrm>
          <a:prstGeom prst="rect">
            <a:avLst/>
          </a:prstGeom>
          <a:noFill/>
          <a:ln/>
        </p:spPr>
        <p:txBody>
          <a:bodyPr wrap="square" lIns="0" tIns="0" rIns="0" bIns="0" rtlCol="0" anchor="ctr"/>
          <a:lstStyle/>
          <a:p>
            <a:pPr algn="ctr" indent="0" marL="0">
              <a:buNone/>
            </a:pPr>
            <a:r>
              <a:rPr lang="en-US" sz="1100" b="1" dirty="0">
                <a:solidFill>
                  <a:srgbClr val="16213A"/>
                </a:solidFill>
                <a:latin typeface="Calibri" pitchFamily="34" charset="0"/>
                <a:ea typeface="Calibri" pitchFamily="34" charset="-122"/>
                <a:cs typeface="Calibri" pitchFamily="34" charset="-120"/>
              </a:rPr>
              <a:t>Explore</a:t>
            </a:r>
            <a:endParaRPr lang="en-US" sz="1100" dirty="0"/>
          </a:p>
        </p:txBody>
      </p:sp>
      <p:sp>
        <p:nvSpPr>
          <p:cNvPr id="87" name="Shape 85"/>
          <p:cNvSpPr/>
          <p:nvPr/>
        </p:nvSpPr>
        <p:spPr>
          <a:xfrm>
            <a:off x="6140196" y="6400800"/>
            <a:ext cx="1295019" cy="13716"/>
          </a:xfrm>
          <a:prstGeom prst="rect">
            <a:avLst/>
          </a:prstGeom>
          <a:solidFill>
            <a:srgbClr val="D7DEE8"/>
          </a:solidFill>
          <a:ln/>
        </p:spPr>
      </p:sp>
      <p:sp>
        <p:nvSpPr>
          <p:cNvPr id="88" name="Text 86"/>
          <p:cNvSpPr txBox="1"/>
          <p:nvPr/>
        </p:nvSpPr>
        <p:spPr>
          <a:xfrm>
            <a:off x="6094476"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Search</a:t>
            </a:r>
            <a:endParaRPr lang="en-US" sz="1100" dirty="0"/>
          </a:p>
        </p:txBody>
      </p:sp>
      <p:sp>
        <p:nvSpPr>
          <p:cNvPr id="89" name="Shape 87"/>
          <p:cNvSpPr/>
          <p:nvPr/>
        </p:nvSpPr>
        <p:spPr>
          <a:xfrm>
            <a:off x="7526655" y="6400800"/>
            <a:ext cx="1295019" cy="13716"/>
          </a:xfrm>
          <a:prstGeom prst="rect">
            <a:avLst/>
          </a:prstGeom>
          <a:solidFill>
            <a:srgbClr val="D7DEE8"/>
          </a:solidFill>
          <a:ln/>
        </p:spPr>
      </p:sp>
      <p:sp>
        <p:nvSpPr>
          <p:cNvPr id="90" name="Text 88"/>
          <p:cNvSpPr txBox="1"/>
          <p:nvPr/>
        </p:nvSpPr>
        <p:spPr>
          <a:xfrm>
            <a:off x="7480935"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Confirm</a:t>
            </a:r>
            <a:endParaRPr lang="en-US" sz="1100" dirty="0"/>
          </a:p>
        </p:txBody>
      </p:sp>
      <p:sp>
        <p:nvSpPr>
          <p:cNvPr id="91" name="Shape 89"/>
          <p:cNvSpPr/>
          <p:nvPr/>
        </p:nvSpPr>
        <p:spPr>
          <a:xfrm>
            <a:off x="8913114" y="6400800"/>
            <a:ext cx="1295019" cy="13716"/>
          </a:xfrm>
          <a:prstGeom prst="rect">
            <a:avLst/>
          </a:prstGeom>
          <a:solidFill>
            <a:srgbClr val="D7DEE8"/>
          </a:solidFill>
          <a:ln/>
        </p:spPr>
      </p:sp>
      <p:sp>
        <p:nvSpPr>
          <p:cNvPr id="92" name="Text 90"/>
          <p:cNvSpPr txBox="1"/>
          <p:nvPr/>
        </p:nvSpPr>
        <p:spPr>
          <a:xfrm>
            <a:off x="8867394"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Grasp</a:t>
            </a:r>
            <a:endParaRPr lang="en-US" sz="1100" dirty="0"/>
          </a:p>
        </p:txBody>
      </p:sp>
      <p:sp>
        <p:nvSpPr>
          <p:cNvPr id="93" name="Shape 91"/>
          <p:cNvSpPr/>
          <p:nvPr/>
        </p:nvSpPr>
        <p:spPr>
          <a:xfrm>
            <a:off x="10299573" y="6400800"/>
            <a:ext cx="1295019" cy="13716"/>
          </a:xfrm>
          <a:prstGeom prst="rect">
            <a:avLst/>
          </a:prstGeom>
          <a:solidFill>
            <a:srgbClr val="D7DEE8"/>
          </a:solidFill>
          <a:ln/>
        </p:spPr>
      </p:sp>
      <p:sp>
        <p:nvSpPr>
          <p:cNvPr id="94" name="Text 92"/>
          <p:cNvSpPr txBox="1"/>
          <p:nvPr/>
        </p:nvSpPr>
        <p:spPr>
          <a:xfrm>
            <a:off x="10253853"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Plan</a:t>
            </a:r>
            <a:endParaRPr lang="en-US" sz="1100" dirty="0"/>
          </a:p>
        </p:txBody>
      </p:sp>
      <p:sp>
        <p:nvSpPr>
          <p:cNvPr id="95" name="Text 93"/>
          <p:cNvSpPr txBox="1"/>
          <p:nvPr/>
        </p:nvSpPr>
        <p:spPr>
          <a:xfrm>
            <a:off x="11091672" y="6035040"/>
            <a:ext cx="548640" cy="22860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28600"/>
          </a:xfrm>
          <a:prstGeom prst="rect">
            <a:avLst/>
          </a:prstGeom>
          <a:noFill/>
          <a:ln/>
        </p:spPr>
        <p:txBody>
          <a:bodyPr wrap="square" lIns="0" tIns="0" rIns="0" bIns="0" rtlCol="0" anchor="ctr"/>
          <a:lstStyle/>
          <a:p>
            <a:pPr indent="0" marL="0">
              <a:buNone/>
            </a:pPr>
            <a:r>
              <a:rPr lang="en-US" sz="1100" b="1" spc="150" kern="0" dirty="0">
                <a:solidFill>
                  <a:srgbClr val="0068B5"/>
                </a:solidFill>
                <a:latin typeface="Calibri" pitchFamily="34" charset="0"/>
                <a:ea typeface="Calibri" pitchFamily="34" charset="-122"/>
                <a:cs typeface="Calibri" pitchFamily="34" charset="-120"/>
              </a:rPr>
              <a:t>GAPPLER  ·  ZONGZHE</a:t>
            </a:r>
            <a:endParaRPr lang="en-US" sz="1100" dirty="0"/>
          </a:p>
        </p:txBody>
      </p:sp>
      <p:sp>
        <p:nvSpPr>
          <p:cNvPr id="3" name="Shape 1"/>
          <p:cNvSpPr/>
          <p:nvPr/>
        </p:nvSpPr>
        <p:spPr>
          <a:xfrm>
            <a:off x="8499348" y="347472"/>
            <a:ext cx="3140964" cy="347472"/>
          </a:xfrm>
          <a:prstGeom prst="roundRect">
            <a:avLst>
              <a:gd name="adj" fmla="val 50000"/>
            </a:avLst>
          </a:prstGeom>
          <a:solidFill>
            <a:srgbClr val="16213A"/>
          </a:solidFill>
          <a:ln/>
        </p:spPr>
      </p:sp>
      <p:sp>
        <p:nvSpPr>
          <p:cNvPr id="4" name="Text 2"/>
          <p:cNvSpPr txBox="1"/>
          <p:nvPr/>
        </p:nvSpPr>
        <p:spPr>
          <a:xfrm>
            <a:off x="8499348" y="347472"/>
            <a:ext cx="3140964" cy="347472"/>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PHASE 2  ·  EXPLORE AND MAP</a:t>
            </a:r>
            <a:endParaRPr lang="en-US" sz="1100" dirty="0"/>
          </a:p>
        </p:txBody>
      </p:sp>
      <p:sp>
        <p:nvSpPr>
          <p:cNvPr id="5" name="Text 3"/>
          <p:cNvSpPr txBox="1"/>
          <p:nvPr/>
        </p:nvSpPr>
        <p:spPr>
          <a:xfrm>
            <a:off x="548640" y="777240"/>
            <a:ext cx="11091672" cy="548640"/>
          </a:xfrm>
          <a:prstGeom prst="rect">
            <a:avLst/>
          </a:prstGeom>
          <a:noFill/>
          <a:ln/>
        </p:spPr>
        <p:txBody>
          <a:bodyPr wrap="square" lIns="0" tIns="0" rIns="0" bIns="0" rtlCol="0" anchor="ctr"/>
          <a:lstStyle/>
          <a:p>
            <a:pPr indent="0" marL="0">
              <a:buNone/>
            </a:pPr>
            <a:r>
              <a:rPr lang="en-US" sz="3000" b="1" dirty="0">
                <a:solidFill>
                  <a:srgbClr val="16213A"/>
                </a:solidFill>
                <a:latin typeface="Calibri" pitchFamily="34" charset="0"/>
                <a:ea typeface="Calibri" pitchFamily="34" charset="-122"/>
                <a:cs typeface="Calibri" pitchFamily="34" charset="-120"/>
              </a:rPr>
              <a:t>The memory graph turns a drive into a map of objects</a:t>
            </a:r>
            <a:endParaRPr lang="en-US" sz="3000" dirty="0"/>
          </a:p>
        </p:txBody>
      </p:sp>
      <p:sp>
        <p:nvSpPr>
          <p:cNvPr id="6" name="Text 4"/>
          <p:cNvSpPr txBox="1"/>
          <p:nvPr/>
        </p:nvSpPr>
        <p:spPr>
          <a:xfrm>
            <a:off x="548640" y="1325880"/>
            <a:ext cx="11091672" cy="320040"/>
          </a:xfrm>
          <a:prstGeom prst="rect">
            <a:avLst/>
          </a:prstGeom>
          <a:noFill/>
          <a:ln/>
        </p:spPr>
        <p:txBody>
          <a:bodyPr wrap="square" lIns="0" tIns="0" rIns="0" bIns="0" rtlCol="0" anchor="ctr"/>
          <a:lstStyle/>
          <a:p>
            <a:pPr indent="0" marL="0">
              <a:buNone/>
            </a:pPr>
            <a:r>
              <a:rPr lang="en-US" sz="1700" dirty="0">
                <a:solidFill>
                  <a:srgbClr val="4B5563"/>
                </a:solidFill>
                <a:latin typeface="Calibri" pitchFamily="34" charset="0"/>
                <a:ea typeface="Calibri" pitchFamily="34" charset="-122"/>
                <a:cs typeface="Calibri" pitchFamily="34" charset="-120"/>
              </a:rPr>
              <a:t>Each object gets a 3D position and a CLIP image feature, built from the recorded drive</a:t>
            </a:r>
            <a:endParaRPr lang="en-US" sz="1700" dirty="0"/>
          </a:p>
        </p:txBody>
      </p:sp>
      <p:sp>
        <p:nvSpPr>
          <p:cNvPr id="7" name="Text 5"/>
          <p:cNvSpPr txBox="1"/>
          <p:nvPr/>
        </p:nvSpPr>
        <p:spPr>
          <a:xfrm>
            <a:off x="548640" y="1874520"/>
            <a:ext cx="1828800" cy="228600"/>
          </a:xfrm>
          <a:prstGeom prst="rect">
            <a:avLst/>
          </a:prstGeom>
          <a:noFill/>
          <a:ln/>
        </p:spPr>
        <p:txBody>
          <a:bodyPr wrap="square" lIns="0" tIns="0" rIns="0" bIns="0" rtlCol="0" anchor="ctr"/>
          <a:lstStyle/>
          <a:p>
            <a:pPr indent="0" marL="0">
              <a:buNone/>
            </a:pPr>
            <a:r>
              <a:rPr lang="en-US" sz="1100" b="1" spc="150" kern="0" dirty="0">
                <a:solidFill>
                  <a:srgbClr val="6B7280"/>
                </a:solidFill>
                <a:latin typeface="Calibri" pitchFamily="34" charset="0"/>
                <a:ea typeface="Calibri" pitchFamily="34" charset="-122"/>
                <a:cs typeface="Calibri" pitchFamily="34" charset="-120"/>
              </a:rPr>
              <a:t>THIS PART</a:t>
            </a:r>
            <a:endParaRPr lang="en-US" sz="1100" dirty="0"/>
          </a:p>
        </p:txBody>
      </p:sp>
      <p:sp>
        <p:nvSpPr>
          <p:cNvPr id="8" name="Shape 6"/>
          <p:cNvSpPr/>
          <p:nvPr/>
        </p:nvSpPr>
        <p:spPr>
          <a:xfrm>
            <a:off x="548640" y="2194560"/>
            <a:ext cx="1920240" cy="530352"/>
          </a:xfrm>
          <a:prstGeom prst="roundRect">
            <a:avLst>
              <a:gd name="adj" fmla="val 17241"/>
            </a:avLst>
          </a:prstGeom>
          <a:solidFill>
            <a:srgbClr val="16213A"/>
          </a:solidFill>
          <a:ln/>
        </p:spPr>
      </p:sp>
      <p:sp>
        <p:nvSpPr>
          <p:cNvPr id="9" name="Shape 7"/>
          <p:cNvSpPr/>
          <p:nvPr/>
        </p:nvSpPr>
        <p:spPr>
          <a:xfrm>
            <a:off x="685800" y="2304288"/>
            <a:ext cx="310896" cy="310896"/>
          </a:xfrm>
          <a:prstGeom prst="ellipse">
            <a:avLst/>
          </a:prstGeom>
          <a:solidFill>
            <a:srgbClr val="FFFFFF"/>
          </a:solidFill>
          <a:ln w="12700">
            <a:solidFill>
              <a:srgbClr val="FFFFFF"/>
            </a:solidFill>
            <a:prstDash val="solid"/>
          </a:ln>
        </p:spPr>
      </p:sp>
      <p:sp>
        <p:nvSpPr>
          <p:cNvPr id="10" name="Text 8"/>
          <p:cNvSpPr txBox="1"/>
          <p:nvPr/>
        </p:nvSpPr>
        <p:spPr>
          <a:xfrm>
            <a:off x="685800" y="2304288"/>
            <a:ext cx="310896" cy="310896"/>
          </a:xfrm>
          <a:prstGeom prst="rect">
            <a:avLst/>
          </a:prstGeom>
          <a:noFill/>
          <a:ln/>
        </p:spPr>
        <p:txBody>
          <a:bodyPr wrap="square" lIns="0" tIns="0" rIns="0" bIns="0" rtlCol="0" anchor="ctr"/>
          <a:lstStyle/>
          <a:p>
            <a:pPr algn="ctr" indent="0" marL="0">
              <a:buNone/>
            </a:pPr>
            <a:r>
              <a:rPr lang="en-US" sz="1300" b="1" dirty="0">
                <a:solidFill>
                  <a:srgbClr val="16213A"/>
                </a:solidFill>
                <a:latin typeface="Calibri" pitchFamily="34" charset="0"/>
                <a:ea typeface="Calibri" pitchFamily="34" charset="-122"/>
                <a:cs typeface="Calibri" pitchFamily="34" charset="-120"/>
              </a:rPr>
              <a:t>1</a:t>
            </a:r>
            <a:endParaRPr lang="en-US" sz="1300" dirty="0"/>
          </a:p>
        </p:txBody>
      </p:sp>
      <p:sp>
        <p:nvSpPr>
          <p:cNvPr id="11" name="Text 9"/>
          <p:cNvSpPr txBox="1"/>
          <p:nvPr/>
        </p:nvSpPr>
        <p:spPr>
          <a:xfrm>
            <a:off x="1115568" y="2194560"/>
            <a:ext cx="1325880" cy="53035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Memory graph</a:t>
            </a:r>
            <a:endParaRPr lang="en-US" sz="1400" dirty="0"/>
          </a:p>
        </p:txBody>
      </p:sp>
      <p:sp>
        <p:nvSpPr>
          <p:cNvPr id="12" name="Shape 10"/>
          <p:cNvSpPr/>
          <p:nvPr/>
        </p:nvSpPr>
        <p:spPr>
          <a:xfrm>
            <a:off x="548640" y="2834640"/>
            <a:ext cx="1920240" cy="530352"/>
          </a:xfrm>
          <a:prstGeom prst="roundRect">
            <a:avLst>
              <a:gd name="adj" fmla="val 17241"/>
            </a:avLst>
          </a:prstGeom>
          <a:solidFill>
            <a:srgbClr val="EEF2F7"/>
          </a:solidFill>
          <a:ln/>
        </p:spPr>
      </p:sp>
      <p:sp>
        <p:nvSpPr>
          <p:cNvPr id="13" name="Shape 11"/>
          <p:cNvSpPr/>
          <p:nvPr/>
        </p:nvSpPr>
        <p:spPr>
          <a:xfrm>
            <a:off x="685800" y="2944368"/>
            <a:ext cx="310896" cy="310896"/>
          </a:xfrm>
          <a:prstGeom prst="ellipse">
            <a:avLst/>
          </a:prstGeom>
          <a:solidFill>
            <a:srgbClr val="EEF2F7"/>
          </a:solidFill>
          <a:ln w="12700">
            <a:solidFill>
              <a:srgbClr val="6B7280"/>
            </a:solidFill>
            <a:prstDash val="solid"/>
          </a:ln>
        </p:spPr>
      </p:sp>
      <p:sp>
        <p:nvSpPr>
          <p:cNvPr id="14" name="Text 12"/>
          <p:cNvSpPr txBox="1"/>
          <p:nvPr/>
        </p:nvSpPr>
        <p:spPr>
          <a:xfrm>
            <a:off x="685800" y="2944368"/>
            <a:ext cx="310896" cy="310896"/>
          </a:xfrm>
          <a:prstGeom prst="rect">
            <a:avLst/>
          </a:prstGeom>
          <a:noFill/>
          <a:ln/>
        </p:spPr>
        <p:txBody>
          <a:bodyPr wrap="square" lIns="0" tIns="0" rIns="0" bIns="0" rtlCol="0" anchor="ctr"/>
          <a:lstStyle/>
          <a:p>
            <a:pPr algn="ctr" indent="0" marL="0">
              <a:buNone/>
            </a:pPr>
            <a:r>
              <a:rPr lang="en-US" sz="1300" b="1" dirty="0">
                <a:solidFill>
                  <a:srgbClr val="6B7280"/>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1115568" y="2834640"/>
            <a:ext cx="1325880" cy="530352"/>
          </a:xfrm>
          <a:prstGeom prst="rect">
            <a:avLst/>
          </a:prstGeom>
          <a:noFill/>
          <a:ln/>
        </p:spPr>
        <p:txBody>
          <a:bodyPr wrap="square" lIns="0" tIns="0" rIns="0" bIns="0" rtlCol="0" anchor="ctr"/>
          <a:lstStyle/>
          <a:p>
            <a:pPr indent="0" marL="0">
              <a:buNone/>
            </a:pPr>
            <a:r>
              <a:rPr lang="en-US" sz="1400" dirty="0">
                <a:solidFill>
                  <a:srgbClr val="4B5563"/>
                </a:solidFill>
                <a:latin typeface="Calibri" pitchFamily="34" charset="0"/>
                <a:ea typeface="Calibri" pitchFamily="34" charset="-122"/>
                <a:cs typeface="Calibri" pitchFamily="34" charset="-120"/>
              </a:rPr>
              <a:t>Merge tuning</a:t>
            </a:r>
            <a:endParaRPr lang="en-US" sz="1400" dirty="0"/>
          </a:p>
        </p:txBody>
      </p:sp>
      <p:sp>
        <p:nvSpPr>
          <p:cNvPr id="16" name="Shape 14"/>
          <p:cNvSpPr/>
          <p:nvPr/>
        </p:nvSpPr>
        <p:spPr>
          <a:xfrm>
            <a:off x="548640" y="3474720"/>
            <a:ext cx="1920240" cy="530352"/>
          </a:xfrm>
          <a:prstGeom prst="roundRect">
            <a:avLst>
              <a:gd name="adj" fmla="val 17241"/>
            </a:avLst>
          </a:prstGeom>
          <a:solidFill>
            <a:srgbClr val="EEF2F7"/>
          </a:solidFill>
          <a:ln/>
        </p:spPr>
      </p:sp>
      <p:sp>
        <p:nvSpPr>
          <p:cNvPr id="17" name="Shape 15"/>
          <p:cNvSpPr/>
          <p:nvPr/>
        </p:nvSpPr>
        <p:spPr>
          <a:xfrm>
            <a:off x="685800" y="3584448"/>
            <a:ext cx="310896" cy="310896"/>
          </a:xfrm>
          <a:prstGeom prst="ellipse">
            <a:avLst/>
          </a:prstGeom>
          <a:solidFill>
            <a:srgbClr val="EEF2F7"/>
          </a:solidFill>
          <a:ln w="12700">
            <a:solidFill>
              <a:srgbClr val="6B7280"/>
            </a:solidFill>
            <a:prstDash val="solid"/>
          </a:ln>
        </p:spPr>
      </p:sp>
      <p:sp>
        <p:nvSpPr>
          <p:cNvPr id="18" name="Text 16"/>
          <p:cNvSpPr txBox="1"/>
          <p:nvPr/>
        </p:nvSpPr>
        <p:spPr>
          <a:xfrm>
            <a:off x="685800" y="3584448"/>
            <a:ext cx="310896" cy="310896"/>
          </a:xfrm>
          <a:prstGeom prst="rect">
            <a:avLst/>
          </a:prstGeom>
          <a:noFill/>
          <a:ln/>
        </p:spPr>
        <p:txBody>
          <a:bodyPr wrap="square" lIns="0" tIns="0" rIns="0" bIns="0" rtlCol="0" anchor="ctr"/>
          <a:lstStyle/>
          <a:p>
            <a:pPr algn="ctr" indent="0" marL="0">
              <a:buNone/>
            </a:pPr>
            <a:r>
              <a:rPr lang="en-US" sz="1300" b="1" dirty="0">
                <a:solidFill>
                  <a:srgbClr val="6B7280"/>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1115568" y="3474720"/>
            <a:ext cx="1325880" cy="530352"/>
          </a:xfrm>
          <a:prstGeom prst="rect">
            <a:avLst/>
          </a:prstGeom>
          <a:noFill/>
          <a:ln/>
        </p:spPr>
        <p:txBody>
          <a:bodyPr wrap="square" lIns="0" tIns="0" rIns="0" bIns="0" rtlCol="0" anchor="ctr"/>
          <a:lstStyle/>
          <a:p>
            <a:pPr indent="0" marL="0">
              <a:buNone/>
            </a:pPr>
            <a:r>
              <a:rPr lang="en-US" sz="1400" dirty="0">
                <a:solidFill>
                  <a:srgbClr val="4B5563"/>
                </a:solidFill>
                <a:latin typeface="Calibri" pitchFamily="34" charset="0"/>
                <a:ea typeface="Calibri" pitchFamily="34" charset="-122"/>
                <a:cs typeface="Calibri" pitchFamily="34" charset="-120"/>
              </a:rPr>
              <a:t>Search</a:t>
            </a:r>
            <a:endParaRPr lang="en-US" sz="1400" dirty="0"/>
          </a:p>
        </p:txBody>
      </p:sp>
      <p:sp>
        <p:nvSpPr>
          <p:cNvPr id="20" name="Shape 18"/>
          <p:cNvSpPr/>
          <p:nvPr/>
        </p:nvSpPr>
        <p:spPr>
          <a:xfrm>
            <a:off x="548640" y="4434840"/>
            <a:ext cx="1920240" cy="1463040"/>
          </a:xfrm>
          <a:prstGeom prst="roundRect">
            <a:avLst>
              <a:gd name="adj" fmla="val 6250"/>
            </a:avLst>
          </a:prstGeom>
          <a:solidFill>
            <a:srgbClr val="EEF2F7"/>
          </a:solidFill>
          <a:ln/>
        </p:spPr>
      </p:sp>
      <p:sp>
        <p:nvSpPr>
          <p:cNvPr id="21" name="Text 19"/>
          <p:cNvSpPr txBox="1"/>
          <p:nvPr/>
        </p:nvSpPr>
        <p:spPr>
          <a:xfrm>
            <a:off x="713232" y="4572000"/>
            <a:ext cx="1645920" cy="201168"/>
          </a:xfrm>
          <a:prstGeom prst="rect">
            <a:avLst/>
          </a:prstGeom>
          <a:noFill/>
          <a:ln/>
        </p:spPr>
        <p:txBody>
          <a:bodyPr wrap="square" lIns="0" tIns="0" rIns="0" bIns="0" rtlCol="0" anchor="ctr"/>
          <a:lstStyle/>
          <a:p>
            <a:pPr indent="0" marL="0">
              <a:buNone/>
            </a:pPr>
            <a:r>
              <a:rPr lang="en-US" sz="1100" b="1" spc="150" kern="0" dirty="0">
                <a:solidFill>
                  <a:srgbClr val="C2410C"/>
                </a:solidFill>
                <a:latin typeface="Calibri" pitchFamily="34" charset="0"/>
                <a:ea typeface="Calibri" pitchFamily="34" charset="-122"/>
                <a:cs typeface="Calibri" pitchFamily="34" charset="-120"/>
              </a:rPr>
              <a:t>LIMIT</a:t>
            </a:r>
            <a:endParaRPr lang="en-US" sz="1100" dirty="0"/>
          </a:p>
        </p:txBody>
      </p:sp>
      <p:sp>
        <p:nvSpPr>
          <p:cNvPr id="22" name="Text 20"/>
          <p:cNvSpPr txBox="1"/>
          <p:nvPr/>
        </p:nvSpPr>
        <p:spPr>
          <a:xfrm>
            <a:off x="713232" y="4818888"/>
            <a:ext cx="1645920" cy="1005840"/>
          </a:xfrm>
          <a:prstGeom prst="rect">
            <a:avLst/>
          </a:prstGeom>
          <a:noFill/>
          <a:ln/>
        </p:spPr>
        <p:txBody>
          <a:bodyPr wrap="square" lIns="0" tIns="0" rIns="0" bIns="0" rtlCol="0" anchor="t"/>
          <a:lstStyle/>
          <a:p>
            <a:pPr indent="0" marL="0">
              <a:buNone/>
            </a:pPr>
            <a:r>
              <a:rPr lang="en-US" sz="1300" dirty="0">
                <a:solidFill>
                  <a:srgbClr val="16213A"/>
                </a:solidFill>
                <a:latin typeface="Calibri" pitchFamily="34" charset="0"/>
                <a:ea typeface="Calibri" pitchFamily="34" charset="-122"/>
                <a:cs typeface="Calibri" pitchFamily="34" charset="-120"/>
              </a:rPr>
              <a:t>Built offline from a recorded drive. Not yet live while driving</a:t>
            </a:r>
            <a:endParaRPr lang="en-US" sz="1300" dirty="0"/>
          </a:p>
        </p:txBody>
      </p:sp>
      <p:sp>
        <p:nvSpPr>
          <p:cNvPr id="23" name="Text 21"/>
          <p:cNvSpPr txBox="1"/>
          <p:nvPr/>
        </p:nvSpPr>
        <p:spPr>
          <a:xfrm>
            <a:off x="2697480" y="1874520"/>
            <a:ext cx="5486400" cy="228600"/>
          </a:xfrm>
          <a:prstGeom prst="rect">
            <a:avLst/>
          </a:prstGeom>
          <a:noFill/>
          <a:ln/>
        </p:spPr>
        <p:txBody>
          <a:bodyPr wrap="square" lIns="0" tIns="0" rIns="0" bIns="0" rtlCol="0" anchor="ctr"/>
          <a:lstStyle/>
          <a:p>
            <a:pPr indent="0" marL="0">
              <a:buNone/>
            </a:pPr>
            <a:r>
              <a:rPr lang="en-US" sz="1100" b="1" spc="150" kern="0" dirty="0">
                <a:solidFill>
                  <a:srgbClr val="6B7280"/>
                </a:solidFill>
                <a:latin typeface="Calibri" pitchFamily="34" charset="0"/>
                <a:ea typeface="Calibri" pitchFamily="34" charset="-122"/>
                <a:cs typeface="Calibri" pitchFamily="34" charset="-120"/>
              </a:rPr>
              <a:t>HOW IT IS BUILT  ·  14 TESTED STAGES</a:t>
            </a:r>
            <a:endParaRPr lang="en-US" sz="1100" dirty="0"/>
          </a:p>
        </p:txBody>
      </p:sp>
      <p:sp>
        <p:nvSpPr>
          <p:cNvPr id="24" name="Shape 22"/>
          <p:cNvSpPr/>
          <p:nvPr/>
        </p:nvSpPr>
        <p:spPr>
          <a:xfrm>
            <a:off x="2697480" y="2194560"/>
            <a:ext cx="1737360" cy="731520"/>
          </a:xfrm>
          <a:prstGeom prst="roundRect">
            <a:avLst>
              <a:gd name="adj" fmla="val 12500"/>
            </a:avLst>
          </a:prstGeom>
          <a:solidFill>
            <a:srgbClr val="EEF2F7"/>
          </a:solidFill>
          <a:ln/>
        </p:spPr>
      </p:sp>
      <p:sp>
        <p:nvSpPr>
          <p:cNvPr id="25" name="Shape 23"/>
          <p:cNvSpPr/>
          <p:nvPr/>
        </p:nvSpPr>
        <p:spPr>
          <a:xfrm>
            <a:off x="2807208" y="2395728"/>
            <a:ext cx="329184" cy="329184"/>
          </a:xfrm>
          <a:prstGeom prst="ellipse">
            <a:avLst/>
          </a:prstGeom>
          <a:solidFill>
            <a:srgbClr val="0068B5"/>
          </a:solidFill>
          <a:ln/>
        </p:spPr>
      </p:sp>
      <p:sp>
        <p:nvSpPr>
          <p:cNvPr id="26" name="Text 24"/>
          <p:cNvSpPr txBox="1"/>
          <p:nvPr/>
        </p:nvSpPr>
        <p:spPr>
          <a:xfrm>
            <a:off x="2807208" y="23957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7" name="Text 25"/>
          <p:cNvSpPr txBox="1"/>
          <p:nvPr/>
        </p:nvSpPr>
        <p:spPr>
          <a:xfrm>
            <a:off x="3227832" y="2240280"/>
            <a:ext cx="1143000" cy="640080"/>
          </a:xfrm>
          <a:prstGeom prst="rect">
            <a:avLst/>
          </a:prstGeom>
          <a:noFill/>
          <a:ln/>
        </p:spPr>
        <p:txBody>
          <a:bodyPr wrap="square" lIns="0" tIns="0" rIns="0" bIns="0" rtlCol="0" anchor="ctr"/>
          <a:lstStyle/>
          <a:p>
            <a:pPr indent="0" marL="0">
              <a:buNone/>
            </a:pPr>
            <a:r>
              <a:rPr lang="en-US" sz="1300" dirty="0">
                <a:solidFill>
                  <a:srgbClr val="16213A"/>
                </a:solidFill>
                <a:latin typeface="Calibri" pitchFamily="34" charset="0"/>
                <a:ea typeface="Calibri" pitchFamily="34" charset="-122"/>
                <a:cs typeface="Calibri" pitchFamily="34" charset="-120"/>
              </a:rPr>
              <a:t>Keep a photo every 1 m or 45°</a:t>
            </a:r>
            <a:endParaRPr lang="en-US" sz="1300" dirty="0"/>
          </a:p>
        </p:txBody>
      </p:sp>
      <p:sp>
        <p:nvSpPr>
          <p:cNvPr id="28" name="Shape 26"/>
          <p:cNvSpPr/>
          <p:nvPr/>
        </p:nvSpPr>
        <p:spPr>
          <a:xfrm>
            <a:off x="4572000" y="2194560"/>
            <a:ext cx="1737360" cy="731520"/>
          </a:xfrm>
          <a:prstGeom prst="roundRect">
            <a:avLst>
              <a:gd name="adj" fmla="val 12500"/>
            </a:avLst>
          </a:prstGeom>
          <a:solidFill>
            <a:srgbClr val="EEF2F7"/>
          </a:solidFill>
          <a:ln/>
        </p:spPr>
      </p:sp>
      <p:sp>
        <p:nvSpPr>
          <p:cNvPr id="29" name="Shape 27"/>
          <p:cNvSpPr/>
          <p:nvPr/>
        </p:nvSpPr>
        <p:spPr>
          <a:xfrm>
            <a:off x="4681728" y="2395728"/>
            <a:ext cx="329184" cy="329184"/>
          </a:xfrm>
          <a:prstGeom prst="ellipse">
            <a:avLst/>
          </a:prstGeom>
          <a:solidFill>
            <a:srgbClr val="0068B5"/>
          </a:solidFill>
          <a:ln/>
        </p:spPr>
      </p:sp>
      <p:sp>
        <p:nvSpPr>
          <p:cNvPr id="30" name="Text 28"/>
          <p:cNvSpPr txBox="1"/>
          <p:nvPr/>
        </p:nvSpPr>
        <p:spPr>
          <a:xfrm>
            <a:off x="4681728" y="23957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1" name="Text 29"/>
          <p:cNvSpPr txBox="1"/>
          <p:nvPr/>
        </p:nvSpPr>
        <p:spPr>
          <a:xfrm>
            <a:off x="5102352" y="2240280"/>
            <a:ext cx="1143000" cy="640080"/>
          </a:xfrm>
          <a:prstGeom prst="rect">
            <a:avLst/>
          </a:prstGeom>
          <a:noFill/>
          <a:ln/>
        </p:spPr>
        <p:txBody>
          <a:bodyPr wrap="square" lIns="0" tIns="0" rIns="0" bIns="0" rtlCol="0" anchor="ctr"/>
          <a:lstStyle/>
          <a:p>
            <a:pPr indent="0" marL="0">
              <a:buNone/>
            </a:pPr>
            <a:r>
              <a:rPr lang="en-US" sz="1300" dirty="0">
                <a:solidFill>
                  <a:srgbClr val="16213A"/>
                </a:solidFill>
                <a:latin typeface="Calibri" pitchFamily="34" charset="0"/>
                <a:ea typeface="Calibri" pitchFamily="34" charset="-122"/>
                <a:cs typeface="Calibri" pitchFamily="34" charset="-120"/>
              </a:rPr>
              <a:t>SAM 3 finds all 30 classes</a:t>
            </a:r>
            <a:endParaRPr lang="en-US" sz="1300" dirty="0"/>
          </a:p>
        </p:txBody>
      </p:sp>
      <p:sp>
        <p:nvSpPr>
          <p:cNvPr id="32" name="Shape 30"/>
          <p:cNvSpPr/>
          <p:nvPr/>
        </p:nvSpPr>
        <p:spPr>
          <a:xfrm>
            <a:off x="6446520" y="2194560"/>
            <a:ext cx="1737360" cy="731520"/>
          </a:xfrm>
          <a:prstGeom prst="roundRect">
            <a:avLst>
              <a:gd name="adj" fmla="val 12500"/>
            </a:avLst>
          </a:prstGeom>
          <a:solidFill>
            <a:srgbClr val="EEF2F7"/>
          </a:solidFill>
          <a:ln/>
        </p:spPr>
      </p:sp>
      <p:sp>
        <p:nvSpPr>
          <p:cNvPr id="33" name="Shape 31"/>
          <p:cNvSpPr/>
          <p:nvPr/>
        </p:nvSpPr>
        <p:spPr>
          <a:xfrm>
            <a:off x="6556248" y="2395728"/>
            <a:ext cx="329184" cy="329184"/>
          </a:xfrm>
          <a:prstGeom prst="ellipse">
            <a:avLst/>
          </a:prstGeom>
          <a:solidFill>
            <a:srgbClr val="0068B5"/>
          </a:solidFill>
          <a:ln/>
        </p:spPr>
      </p:sp>
      <p:sp>
        <p:nvSpPr>
          <p:cNvPr id="34" name="Text 32"/>
          <p:cNvSpPr txBox="1"/>
          <p:nvPr/>
        </p:nvSpPr>
        <p:spPr>
          <a:xfrm>
            <a:off x="6556248" y="23957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5" name="Text 33"/>
          <p:cNvSpPr txBox="1"/>
          <p:nvPr/>
        </p:nvSpPr>
        <p:spPr>
          <a:xfrm>
            <a:off x="6976872" y="2240280"/>
            <a:ext cx="1143000" cy="640080"/>
          </a:xfrm>
          <a:prstGeom prst="rect">
            <a:avLst/>
          </a:prstGeom>
          <a:noFill/>
          <a:ln/>
        </p:spPr>
        <p:txBody>
          <a:bodyPr wrap="square" lIns="0" tIns="0" rIns="0" bIns="0" rtlCol="0" anchor="ctr"/>
          <a:lstStyle/>
          <a:p>
            <a:pPr indent="0" marL="0">
              <a:buNone/>
            </a:pPr>
            <a:r>
              <a:rPr lang="en-US" sz="1300" dirty="0">
                <a:solidFill>
                  <a:srgbClr val="16213A"/>
                </a:solidFill>
                <a:latin typeface="Calibri" pitchFamily="34" charset="0"/>
                <a:ea typeface="Calibri" pitchFamily="34" charset="-122"/>
                <a:cs typeface="Calibri" pitchFamily="34" charset="-120"/>
              </a:rPr>
              <a:t>LiDAR gives depth</a:t>
            </a:r>
            <a:endParaRPr lang="en-US" sz="1300" dirty="0"/>
          </a:p>
        </p:txBody>
      </p:sp>
      <p:sp>
        <p:nvSpPr>
          <p:cNvPr id="36" name="Shape 34"/>
          <p:cNvSpPr/>
          <p:nvPr/>
        </p:nvSpPr>
        <p:spPr>
          <a:xfrm>
            <a:off x="2697480" y="3063240"/>
            <a:ext cx="1737360" cy="731520"/>
          </a:xfrm>
          <a:prstGeom prst="roundRect">
            <a:avLst>
              <a:gd name="adj" fmla="val 12500"/>
            </a:avLst>
          </a:prstGeom>
          <a:solidFill>
            <a:srgbClr val="EEF2F7"/>
          </a:solidFill>
          <a:ln/>
        </p:spPr>
      </p:sp>
      <p:sp>
        <p:nvSpPr>
          <p:cNvPr id="37" name="Shape 35"/>
          <p:cNvSpPr/>
          <p:nvPr/>
        </p:nvSpPr>
        <p:spPr>
          <a:xfrm>
            <a:off x="2807208" y="3264408"/>
            <a:ext cx="329184" cy="329184"/>
          </a:xfrm>
          <a:prstGeom prst="ellipse">
            <a:avLst/>
          </a:prstGeom>
          <a:solidFill>
            <a:srgbClr val="0068B5"/>
          </a:solidFill>
          <a:ln/>
        </p:spPr>
      </p:sp>
      <p:sp>
        <p:nvSpPr>
          <p:cNvPr id="38" name="Text 36"/>
          <p:cNvSpPr txBox="1"/>
          <p:nvPr/>
        </p:nvSpPr>
        <p:spPr>
          <a:xfrm>
            <a:off x="2807208" y="32644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9" name="Text 37"/>
          <p:cNvSpPr txBox="1"/>
          <p:nvPr/>
        </p:nvSpPr>
        <p:spPr>
          <a:xfrm>
            <a:off x="3227832" y="3108960"/>
            <a:ext cx="1143000" cy="640080"/>
          </a:xfrm>
          <a:prstGeom prst="rect">
            <a:avLst/>
          </a:prstGeom>
          <a:noFill/>
          <a:ln/>
        </p:spPr>
        <p:txBody>
          <a:bodyPr wrap="square" lIns="0" tIns="0" rIns="0" bIns="0" rtlCol="0" anchor="ctr"/>
          <a:lstStyle/>
          <a:p>
            <a:pPr indent="0" marL="0">
              <a:buNone/>
            </a:pPr>
            <a:r>
              <a:rPr lang="en-US" sz="1300" dirty="0">
                <a:solidFill>
                  <a:srgbClr val="16213A"/>
                </a:solidFill>
                <a:latin typeface="Calibri" pitchFamily="34" charset="0"/>
                <a:ea typeface="Calibri" pitchFamily="34" charset="-122"/>
                <a:cs typeface="Calibri" pitchFamily="34" charset="-120"/>
              </a:rPr>
              <a:t>Lift each mask to 3D</a:t>
            </a:r>
            <a:endParaRPr lang="en-US" sz="1300" dirty="0"/>
          </a:p>
        </p:txBody>
      </p:sp>
      <p:sp>
        <p:nvSpPr>
          <p:cNvPr id="40" name="Shape 38"/>
          <p:cNvSpPr/>
          <p:nvPr/>
        </p:nvSpPr>
        <p:spPr>
          <a:xfrm>
            <a:off x="4572000" y="3063240"/>
            <a:ext cx="1737360" cy="731520"/>
          </a:xfrm>
          <a:prstGeom prst="roundRect">
            <a:avLst>
              <a:gd name="adj" fmla="val 12500"/>
            </a:avLst>
          </a:prstGeom>
          <a:solidFill>
            <a:srgbClr val="EEF2F7"/>
          </a:solidFill>
          <a:ln/>
        </p:spPr>
      </p:sp>
      <p:sp>
        <p:nvSpPr>
          <p:cNvPr id="41" name="Shape 39"/>
          <p:cNvSpPr/>
          <p:nvPr/>
        </p:nvSpPr>
        <p:spPr>
          <a:xfrm>
            <a:off x="4681728" y="3264408"/>
            <a:ext cx="329184" cy="329184"/>
          </a:xfrm>
          <a:prstGeom prst="ellipse">
            <a:avLst/>
          </a:prstGeom>
          <a:solidFill>
            <a:srgbClr val="0068B5"/>
          </a:solidFill>
          <a:ln/>
        </p:spPr>
      </p:sp>
      <p:sp>
        <p:nvSpPr>
          <p:cNvPr id="42" name="Text 40"/>
          <p:cNvSpPr txBox="1"/>
          <p:nvPr/>
        </p:nvSpPr>
        <p:spPr>
          <a:xfrm>
            <a:off x="4681728" y="32644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3" name="Text 41"/>
          <p:cNvSpPr txBox="1"/>
          <p:nvPr/>
        </p:nvSpPr>
        <p:spPr>
          <a:xfrm>
            <a:off x="5102352" y="3108960"/>
            <a:ext cx="1143000" cy="640080"/>
          </a:xfrm>
          <a:prstGeom prst="rect">
            <a:avLst/>
          </a:prstGeom>
          <a:noFill/>
          <a:ln/>
        </p:spPr>
        <p:txBody>
          <a:bodyPr wrap="square" lIns="0" tIns="0" rIns="0" bIns="0" rtlCol="0" anchor="ctr"/>
          <a:lstStyle/>
          <a:p>
            <a:pPr indent="0" marL="0">
              <a:buNone/>
            </a:pPr>
            <a:r>
              <a:rPr lang="en-US" sz="1300" dirty="0">
                <a:solidFill>
                  <a:srgbClr val="16213A"/>
                </a:solidFill>
                <a:latin typeface="Calibri" pitchFamily="34" charset="0"/>
                <a:ea typeface="Calibri" pitchFamily="34" charset="-122"/>
                <a:cs typeface="Calibri" pitchFamily="34" charset="-120"/>
              </a:rPr>
              <a:t>CLIP feature per object</a:t>
            </a:r>
            <a:endParaRPr lang="en-US" sz="1300" dirty="0"/>
          </a:p>
        </p:txBody>
      </p:sp>
      <p:sp>
        <p:nvSpPr>
          <p:cNvPr id="44" name="Shape 42"/>
          <p:cNvSpPr/>
          <p:nvPr/>
        </p:nvSpPr>
        <p:spPr>
          <a:xfrm>
            <a:off x="6446520" y="3063240"/>
            <a:ext cx="1737360" cy="731520"/>
          </a:xfrm>
          <a:prstGeom prst="roundRect">
            <a:avLst>
              <a:gd name="adj" fmla="val 12500"/>
            </a:avLst>
          </a:prstGeom>
          <a:solidFill>
            <a:srgbClr val="EEF2F7"/>
          </a:solidFill>
          <a:ln/>
        </p:spPr>
      </p:sp>
      <p:sp>
        <p:nvSpPr>
          <p:cNvPr id="45" name="Shape 43"/>
          <p:cNvSpPr/>
          <p:nvPr/>
        </p:nvSpPr>
        <p:spPr>
          <a:xfrm>
            <a:off x="6556248" y="3264408"/>
            <a:ext cx="329184" cy="329184"/>
          </a:xfrm>
          <a:prstGeom prst="ellipse">
            <a:avLst/>
          </a:prstGeom>
          <a:solidFill>
            <a:srgbClr val="0068B5"/>
          </a:solidFill>
          <a:ln/>
        </p:spPr>
      </p:sp>
      <p:sp>
        <p:nvSpPr>
          <p:cNvPr id="46" name="Text 44"/>
          <p:cNvSpPr txBox="1"/>
          <p:nvPr/>
        </p:nvSpPr>
        <p:spPr>
          <a:xfrm>
            <a:off x="6556248" y="32644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7" name="Text 45"/>
          <p:cNvSpPr txBox="1"/>
          <p:nvPr/>
        </p:nvSpPr>
        <p:spPr>
          <a:xfrm>
            <a:off x="6976872" y="3108960"/>
            <a:ext cx="1143000" cy="640080"/>
          </a:xfrm>
          <a:prstGeom prst="rect">
            <a:avLst/>
          </a:prstGeom>
          <a:noFill/>
          <a:ln/>
        </p:spPr>
        <p:txBody>
          <a:bodyPr wrap="square" lIns="0" tIns="0" rIns="0" bIns="0" rtlCol="0" anchor="ctr"/>
          <a:lstStyle/>
          <a:p>
            <a:pPr indent="0" marL="0">
              <a:buNone/>
            </a:pPr>
            <a:r>
              <a:rPr lang="en-US" sz="1300" dirty="0">
                <a:solidFill>
                  <a:srgbClr val="16213A"/>
                </a:solidFill>
                <a:latin typeface="Calibri" pitchFamily="34" charset="0"/>
                <a:ea typeface="Calibri" pitchFamily="34" charset="-122"/>
                <a:cs typeface="Calibri" pitchFamily="34" charset="-120"/>
              </a:rPr>
              <a:t>Merge repeat sightings</a:t>
            </a:r>
            <a:endParaRPr lang="en-US" sz="1300" dirty="0"/>
          </a:p>
        </p:txBody>
      </p:sp>
      <p:sp>
        <p:nvSpPr>
          <p:cNvPr id="48" name="Text 46"/>
          <p:cNvSpPr txBox="1"/>
          <p:nvPr/>
        </p:nvSpPr>
        <p:spPr>
          <a:xfrm>
            <a:off x="2697480" y="4023360"/>
            <a:ext cx="5486400" cy="228600"/>
          </a:xfrm>
          <a:prstGeom prst="rect">
            <a:avLst/>
          </a:prstGeom>
          <a:noFill/>
          <a:ln/>
        </p:spPr>
        <p:txBody>
          <a:bodyPr wrap="square" lIns="0" tIns="0" rIns="0" bIns="0" rtlCol="0" anchor="ctr"/>
          <a:lstStyle/>
          <a:p>
            <a:pPr indent="0" marL="0">
              <a:buNone/>
            </a:pPr>
            <a:r>
              <a:rPr lang="en-US" sz="1100" b="1" spc="150" kern="0" dirty="0">
                <a:solidFill>
                  <a:srgbClr val="6B7280"/>
                </a:solidFill>
                <a:latin typeface="Calibri" pitchFamily="34" charset="0"/>
                <a:ea typeface="Calibri" pitchFamily="34" charset="-122"/>
                <a:cs typeface="Calibri" pitchFamily="34" charset="-120"/>
              </a:rPr>
              <a:t>WHAT IT STORES</a:t>
            </a:r>
            <a:endParaRPr lang="en-US" sz="1100" dirty="0"/>
          </a:p>
        </p:txBody>
      </p:sp>
      <p:sp>
        <p:nvSpPr>
          <p:cNvPr id="49" name="Shape 47"/>
          <p:cNvSpPr/>
          <p:nvPr/>
        </p:nvSpPr>
        <p:spPr>
          <a:xfrm>
            <a:off x="2697480" y="4343400"/>
            <a:ext cx="5486400" cy="1554480"/>
          </a:xfrm>
          <a:prstGeom prst="roundRect">
            <a:avLst>
              <a:gd name="adj" fmla="val 5882"/>
            </a:avLst>
          </a:prstGeom>
          <a:solidFill>
            <a:srgbClr val="EEF2F7"/>
          </a:solidFill>
          <a:ln/>
        </p:spPr>
      </p:sp>
      <p:sp>
        <p:nvSpPr>
          <p:cNvPr id="50" name="Shape 48"/>
          <p:cNvSpPr/>
          <p:nvPr/>
        </p:nvSpPr>
        <p:spPr>
          <a:xfrm flipV="1">
            <a:off x="3429000" y="4709160"/>
            <a:ext cx="1572768" cy="182880"/>
          </a:xfrm>
          <a:prstGeom prst="line">
            <a:avLst/>
          </a:prstGeom>
          <a:noFill/>
          <a:ln w="19050">
            <a:solidFill>
              <a:srgbClr val="C5CDD8"/>
            </a:solidFill>
            <a:prstDash val="solid"/>
          </a:ln>
        </p:spPr>
      </p:sp>
      <p:sp>
        <p:nvSpPr>
          <p:cNvPr id="51" name="Shape 49"/>
          <p:cNvSpPr/>
          <p:nvPr/>
        </p:nvSpPr>
        <p:spPr>
          <a:xfrm>
            <a:off x="3429000" y="4892040"/>
            <a:ext cx="1572768" cy="274320"/>
          </a:xfrm>
          <a:prstGeom prst="line">
            <a:avLst/>
          </a:prstGeom>
          <a:noFill/>
          <a:ln w="19050">
            <a:solidFill>
              <a:srgbClr val="C5CDD8"/>
            </a:solidFill>
            <a:prstDash val="solid"/>
          </a:ln>
        </p:spPr>
      </p:sp>
      <p:sp>
        <p:nvSpPr>
          <p:cNvPr id="52" name="Shape 50"/>
          <p:cNvSpPr/>
          <p:nvPr/>
        </p:nvSpPr>
        <p:spPr>
          <a:xfrm flipV="1">
            <a:off x="3429000" y="5166360"/>
            <a:ext cx="1572768" cy="411480"/>
          </a:xfrm>
          <a:prstGeom prst="line">
            <a:avLst/>
          </a:prstGeom>
          <a:noFill/>
          <a:ln w="19050">
            <a:solidFill>
              <a:srgbClr val="C5CDD8"/>
            </a:solidFill>
            <a:prstDash val="solid"/>
          </a:ln>
        </p:spPr>
      </p:sp>
      <p:sp>
        <p:nvSpPr>
          <p:cNvPr id="53" name="Shape 51"/>
          <p:cNvSpPr/>
          <p:nvPr/>
        </p:nvSpPr>
        <p:spPr>
          <a:xfrm>
            <a:off x="3429000" y="5577840"/>
            <a:ext cx="1572768" cy="45720"/>
          </a:xfrm>
          <a:prstGeom prst="line">
            <a:avLst/>
          </a:prstGeom>
          <a:noFill/>
          <a:ln w="19050">
            <a:solidFill>
              <a:srgbClr val="C5CDD8"/>
            </a:solidFill>
            <a:prstDash val="solid"/>
          </a:ln>
        </p:spPr>
      </p:sp>
      <p:sp>
        <p:nvSpPr>
          <p:cNvPr id="54" name="Shape 52"/>
          <p:cNvSpPr/>
          <p:nvPr/>
        </p:nvSpPr>
        <p:spPr>
          <a:xfrm>
            <a:off x="3200400" y="4663440"/>
            <a:ext cx="457200" cy="457200"/>
          </a:xfrm>
          <a:prstGeom prst="ellipse">
            <a:avLst/>
          </a:prstGeom>
          <a:solidFill>
            <a:srgbClr val="16213A"/>
          </a:solidFill>
          <a:ln/>
        </p:spPr>
      </p:sp>
      <p:pic>
        <p:nvPicPr>
          <p:cNvPr id="55" name="Image 0" descr="preencoded.png">    </p:cNvPr>
          <p:cNvPicPr>
            <a:picLocks noChangeAspect="1"/>
          </p:cNvPicPr>
          <p:nvPr/>
        </p:nvPicPr>
        <p:blipFill>
          <a:blip r:embed="rId1"/>
          <a:stretch>
            <a:fillRect/>
          </a:stretch>
        </p:blipFill>
        <p:spPr>
          <a:xfrm>
            <a:off x="3300984" y="4764024"/>
            <a:ext cx="256032" cy="256032"/>
          </a:xfrm>
          <a:prstGeom prst="rect">
            <a:avLst/>
          </a:prstGeom>
        </p:spPr>
      </p:pic>
      <p:sp>
        <p:nvSpPr>
          <p:cNvPr id="56" name="Shape 53"/>
          <p:cNvSpPr/>
          <p:nvPr/>
        </p:nvSpPr>
        <p:spPr>
          <a:xfrm>
            <a:off x="3200400" y="5349240"/>
            <a:ext cx="457200" cy="457200"/>
          </a:xfrm>
          <a:prstGeom prst="ellipse">
            <a:avLst/>
          </a:prstGeom>
          <a:solidFill>
            <a:srgbClr val="16213A"/>
          </a:solidFill>
          <a:ln/>
        </p:spPr>
      </p:sp>
      <p:pic>
        <p:nvPicPr>
          <p:cNvPr id="57" name="Image 1" descr="preencoded.png">    </p:cNvPr>
          <p:cNvPicPr>
            <a:picLocks noChangeAspect="1"/>
          </p:cNvPicPr>
          <p:nvPr/>
        </p:nvPicPr>
        <p:blipFill>
          <a:blip r:embed="rId2"/>
          <a:stretch>
            <a:fillRect/>
          </a:stretch>
        </p:blipFill>
        <p:spPr>
          <a:xfrm>
            <a:off x="3300984" y="5449824"/>
            <a:ext cx="256032" cy="256032"/>
          </a:xfrm>
          <a:prstGeom prst="rect">
            <a:avLst/>
          </a:prstGeom>
        </p:spPr>
      </p:pic>
      <p:sp>
        <p:nvSpPr>
          <p:cNvPr id="58" name="Shape 54"/>
          <p:cNvSpPr/>
          <p:nvPr/>
        </p:nvSpPr>
        <p:spPr>
          <a:xfrm>
            <a:off x="4846320" y="4553712"/>
            <a:ext cx="310896" cy="310896"/>
          </a:xfrm>
          <a:prstGeom prst="ellipse">
            <a:avLst/>
          </a:prstGeom>
          <a:solidFill>
            <a:srgbClr val="0068B5"/>
          </a:solidFill>
          <a:ln w="19050">
            <a:solidFill>
              <a:srgbClr val="FFFFFF"/>
            </a:solidFill>
            <a:prstDash val="solid"/>
          </a:ln>
        </p:spPr>
      </p:sp>
      <p:sp>
        <p:nvSpPr>
          <p:cNvPr id="59" name="Text 55"/>
          <p:cNvSpPr txBox="1"/>
          <p:nvPr/>
        </p:nvSpPr>
        <p:spPr>
          <a:xfrm>
            <a:off x="5230368" y="4553712"/>
            <a:ext cx="731520" cy="310896"/>
          </a:xfrm>
          <a:prstGeom prst="rect">
            <a:avLst/>
          </a:prstGeom>
          <a:noFill/>
          <a:ln/>
        </p:spPr>
        <p:txBody>
          <a:bodyPr wrap="square" lIns="0" tIns="0" rIns="0" bIns="0" rtlCol="0" anchor="ctr"/>
          <a:lstStyle/>
          <a:p>
            <a:pPr indent="0" marL="0">
              <a:buNone/>
            </a:pPr>
            <a:r>
              <a:rPr lang="en-US" sz="1200" dirty="0">
                <a:solidFill>
                  <a:srgbClr val="16213A"/>
                </a:solidFill>
                <a:latin typeface="Calibri" pitchFamily="34" charset="0"/>
                <a:ea typeface="Calibri" pitchFamily="34" charset="-122"/>
                <a:cs typeface="Calibri" pitchFamily="34" charset="-120"/>
              </a:rPr>
              <a:t>chair</a:t>
            </a:r>
            <a:endParaRPr lang="en-US" sz="1200" dirty="0"/>
          </a:p>
        </p:txBody>
      </p:sp>
      <p:sp>
        <p:nvSpPr>
          <p:cNvPr id="60" name="Shape 56"/>
          <p:cNvSpPr/>
          <p:nvPr/>
        </p:nvSpPr>
        <p:spPr>
          <a:xfrm>
            <a:off x="4846320" y="5010912"/>
            <a:ext cx="310896" cy="310896"/>
          </a:xfrm>
          <a:prstGeom prst="ellipse">
            <a:avLst/>
          </a:prstGeom>
          <a:solidFill>
            <a:srgbClr val="0068B5"/>
          </a:solidFill>
          <a:ln w="19050">
            <a:solidFill>
              <a:srgbClr val="FFFFFF"/>
            </a:solidFill>
            <a:prstDash val="solid"/>
          </a:ln>
        </p:spPr>
      </p:sp>
      <p:sp>
        <p:nvSpPr>
          <p:cNvPr id="61" name="Text 57"/>
          <p:cNvSpPr txBox="1"/>
          <p:nvPr/>
        </p:nvSpPr>
        <p:spPr>
          <a:xfrm>
            <a:off x="5230368" y="5010912"/>
            <a:ext cx="731520" cy="310896"/>
          </a:xfrm>
          <a:prstGeom prst="rect">
            <a:avLst/>
          </a:prstGeom>
          <a:noFill/>
          <a:ln/>
        </p:spPr>
        <p:txBody>
          <a:bodyPr wrap="square" lIns="0" tIns="0" rIns="0" bIns="0" rtlCol="0" anchor="ctr"/>
          <a:lstStyle/>
          <a:p>
            <a:pPr indent="0" marL="0">
              <a:buNone/>
            </a:pPr>
            <a:r>
              <a:rPr lang="en-US" sz="1200" dirty="0">
                <a:solidFill>
                  <a:srgbClr val="16213A"/>
                </a:solidFill>
                <a:latin typeface="Calibri" pitchFamily="34" charset="0"/>
                <a:ea typeface="Calibri" pitchFamily="34" charset="-122"/>
                <a:cs typeface="Calibri" pitchFamily="34" charset="-120"/>
              </a:rPr>
              <a:t>table</a:t>
            </a:r>
            <a:endParaRPr lang="en-US" sz="1200" dirty="0"/>
          </a:p>
        </p:txBody>
      </p:sp>
      <p:sp>
        <p:nvSpPr>
          <p:cNvPr id="62" name="Shape 58"/>
          <p:cNvSpPr/>
          <p:nvPr/>
        </p:nvSpPr>
        <p:spPr>
          <a:xfrm>
            <a:off x="4846320" y="5468112"/>
            <a:ext cx="310896" cy="310896"/>
          </a:xfrm>
          <a:prstGeom prst="ellipse">
            <a:avLst/>
          </a:prstGeom>
          <a:solidFill>
            <a:srgbClr val="0068B5"/>
          </a:solidFill>
          <a:ln w="19050">
            <a:solidFill>
              <a:srgbClr val="FFFFFF"/>
            </a:solidFill>
            <a:prstDash val="solid"/>
          </a:ln>
        </p:spPr>
      </p:sp>
      <p:sp>
        <p:nvSpPr>
          <p:cNvPr id="63" name="Text 59"/>
          <p:cNvSpPr txBox="1"/>
          <p:nvPr/>
        </p:nvSpPr>
        <p:spPr>
          <a:xfrm>
            <a:off x="5230368" y="5468112"/>
            <a:ext cx="731520" cy="310896"/>
          </a:xfrm>
          <a:prstGeom prst="rect">
            <a:avLst/>
          </a:prstGeom>
          <a:noFill/>
          <a:ln/>
        </p:spPr>
        <p:txBody>
          <a:bodyPr wrap="square" lIns="0" tIns="0" rIns="0" bIns="0" rtlCol="0" anchor="ctr"/>
          <a:lstStyle/>
          <a:p>
            <a:pPr indent="0" marL="0">
              <a:buNone/>
            </a:pPr>
            <a:r>
              <a:rPr lang="en-US" sz="1200" dirty="0">
                <a:solidFill>
                  <a:srgbClr val="16213A"/>
                </a:solidFill>
                <a:latin typeface="Calibri" pitchFamily="34" charset="0"/>
                <a:ea typeface="Calibri" pitchFamily="34" charset="-122"/>
                <a:cs typeface="Calibri" pitchFamily="34" charset="-120"/>
              </a:rPr>
              <a:t>box</a:t>
            </a:r>
            <a:endParaRPr lang="en-US" sz="1200" dirty="0"/>
          </a:p>
        </p:txBody>
      </p:sp>
      <p:sp>
        <p:nvSpPr>
          <p:cNvPr id="64" name="Shape 60"/>
          <p:cNvSpPr/>
          <p:nvPr/>
        </p:nvSpPr>
        <p:spPr>
          <a:xfrm>
            <a:off x="6035040" y="4590288"/>
            <a:ext cx="329184" cy="329184"/>
          </a:xfrm>
          <a:prstGeom prst="ellipse">
            <a:avLst/>
          </a:prstGeom>
          <a:solidFill>
            <a:srgbClr val="16213A"/>
          </a:solidFill>
          <a:ln/>
        </p:spPr>
      </p:sp>
      <p:pic>
        <p:nvPicPr>
          <p:cNvPr id="65" name="Image 2" descr="preencoded.png">    </p:cNvPr>
          <p:cNvPicPr>
            <a:picLocks noChangeAspect="1"/>
          </p:cNvPicPr>
          <p:nvPr/>
        </p:nvPicPr>
        <p:blipFill>
          <a:blip r:embed="rId3"/>
          <a:stretch>
            <a:fillRect/>
          </a:stretch>
        </p:blipFill>
        <p:spPr>
          <a:xfrm>
            <a:off x="6107460" y="4662708"/>
            <a:ext cx="184343" cy="184343"/>
          </a:xfrm>
          <a:prstGeom prst="rect">
            <a:avLst/>
          </a:prstGeom>
        </p:spPr>
      </p:pic>
      <p:sp>
        <p:nvSpPr>
          <p:cNvPr id="66" name="Text 61"/>
          <p:cNvSpPr txBox="1"/>
          <p:nvPr/>
        </p:nvSpPr>
        <p:spPr>
          <a:xfrm>
            <a:off x="6473952" y="4544568"/>
            <a:ext cx="1645920" cy="228600"/>
          </a:xfrm>
          <a:prstGeom prst="rect">
            <a:avLst/>
          </a:prstGeom>
          <a:noFill/>
          <a:ln/>
        </p:spPr>
        <p:txBody>
          <a:bodyPr wrap="square" lIns="0" tIns="0" rIns="0" bIns="0" rtlCol="0" anchor="ctr"/>
          <a:lstStyle/>
          <a:p>
            <a:pPr indent="0" marL="0">
              <a:buNone/>
            </a:pPr>
            <a:r>
              <a:rPr lang="en-US" sz="1300" b="1" dirty="0">
                <a:solidFill>
                  <a:srgbClr val="16213A"/>
                </a:solidFill>
                <a:latin typeface="Calibri" pitchFamily="34" charset="0"/>
                <a:ea typeface="Calibri" pitchFamily="34" charset="-122"/>
                <a:cs typeface="Calibri" pitchFamily="34" charset="-120"/>
              </a:rPr>
              <a:t>Anchor</a:t>
            </a:r>
            <a:endParaRPr lang="en-US" sz="1300" dirty="0"/>
          </a:p>
        </p:txBody>
      </p:sp>
      <p:sp>
        <p:nvSpPr>
          <p:cNvPr id="67" name="Text 62"/>
          <p:cNvSpPr txBox="1"/>
          <p:nvPr/>
        </p:nvSpPr>
        <p:spPr>
          <a:xfrm>
            <a:off x="6473952" y="4764024"/>
            <a:ext cx="1691640" cy="228600"/>
          </a:xfrm>
          <a:prstGeom prst="rect">
            <a:avLst/>
          </a:prstGeom>
          <a:noFill/>
          <a:ln/>
        </p:spPr>
        <p:txBody>
          <a:bodyPr wrap="square" lIns="0" tIns="0" rIns="0" bIns="0" rtlCol="0" anchor="ctr"/>
          <a:lstStyle/>
          <a:p>
            <a:pPr indent="0" marL="0">
              <a:buNone/>
            </a:pPr>
            <a:r>
              <a:rPr lang="en-US" sz="1100" dirty="0">
                <a:solidFill>
                  <a:srgbClr val="4B5563"/>
                </a:solidFill>
                <a:latin typeface="Calibri" pitchFamily="34" charset="0"/>
                <a:ea typeface="Calibri" pitchFamily="34" charset="-122"/>
                <a:cs typeface="Calibri" pitchFamily="34" charset="-120"/>
              </a:rPr>
              <a:t>kept photo + camera pose</a:t>
            </a:r>
            <a:endParaRPr lang="en-US" sz="1100" dirty="0"/>
          </a:p>
        </p:txBody>
      </p:sp>
      <p:sp>
        <p:nvSpPr>
          <p:cNvPr id="68" name="Shape 63"/>
          <p:cNvSpPr/>
          <p:nvPr/>
        </p:nvSpPr>
        <p:spPr>
          <a:xfrm>
            <a:off x="6062472" y="5239512"/>
            <a:ext cx="274320" cy="274320"/>
          </a:xfrm>
          <a:prstGeom prst="ellipse">
            <a:avLst/>
          </a:prstGeom>
          <a:solidFill>
            <a:srgbClr val="0068B5"/>
          </a:solidFill>
          <a:ln/>
        </p:spPr>
      </p:sp>
      <p:sp>
        <p:nvSpPr>
          <p:cNvPr id="69" name="Text 64"/>
          <p:cNvSpPr txBox="1"/>
          <p:nvPr/>
        </p:nvSpPr>
        <p:spPr>
          <a:xfrm>
            <a:off x="6473952" y="5166360"/>
            <a:ext cx="1645920" cy="228600"/>
          </a:xfrm>
          <a:prstGeom prst="rect">
            <a:avLst/>
          </a:prstGeom>
          <a:noFill/>
          <a:ln/>
        </p:spPr>
        <p:txBody>
          <a:bodyPr wrap="square" lIns="0" tIns="0" rIns="0" bIns="0" rtlCol="0" anchor="ctr"/>
          <a:lstStyle/>
          <a:p>
            <a:pPr indent="0" marL="0">
              <a:buNone/>
            </a:pPr>
            <a:r>
              <a:rPr lang="en-US" sz="1300" b="1" dirty="0">
                <a:solidFill>
                  <a:srgbClr val="16213A"/>
                </a:solidFill>
                <a:latin typeface="Calibri" pitchFamily="34" charset="0"/>
                <a:ea typeface="Calibri" pitchFamily="34" charset="-122"/>
                <a:cs typeface="Calibri" pitchFamily="34" charset="-120"/>
              </a:rPr>
              <a:t>Object</a:t>
            </a:r>
            <a:endParaRPr lang="en-US" sz="1300" dirty="0"/>
          </a:p>
        </p:txBody>
      </p:sp>
      <p:sp>
        <p:nvSpPr>
          <p:cNvPr id="70" name="Text 65"/>
          <p:cNvSpPr txBox="1"/>
          <p:nvPr/>
        </p:nvSpPr>
        <p:spPr>
          <a:xfrm>
            <a:off x="6473952" y="5385816"/>
            <a:ext cx="1691640" cy="228600"/>
          </a:xfrm>
          <a:prstGeom prst="rect">
            <a:avLst/>
          </a:prstGeom>
          <a:noFill/>
          <a:ln/>
        </p:spPr>
        <p:txBody>
          <a:bodyPr wrap="square" lIns="0" tIns="0" rIns="0" bIns="0" rtlCol="0" anchor="ctr"/>
          <a:lstStyle/>
          <a:p>
            <a:pPr indent="0" marL="0">
              <a:buNone/>
            </a:pPr>
            <a:r>
              <a:rPr lang="en-US" sz="1100" dirty="0">
                <a:solidFill>
                  <a:srgbClr val="4B5563"/>
                </a:solidFill>
                <a:latin typeface="Calibri" pitchFamily="34" charset="0"/>
                <a:ea typeface="Calibri" pitchFamily="34" charset="-122"/>
                <a:cs typeface="Calibri" pitchFamily="34" charset="-120"/>
              </a:rPr>
              <a:t>3D box, CLIP feature, class</a:t>
            </a:r>
            <a:endParaRPr lang="en-US" sz="1100" dirty="0"/>
          </a:p>
        </p:txBody>
      </p:sp>
      <p:sp>
        <p:nvSpPr>
          <p:cNvPr id="71" name="Shape 66"/>
          <p:cNvSpPr/>
          <p:nvPr/>
        </p:nvSpPr>
        <p:spPr>
          <a:xfrm>
            <a:off x="8412480" y="1874520"/>
            <a:ext cx="3227832" cy="1600200"/>
          </a:xfrm>
          <a:prstGeom prst="roundRect">
            <a:avLst>
              <a:gd name="adj" fmla="val 5714"/>
            </a:avLst>
          </a:prstGeom>
          <a:solidFill>
            <a:srgbClr val="16213A"/>
          </a:solidFill>
          <a:ln/>
        </p:spPr>
      </p:sp>
      <p:sp>
        <p:nvSpPr>
          <p:cNvPr id="72" name="Text 67"/>
          <p:cNvSpPr txBox="1"/>
          <p:nvPr/>
        </p:nvSpPr>
        <p:spPr>
          <a:xfrm>
            <a:off x="8641080" y="2057400"/>
            <a:ext cx="2862072" cy="228600"/>
          </a:xfrm>
          <a:prstGeom prst="rect">
            <a:avLst/>
          </a:prstGeom>
          <a:noFill/>
          <a:ln/>
        </p:spPr>
        <p:txBody>
          <a:bodyPr wrap="square" lIns="0" tIns="0" rIns="0" bIns="0" rtlCol="0" anchor="ctr"/>
          <a:lstStyle/>
          <a:p>
            <a:pPr indent="0" marL="0">
              <a:buNone/>
            </a:pPr>
            <a:r>
              <a:rPr lang="en-US" sz="1100" b="1" spc="150" kern="0" dirty="0">
                <a:solidFill>
                  <a:srgbClr val="7DD3FC"/>
                </a:solidFill>
                <a:latin typeface="Calibri" pitchFamily="34" charset="0"/>
                <a:ea typeface="Calibri" pitchFamily="34" charset="-122"/>
                <a:cs typeface="Calibri" pitchFamily="34" charset="-120"/>
              </a:rPr>
              <a:t>PHOTOS KEPT</a:t>
            </a:r>
            <a:endParaRPr lang="en-US" sz="1100" dirty="0"/>
          </a:p>
        </p:txBody>
      </p:sp>
      <p:sp>
        <p:nvSpPr>
          <p:cNvPr id="73" name="Text 68"/>
          <p:cNvSpPr txBox="1"/>
          <p:nvPr/>
        </p:nvSpPr>
        <p:spPr>
          <a:xfrm>
            <a:off x="8641080" y="2286000"/>
            <a:ext cx="2862072" cy="777240"/>
          </a:xfrm>
          <a:prstGeom prst="rect">
            <a:avLst/>
          </a:prstGeom>
          <a:noFill/>
          <a:ln/>
        </p:spPr>
        <p:txBody>
          <a:bodyPr wrap="square" lIns="0" tIns="0" rIns="0" bIns="0" rtlCol="0" anchor="b"/>
          <a:lstStyle/>
          <a:p>
            <a:pPr indent="0" marL="0">
              <a:buNone/>
            </a:pPr>
            <a:r>
              <a:rPr lang="en-US" sz="5000" b="1" dirty="0">
                <a:solidFill>
                  <a:srgbClr val="FFFFFF"/>
                </a:solidFill>
                <a:latin typeface="Calibri" pitchFamily="34" charset="0"/>
                <a:ea typeface="Calibri" pitchFamily="34" charset="-122"/>
                <a:cs typeface="Calibri" pitchFamily="34" charset="-120"/>
              </a:rPr>
              <a:t>29</a:t>
            </a:r>
            <a:pPr indent="0" marL="0">
              <a:buNone/>
            </a:pPr>
            <a:r>
              <a:rPr lang="en-US" sz="2200" b="1" dirty="0">
                <a:solidFill>
                  <a:srgbClr val="FF7A3A"/>
                </a:solidFill>
                <a:latin typeface="Calibri" pitchFamily="34" charset="0"/>
                <a:ea typeface="Calibri" pitchFamily="34" charset="-122"/>
                <a:cs typeface="Calibri" pitchFamily="34" charset="-120"/>
              </a:rPr>
              <a:t> of 3,536</a:t>
            </a:r>
            <a:endParaRPr lang="en-US" sz="5000" dirty="0"/>
          </a:p>
        </p:txBody>
      </p:sp>
      <p:sp>
        <p:nvSpPr>
          <p:cNvPr id="74" name="Text 69"/>
          <p:cNvSpPr txBox="1"/>
          <p:nvPr/>
        </p:nvSpPr>
        <p:spPr>
          <a:xfrm>
            <a:off x="8641080" y="3108960"/>
            <a:ext cx="2862072" cy="274320"/>
          </a:xfrm>
          <a:prstGeom prst="rect">
            <a:avLst/>
          </a:prstGeom>
          <a:noFill/>
          <a:ln/>
        </p:spPr>
        <p:txBody>
          <a:bodyPr wrap="square" lIns="0" tIns="0" rIns="0" bIns="0" rtlCol="0" anchor="t"/>
          <a:lstStyle/>
          <a:p>
            <a:pPr indent="0" marL="0">
              <a:buNone/>
            </a:pPr>
            <a:r>
              <a:rPr lang="en-US" sz="1300" dirty="0">
                <a:solidFill>
                  <a:srgbClr val="CBD5E1"/>
                </a:solidFill>
                <a:latin typeface="Calibri" pitchFamily="34" charset="0"/>
                <a:ea typeface="Calibri" pitchFamily="34" charset="-122"/>
                <a:cs typeface="Calibri" pitchFamily="34" charset="-120"/>
              </a:rPr>
              <a:t>99.2 % less segmentation time</a:t>
            </a:r>
            <a:endParaRPr lang="en-US" sz="1300" dirty="0"/>
          </a:p>
        </p:txBody>
      </p:sp>
      <p:sp>
        <p:nvSpPr>
          <p:cNvPr id="75" name="Shape 70"/>
          <p:cNvSpPr/>
          <p:nvPr/>
        </p:nvSpPr>
        <p:spPr>
          <a:xfrm>
            <a:off x="8412480" y="3584448"/>
            <a:ext cx="3227832" cy="713232"/>
          </a:xfrm>
          <a:prstGeom prst="roundRect">
            <a:avLst>
              <a:gd name="adj" fmla="val 12821"/>
            </a:avLst>
          </a:prstGeom>
          <a:solidFill>
            <a:srgbClr val="EEF2F7"/>
          </a:solidFill>
          <a:ln/>
        </p:spPr>
      </p:sp>
      <p:sp>
        <p:nvSpPr>
          <p:cNvPr id="76" name="Shape 71"/>
          <p:cNvSpPr/>
          <p:nvPr/>
        </p:nvSpPr>
        <p:spPr>
          <a:xfrm>
            <a:off x="8577072" y="3712464"/>
            <a:ext cx="457200" cy="457200"/>
          </a:xfrm>
          <a:prstGeom prst="ellipse">
            <a:avLst/>
          </a:prstGeom>
          <a:solidFill>
            <a:srgbClr val="0068B5"/>
          </a:solidFill>
          <a:ln/>
        </p:spPr>
      </p:sp>
      <p:pic>
        <p:nvPicPr>
          <p:cNvPr id="77" name="Image 3" descr="preencoded.png">    </p:cNvPr>
          <p:cNvPicPr>
            <a:picLocks noChangeAspect="1"/>
          </p:cNvPicPr>
          <p:nvPr/>
        </p:nvPicPr>
        <p:blipFill>
          <a:blip r:embed="rId4"/>
          <a:stretch>
            <a:fillRect/>
          </a:stretch>
        </p:blipFill>
        <p:spPr>
          <a:xfrm>
            <a:off x="8677656" y="3813048"/>
            <a:ext cx="256032" cy="256032"/>
          </a:xfrm>
          <a:prstGeom prst="rect">
            <a:avLst/>
          </a:prstGeom>
        </p:spPr>
      </p:pic>
      <p:sp>
        <p:nvSpPr>
          <p:cNvPr id="78" name="Text 72"/>
          <p:cNvSpPr txBox="1"/>
          <p:nvPr/>
        </p:nvSpPr>
        <p:spPr>
          <a:xfrm>
            <a:off x="9189720" y="3611880"/>
            <a:ext cx="2313432" cy="329184"/>
          </a:xfrm>
          <a:prstGeom prst="rect">
            <a:avLst/>
          </a:prstGeom>
          <a:noFill/>
          <a:ln/>
        </p:spPr>
        <p:txBody>
          <a:bodyPr wrap="square" lIns="0" tIns="0" rIns="0" bIns="0" rtlCol="0" anchor="b"/>
          <a:lstStyle/>
          <a:p>
            <a:pPr indent="0" marL="0">
              <a:buNone/>
            </a:pPr>
            <a:r>
              <a:rPr lang="en-US" sz="2000" b="1" dirty="0">
                <a:solidFill>
                  <a:srgbClr val="16213A"/>
                </a:solidFill>
                <a:latin typeface="Calibri" pitchFamily="34" charset="0"/>
                <a:ea typeface="Calibri" pitchFamily="34" charset="-122"/>
                <a:cs typeface="Calibri" pitchFamily="34" charset="-120"/>
              </a:rPr>
              <a:t>1.69 s vs 9.70 s</a:t>
            </a:r>
            <a:endParaRPr lang="en-US" sz="2000" dirty="0"/>
          </a:p>
        </p:txBody>
      </p:sp>
      <p:sp>
        <p:nvSpPr>
          <p:cNvPr id="79" name="Text 73"/>
          <p:cNvSpPr txBox="1"/>
          <p:nvPr/>
        </p:nvSpPr>
        <p:spPr>
          <a:xfrm>
            <a:off x="9189720" y="3959352"/>
            <a:ext cx="2313432" cy="274320"/>
          </a:xfrm>
          <a:prstGeom prst="rect">
            <a:avLst/>
          </a:prstGeom>
          <a:noFill/>
          <a:ln/>
        </p:spPr>
        <p:txBody>
          <a:bodyPr wrap="square" lIns="0" tIns="0" rIns="0" bIns="0" rtlCol="0" anchor="t"/>
          <a:lstStyle/>
          <a:p>
            <a:pPr indent="0" marL="0">
              <a:buNone/>
            </a:pPr>
            <a:r>
              <a:rPr lang="en-US" sz="1200" dirty="0">
                <a:solidFill>
                  <a:srgbClr val="4B5563"/>
                </a:solidFill>
                <a:latin typeface="Calibri" pitchFamily="34" charset="0"/>
                <a:ea typeface="Calibri" pitchFamily="34" charset="-122"/>
                <a:cs typeface="Calibri" pitchFamily="34" charset="-120"/>
              </a:rPr>
              <a:t>batched SAM 3, 5.7 times faster</a:t>
            </a:r>
            <a:endParaRPr lang="en-US" sz="1200" dirty="0"/>
          </a:p>
        </p:txBody>
      </p:sp>
      <p:sp>
        <p:nvSpPr>
          <p:cNvPr id="80" name="Shape 74"/>
          <p:cNvSpPr/>
          <p:nvPr/>
        </p:nvSpPr>
        <p:spPr>
          <a:xfrm>
            <a:off x="8412480" y="4370832"/>
            <a:ext cx="3227832" cy="713232"/>
          </a:xfrm>
          <a:prstGeom prst="roundRect">
            <a:avLst>
              <a:gd name="adj" fmla="val 12821"/>
            </a:avLst>
          </a:prstGeom>
          <a:solidFill>
            <a:srgbClr val="EEF2F7"/>
          </a:solidFill>
          <a:ln/>
        </p:spPr>
      </p:sp>
      <p:sp>
        <p:nvSpPr>
          <p:cNvPr id="81" name="Shape 75"/>
          <p:cNvSpPr/>
          <p:nvPr/>
        </p:nvSpPr>
        <p:spPr>
          <a:xfrm>
            <a:off x="8577072" y="4498848"/>
            <a:ext cx="457200" cy="457200"/>
          </a:xfrm>
          <a:prstGeom prst="ellipse">
            <a:avLst/>
          </a:prstGeom>
          <a:solidFill>
            <a:srgbClr val="0068B5"/>
          </a:solidFill>
          <a:ln/>
        </p:spPr>
      </p:sp>
      <p:pic>
        <p:nvPicPr>
          <p:cNvPr id="82" name="Image 4" descr="preencoded.png">    </p:cNvPr>
          <p:cNvPicPr>
            <a:picLocks noChangeAspect="1"/>
          </p:cNvPicPr>
          <p:nvPr/>
        </p:nvPicPr>
        <p:blipFill>
          <a:blip r:embed="rId5"/>
          <a:stretch>
            <a:fillRect/>
          </a:stretch>
        </p:blipFill>
        <p:spPr>
          <a:xfrm>
            <a:off x="8677656" y="4599432"/>
            <a:ext cx="256032" cy="256032"/>
          </a:xfrm>
          <a:prstGeom prst="rect">
            <a:avLst/>
          </a:prstGeom>
        </p:spPr>
      </p:pic>
      <p:sp>
        <p:nvSpPr>
          <p:cNvPr id="83" name="Text 76"/>
          <p:cNvSpPr txBox="1"/>
          <p:nvPr/>
        </p:nvSpPr>
        <p:spPr>
          <a:xfrm>
            <a:off x="9189720" y="4398264"/>
            <a:ext cx="2313432" cy="329184"/>
          </a:xfrm>
          <a:prstGeom prst="rect">
            <a:avLst/>
          </a:prstGeom>
          <a:noFill/>
          <a:ln/>
        </p:spPr>
        <p:txBody>
          <a:bodyPr wrap="square" lIns="0" tIns="0" rIns="0" bIns="0" rtlCol="0" anchor="b"/>
          <a:lstStyle/>
          <a:p>
            <a:pPr indent="0" marL="0">
              <a:buNone/>
            </a:pPr>
            <a:r>
              <a:rPr lang="en-US" sz="2000" b="1" dirty="0">
                <a:solidFill>
                  <a:srgbClr val="16213A"/>
                </a:solidFill>
                <a:latin typeface="Calibri" pitchFamily="34" charset="0"/>
                <a:ea typeface="Calibri" pitchFamily="34" charset="-122"/>
                <a:cs typeface="Calibri" pitchFamily="34" charset="-120"/>
              </a:rPr>
              <a:t>399 tests</a:t>
            </a:r>
            <a:endParaRPr lang="en-US" sz="2000" dirty="0"/>
          </a:p>
        </p:txBody>
      </p:sp>
      <p:sp>
        <p:nvSpPr>
          <p:cNvPr id="84" name="Text 77"/>
          <p:cNvSpPr txBox="1"/>
          <p:nvPr/>
        </p:nvSpPr>
        <p:spPr>
          <a:xfrm>
            <a:off x="9189720" y="4745736"/>
            <a:ext cx="2313432" cy="274320"/>
          </a:xfrm>
          <a:prstGeom prst="rect">
            <a:avLst/>
          </a:prstGeom>
          <a:noFill/>
          <a:ln/>
        </p:spPr>
        <p:txBody>
          <a:bodyPr wrap="square" lIns="0" tIns="0" rIns="0" bIns="0" rtlCol="0" anchor="t"/>
          <a:lstStyle/>
          <a:p>
            <a:pPr indent="0" marL="0">
              <a:buNone/>
            </a:pPr>
            <a:r>
              <a:rPr lang="en-US" sz="1200" dirty="0">
                <a:solidFill>
                  <a:srgbClr val="4B5563"/>
                </a:solidFill>
                <a:latin typeface="Calibri" pitchFamily="34" charset="0"/>
                <a:ea typeface="Calibri" pitchFamily="34" charset="-122"/>
                <a:cs typeface="Calibri" pitchFamily="34" charset="-120"/>
              </a:rPr>
              <a:t>pass on the lab GPU</a:t>
            </a:r>
            <a:endParaRPr lang="en-US" sz="1200" dirty="0"/>
          </a:p>
        </p:txBody>
      </p:sp>
      <p:sp>
        <p:nvSpPr>
          <p:cNvPr id="85" name="Shape 78"/>
          <p:cNvSpPr/>
          <p:nvPr/>
        </p:nvSpPr>
        <p:spPr>
          <a:xfrm>
            <a:off x="8412480" y="5175504"/>
            <a:ext cx="3227832" cy="713232"/>
          </a:xfrm>
          <a:prstGeom prst="roundRect">
            <a:avLst>
              <a:gd name="adj" fmla="val 12821"/>
            </a:avLst>
          </a:prstGeom>
          <a:solidFill>
            <a:srgbClr val="EEF2F7"/>
          </a:solidFill>
          <a:ln/>
        </p:spPr>
      </p:sp>
      <p:sp>
        <p:nvSpPr>
          <p:cNvPr id="86" name="Shape 79"/>
          <p:cNvSpPr/>
          <p:nvPr/>
        </p:nvSpPr>
        <p:spPr>
          <a:xfrm>
            <a:off x="8577072" y="5303520"/>
            <a:ext cx="457200" cy="457200"/>
          </a:xfrm>
          <a:prstGeom prst="ellipse">
            <a:avLst/>
          </a:prstGeom>
          <a:solidFill>
            <a:srgbClr val="0068B5"/>
          </a:solidFill>
          <a:ln/>
        </p:spPr>
      </p:sp>
      <p:pic>
        <p:nvPicPr>
          <p:cNvPr id="87" name="Image 5" descr="preencoded.png">    </p:cNvPr>
          <p:cNvPicPr>
            <a:picLocks noChangeAspect="1"/>
          </p:cNvPicPr>
          <p:nvPr/>
        </p:nvPicPr>
        <p:blipFill>
          <a:blip r:embed="rId6"/>
          <a:stretch>
            <a:fillRect/>
          </a:stretch>
        </p:blipFill>
        <p:spPr>
          <a:xfrm>
            <a:off x="8677656" y="5404104"/>
            <a:ext cx="256032" cy="256032"/>
          </a:xfrm>
          <a:prstGeom prst="rect">
            <a:avLst/>
          </a:prstGeom>
        </p:spPr>
      </p:pic>
      <p:sp>
        <p:nvSpPr>
          <p:cNvPr id="88" name="Text 80"/>
          <p:cNvSpPr txBox="1"/>
          <p:nvPr/>
        </p:nvSpPr>
        <p:spPr>
          <a:xfrm>
            <a:off x="9189720" y="5202936"/>
            <a:ext cx="2313432" cy="329184"/>
          </a:xfrm>
          <a:prstGeom prst="rect">
            <a:avLst/>
          </a:prstGeom>
          <a:noFill/>
          <a:ln/>
        </p:spPr>
        <p:txBody>
          <a:bodyPr wrap="square" lIns="0" tIns="0" rIns="0" bIns="0" rtlCol="0" anchor="b"/>
          <a:lstStyle/>
          <a:p>
            <a:pPr indent="0" marL="0">
              <a:buNone/>
            </a:pPr>
            <a:r>
              <a:rPr lang="en-US" sz="2000" b="1" dirty="0">
                <a:solidFill>
                  <a:srgbClr val="16213A"/>
                </a:solidFill>
                <a:latin typeface="Calibri" pitchFamily="34" charset="0"/>
                <a:ea typeface="Calibri" pitchFamily="34" charset="-122"/>
                <a:cs typeface="Calibri" pitchFamily="34" charset="-120"/>
              </a:rPr>
              <a:t>9 problems</a:t>
            </a:r>
            <a:endParaRPr lang="en-US" sz="2000" dirty="0"/>
          </a:p>
        </p:txBody>
      </p:sp>
      <p:sp>
        <p:nvSpPr>
          <p:cNvPr id="89" name="Text 81"/>
          <p:cNvSpPr txBox="1"/>
          <p:nvPr/>
        </p:nvSpPr>
        <p:spPr>
          <a:xfrm>
            <a:off x="9189720" y="5550408"/>
            <a:ext cx="2313432" cy="274320"/>
          </a:xfrm>
          <a:prstGeom prst="rect">
            <a:avLst/>
          </a:prstGeom>
          <a:noFill/>
          <a:ln/>
        </p:spPr>
        <p:txBody>
          <a:bodyPr wrap="square" lIns="0" tIns="0" rIns="0" bIns="0" rtlCol="0" anchor="t"/>
          <a:lstStyle/>
          <a:p>
            <a:pPr indent="0" marL="0">
              <a:buNone/>
            </a:pPr>
            <a:r>
              <a:rPr lang="en-US" sz="1200" dirty="0">
                <a:solidFill>
                  <a:srgbClr val="4B5563"/>
                </a:solidFill>
                <a:latin typeface="Calibri" pitchFamily="34" charset="0"/>
                <a:ea typeface="Calibri" pitchFamily="34" charset="-122"/>
                <a:cs typeface="Calibri" pitchFamily="34" charset="-120"/>
              </a:rPr>
              <a:t>in upstream code, fixed or avoided</a:t>
            </a:r>
            <a:endParaRPr lang="en-US" sz="1200" dirty="0"/>
          </a:p>
        </p:txBody>
      </p:sp>
      <p:sp>
        <p:nvSpPr>
          <p:cNvPr id="90" name="Shape 82"/>
          <p:cNvSpPr/>
          <p:nvPr/>
        </p:nvSpPr>
        <p:spPr>
          <a:xfrm>
            <a:off x="594360" y="6400800"/>
            <a:ext cx="1295019" cy="13716"/>
          </a:xfrm>
          <a:prstGeom prst="rect">
            <a:avLst/>
          </a:prstGeom>
          <a:solidFill>
            <a:srgbClr val="D7DEE8"/>
          </a:solidFill>
          <a:ln/>
        </p:spPr>
      </p:sp>
      <p:sp>
        <p:nvSpPr>
          <p:cNvPr id="91" name="Text 83"/>
          <p:cNvSpPr txBox="1"/>
          <p:nvPr/>
        </p:nvSpPr>
        <p:spPr>
          <a:xfrm>
            <a:off x="548640"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Problem</a:t>
            </a:r>
            <a:endParaRPr lang="en-US" sz="1100" dirty="0"/>
          </a:p>
        </p:txBody>
      </p:sp>
      <p:sp>
        <p:nvSpPr>
          <p:cNvPr id="92" name="Shape 84"/>
          <p:cNvSpPr/>
          <p:nvPr/>
        </p:nvSpPr>
        <p:spPr>
          <a:xfrm>
            <a:off x="1980819" y="6400800"/>
            <a:ext cx="1295019" cy="13716"/>
          </a:xfrm>
          <a:prstGeom prst="rect">
            <a:avLst/>
          </a:prstGeom>
          <a:solidFill>
            <a:srgbClr val="D7DEE8"/>
          </a:solidFill>
          <a:ln/>
        </p:spPr>
      </p:sp>
      <p:sp>
        <p:nvSpPr>
          <p:cNvPr id="93" name="Text 85"/>
          <p:cNvSpPr txBox="1"/>
          <p:nvPr/>
        </p:nvSpPr>
        <p:spPr>
          <a:xfrm>
            <a:off x="1935099"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System</a:t>
            </a:r>
            <a:endParaRPr lang="en-US" sz="1100" dirty="0"/>
          </a:p>
        </p:txBody>
      </p:sp>
      <p:sp>
        <p:nvSpPr>
          <p:cNvPr id="94" name="Shape 86"/>
          <p:cNvSpPr/>
          <p:nvPr/>
        </p:nvSpPr>
        <p:spPr>
          <a:xfrm>
            <a:off x="3367278" y="6400800"/>
            <a:ext cx="1295019" cy="13716"/>
          </a:xfrm>
          <a:prstGeom prst="rect">
            <a:avLst/>
          </a:prstGeom>
          <a:solidFill>
            <a:srgbClr val="D7DEE8"/>
          </a:solidFill>
          <a:ln/>
        </p:spPr>
      </p:sp>
      <p:sp>
        <p:nvSpPr>
          <p:cNvPr id="95" name="Text 87"/>
          <p:cNvSpPr txBox="1"/>
          <p:nvPr/>
        </p:nvSpPr>
        <p:spPr>
          <a:xfrm>
            <a:off x="3321558"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Intent</a:t>
            </a:r>
            <a:endParaRPr lang="en-US" sz="1100" dirty="0"/>
          </a:p>
        </p:txBody>
      </p:sp>
      <p:sp>
        <p:nvSpPr>
          <p:cNvPr id="96" name="Shape 88"/>
          <p:cNvSpPr/>
          <p:nvPr/>
        </p:nvSpPr>
        <p:spPr>
          <a:xfrm>
            <a:off x="4753737" y="6400800"/>
            <a:ext cx="1295019" cy="36576"/>
          </a:xfrm>
          <a:prstGeom prst="rect">
            <a:avLst/>
          </a:prstGeom>
          <a:solidFill>
            <a:srgbClr val="0068B5"/>
          </a:solidFill>
          <a:ln/>
        </p:spPr>
      </p:sp>
      <p:sp>
        <p:nvSpPr>
          <p:cNvPr id="97" name="Text 89"/>
          <p:cNvSpPr txBox="1"/>
          <p:nvPr/>
        </p:nvSpPr>
        <p:spPr>
          <a:xfrm>
            <a:off x="4708017" y="6473952"/>
            <a:ext cx="1386459" cy="201168"/>
          </a:xfrm>
          <a:prstGeom prst="rect">
            <a:avLst/>
          </a:prstGeom>
          <a:noFill/>
          <a:ln/>
        </p:spPr>
        <p:txBody>
          <a:bodyPr wrap="square" lIns="0" tIns="0" rIns="0" bIns="0" rtlCol="0" anchor="ctr"/>
          <a:lstStyle/>
          <a:p>
            <a:pPr algn="ctr" indent="0" marL="0">
              <a:buNone/>
            </a:pPr>
            <a:r>
              <a:rPr lang="en-US" sz="1100" b="1" dirty="0">
                <a:solidFill>
                  <a:srgbClr val="16213A"/>
                </a:solidFill>
                <a:latin typeface="Calibri" pitchFamily="34" charset="0"/>
                <a:ea typeface="Calibri" pitchFamily="34" charset="-122"/>
                <a:cs typeface="Calibri" pitchFamily="34" charset="-120"/>
              </a:rPr>
              <a:t>Explore</a:t>
            </a:r>
            <a:endParaRPr lang="en-US" sz="1100" dirty="0"/>
          </a:p>
        </p:txBody>
      </p:sp>
      <p:sp>
        <p:nvSpPr>
          <p:cNvPr id="98" name="Shape 90"/>
          <p:cNvSpPr/>
          <p:nvPr/>
        </p:nvSpPr>
        <p:spPr>
          <a:xfrm>
            <a:off x="6140196" y="6400800"/>
            <a:ext cx="1295019" cy="13716"/>
          </a:xfrm>
          <a:prstGeom prst="rect">
            <a:avLst/>
          </a:prstGeom>
          <a:solidFill>
            <a:srgbClr val="D7DEE8"/>
          </a:solidFill>
          <a:ln/>
        </p:spPr>
      </p:sp>
      <p:sp>
        <p:nvSpPr>
          <p:cNvPr id="99" name="Text 91"/>
          <p:cNvSpPr txBox="1"/>
          <p:nvPr/>
        </p:nvSpPr>
        <p:spPr>
          <a:xfrm>
            <a:off x="6094476"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Search</a:t>
            </a:r>
            <a:endParaRPr lang="en-US" sz="1100" dirty="0"/>
          </a:p>
        </p:txBody>
      </p:sp>
      <p:sp>
        <p:nvSpPr>
          <p:cNvPr id="100" name="Shape 92"/>
          <p:cNvSpPr/>
          <p:nvPr/>
        </p:nvSpPr>
        <p:spPr>
          <a:xfrm>
            <a:off x="7526655" y="6400800"/>
            <a:ext cx="1295019" cy="13716"/>
          </a:xfrm>
          <a:prstGeom prst="rect">
            <a:avLst/>
          </a:prstGeom>
          <a:solidFill>
            <a:srgbClr val="D7DEE8"/>
          </a:solidFill>
          <a:ln/>
        </p:spPr>
      </p:sp>
      <p:sp>
        <p:nvSpPr>
          <p:cNvPr id="101" name="Text 93"/>
          <p:cNvSpPr txBox="1"/>
          <p:nvPr/>
        </p:nvSpPr>
        <p:spPr>
          <a:xfrm>
            <a:off x="7480935"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Confirm</a:t>
            </a:r>
            <a:endParaRPr lang="en-US" sz="1100" dirty="0"/>
          </a:p>
        </p:txBody>
      </p:sp>
      <p:sp>
        <p:nvSpPr>
          <p:cNvPr id="102" name="Shape 94"/>
          <p:cNvSpPr/>
          <p:nvPr/>
        </p:nvSpPr>
        <p:spPr>
          <a:xfrm>
            <a:off x="8913114" y="6400800"/>
            <a:ext cx="1295019" cy="13716"/>
          </a:xfrm>
          <a:prstGeom prst="rect">
            <a:avLst/>
          </a:prstGeom>
          <a:solidFill>
            <a:srgbClr val="D7DEE8"/>
          </a:solidFill>
          <a:ln/>
        </p:spPr>
      </p:sp>
      <p:sp>
        <p:nvSpPr>
          <p:cNvPr id="103" name="Text 95"/>
          <p:cNvSpPr txBox="1"/>
          <p:nvPr/>
        </p:nvSpPr>
        <p:spPr>
          <a:xfrm>
            <a:off x="8867394"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Grasp</a:t>
            </a:r>
            <a:endParaRPr lang="en-US" sz="1100" dirty="0"/>
          </a:p>
        </p:txBody>
      </p:sp>
      <p:sp>
        <p:nvSpPr>
          <p:cNvPr id="104" name="Shape 96"/>
          <p:cNvSpPr/>
          <p:nvPr/>
        </p:nvSpPr>
        <p:spPr>
          <a:xfrm>
            <a:off x="10299573" y="6400800"/>
            <a:ext cx="1295019" cy="13716"/>
          </a:xfrm>
          <a:prstGeom prst="rect">
            <a:avLst/>
          </a:prstGeom>
          <a:solidFill>
            <a:srgbClr val="D7DEE8"/>
          </a:solidFill>
          <a:ln/>
        </p:spPr>
      </p:sp>
      <p:sp>
        <p:nvSpPr>
          <p:cNvPr id="105" name="Text 97"/>
          <p:cNvSpPr txBox="1"/>
          <p:nvPr/>
        </p:nvSpPr>
        <p:spPr>
          <a:xfrm>
            <a:off x="10253853"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Plan</a:t>
            </a:r>
            <a:endParaRPr lang="en-US" sz="1100" dirty="0"/>
          </a:p>
        </p:txBody>
      </p:sp>
      <p:sp>
        <p:nvSpPr>
          <p:cNvPr id="106" name="Text 98"/>
          <p:cNvSpPr txBox="1"/>
          <p:nvPr/>
        </p:nvSpPr>
        <p:spPr>
          <a:xfrm>
            <a:off x="11091672" y="6035040"/>
            <a:ext cx="548640" cy="22860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28600"/>
          </a:xfrm>
          <a:prstGeom prst="rect">
            <a:avLst/>
          </a:prstGeom>
          <a:noFill/>
          <a:ln/>
        </p:spPr>
        <p:txBody>
          <a:bodyPr wrap="square" lIns="0" tIns="0" rIns="0" bIns="0" rtlCol="0" anchor="ctr"/>
          <a:lstStyle/>
          <a:p>
            <a:pPr indent="0" marL="0">
              <a:buNone/>
            </a:pPr>
            <a:r>
              <a:rPr lang="en-US" sz="1100" b="1" spc="150" kern="0" dirty="0">
                <a:solidFill>
                  <a:srgbClr val="0068B5"/>
                </a:solidFill>
                <a:latin typeface="Calibri" pitchFamily="34" charset="0"/>
                <a:ea typeface="Calibri" pitchFamily="34" charset="-122"/>
                <a:cs typeface="Calibri" pitchFamily="34" charset="-120"/>
              </a:rPr>
              <a:t>GAPPLER  ·  ZONGZHE</a:t>
            </a:r>
            <a:endParaRPr lang="en-US" sz="1100" dirty="0"/>
          </a:p>
        </p:txBody>
      </p:sp>
      <p:sp>
        <p:nvSpPr>
          <p:cNvPr id="3" name="Shape 1"/>
          <p:cNvSpPr/>
          <p:nvPr/>
        </p:nvSpPr>
        <p:spPr>
          <a:xfrm>
            <a:off x="8499348" y="347472"/>
            <a:ext cx="3140964" cy="347472"/>
          </a:xfrm>
          <a:prstGeom prst="roundRect">
            <a:avLst>
              <a:gd name="adj" fmla="val 50000"/>
            </a:avLst>
          </a:prstGeom>
          <a:solidFill>
            <a:srgbClr val="16213A"/>
          </a:solidFill>
          <a:ln/>
        </p:spPr>
      </p:sp>
      <p:sp>
        <p:nvSpPr>
          <p:cNvPr id="4" name="Text 2"/>
          <p:cNvSpPr txBox="1"/>
          <p:nvPr/>
        </p:nvSpPr>
        <p:spPr>
          <a:xfrm>
            <a:off x="8499348" y="347472"/>
            <a:ext cx="3140964" cy="347472"/>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PHASE 2  ·  EXPLORE AND MAP</a:t>
            </a:r>
            <a:endParaRPr lang="en-US" sz="1100" dirty="0"/>
          </a:p>
        </p:txBody>
      </p:sp>
      <p:sp>
        <p:nvSpPr>
          <p:cNvPr id="5" name="Text 3"/>
          <p:cNvSpPr txBox="1"/>
          <p:nvPr/>
        </p:nvSpPr>
        <p:spPr>
          <a:xfrm>
            <a:off x="548640" y="777240"/>
            <a:ext cx="11091672" cy="548640"/>
          </a:xfrm>
          <a:prstGeom prst="rect">
            <a:avLst/>
          </a:prstGeom>
          <a:noFill/>
          <a:ln/>
        </p:spPr>
        <p:txBody>
          <a:bodyPr wrap="square" lIns="0" tIns="0" rIns="0" bIns="0" rtlCol="0" anchor="ctr"/>
          <a:lstStyle/>
          <a:p>
            <a:pPr indent="0" marL="0">
              <a:buNone/>
            </a:pPr>
            <a:r>
              <a:rPr lang="en-US" sz="3000" b="1" dirty="0">
                <a:solidFill>
                  <a:srgbClr val="16213A"/>
                </a:solidFill>
                <a:latin typeface="Calibri" pitchFamily="34" charset="0"/>
                <a:ea typeface="Calibri" pitchFamily="34" charset="-122"/>
                <a:cs typeface="Calibri" pitchFamily="34" charset="-120"/>
              </a:rPr>
              <a:t>A 10 cm merge radius removes duplicates safely</a:t>
            </a:r>
            <a:endParaRPr lang="en-US" sz="3000" dirty="0"/>
          </a:p>
        </p:txBody>
      </p:sp>
      <p:sp>
        <p:nvSpPr>
          <p:cNvPr id="6" name="Text 4"/>
          <p:cNvSpPr txBox="1"/>
          <p:nvPr/>
        </p:nvSpPr>
        <p:spPr>
          <a:xfrm>
            <a:off x="548640" y="1325880"/>
            <a:ext cx="11091672" cy="320040"/>
          </a:xfrm>
          <a:prstGeom prst="rect">
            <a:avLst/>
          </a:prstGeom>
          <a:noFill/>
          <a:ln/>
        </p:spPr>
        <p:txBody>
          <a:bodyPr wrap="square" lIns="0" tIns="0" rIns="0" bIns="0" rtlCol="0" anchor="ctr"/>
          <a:lstStyle/>
          <a:p>
            <a:pPr indent="0" marL="0">
              <a:buNone/>
            </a:pPr>
            <a:r>
              <a:rPr lang="en-US" sz="1700" dirty="0">
                <a:solidFill>
                  <a:srgbClr val="4B5563"/>
                </a:solidFill>
                <a:latin typeface="Calibri" pitchFamily="34" charset="0"/>
                <a:ea typeface="Calibri" pitchFamily="34" charset="-122"/>
                <a:cs typeface="Calibri" pitchFamily="34" charset="-120"/>
              </a:rPr>
              <a:t>Tuned against a hand-made answer key: 16 real objects marked on the LiDAR map</a:t>
            </a:r>
            <a:endParaRPr lang="en-US" sz="1700" dirty="0"/>
          </a:p>
        </p:txBody>
      </p:sp>
      <p:sp>
        <p:nvSpPr>
          <p:cNvPr id="7" name="Text 5"/>
          <p:cNvSpPr txBox="1"/>
          <p:nvPr/>
        </p:nvSpPr>
        <p:spPr>
          <a:xfrm>
            <a:off x="548640" y="1874520"/>
            <a:ext cx="1828800" cy="228600"/>
          </a:xfrm>
          <a:prstGeom prst="rect">
            <a:avLst/>
          </a:prstGeom>
          <a:noFill/>
          <a:ln/>
        </p:spPr>
        <p:txBody>
          <a:bodyPr wrap="square" lIns="0" tIns="0" rIns="0" bIns="0" rtlCol="0" anchor="ctr"/>
          <a:lstStyle/>
          <a:p>
            <a:pPr indent="0" marL="0">
              <a:buNone/>
            </a:pPr>
            <a:r>
              <a:rPr lang="en-US" sz="1100" b="1" spc="150" kern="0" dirty="0">
                <a:solidFill>
                  <a:srgbClr val="6B7280"/>
                </a:solidFill>
                <a:latin typeface="Calibri" pitchFamily="34" charset="0"/>
                <a:ea typeface="Calibri" pitchFamily="34" charset="-122"/>
                <a:cs typeface="Calibri" pitchFamily="34" charset="-120"/>
              </a:rPr>
              <a:t>THIS PART</a:t>
            </a:r>
            <a:endParaRPr lang="en-US" sz="1100" dirty="0"/>
          </a:p>
        </p:txBody>
      </p:sp>
      <p:sp>
        <p:nvSpPr>
          <p:cNvPr id="8" name="Shape 6"/>
          <p:cNvSpPr/>
          <p:nvPr/>
        </p:nvSpPr>
        <p:spPr>
          <a:xfrm>
            <a:off x="548640" y="2194560"/>
            <a:ext cx="1920240" cy="530352"/>
          </a:xfrm>
          <a:prstGeom prst="roundRect">
            <a:avLst>
              <a:gd name="adj" fmla="val 17241"/>
            </a:avLst>
          </a:prstGeom>
          <a:solidFill>
            <a:srgbClr val="EEF2F7"/>
          </a:solidFill>
          <a:ln/>
        </p:spPr>
      </p:sp>
      <p:sp>
        <p:nvSpPr>
          <p:cNvPr id="9" name="Shape 7"/>
          <p:cNvSpPr/>
          <p:nvPr/>
        </p:nvSpPr>
        <p:spPr>
          <a:xfrm>
            <a:off x="685800" y="2304288"/>
            <a:ext cx="310896" cy="310896"/>
          </a:xfrm>
          <a:prstGeom prst="ellipse">
            <a:avLst/>
          </a:prstGeom>
          <a:solidFill>
            <a:srgbClr val="EEF2F7"/>
          </a:solidFill>
          <a:ln w="12700">
            <a:solidFill>
              <a:srgbClr val="6B7280"/>
            </a:solidFill>
            <a:prstDash val="solid"/>
          </a:ln>
        </p:spPr>
      </p:sp>
      <p:sp>
        <p:nvSpPr>
          <p:cNvPr id="10" name="Text 8"/>
          <p:cNvSpPr txBox="1"/>
          <p:nvPr/>
        </p:nvSpPr>
        <p:spPr>
          <a:xfrm>
            <a:off x="685800" y="2304288"/>
            <a:ext cx="310896" cy="310896"/>
          </a:xfrm>
          <a:prstGeom prst="rect">
            <a:avLst/>
          </a:prstGeom>
          <a:noFill/>
          <a:ln/>
        </p:spPr>
        <p:txBody>
          <a:bodyPr wrap="square" lIns="0" tIns="0" rIns="0" bIns="0" rtlCol="0" anchor="ctr"/>
          <a:lstStyle/>
          <a:p>
            <a:pPr algn="ctr" indent="0" marL="0">
              <a:buNone/>
            </a:pPr>
            <a:r>
              <a:rPr lang="en-US" sz="1300" b="1" dirty="0">
                <a:solidFill>
                  <a:srgbClr val="6B7280"/>
                </a:solidFill>
                <a:latin typeface="Calibri" pitchFamily="34" charset="0"/>
                <a:ea typeface="Calibri" pitchFamily="34" charset="-122"/>
                <a:cs typeface="Calibri" pitchFamily="34" charset="-120"/>
              </a:rPr>
              <a:t>1</a:t>
            </a:r>
            <a:endParaRPr lang="en-US" sz="1300" dirty="0"/>
          </a:p>
        </p:txBody>
      </p:sp>
      <p:sp>
        <p:nvSpPr>
          <p:cNvPr id="11" name="Text 9"/>
          <p:cNvSpPr txBox="1"/>
          <p:nvPr/>
        </p:nvSpPr>
        <p:spPr>
          <a:xfrm>
            <a:off x="1115568" y="2194560"/>
            <a:ext cx="1325880" cy="530352"/>
          </a:xfrm>
          <a:prstGeom prst="rect">
            <a:avLst/>
          </a:prstGeom>
          <a:noFill/>
          <a:ln/>
        </p:spPr>
        <p:txBody>
          <a:bodyPr wrap="square" lIns="0" tIns="0" rIns="0" bIns="0" rtlCol="0" anchor="ctr"/>
          <a:lstStyle/>
          <a:p>
            <a:pPr indent="0" marL="0">
              <a:buNone/>
            </a:pPr>
            <a:r>
              <a:rPr lang="en-US" sz="1400" dirty="0">
                <a:solidFill>
                  <a:srgbClr val="4B5563"/>
                </a:solidFill>
                <a:latin typeface="Calibri" pitchFamily="34" charset="0"/>
                <a:ea typeface="Calibri" pitchFamily="34" charset="-122"/>
                <a:cs typeface="Calibri" pitchFamily="34" charset="-120"/>
              </a:rPr>
              <a:t>Memory graph</a:t>
            </a:r>
            <a:endParaRPr lang="en-US" sz="1400" dirty="0"/>
          </a:p>
        </p:txBody>
      </p:sp>
      <p:sp>
        <p:nvSpPr>
          <p:cNvPr id="12" name="Shape 10"/>
          <p:cNvSpPr/>
          <p:nvPr/>
        </p:nvSpPr>
        <p:spPr>
          <a:xfrm>
            <a:off x="548640" y="2834640"/>
            <a:ext cx="1920240" cy="530352"/>
          </a:xfrm>
          <a:prstGeom prst="roundRect">
            <a:avLst>
              <a:gd name="adj" fmla="val 17241"/>
            </a:avLst>
          </a:prstGeom>
          <a:solidFill>
            <a:srgbClr val="16213A"/>
          </a:solidFill>
          <a:ln/>
        </p:spPr>
      </p:sp>
      <p:sp>
        <p:nvSpPr>
          <p:cNvPr id="13" name="Shape 11"/>
          <p:cNvSpPr/>
          <p:nvPr/>
        </p:nvSpPr>
        <p:spPr>
          <a:xfrm>
            <a:off x="685800" y="2944368"/>
            <a:ext cx="310896" cy="310896"/>
          </a:xfrm>
          <a:prstGeom prst="ellipse">
            <a:avLst/>
          </a:prstGeom>
          <a:solidFill>
            <a:srgbClr val="FFFFFF"/>
          </a:solidFill>
          <a:ln w="12700">
            <a:solidFill>
              <a:srgbClr val="FFFFFF"/>
            </a:solidFill>
            <a:prstDash val="solid"/>
          </a:ln>
        </p:spPr>
      </p:sp>
      <p:sp>
        <p:nvSpPr>
          <p:cNvPr id="14" name="Text 12"/>
          <p:cNvSpPr txBox="1"/>
          <p:nvPr/>
        </p:nvSpPr>
        <p:spPr>
          <a:xfrm>
            <a:off x="685800" y="2944368"/>
            <a:ext cx="310896" cy="310896"/>
          </a:xfrm>
          <a:prstGeom prst="rect">
            <a:avLst/>
          </a:prstGeom>
          <a:noFill/>
          <a:ln/>
        </p:spPr>
        <p:txBody>
          <a:bodyPr wrap="square" lIns="0" tIns="0" rIns="0" bIns="0" rtlCol="0" anchor="ctr"/>
          <a:lstStyle/>
          <a:p>
            <a:pPr algn="ctr" indent="0" marL="0">
              <a:buNone/>
            </a:pPr>
            <a:r>
              <a:rPr lang="en-US" sz="1300" b="1" dirty="0">
                <a:solidFill>
                  <a:srgbClr val="16213A"/>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1115568" y="2834640"/>
            <a:ext cx="1325880" cy="53035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Merge tuning</a:t>
            </a:r>
            <a:endParaRPr lang="en-US" sz="1400" dirty="0"/>
          </a:p>
        </p:txBody>
      </p:sp>
      <p:sp>
        <p:nvSpPr>
          <p:cNvPr id="16" name="Shape 14"/>
          <p:cNvSpPr/>
          <p:nvPr/>
        </p:nvSpPr>
        <p:spPr>
          <a:xfrm>
            <a:off x="548640" y="3474720"/>
            <a:ext cx="1920240" cy="530352"/>
          </a:xfrm>
          <a:prstGeom prst="roundRect">
            <a:avLst>
              <a:gd name="adj" fmla="val 17241"/>
            </a:avLst>
          </a:prstGeom>
          <a:solidFill>
            <a:srgbClr val="EEF2F7"/>
          </a:solidFill>
          <a:ln/>
        </p:spPr>
      </p:sp>
      <p:sp>
        <p:nvSpPr>
          <p:cNvPr id="17" name="Shape 15"/>
          <p:cNvSpPr/>
          <p:nvPr/>
        </p:nvSpPr>
        <p:spPr>
          <a:xfrm>
            <a:off x="685800" y="3584448"/>
            <a:ext cx="310896" cy="310896"/>
          </a:xfrm>
          <a:prstGeom prst="ellipse">
            <a:avLst/>
          </a:prstGeom>
          <a:solidFill>
            <a:srgbClr val="EEF2F7"/>
          </a:solidFill>
          <a:ln w="12700">
            <a:solidFill>
              <a:srgbClr val="6B7280"/>
            </a:solidFill>
            <a:prstDash val="solid"/>
          </a:ln>
        </p:spPr>
      </p:sp>
      <p:sp>
        <p:nvSpPr>
          <p:cNvPr id="18" name="Text 16"/>
          <p:cNvSpPr txBox="1"/>
          <p:nvPr/>
        </p:nvSpPr>
        <p:spPr>
          <a:xfrm>
            <a:off x="685800" y="3584448"/>
            <a:ext cx="310896" cy="310896"/>
          </a:xfrm>
          <a:prstGeom prst="rect">
            <a:avLst/>
          </a:prstGeom>
          <a:noFill/>
          <a:ln/>
        </p:spPr>
        <p:txBody>
          <a:bodyPr wrap="square" lIns="0" tIns="0" rIns="0" bIns="0" rtlCol="0" anchor="ctr"/>
          <a:lstStyle/>
          <a:p>
            <a:pPr algn="ctr" indent="0" marL="0">
              <a:buNone/>
            </a:pPr>
            <a:r>
              <a:rPr lang="en-US" sz="1300" b="1" dirty="0">
                <a:solidFill>
                  <a:srgbClr val="6B7280"/>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1115568" y="3474720"/>
            <a:ext cx="1325880" cy="530352"/>
          </a:xfrm>
          <a:prstGeom prst="rect">
            <a:avLst/>
          </a:prstGeom>
          <a:noFill/>
          <a:ln/>
        </p:spPr>
        <p:txBody>
          <a:bodyPr wrap="square" lIns="0" tIns="0" rIns="0" bIns="0" rtlCol="0" anchor="ctr"/>
          <a:lstStyle/>
          <a:p>
            <a:pPr indent="0" marL="0">
              <a:buNone/>
            </a:pPr>
            <a:r>
              <a:rPr lang="en-US" sz="1400" dirty="0">
                <a:solidFill>
                  <a:srgbClr val="4B5563"/>
                </a:solidFill>
                <a:latin typeface="Calibri" pitchFamily="34" charset="0"/>
                <a:ea typeface="Calibri" pitchFamily="34" charset="-122"/>
                <a:cs typeface="Calibri" pitchFamily="34" charset="-120"/>
              </a:rPr>
              <a:t>Search</a:t>
            </a:r>
            <a:endParaRPr lang="en-US" sz="1400" dirty="0"/>
          </a:p>
        </p:txBody>
      </p:sp>
      <p:sp>
        <p:nvSpPr>
          <p:cNvPr id="20" name="Shape 18"/>
          <p:cNvSpPr/>
          <p:nvPr/>
        </p:nvSpPr>
        <p:spPr>
          <a:xfrm>
            <a:off x="548640" y="4434840"/>
            <a:ext cx="1920240" cy="1463040"/>
          </a:xfrm>
          <a:prstGeom prst="roundRect">
            <a:avLst>
              <a:gd name="adj" fmla="val 6250"/>
            </a:avLst>
          </a:prstGeom>
          <a:solidFill>
            <a:srgbClr val="EEF2F7"/>
          </a:solidFill>
          <a:ln/>
        </p:spPr>
      </p:sp>
      <p:sp>
        <p:nvSpPr>
          <p:cNvPr id="21" name="Text 19"/>
          <p:cNvSpPr txBox="1"/>
          <p:nvPr/>
        </p:nvSpPr>
        <p:spPr>
          <a:xfrm>
            <a:off x="713232" y="4572000"/>
            <a:ext cx="1645920" cy="201168"/>
          </a:xfrm>
          <a:prstGeom prst="rect">
            <a:avLst/>
          </a:prstGeom>
          <a:noFill/>
          <a:ln/>
        </p:spPr>
        <p:txBody>
          <a:bodyPr wrap="square" lIns="0" tIns="0" rIns="0" bIns="0" rtlCol="0" anchor="ctr"/>
          <a:lstStyle/>
          <a:p>
            <a:pPr indent="0" marL="0">
              <a:buNone/>
            </a:pPr>
            <a:r>
              <a:rPr lang="en-US" sz="1100" b="1" spc="150" kern="0" dirty="0">
                <a:solidFill>
                  <a:srgbClr val="C2410C"/>
                </a:solidFill>
                <a:latin typeface="Calibri" pitchFamily="34" charset="0"/>
                <a:ea typeface="Calibri" pitchFamily="34" charset="-122"/>
                <a:cs typeface="Calibri" pitchFamily="34" charset="-120"/>
              </a:rPr>
              <a:t>LIMIT</a:t>
            </a:r>
            <a:endParaRPr lang="en-US" sz="1100" dirty="0"/>
          </a:p>
        </p:txBody>
      </p:sp>
      <p:sp>
        <p:nvSpPr>
          <p:cNvPr id="22" name="Text 20"/>
          <p:cNvSpPr txBox="1"/>
          <p:nvPr/>
        </p:nvSpPr>
        <p:spPr>
          <a:xfrm>
            <a:off x="713232" y="4818888"/>
            <a:ext cx="1645920" cy="1005840"/>
          </a:xfrm>
          <a:prstGeom prst="rect">
            <a:avLst/>
          </a:prstGeom>
          <a:noFill/>
          <a:ln/>
        </p:spPr>
        <p:txBody>
          <a:bodyPr wrap="square" lIns="0" tIns="0" rIns="0" bIns="0" rtlCol="0" anchor="t"/>
          <a:lstStyle/>
          <a:p>
            <a:pPr indent="0" marL="0">
              <a:buNone/>
            </a:pPr>
            <a:r>
              <a:rPr lang="en-US" sz="1300" dirty="0">
                <a:solidFill>
                  <a:srgbClr val="16213A"/>
                </a:solidFill>
                <a:latin typeface="Calibri" pitchFamily="34" charset="0"/>
                <a:ea typeface="Calibri" pitchFamily="34" charset="-122"/>
                <a:cs typeface="Calibri" pitchFamily="34" charset="-120"/>
              </a:rPr>
              <a:t>Two drives, 16 objects: a difference of one is noise</a:t>
            </a:r>
            <a:endParaRPr lang="en-US" sz="1300" dirty="0"/>
          </a:p>
        </p:txBody>
      </p:sp>
      <p:sp>
        <p:nvSpPr>
          <p:cNvPr id="23" name="Text 21"/>
          <p:cNvSpPr txBox="1"/>
          <p:nvPr/>
        </p:nvSpPr>
        <p:spPr>
          <a:xfrm>
            <a:off x="2697480" y="1874520"/>
            <a:ext cx="5486400" cy="274320"/>
          </a:xfrm>
          <a:prstGeom prst="rect">
            <a:avLst/>
          </a:prstGeom>
          <a:noFill/>
          <a:ln/>
        </p:spPr>
        <p:txBody>
          <a:bodyPr wrap="square" lIns="0" tIns="0" rIns="0" bIns="0" rtlCol="0" anchor="ctr"/>
          <a:lstStyle/>
          <a:p>
            <a:pPr indent="0" marL="0">
              <a:buNone/>
            </a:pPr>
            <a:r>
              <a:rPr lang="en-US" sz="1400" b="1" dirty="0">
                <a:solidFill>
                  <a:srgbClr val="16213A"/>
                </a:solidFill>
                <a:latin typeface="Calibri" pitchFamily="34" charset="0"/>
                <a:ea typeface="Calibri" pitchFamily="34" charset="-122"/>
                <a:cs typeface="Calibri" pitchFamily="34" charset="-120"/>
              </a:rPr>
              <a:t>Duplicates left, by match radius (cm)</a:t>
            </a:r>
            <a:endParaRPr lang="en-US" sz="1400" dirty="0"/>
          </a:p>
        </p:txBody>
      </p:sp>
      <p:graphicFrame>
        <p:nvGraphicFramePr>
          <p:cNvPr id="24" name="Chart 0" descr=""/>
          <p:cNvGraphicFramePr/>
          <p:nvPr/>
        </p:nvGraphicFramePr>
        <p:xfrm>
          <a:off x="2606040" y="2194560"/>
          <a:ext cx="5669280" cy="3291840"/>
        </p:xfrm>
        <a:graphic xmlns:a="http://schemas.openxmlformats.org/drawingml/2006/main">
          <a:graphicData uri="http://schemas.openxmlformats.org/drawingml/2006/chart">
            <c:chart xmlns:c="http://schemas.openxmlformats.org/drawingml/2006/chart" r:id="rId1"/>
          </a:graphicData>
        </a:graphic>
      </p:graphicFrame>
      <p:sp>
        <p:nvSpPr>
          <p:cNvPr id="25" name="Text 22"/>
          <p:cNvSpPr txBox="1"/>
          <p:nvPr/>
        </p:nvSpPr>
        <p:spPr>
          <a:xfrm>
            <a:off x="2624328" y="5513832"/>
            <a:ext cx="1097280" cy="411480"/>
          </a:xfrm>
          <a:prstGeom prst="rect">
            <a:avLst/>
          </a:prstGeom>
          <a:noFill/>
          <a:ln/>
        </p:spPr>
        <p:txBody>
          <a:bodyPr wrap="square" lIns="0" tIns="0" rIns="0" bIns="0" rtlCol="0" anchor="t"/>
          <a:lstStyle/>
          <a:p>
            <a:pPr algn="ctr" indent="0" marL="0">
              <a:buNone/>
            </a:pPr>
            <a:r>
              <a:rPr lang="en-US" sz="1100" dirty="0">
                <a:solidFill>
                  <a:srgbClr val="6B7280"/>
                </a:solidFill>
                <a:latin typeface="Calibri" pitchFamily="34" charset="0"/>
                <a:ea typeface="Calibri" pitchFamily="34" charset="-122"/>
                <a:cs typeface="Calibri" pitchFamily="34" charset="-120"/>
              </a:rPr>
              <a:t>upstream</a:t>
            </a:r>
            <a:endParaRPr lang="en-US" sz="1100" dirty="0"/>
          </a:p>
        </p:txBody>
      </p:sp>
      <p:sp>
        <p:nvSpPr>
          <p:cNvPr id="26" name="Text 23"/>
          <p:cNvSpPr txBox="1"/>
          <p:nvPr/>
        </p:nvSpPr>
        <p:spPr>
          <a:xfrm>
            <a:off x="5340096" y="5513832"/>
            <a:ext cx="1097280" cy="411480"/>
          </a:xfrm>
          <a:prstGeom prst="rect">
            <a:avLst/>
          </a:prstGeom>
          <a:noFill/>
          <a:ln/>
        </p:spPr>
        <p:txBody>
          <a:bodyPr wrap="square" lIns="0" tIns="0" rIns="0" bIns="0" rtlCol="0" anchor="t"/>
          <a:lstStyle/>
          <a:p>
            <a:pPr algn="ctr" indent="0" marL="0">
              <a:buNone/>
            </a:pPr>
            <a:r>
              <a:rPr lang="en-US" sz="1100" b="1" dirty="0">
                <a:solidFill>
                  <a:srgbClr val="0068B5"/>
                </a:solidFill>
                <a:latin typeface="Calibri" pitchFamily="34" charset="0"/>
                <a:ea typeface="Calibri" pitchFamily="34" charset="-122"/>
                <a:cs typeface="Calibri" pitchFamily="34" charset="-120"/>
              </a:rPr>
              <a:t>chosen</a:t>
            </a:r>
            <a:endParaRPr lang="en-US" sz="1100" dirty="0"/>
          </a:p>
        </p:txBody>
      </p:sp>
      <p:sp>
        <p:nvSpPr>
          <p:cNvPr id="27" name="Text 24"/>
          <p:cNvSpPr txBox="1"/>
          <p:nvPr/>
        </p:nvSpPr>
        <p:spPr>
          <a:xfrm>
            <a:off x="6254496" y="5513832"/>
            <a:ext cx="1097280" cy="411480"/>
          </a:xfrm>
          <a:prstGeom prst="rect">
            <a:avLst/>
          </a:prstGeom>
          <a:noFill/>
          <a:ln/>
        </p:spPr>
        <p:txBody>
          <a:bodyPr wrap="square" lIns="0" tIns="0" rIns="0" bIns="0" rtlCol="0" anchor="t"/>
          <a:lstStyle/>
          <a:p>
            <a:pPr algn="ctr" indent="0" marL="0">
              <a:buNone/>
            </a:pPr>
            <a:r>
              <a:rPr lang="en-US" sz="1100" dirty="0">
                <a:solidFill>
                  <a:srgbClr val="6B7280"/>
                </a:solidFill>
                <a:latin typeface="Calibri" pitchFamily="34" charset="0"/>
                <a:ea typeface="Calibri" pitchFamily="34" charset="-122"/>
                <a:cs typeface="Calibri" pitchFamily="34" charset="-120"/>
              </a:rPr>
              <a:t>chair merges</a:t>
            </a:r>
            <a:endParaRPr lang="en-US" sz="1100" dirty="0"/>
          </a:p>
          <a:p>
            <a:pPr algn="ctr" indent="0" marL="0">
              <a:buNone/>
            </a:pPr>
            <a:r>
              <a:rPr lang="en-US" sz="1100" dirty="0">
                <a:solidFill>
                  <a:srgbClr val="6B7280"/>
                </a:solidFill>
                <a:latin typeface="Calibri" pitchFamily="34" charset="0"/>
                <a:ea typeface="Calibri" pitchFamily="34" charset="-122"/>
                <a:cs typeface="Calibri" pitchFamily="34" charset="-120"/>
              </a:rPr>
              <a:t>into desk</a:t>
            </a:r>
            <a:endParaRPr lang="en-US" sz="1100" dirty="0"/>
          </a:p>
        </p:txBody>
      </p:sp>
      <p:sp>
        <p:nvSpPr>
          <p:cNvPr id="28" name="Shape 25"/>
          <p:cNvSpPr/>
          <p:nvPr/>
        </p:nvSpPr>
        <p:spPr>
          <a:xfrm>
            <a:off x="8412480" y="1874520"/>
            <a:ext cx="3227832" cy="1737360"/>
          </a:xfrm>
          <a:prstGeom prst="roundRect">
            <a:avLst>
              <a:gd name="adj" fmla="val 5263"/>
            </a:avLst>
          </a:prstGeom>
          <a:solidFill>
            <a:srgbClr val="16213A"/>
          </a:solidFill>
          <a:ln/>
        </p:spPr>
      </p:sp>
      <p:sp>
        <p:nvSpPr>
          <p:cNvPr id="29" name="Text 26"/>
          <p:cNvSpPr txBox="1"/>
          <p:nvPr/>
        </p:nvSpPr>
        <p:spPr>
          <a:xfrm>
            <a:off x="8641080" y="2057400"/>
            <a:ext cx="2862072" cy="228600"/>
          </a:xfrm>
          <a:prstGeom prst="rect">
            <a:avLst/>
          </a:prstGeom>
          <a:noFill/>
          <a:ln/>
        </p:spPr>
        <p:txBody>
          <a:bodyPr wrap="square" lIns="0" tIns="0" rIns="0" bIns="0" rtlCol="0" anchor="ctr"/>
          <a:lstStyle/>
          <a:p>
            <a:pPr indent="0" marL="0">
              <a:buNone/>
            </a:pPr>
            <a:r>
              <a:rPr lang="en-US" sz="1100" b="1" spc="150" kern="0" dirty="0">
                <a:solidFill>
                  <a:srgbClr val="7DD3FC"/>
                </a:solidFill>
                <a:latin typeface="Calibri" pitchFamily="34" charset="0"/>
                <a:ea typeface="Calibri" pitchFamily="34" charset="-122"/>
                <a:cs typeface="Calibri" pitchFamily="34" charset="-120"/>
              </a:rPr>
              <a:t>DUPLICATES AT 10 CM</a:t>
            </a:r>
            <a:endParaRPr lang="en-US" sz="1100" dirty="0"/>
          </a:p>
        </p:txBody>
      </p:sp>
      <p:sp>
        <p:nvSpPr>
          <p:cNvPr id="30" name="Text 27"/>
          <p:cNvSpPr txBox="1"/>
          <p:nvPr/>
        </p:nvSpPr>
        <p:spPr>
          <a:xfrm>
            <a:off x="8641080" y="2286000"/>
            <a:ext cx="2862072" cy="777240"/>
          </a:xfrm>
          <a:prstGeom prst="rect">
            <a:avLst/>
          </a:prstGeom>
          <a:noFill/>
          <a:ln/>
        </p:spPr>
        <p:txBody>
          <a:bodyPr wrap="square" lIns="0" tIns="0" rIns="0" bIns="0" rtlCol="0" anchor="b"/>
          <a:lstStyle/>
          <a:p>
            <a:pPr indent="0" marL="0">
              <a:buNone/>
            </a:pPr>
            <a:r>
              <a:rPr lang="en-US" sz="5000" b="1" dirty="0">
                <a:solidFill>
                  <a:srgbClr val="FFFFFF"/>
                </a:solidFill>
                <a:latin typeface="Calibri" pitchFamily="34" charset="0"/>
                <a:ea typeface="Calibri" pitchFamily="34" charset="-122"/>
                <a:cs typeface="Calibri" pitchFamily="34" charset="-120"/>
              </a:rPr>
              <a:t>8→3</a:t>
            </a:r>
            <a:pPr indent="0" marL="0">
              <a:buNone/>
            </a:pPr>
            <a:endParaRPr lang="en-US" sz="5000" dirty="0"/>
          </a:p>
        </p:txBody>
      </p:sp>
      <p:sp>
        <p:nvSpPr>
          <p:cNvPr id="31" name="Text 28"/>
          <p:cNvSpPr txBox="1"/>
          <p:nvPr/>
        </p:nvSpPr>
        <p:spPr>
          <a:xfrm>
            <a:off x="8641080" y="3108960"/>
            <a:ext cx="2862072" cy="411480"/>
          </a:xfrm>
          <a:prstGeom prst="rect">
            <a:avLst/>
          </a:prstGeom>
          <a:noFill/>
          <a:ln/>
        </p:spPr>
        <p:txBody>
          <a:bodyPr wrap="square" lIns="0" tIns="0" rIns="0" bIns="0" rtlCol="0" anchor="t"/>
          <a:lstStyle/>
          <a:p>
            <a:pPr indent="0" marL="0">
              <a:buNone/>
            </a:pPr>
            <a:r>
              <a:rPr lang="en-US" sz="1300" dirty="0">
                <a:solidFill>
                  <a:srgbClr val="CBD5E1"/>
                </a:solidFill>
                <a:latin typeface="Calibri" pitchFamily="34" charset="0"/>
                <a:ea typeface="Calibri" pitchFamily="34" charset="-122"/>
                <a:cs typeface="Calibri" pitchFamily="34" charset="-120"/>
              </a:rPr>
              <a:t>with no false merges</a:t>
            </a:r>
            <a:endParaRPr lang="en-US" sz="1300" dirty="0"/>
          </a:p>
        </p:txBody>
      </p:sp>
      <p:sp>
        <p:nvSpPr>
          <p:cNvPr id="32" name="Shape 29"/>
          <p:cNvSpPr/>
          <p:nvPr/>
        </p:nvSpPr>
        <p:spPr>
          <a:xfrm>
            <a:off x="8412480" y="3794760"/>
            <a:ext cx="3227832" cy="1874520"/>
          </a:xfrm>
          <a:prstGeom prst="roundRect">
            <a:avLst>
              <a:gd name="adj" fmla="val 4878"/>
            </a:avLst>
          </a:prstGeom>
          <a:solidFill>
            <a:srgbClr val="EEF2F7"/>
          </a:solidFill>
          <a:ln/>
        </p:spPr>
      </p:sp>
      <p:sp>
        <p:nvSpPr>
          <p:cNvPr id="33" name="Shape 30"/>
          <p:cNvSpPr/>
          <p:nvPr/>
        </p:nvSpPr>
        <p:spPr>
          <a:xfrm>
            <a:off x="8577072" y="3950208"/>
            <a:ext cx="365760" cy="365760"/>
          </a:xfrm>
          <a:prstGeom prst="ellipse">
            <a:avLst/>
          </a:prstGeom>
          <a:solidFill>
            <a:srgbClr val="0068B5"/>
          </a:solidFill>
          <a:ln/>
        </p:spPr>
      </p:sp>
      <p:pic>
        <p:nvPicPr>
          <p:cNvPr id="34" name="Image 0" descr="preencoded.png">    </p:cNvPr>
          <p:cNvPicPr>
            <a:picLocks noChangeAspect="1"/>
          </p:cNvPicPr>
          <p:nvPr/>
        </p:nvPicPr>
        <p:blipFill>
          <a:blip r:embed="rId2"/>
          <a:stretch>
            <a:fillRect/>
          </a:stretch>
        </p:blipFill>
        <p:spPr>
          <a:xfrm>
            <a:off x="8657539" y="4030675"/>
            <a:ext cx="204826" cy="204826"/>
          </a:xfrm>
          <a:prstGeom prst="rect">
            <a:avLst/>
          </a:prstGeom>
        </p:spPr>
      </p:pic>
      <p:sp>
        <p:nvSpPr>
          <p:cNvPr id="35" name="Text 31"/>
          <p:cNvSpPr txBox="1"/>
          <p:nvPr/>
        </p:nvSpPr>
        <p:spPr>
          <a:xfrm>
            <a:off x="9070848" y="3950208"/>
            <a:ext cx="2468880" cy="365760"/>
          </a:xfrm>
          <a:prstGeom prst="rect">
            <a:avLst/>
          </a:prstGeom>
          <a:noFill/>
          <a:ln/>
        </p:spPr>
        <p:txBody>
          <a:bodyPr wrap="square" lIns="0" tIns="0" rIns="0" bIns="0" rtlCol="0" anchor="ctr"/>
          <a:lstStyle/>
          <a:p>
            <a:pPr indent="0" marL="0">
              <a:buNone/>
            </a:pPr>
            <a:r>
              <a:rPr lang="en-US" sz="1400" b="1" dirty="0">
                <a:solidFill>
                  <a:srgbClr val="16213A"/>
                </a:solidFill>
                <a:latin typeface="Calibri" pitchFamily="34" charset="0"/>
                <a:ea typeface="Calibri" pitchFamily="34" charset="-122"/>
                <a:cs typeface="Calibri" pitchFamily="34" charset="-120"/>
              </a:rPr>
              <a:t>Why not merge by look?</a:t>
            </a:r>
            <a:endParaRPr lang="en-US" sz="1400" dirty="0"/>
          </a:p>
        </p:txBody>
      </p:sp>
      <p:sp>
        <p:nvSpPr>
          <p:cNvPr id="36" name="Text 32"/>
          <p:cNvSpPr txBox="1"/>
          <p:nvPr/>
        </p:nvSpPr>
        <p:spPr>
          <a:xfrm>
            <a:off x="8577072" y="4526280"/>
            <a:ext cx="1280160" cy="256032"/>
          </a:xfrm>
          <a:prstGeom prst="rect">
            <a:avLst/>
          </a:prstGeom>
          <a:noFill/>
          <a:ln/>
        </p:spPr>
        <p:txBody>
          <a:bodyPr wrap="square" lIns="0" tIns="0" rIns="0" bIns="0" rtlCol="0" anchor="ctr"/>
          <a:lstStyle/>
          <a:p>
            <a:pPr indent="0" marL="0">
              <a:buNone/>
            </a:pPr>
            <a:r>
              <a:rPr lang="en-US" sz="1100" dirty="0">
                <a:solidFill>
                  <a:srgbClr val="4B5563"/>
                </a:solidFill>
                <a:latin typeface="Calibri" pitchFamily="34" charset="0"/>
                <a:ea typeface="Calibri" pitchFamily="34" charset="-122"/>
                <a:cs typeface="Calibri" pitchFamily="34" charset="-120"/>
              </a:rPr>
              <a:t>Same chair</a:t>
            </a:r>
            <a:endParaRPr lang="en-US" sz="1100" dirty="0"/>
          </a:p>
        </p:txBody>
      </p:sp>
      <p:sp>
        <p:nvSpPr>
          <p:cNvPr id="37" name="Shape 33"/>
          <p:cNvSpPr/>
          <p:nvPr/>
        </p:nvSpPr>
        <p:spPr>
          <a:xfrm>
            <a:off x="9875520" y="4590288"/>
            <a:ext cx="854050" cy="128016"/>
          </a:xfrm>
          <a:prstGeom prst="rect">
            <a:avLst/>
          </a:prstGeom>
          <a:solidFill>
            <a:srgbClr val="16213A"/>
          </a:solidFill>
          <a:ln/>
        </p:spPr>
      </p:sp>
      <p:sp>
        <p:nvSpPr>
          <p:cNvPr id="38" name="Text 34"/>
          <p:cNvSpPr txBox="1"/>
          <p:nvPr/>
        </p:nvSpPr>
        <p:spPr>
          <a:xfrm>
            <a:off x="10775290" y="4526280"/>
            <a:ext cx="777240" cy="256032"/>
          </a:xfrm>
          <a:prstGeom prst="rect">
            <a:avLst/>
          </a:prstGeom>
          <a:noFill/>
          <a:ln/>
        </p:spPr>
        <p:txBody>
          <a:bodyPr wrap="square" lIns="0" tIns="0" rIns="0" bIns="0" rtlCol="0" anchor="ctr"/>
          <a:lstStyle/>
          <a:p>
            <a:pPr indent="0" marL="0">
              <a:buNone/>
            </a:pPr>
            <a:r>
              <a:rPr lang="en-US" sz="1100" b="1" dirty="0">
                <a:solidFill>
                  <a:srgbClr val="16213A"/>
                </a:solidFill>
                <a:latin typeface="Calibri" pitchFamily="34" charset="0"/>
                <a:ea typeface="Calibri" pitchFamily="34" charset="-122"/>
                <a:cs typeface="Calibri" pitchFamily="34" charset="-120"/>
              </a:rPr>
              <a:t>0.93</a:t>
            </a:r>
            <a:endParaRPr lang="en-US" sz="1100" dirty="0"/>
          </a:p>
        </p:txBody>
      </p:sp>
      <p:sp>
        <p:nvSpPr>
          <p:cNvPr id="39" name="Text 35"/>
          <p:cNvSpPr txBox="1"/>
          <p:nvPr/>
        </p:nvSpPr>
        <p:spPr>
          <a:xfrm>
            <a:off x="8577072" y="4892040"/>
            <a:ext cx="1280160" cy="256032"/>
          </a:xfrm>
          <a:prstGeom prst="rect">
            <a:avLst/>
          </a:prstGeom>
          <a:noFill/>
          <a:ln/>
        </p:spPr>
        <p:txBody>
          <a:bodyPr wrap="square" lIns="0" tIns="0" rIns="0" bIns="0" rtlCol="0" anchor="ctr"/>
          <a:lstStyle/>
          <a:p>
            <a:pPr indent="0" marL="0">
              <a:buNone/>
            </a:pPr>
            <a:r>
              <a:rPr lang="en-US" sz="1100" dirty="0">
                <a:solidFill>
                  <a:srgbClr val="4B5563"/>
                </a:solidFill>
                <a:latin typeface="Calibri" pitchFamily="34" charset="0"/>
                <a:ea typeface="Calibri" pitchFamily="34" charset="-122"/>
                <a:cs typeface="Calibri" pitchFamily="34" charset="-120"/>
              </a:rPr>
              <a:t>Same-model chairs</a:t>
            </a:r>
            <a:endParaRPr lang="en-US" sz="1100" dirty="0"/>
          </a:p>
        </p:txBody>
      </p:sp>
      <p:sp>
        <p:nvSpPr>
          <p:cNvPr id="40" name="Shape 36"/>
          <p:cNvSpPr/>
          <p:nvPr/>
        </p:nvSpPr>
        <p:spPr>
          <a:xfrm>
            <a:off x="9875520" y="4956048"/>
            <a:ext cx="777240" cy="128016"/>
          </a:xfrm>
          <a:prstGeom prst="rect">
            <a:avLst/>
          </a:prstGeom>
          <a:solidFill>
            <a:srgbClr val="0068B5"/>
          </a:solidFill>
          <a:ln/>
        </p:spPr>
      </p:sp>
      <p:sp>
        <p:nvSpPr>
          <p:cNvPr id="41" name="Text 37"/>
          <p:cNvSpPr txBox="1"/>
          <p:nvPr/>
        </p:nvSpPr>
        <p:spPr>
          <a:xfrm>
            <a:off x="10698480" y="4892040"/>
            <a:ext cx="777240" cy="256032"/>
          </a:xfrm>
          <a:prstGeom prst="rect">
            <a:avLst/>
          </a:prstGeom>
          <a:noFill/>
          <a:ln/>
        </p:spPr>
        <p:txBody>
          <a:bodyPr wrap="square" lIns="0" tIns="0" rIns="0" bIns="0" rtlCol="0" anchor="ctr"/>
          <a:lstStyle/>
          <a:p>
            <a:pPr indent="0" marL="0">
              <a:buNone/>
            </a:pPr>
            <a:r>
              <a:rPr lang="en-US" sz="1100" b="1" dirty="0">
                <a:solidFill>
                  <a:srgbClr val="16213A"/>
                </a:solidFill>
                <a:latin typeface="Calibri" pitchFamily="34" charset="0"/>
                <a:ea typeface="Calibri" pitchFamily="34" charset="-122"/>
                <a:cs typeface="Calibri" pitchFamily="34" charset="-120"/>
              </a:rPr>
              <a:t>0.81–0.85</a:t>
            </a:r>
            <a:endParaRPr lang="en-US" sz="1100" dirty="0"/>
          </a:p>
        </p:txBody>
      </p:sp>
      <p:sp>
        <p:nvSpPr>
          <p:cNvPr id="42" name="Text 38"/>
          <p:cNvSpPr txBox="1"/>
          <p:nvPr/>
        </p:nvSpPr>
        <p:spPr>
          <a:xfrm>
            <a:off x="8577072" y="5257800"/>
            <a:ext cx="1280160" cy="256032"/>
          </a:xfrm>
          <a:prstGeom prst="rect">
            <a:avLst/>
          </a:prstGeom>
          <a:noFill/>
          <a:ln/>
        </p:spPr>
        <p:txBody>
          <a:bodyPr wrap="square" lIns="0" tIns="0" rIns="0" bIns="0" rtlCol="0" anchor="ctr"/>
          <a:lstStyle/>
          <a:p>
            <a:pPr indent="0" marL="0">
              <a:buNone/>
            </a:pPr>
            <a:r>
              <a:rPr lang="en-US" sz="1100" dirty="0">
                <a:solidFill>
                  <a:srgbClr val="4B5563"/>
                </a:solidFill>
                <a:latin typeface="Calibri" pitchFamily="34" charset="0"/>
                <a:ea typeface="Calibri" pitchFamily="34" charset="-122"/>
                <a:cs typeface="Calibri" pitchFamily="34" charset="-120"/>
              </a:rPr>
              <a:t>Other objects</a:t>
            </a:r>
            <a:endParaRPr lang="en-US" sz="1100" dirty="0"/>
          </a:p>
        </p:txBody>
      </p:sp>
      <p:sp>
        <p:nvSpPr>
          <p:cNvPr id="43" name="Shape 39"/>
          <p:cNvSpPr/>
          <p:nvPr/>
        </p:nvSpPr>
        <p:spPr>
          <a:xfrm>
            <a:off x="9875520" y="5321808"/>
            <a:ext cx="512064" cy="128016"/>
          </a:xfrm>
          <a:prstGeom prst="rect">
            <a:avLst/>
          </a:prstGeom>
          <a:solidFill>
            <a:srgbClr val="C5CDD8"/>
          </a:solidFill>
          <a:ln/>
        </p:spPr>
      </p:sp>
      <p:sp>
        <p:nvSpPr>
          <p:cNvPr id="44" name="Text 40"/>
          <p:cNvSpPr txBox="1"/>
          <p:nvPr/>
        </p:nvSpPr>
        <p:spPr>
          <a:xfrm>
            <a:off x="10433304" y="5257800"/>
            <a:ext cx="777240" cy="256032"/>
          </a:xfrm>
          <a:prstGeom prst="rect">
            <a:avLst/>
          </a:prstGeom>
          <a:noFill/>
          <a:ln/>
        </p:spPr>
        <p:txBody>
          <a:bodyPr wrap="square" lIns="0" tIns="0" rIns="0" bIns="0" rtlCol="0" anchor="ctr"/>
          <a:lstStyle/>
          <a:p>
            <a:pPr indent="0" marL="0">
              <a:buNone/>
            </a:pPr>
            <a:r>
              <a:rPr lang="en-US" sz="1100" b="1" dirty="0">
                <a:solidFill>
                  <a:srgbClr val="16213A"/>
                </a:solidFill>
                <a:latin typeface="Calibri" pitchFamily="34" charset="0"/>
                <a:ea typeface="Calibri" pitchFamily="34" charset="-122"/>
                <a:cs typeface="Calibri" pitchFamily="34" charset="-120"/>
              </a:rPr>
              <a:t>0.56</a:t>
            </a:r>
            <a:endParaRPr lang="en-US" sz="1100" dirty="0"/>
          </a:p>
        </p:txBody>
      </p:sp>
      <p:sp>
        <p:nvSpPr>
          <p:cNvPr id="45" name="Text 41"/>
          <p:cNvSpPr txBox="1"/>
          <p:nvPr/>
        </p:nvSpPr>
        <p:spPr>
          <a:xfrm>
            <a:off x="8412480" y="5742432"/>
            <a:ext cx="3227832" cy="22860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CLIP image similarity, 0 to 1</a:t>
            </a:r>
            <a:endParaRPr lang="en-US" sz="1100" dirty="0"/>
          </a:p>
        </p:txBody>
      </p:sp>
      <p:sp>
        <p:nvSpPr>
          <p:cNvPr id="46" name="Shape 42"/>
          <p:cNvSpPr/>
          <p:nvPr/>
        </p:nvSpPr>
        <p:spPr>
          <a:xfrm>
            <a:off x="594360" y="6400800"/>
            <a:ext cx="1295019" cy="13716"/>
          </a:xfrm>
          <a:prstGeom prst="rect">
            <a:avLst/>
          </a:prstGeom>
          <a:solidFill>
            <a:srgbClr val="D7DEE8"/>
          </a:solidFill>
          <a:ln/>
        </p:spPr>
      </p:sp>
      <p:sp>
        <p:nvSpPr>
          <p:cNvPr id="47" name="Text 43"/>
          <p:cNvSpPr txBox="1"/>
          <p:nvPr/>
        </p:nvSpPr>
        <p:spPr>
          <a:xfrm>
            <a:off x="548640"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Problem</a:t>
            </a:r>
            <a:endParaRPr lang="en-US" sz="1100" dirty="0"/>
          </a:p>
        </p:txBody>
      </p:sp>
      <p:sp>
        <p:nvSpPr>
          <p:cNvPr id="48" name="Shape 44"/>
          <p:cNvSpPr/>
          <p:nvPr/>
        </p:nvSpPr>
        <p:spPr>
          <a:xfrm>
            <a:off x="1980819" y="6400800"/>
            <a:ext cx="1295019" cy="13716"/>
          </a:xfrm>
          <a:prstGeom prst="rect">
            <a:avLst/>
          </a:prstGeom>
          <a:solidFill>
            <a:srgbClr val="D7DEE8"/>
          </a:solidFill>
          <a:ln/>
        </p:spPr>
      </p:sp>
      <p:sp>
        <p:nvSpPr>
          <p:cNvPr id="49" name="Text 45"/>
          <p:cNvSpPr txBox="1"/>
          <p:nvPr/>
        </p:nvSpPr>
        <p:spPr>
          <a:xfrm>
            <a:off x="1935099"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System</a:t>
            </a:r>
            <a:endParaRPr lang="en-US" sz="1100" dirty="0"/>
          </a:p>
        </p:txBody>
      </p:sp>
      <p:sp>
        <p:nvSpPr>
          <p:cNvPr id="50" name="Shape 46"/>
          <p:cNvSpPr/>
          <p:nvPr/>
        </p:nvSpPr>
        <p:spPr>
          <a:xfrm>
            <a:off x="3367278" y="6400800"/>
            <a:ext cx="1295019" cy="13716"/>
          </a:xfrm>
          <a:prstGeom prst="rect">
            <a:avLst/>
          </a:prstGeom>
          <a:solidFill>
            <a:srgbClr val="D7DEE8"/>
          </a:solidFill>
          <a:ln/>
        </p:spPr>
      </p:sp>
      <p:sp>
        <p:nvSpPr>
          <p:cNvPr id="51" name="Text 47"/>
          <p:cNvSpPr txBox="1"/>
          <p:nvPr/>
        </p:nvSpPr>
        <p:spPr>
          <a:xfrm>
            <a:off x="3321558"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Intent</a:t>
            </a:r>
            <a:endParaRPr lang="en-US" sz="1100" dirty="0"/>
          </a:p>
        </p:txBody>
      </p:sp>
      <p:sp>
        <p:nvSpPr>
          <p:cNvPr id="52" name="Shape 48"/>
          <p:cNvSpPr/>
          <p:nvPr/>
        </p:nvSpPr>
        <p:spPr>
          <a:xfrm>
            <a:off x="4753737" y="6400800"/>
            <a:ext cx="1295019" cy="36576"/>
          </a:xfrm>
          <a:prstGeom prst="rect">
            <a:avLst/>
          </a:prstGeom>
          <a:solidFill>
            <a:srgbClr val="0068B5"/>
          </a:solidFill>
          <a:ln/>
        </p:spPr>
      </p:sp>
      <p:sp>
        <p:nvSpPr>
          <p:cNvPr id="53" name="Text 49"/>
          <p:cNvSpPr txBox="1"/>
          <p:nvPr/>
        </p:nvSpPr>
        <p:spPr>
          <a:xfrm>
            <a:off x="4708017" y="6473952"/>
            <a:ext cx="1386459" cy="201168"/>
          </a:xfrm>
          <a:prstGeom prst="rect">
            <a:avLst/>
          </a:prstGeom>
          <a:noFill/>
          <a:ln/>
        </p:spPr>
        <p:txBody>
          <a:bodyPr wrap="square" lIns="0" tIns="0" rIns="0" bIns="0" rtlCol="0" anchor="ctr"/>
          <a:lstStyle/>
          <a:p>
            <a:pPr algn="ctr" indent="0" marL="0">
              <a:buNone/>
            </a:pPr>
            <a:r>
              <a:rPr lang="en-US" sz="1100" b="1" dirty="0">
                <a:solidFill>
                  <a:srgbClr val="16213A"/>
                </a:solidFill>
                <a:latin typeface="Calibri" pitchFamily="34" charset="0"/>
                <a:ea typeface="Calibri" pitchFamily="34" charset="-122"/>
                <a:cs typeface="Calibri" pitchFamily="34" charset="-120"/>
              </a:rPr>
              <a:t>Explore</a:t>
            </a:r>
            <a:endParaRPr lang="en-US" sz="1100" dirty="0"/>
          </a:p>
        </p:txBody>
      </p:sp>
      <p:sp>
        <p:nvSpPr>
          <p:cNvPr id="54" name="Shape 50"/>
          <p:cNvSpPr/>
          <p:nvPr/>
        </p:nvSpPr>
        <p:spPr>
          <a:xfrm>
            <a:off x="6140196" y="6400800"/>
            <a:ext cx="1295019" cy="13716"/>
          </a:xfrm>
          <a:prstGeom prst="rect">
            <a:avLst/>
          </a:prstGeom>
          <a:solidFill>
            <a:srgbClr val="D7DEE8"/>
          </a:solidFill>
          <a:ln/>
        </p:spPr>
      </p:sp>
      <p:sp>
        <p:nvSpPr>
          <p:cNvPr id="55" name="Text 51"/>
          <p:cNvSpPr txBox="1"/>
          <p:nvPr/>
        </p:nvSpPr>
        <p:spPr>
          <a:xfrm>
            <a:off x="6094476"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Search</a:t>
            </a:r>
            <a:endParaRPr lang="en-US" sz="1100" dirty="0"/>
          </a:p>
        </p:txBody>
      </p:sp>
      <p:sp>
        <p:nvSpPr>
          <p:cNvPr id="56" name="Shape 52"/>
          <p:cNvSpPr/>
          <p:nvPr/>
        </p:nvSpPr>
        <p:spPr>
          <a:xfrm>
            <a:off x="7526655" y="6400800"/>
            <a:ext cx="1295019" cy="13716"/>
          </a:xfrm>
          <a:prstGeom prst="rect">
            <a:avLst/>
          </a:prstGeom>
          <a:solidFill>
            <a:srgbClr val="D7DEE8"/>
          </a:solidFill>
          <a:ln/>
        </p:spPr>
      </p:sp>
      <p:sp>
        <p:nvSpPr>
          <p:cNvPr id="57" name="Text 53"/>
          <p:cNvSpPr txBox="1"/>
          <p:nvPr/>
        </p:nvSpPr>
        <p:spPr>
          <a:xfrm>
            <a:off x="7480935"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Confirm</a:t>
            </a:r>
            <a:endParaRPr lang="en-US" sz="1100" dirty="0"/>
          </a:p>
        </p:txBody>
      </p:sp>
      <p:sp>
        <p:nvSpPr>
          <p:cNvPr id="58" name="Shape 54"/>
          <p:cNvSpPr/>
          <p:nvPr/>
        </p:nvSpPr>
        <p:spPr>
          <a:xfrm>
            <a:off x="8913114" y="6400800"/>
            <a:ext cx="1295019" cy="13716"/>
          </a:xfrm>
          <a:prstGeom prst="rect">
            <a:avLst/>
          </a:prstGeom>
          <a:solidFill>
            <a:srgbClr val="D7DEE8"/>
          </a:solidFill>
          <a:ln/>
        </p:spPr>
      </p:sp>
      <p:sp>
        <p:nvSpPr>
          <p:cNvPr id="59" name="Text 55"/>
          <p:cNvSpPr txBox="1"/>
          <p:nvPr/>
        </p:nvSpPr>
        <p:spPr>
          <a:xfrm>
            <a:off x="8867394"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Grasp</a:t>
            </a:r>
            <a:endParaRPr lang="en-US" sz="1100" dirty="0"/>
          </a:p>
        </p:txBody>
      </p:sp>
      <p:sp>
        <p:nvSpPr>
          <p:cNvPr id="60" name="Shape 56"/>
          <p:cNvSpPr/>
          <p:nvPr/>
        </p:nvSpPr>
        <p:spPr>
          <a:xfrm>
            <a:off x="10299573" y="6400800"/>
            <a:ext cx="1295019" cy="13716"/>
          </a:xfrm>
          <a:prstGeom prst="rect">
            <a:avLst/>
          </a:prstGeom>
          <a:solidFill>
            <a:srgbClr val="D7DEE8"/>
          </a:solidFill>
          <a:ln/>
        </p:spPr>
      </p:sp>
      <p:sp>
        <p:nvSpPr>
          <p:cNvPr id="61" name="Text 57"/>
          <p:cNvSpPr txBox="1"/>
          <p:nvPr/>
        </p:nvSpPr>
        <p:spPr>
          <a:xfrm>
            <a:off x="10253853"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Plan</a:t>
            </a:r>
            <a:endParaRPr lang="en-US" sz="1100" dirty="0"/>
          </a:p>
        </p:txBody>
      </p:sp>
      <p:sp>
        <p:nvSpPr>
          <p:cNvPr id="62" name="Text 58"/>
          <p:cNvSpPr txBox="1"/>
          <p:nvPr/>
        </p:nvSpPr>
        <p:spPr>
          <a:xfrm>
            <a:off x="11091672" y="6035040"/>
            <a:ext cx="548640" cy="22860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28600"/>
          </a:xfrm>
          <a:prstGeom prst="rect">
            <a:avLst/>
          </a:prstGeom>
          <a:noFill/>
          <a:ln/>
        </p:spPr>
        <p:txBody>
          <a:bodyPr wrap="square" lIns="0" tIns="0" rIns="0" bIns="0" rtlCol="0" anchor="ctr"/>
          <a:lstStyle/>
          <a:p>
            <a:pPr indent="0" marL="0">
              <a:buNone/>
            </a:pPr>
            <a:r>
              <a:rPr lang="en-US" sz="1100" b="1" spc="150" kern="0" dirty="0">
                <a:solidFill>
                  <a:srgbClr val="0068B5"/>
                </a:solidFill>
                <a:latin typeface="Calibri" pitchFamily="34" charset="0"/>
                <a:ea typeface="Calibri" pitchFamily="34" charset="-122"/>
                <a:cs typeface="Calibri" pitchFamily="34" charset="-120"/>
              </a:rPr>
              <a:t>GAPPLER  ·  ZONGZHE</a:t>
            </a:r>
            <a:endParaRPr lang="en-US" sz="1100" dirty="0"/>
          </a:p>
        </p:txBody>
      </p:sp>
      <p:sp>
        <p:nvSpPr>
          <p:cNvPr id="3" name="Shape 1"/>
          <p:cNvSpPr/>
          <p:nvPr/>
        </p:nvSpPr>
        <p:spPr>
          <a:xfrm>
            <a:off x="9363456" y="347472"/>
            <a:ext cx="2276856" cy="347472"/>
          </a:xfrm>
          <a:prstGeom prst="roundRect">
            <a:avLst>
              <a:gd name="adj" fmla="val 50000"/>
            </a:avLst>
          </a:prstGeom>
          <a:solidFill>
            <a:srgbClr val="16213A"/>
          </a:solidFill>
          <a:ln/>
        </p:spPr>
      </p:sp>
      <p:sp>
        <p:nvSpPr>
          <p:cNvPr id="4" name="Text 2"/>
          <p:cNvSpPr txBox="1"/>
          <p:nvPr/>
        </p:nvSpPr>
        <p:spPr>
          <a:xfrm>
            <a:off x="9363456" y="347472"/>
            <a:ext cx="2276856" cy="347472"/>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PHASE 3  ·  SEARCH</a:t>
            </a:r>
            <a:endParaRPr lang="en-US" sz="1100" dirty="0"/>
          </a:p>
        </p:txBody>
      </p:sp>
      <p:sp>
        <p:nvSpPr>
          <p:cNvPr id="5" name="Text 3"/>
          <p:cNvSpPr txBox="1"/>
          <p:nvPr/>
        </p:nvSpPr>
        <p:spPr>
          <a:xfrm>
            <a:off x="548640" y="777240"/>
            <a:ext cx="11091672" cy="548640"/>
          </a:xfrm>
          <a:prstGeom prst="rect">
            <a:avLst/>
          </a:prstGeom>
          <a:noFill/>
          <a:ln/>
        </p:spPr>
        <p:txBody>
          <a:bodyPr wrap="square" lIns="0" tIns="0" rIns="0" bIns="0" rtlCol="0" anchor="ctr"/>
          <a:lstStyle/>
          <a:p>
            <a:pPr indent="0" marL="0">
              <a:buNone/>
            </a:pPr>
            <a:r>
              <a:rPr lang="en-US" sz="3000" b="1" dirty="0">
                <a:solidFill>
                  <a:srgbClr val="16213A"/>
                </a:solidFill>
                <a:latin typeface="Calibri" pitchFamily="34" charset="0"/>
                <a:ea typeface="Calibri" pitchFamily="34" charset="-122"/>
                <a:cs typeface="Calibri" pitchFamily="34" charset="-120"/>
              </a:rPr>
              <a:t>A sentence becomes a ranked list of objects</a:t>
            </a:r>
            <a:endParaRPr lang="en-US" sz="3000" dirty="0"/>
          </a:p>
        </p:txBody>
      </p:sp>
      <p:sp>
        <p:nvSpPr>
          <p:cNvPr id="6" name="Text 4"/>
          <p:cNvSpPr txBox="1"/>
          <p:nvPr/>
        </p:nvSpPr>
        <p:spPr>
          <a:xfrm>
            <a:off x="548640" y="1325880"/>
            <a:ext cx="11091672" cy="320040"/>
          </a:xfrm>
          <a:prstGeom prst="rect">
            <a:avLst/>
          </a:prstGeom>
          <a:noFill/>
          <a:ln/>
        </p:spPr>
        <p:txBody>
          <a:bodyPr wrap="square" lIns="0" tIns="0" rIns="0" bIns="0" rtlCol="0" anchor="ctr"/>
          <a:lstStyle/>
          <a:p>
            <a:pPr indent="0" marL="0">
              <a:buNone/>
            </a:pPr>
            <a:r>
              <a:rPr lang="en-US" sz="1700" dirty="0">
                <a:solidFill>
                  <a:srgbClr val="4B5563"/>
                </a:solidFill>
                <a:latin typeface="Calibri" pitchFamily="34" charset="0"/>
                <a:ea typeface="Calibri" pitchFamily="34" charset="-122"/>
                <a:cs typeface="Calibri" pitchFamily="34" charset="-120"/>
              </a:rPr>
              <a:t>Today the query is a sentence. In the full system, the gaze crop is the query (M8)</a:t>
            </a:r>
            <a:endParaRPr lang="en-US" sz="1700" dirty="0"/>
          </a:p>
        </p:txBody>
      </p:sp>
      <p:sp>
        <p:nvSpPr>
          <p:cNvPr id="7" name="Text 5"/>
          <p:cNvSpPr txBox="1"/>
          <p:nvPr/>
        </p:nvSpPr>
        <p:spPr>
          <a:xfrm>
            <a:off x="548640" y="1874520"/>
            <a:ext cx="1828800" cy="228600"/>
          </a:xfrm>
          <a:prstGeom prst="rect">
            <a:avLst/>
          </a:prstGeom>
          <a:noFill/>
          <a:ln/>
        </p:spPr>
        <p:txBody>
          <a:bodyPr wrap="square" lIns="0" tIns="0" rIns="0" bIns="0" rtlCol="0" anchor="ctr"/>
          <a:lstStyle/>
          <a:p>
            <a:pPr indent="0" marL="0">
              <a:buNone/>
            </a:pPr>
            <a:r>
              <a:rPr lang="en-US" sz="1100" b="1" spc="150" kern="0" dirty="0">
                <a:solidFill>
                  <a:srgbClr val="6B7280"/>
                </a:solidFill>
                <a:latin typeface="Calibri" pitchFamily="34" charset="0"/>
                <a:ea typeface="Calibri" pitchFamily="34" charset="-122"/>
                <a:cs typeface="Calibri" pitchFamily="34" charset="-120"/>
              </a:rPr>
              <a:t>THIS PART</a:t>
            </a:r>
            <a:endParaRPr lang="en-US" sz="1100" dirty="0"/>
          </a:p>
        </p:txBody>
      </p:sp>
      <p:sp>
        <p:nvSpPr>
          <p:cNvPr id="8" name="Shape 6"/>
          <p:cNvSpPr/>
          <p:nvPr/>
        </p:nvSpPr>
        <p:spPr>
          <a:xfrm>
            <a:off x="548640" y="2194560"/>
            <a:ext cx="1920240" cy="530352"/>
          </a:xfrm>
          <a:prstGeom prst="roundRect">
            <a:avLst>
              <a:gd name="adj" fmla="val 17241"/>
            </a:avLst>
          </a:prstGeom>
          <a:solidFill>
            <a:srgbClr val="EEF2F7"/>
          </a:solidFill>
          <a:ln/>
        </p:spPr>
      </p:sp>
      <p:sp>
        <p:nvSpPr>
          <p:cNvPr id="9" name="Shape 7"/>
          <p:cNvSpPr/>
          <p:nvPr/>
        </p:nvSpPr>
        <p:spPr>
          <a:xfrm>
            <a:off x="685800" y="2304288"/>
            <a:ext cx="310896" cy="310896"/>
          </a:xfrm>
          <a:prstGeom prst="ellipse">
            <a:avLst/>
          </a:prstGeom>
          <a:solidFill>
            <a:srgbClr val="EEF2F7"/>
          </a:solidFill>
          <a:ln w="12700">
            <a:solidFill>
              <a:srgbClr val="6B7280"/>
            </a:solidFill>
            <a:prstDash val="solid"/>
          </a:ln>
        </p:spPr>
      </p:sp>
      <p:sp>
        <p:nvSpPr>
          <p:cNvPr id="10" name="Text 8"/>
          <p:cNvSpPr txBox="1"/>
          <p:nvPr/>
        </p:nvSpPr>
        <p:spPr>
          <a:xfrm>
            <a:off x="685800" y="2304288"/>
            <a:ext cx="310896" cy="310896"/>
          </a:xfrm>
          <a:prstGeom prst="rect">
            <a:avLst/>
          </a:prstGeom>
          <a:noFill/>
          <a:ln/>
        </p:spPr>
        <p:txBody>
          <a:bodyPr wrap="square" lIns="0" tIns="0" rIns="0" bIns="0" rtlCol="0" anchor="ctr"/>
          <a:lstStyle/>
          <a:p>
            <a:pPr algn="ctr" indent="0" marL="0">
              <a:buNone/>
            </a:pPr>
            <a:r>
              <a:rPr lang="en-US" sz="1300" b="1" dirty="0">
                <a:solidFill>
                  <a:srgbClr val="6B7280"/>
                </a:solidFill>
                <a:latin typeface="Calibri" pitchFamily="34" charset="0"/>
                <a:ea typeface="Calibri" pitchFamily="34" charset="-122"/>
                <a:cs typeface="Calibri" pitchFamily="34" charset="-120"/>
              </a:rPr>
              <a:t>1</a:t>
            </a:r>
            <a:endParaRPr lang="en-US" sz="1300" dirty="0"/>
          </a:p>
        </p:txBody>
      </p:sp>
      <p:sp>
        <p:nvSpPr>
          <p:cNvPr id="11" name="Text 9"/>
          <p:cNvSpPr txBox="1"/>
          <p:nvPr/>
        </p:nvSpPr>
        <p:spPr>
          <a:xfrm>
            <a:off x="1115568" y="2194560"/>
            <a:ext cx="1325880" cy="530352"/>
          </a:xfrm>
          <a:prstGeom prst="rect">
            <a:avLst/>
          </a:prstGeom>
          <a:noFill/>
          <a:ln/>
        </p:spPr>
        <p:txBody>
          <a:bodyPr wrap="square" lIns="0" tIns="0" rIns="0" bIns="0" rtlCol="0" anchor="ctr"/>
          <a:lstStyle/>
          <a:p>
            <a:pPr indent="0" marL="0">
              <a:buNone/>
            </a:pPr>
            <a:r>
              <a:rPr lang="en-US" sz="1400" dirty="0">
                <a:solidFill>
                  <a:srgbClr val="4B5563"/>
                </a:solidFill>
                <a:latin typeface="Calibri" pitchFamily="34" charset="0"/>
                <a:ea typeface="Calibri" pitchFamily="34" charset="-122"/>
                <a:cs typeface="Calibri" pitchFamily="34" charset="-120"/>
              </a:rPr>
              <a:t>Memory graph</a:t>
            </a:r>
            <a:endParaRPr lang="en-US" sz="1400" dirty="0"/>
          </a:p>
        </p:txBody>
      </p:sp>
      <p:sp>
        <p:nvSpPr>
          <p:cNvPr id="12" name="Shape 10"/>
          <p:cNvSpPr/>
          <p:nvPr/>
        </p:nvSpPr>
        <p:spPr>
          <a:xfrm>
            <a:off x="548640" y="2834640"/>
            <a:ext cx="1920240" cy="530352"/>
          </a:xfrm>
          <a:prstGeom prst="roundRect">
            <a:avLst>
              <a:gd name="adj" fmla="val 17241"/>
            </a:avLst>
          </a:prstGeom>
          <a:solidFill>
            <a:srgbClr val="EEF2F7"/>
          </a:solidFill>
          <a:ln/>
        </p:spPr>
      </p:sp>
      <p:sp>
        <p:nvSpPr>
          <p:cNvPr id="13" name="Shape 11"/>
          <p:cNvSpPr/>
          <p:nvPr/>
        </p:nvSpPr>
        <p:spPr>
          <a:xfrm>
            <a:off x="685800" y="2944368"/>
            <a:ext cx="310896" cy="310896"/>
          </a:xfrm>
          <a:prstGeom prst="ellipse">
            <a:avLst/>
          </a:prstGeom>
          <a:solidFill>
            <a:srgbClr val="EEF2F7"/>
          </a:solidFill>
          <a:ln w="12700">
            <a:solidFill>
              <a:srgbClr val="6B7280"/>
            </a:solidFill>
            <a:prstDash val="solid"/>
          </a:ln>
        </p:spPr>
      </p:sp>
      <p:sp>
        <p:nvSpPr>
          <p:cNvPr id="14" name="Text 12"/>
          <p:cNvSpPr txBox="1"/>
          <p:nvPr/>
        </p:nvSpPr>
        <p:spPr>
          <a:xfrm>
            <a:off x="685800" y="2944368"/>
            <a:ext cx="310896" cy="310896"/>
          </a:xfrm>
          <a:prstGeom prst="rect">
            <a:avLst/>
          </a:prstGeom>
          <a:noFill/>
          <a:ln/>
        </p:spPr>
        <p:txBody>
          <a:bodyPr wrap="square" lIns="0" tIns="0" rIns="0" bIns="0" rtlCol="0" anchor="ctr"/>
          <a:lstStyle/>
          <a:p>
            <a:pPr algn="ctr" indent="0" marL="0">
              <a:buNone/>
            </a:pPr>
            <a:r>
              <a:rPr lang="en-US" sz="1300" b="1" dirty="0">
                <a:solidFill>
                  <a:srgbClr val="6B7280"/>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1115568" y="2834640"/>
            <a:ext cx="1325880" cy="530352"/>
          </a:xfrm>
          <a:prstGeom prst="rect">
            <a:avLst/>
          </a:prstGeom>
          <a:noFill/>
          <a:ln/>
        </p:spPr>
        <p:txBody>
          <a:bodyPr wrap="square" lIns="0" tIns="0" rIns="0" bIns="0" rtlCol="0" anchor="ctr"/>
          <a:lstStyle/>
          <a:p>
            <a:pPr indent="0" marL="0">
              <a:buNone/>
            </a:pPr>
            <a:r>
              <a:rPr lang="en-US" sz="1400" dirty="0">
                <a:solidFill>
                  <a:srgbClr val="4B5563"/>
                </a:solidFill>
                <a:latin typeface="Calibri" pitchFamily="34" charset="0"/>
                <a:ea typeface="Calibri" pitchFamily="34" charset="-122"/>
                <a:cs typeface="Calibri" pitchFamily="34" charset="-120"/>
              </a:rPr>
              <a:t>Merge tuning</a:t>
            </a:r>
            <a:endParaRPr lang="en-US" sz="1400" dirty="0"/>
          </a:p>
        </p:txBody>
      </p:sp>
      <p:sp>
        <p:nvSpPr>
          <p:cNvPr id="16" name="Shape 14"/>
          <p:cNvSpPr/>
          <p:nvPr/>
        </p:nvSpPr>
        <p:spPr>
          <a:xfrm>
            <a:off x="548640" y="3474720"/>
            <a:ext cx="1920240" cy="530352"/>
          </a:xfrm>
          <a:prstGeom prst="roundRect">
            <a:avLst>
              <a:gd name="adj" fmla="val 17241"/>
            </a:avLst>
          </a:prstGeom>
          <a:solidFill>
            <a:srgbClr val="16213A"/>
          </a:solidFill>
          <a:ln/>
        </p:spPr>
      </p:sp>
      <p:sp>
        <p:nvSpPr>
          <p:cNvPr id="17" name="Shape 15"/>
          <p:cNvSpPr/>
          <p:nvPr/>
        </p:nvSpPr>
        <p:spPr>
          <a:xfrm>
            <a:off x="685800" y="3584448"/>
            <a:ext cx="310896" cy="310896"/>
          </a:xfrm>
          <a:prstGeom prst="ellipse">
            <a:avLst/>
          </a:prstGeom>
          <a:solidFill>
            <a:srgbClr val="FFFFFF"/>
          </a:solidFill>
          <a:ln w="12700">
            <a:solidFill>
              <a:srgbClr val="FFFFFF"/>
            </a:solidFill>
            <a:prstDash val="solid"/>
          </a:ln>
        </p:spPr>
      </p:sp>
      <p:sp>
        <p:nvSpPr>
          <p:cNvPr id="18" name="Text 16"/>
          <p:cNvSpPr txBox="1"/>
          <p:nvPr/>
        </p:nvSpPr>
        <p:spPr>
          <a:xfrm>
            <a:off x="685800" y="3584448"/>
            <a:ext cx="310896" cy="310896"/>
          </a:xfrm>
          <a:prstGeom prst="rect">
            <a:avLst/>
          </a:prstGeom>
          <a:noFill/>
          <a:ln/>
        </p:spPr>
        <p:txBody>
          <a:bodyPr wrap="square" lIns="0" tIns="0" rIns="0" bIns="0" rtlCol="0" anchor="ctr"/>
          <a:lstStyle/>
          <a:p>
            <a:pPr algn="ctr" indent="0" marL="0">
              <a:buNone/>
            </a:pPr>
            <a:r>
              <a:rPr lang="en-US" sz="1300" b="1" dirty="0">
                <a:solidFill>
                  <a:srgbClr val="16213A"/>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1115568" y="3474720"/>
            <a:ext cx="1325880" cy="53035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Search</a:t>
            </a:r>
            <a:endParaRPr lang="en-US" sz="1400" dirty="0"/>
          </a:p>
        </p:txBody>
      </p:sp>
      <p:sp>
        <p:nvSpPr>
          <p:cNvPr id="20" name="Shape 18"/>
          <p:cNvSpPr/>
          <p:nvPr/>
        </p:nvSpPr>
        <p:spPr>
          <a:xfrm>
            <a:off x="548640" y="4434840"/>
            <a:ext cx="1920240" cy="1463040"/>
          </a:xfrm>
          <a:prstGeom prst="roundRect">
            <a:avLst>
              <a:gd name="adj" fmla="val 6250"/>
            </a:avLst>
          </a:prstGeom>
          <a:solidFill>
            <a:srgbClr val="EEF2F7"/>
          </a:solidFill>
          <a:ln/>
        </p:spPr>
      </p:sp>
      <p:sp>
        <p:nvSpPr>
          <p:cNvPr id="21" name="Text 19"/>
          <p:cNvSpPr txBox="1"/>
          <p:nvPr/>
        </p:nvSpPr>
        <p:spPr>
          <a:xfrm>
            <a:off x="713232" y="4572000"/>
            <a:ext cx="1645920" cy="201168"/>
          </a:xfrm>
          <a:prstGeom prst="rect">
            <a:avLst/>
          </a:prstGeom>
          <a:noFill/>
          <a:ln/>
        </p:spPr>
        <p:txBody>
          <a:bodyPr wrap="square" lIns="0" tIns="0" rIns="0" bIns="0" rtlCol="0" anchor="ctr"/>
          <a:lstStyle/>
          <a:p>
            <a:pPr indent="0" marL="0">
              <a:buNone/>
            </a:pPr>
            <a:r>
              <a:rPr lang="en-US" sz="1100" b="1" spc="150" kern="0" dirty="0">
                <a:solidFill>
                  <a:srgbClr val="C2410C"/>
                </a:solidFill>
                <a:latin typeface="Calibri" pitchFamily="34" charset="0"/>
                <a:ea typeface="Calibri" pitchFamily="34" charset="-122"/>
                <a:cs typeface="Calibri" pitchFamily="34" charset="-120"/>
              </a:rPr>
              <a:t>LIMIT</a:t>
            </a:r>
            <a:endParaRPr lang="en-US" sz="1100" dirty="0"/>
          </a:p>
        </p:txBody>
      </p:sp>
      <p:sp>
        <p:nvSpPr>
          <p:cNvPr id="22" name="Text 20"/>
          <p:cNvSpPr txBox="1"/>
          <p:nvPr/>
        </p:nvSpPr>
        <p:spPr>
          <a:xfrm>
            <a:off x="713232" y="4818888"/>
            <a:ext cx="1645920" cy="1005840"/>
          </a:xfrm>
          <a:prstGeom prst="rect">
            <a:avLst/>
          </a:prstGeom>
          <a:noFill/>
          <a:ln/>
        </p:spPr>
        <p:txBody>
          <a:bodyPr wrap="square" lIns="0" tIns="0" rIns="0" bIns="0" rtlCol="0" anchor="t"/>
          <a:lstStyle/>
          <a:p>
            <a:pPr indent="0" marL="0">
              <a:buNone/>
            </a:pPr>
            <a:r>
              <a:rPr lang="en-US" sz="1300" dirty="0">
                <a:solidFill>
                  <a:srgbClr val="16213A"/>
                </a:solidFill>
                <a:latin typeface="Calibri" pitchFamily="34" charset="0"/>
                <a:ea typeface="Calibri" pitchFamily="34" charset="-122"/>
                <a:cs typeface="Calibri" pitchFamily="34" charset="-120"/>
              </a:rPr>
              <a:t>Full query on the recorded drive not run yet: T6.8, weeks 7 to 8</a:t>
            </a:r>
            <a:endParaRPr lang="en-US" sz="1300" dirty="0"/>
          </a:p>
        </p:txBody>
      </p:sp>
      <p:sp>
        <p:nvSpPr>
          <p:cNvPr id="23" name="Shape 21"/>
          <p:cNvSpPr/>
          <p:nvPr/>
        </p:nvSpPr>
        <p:spPr>
          <a:xfrm>
            <a:off x="2697480" y="1874520"/>
            <a:ext cx="5486400" cy="1216152"/>
          </a:xfrm>
          <a:prstGeom prst="roundRect">
            <a:avLst>
              <a:gd name="adj" fmla="val 7519"/>
            </a:avLst>
          </a:prstGeom>
          <a:solidFill>
            <a:srgbClr val="EEF2F7"/>
          </a:solidFill>
          <a:ln/>
        </p:spPr>
      </p:sp>
      <p:sp>
        <p:nvSpPr>
          <p:cNvPr id="24" name="Shape 22"/>
          <p:cNvSpPr/>
          <p:nvPr/>
        </p:nvSpPr>
        <p:spPr>
          <a:xfrm>
            <a:off x="2862072" y="2029968"/>
            <a:ext cx="347472" cy="347472"/>
          </a:xfrm>
          <a:prstGeom prst="ellipse">
            <a:avLst/>
          </a:prstGeom>
          <a:solidFill>
            <a:srgbClr val="0068B5"/>
          </a:solidFill>
          <a:ln/>
        </p:spPr>
      </p:sp>
      <p:sp>
        <p:nvSpPr>
          <p:cNvPr id="25" name="Text 23"/>
          <p:cNvSpPr txBox="1"/>
          <p:nvPr/>
        </p:nvSpPr>
        <p:spPr>
          <a:xfrm>
            <a:off x="2862072" y="202996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6" name="Text 24"/>
          <p:cNvSpPr txBox="1"/>
          <p:nvPr/>
        </p:nvSpPr>
        <p:spPr>
          <a:xfrm>
            <a:off x="3337560" y="2011680"/>
            <a:ext cx="4663440" cy="384048"/>
          </a:xfrm>
          <a:prstGeom prst="rect">
            <a:avLst/>
          </a:prstGeom>
          <a:noFill/>
          <a:ln/>
        </p:spPr>
        <p:txBody>
          <a:bodyPr wrap="square" lIns="0" tIns="0" rIns="0" bIns="0" rtlCol="0" anchor="ctr"/>
          <a:lstStyle/>
          <a:p>
            <a:pPr indent="0" marL="0">
              <a:buNone/>
            </a:pPr>
            <a:r>
              <a:rPr lang="en-US" sz="1500" b="1" dirty="0">
                <a:solidFill>
                  <a:srgbClr val="16213A"/>
                </a:solidFill>
                <a:latin typeface="Calibri" pitchFamily="34" charset="0"/>
                <a:ea typeface="Calibri" pitchFamily="34" charset="-122"/>
                <a:cs typeface="Calibri" pitchFamily="34" charset="-120"/>
              </a:rPr>
              <a:t>Sentence to classes</a:t>
            </a:r>
            <a:endParaRPr lang="en-US" sz="1500" dirty="0"/>
          </a:p>
        </p:txBody>
      </p:sp>
      <p:sp>
        <p:nvSpPr>
          <p:cNvPr id="27" name="Shape 25"/>
          <p:cNvSpPr/>
          <p:nvPr/>
        </p:nvSpPr>
        <p:spPr>
          <a:xfrm>
            <a:off x="3337560" y="2496312"/>
            <a:ext cx="1554480" cy="347472"/>
          </a:xfrm>
          <a:prstGeom prst="roundRect">
            <a:avLst>
              <a:gd name="adj" fmla="val 50000"/>
            </a:avLst>
          </a:prstGeom>
          <a:solidFill>
            <a:srgbClr val="FFFFFF"/>
          </a:solidFill>
          <a:ln w="9525">
            <a:solidFill>
              <a:srgbClr val="C5CDD8"/>
            </a:solidFill>
            <a:prstDash val="solid"/>
          </a:ln>
        </p:spPr>
      </p:sp>
      <p:sp>
        <p:nvSpPr>
          <p:cNvPr id="28" name="Text 26"/>
          <p:cNvSpPr txBox="1"/>
          <p:nvPr/>
        </p:nvSpPr>
        <p:spPr>
          <a:xfrm>
            <a:off x="3337560" y="2496312"/>
            <a:ext cx="1554480" cy="347472"/>
          </a:xfrm>
          <a:prstGeom prst="rect">
            <a:avLst/>
          </a:prstGeom>
          <a:noFill/>
          <a:ln/>
        </p:spPr>
        <p:txBody>
          <a:bodyPr wrap="square" lIns="0" tIns="0" rIns="0" bIns="0" rtlCol="0" anchor="ctr"/>
          <a:lstStyle/>
          <a:p>
            <a:pPr algn="ctr" indent="0" marL="0">
              <a:buNone/>
            </a:pPr>
            <a:r>
              <a:rPr lang="en-US" sz="1300" i="1" dirty="0">
                <a:solidFill>
                  <a:srgbClr val="16213A"/>
                </a:solidFill>
                <a:latin typeface="Calibri" pitchFamily="34" charset="0"/>
                <a:ea typeface="Calibri" pitchFamily="34" charset="-122"/>
                <a:cs typeface="Calibri" pitchFamily="34" charset="-120"/>
              </a:rPr>
              <a:t>“Find the chair”</a:t>
            </a:r>
            <a:endParaRPr lang="en-US" sz="1300" dirty="0"/>
          </a:p>
        </p:txBody>
      </p:sp>
      <p:sp>
        <p:nvSpPr>
          <p:cNvPr id="29" name="Text 27"/>
          <p:cNvSpPr txBox="1"/>
          <p:nvPr/>
        </p:nvSpPr>
        <p:spPr>
          <a:xfrm>
            <a:off x="4937760" y="2441448"/>
            <a:ext cx="274320" cy="411480"/>
          </a:xfrm>
          <a:prstGeom prst="rect">
            <a:avLst/>
          </a:prstGeom>
          <a:noFill/>
          <a:ln/>
        </p:spPr>
        <p:txBody>
          <a:bodyPr wrap="square" lIns="0" tIns="0" rIns="0" bIns="0" rtlCol="0" anchor="ctr"/>
          <a:lstStyle/>
          <a:p>
            <a:pPr algn="ctr" indent="0" marL="0">
              <a:buNone/>
            </a:pPr>
            <a:r>
              <a:rPr lang="en-US" sz="2200" b="1" dirty="0">
                <a:solidFill>
                  <a:srgbClr val="6B7280"/>
                </a:solidFill>
                <a:latin typeface="Calibri" pitchFamily="34" charset="0"/>
                <a:ea typeface="Calibri" pitchFamily="34" charset="-122"/>
                <a:cs typeface="Calibri" pitchFamily="34" charset="-120"/>
              </a:rPr>
              <a:t>›</a:t>
            </a:r>
            <a:endParaRPr lang="en-US" sz="2200" dirty="0"/>
          </a:p>
        </p:txBody>
      </p:sp>
      <p:sp>
        <p:nvSpPr>
          <p:cNvPr id="30" name="Shape 28"/>
          <p:cNvSpPr/>
          <p:nvPr/>
        </p:nvSpPr>
        <p:spPr>
          <a:xfrm>
            <a:off x="5303520" y="2514600"/>
            <a:ext cx="777240" cy="310896"/>
          </a:xfrm>
          <a:prstGeom prst="roundRect">
            <a:avLst>
              <a:gd name="adj" fmla="val 50000"/>
            </a:avLst>
          </a:prstGeom>
          <a:solidFill>
            <a:srgbClr val="16213A"/>
          </a:solidFill>
          <a:ln/>
        </p:spPr>
      </p:sp>
      <p:sp>
        <p:nvSpPr>
          <p:cNvPr id="31" name="Text 29"/>
          <p:cNvSpPr txBox="1"/>
          <p:nvPr/>
        </p:nvSpPr>
        <p:spPr>
          <a:xfrm>
            <a:off x="5303520" y="2514600"/>
            <a:ext cx="7772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chair</a:t>
            </a:r>
            <a:endParaRPr lang="en-US" sz="1200" dirty="0"/>
          </a:p>
        </p:txBody>
      </p:sp>
      <p:sp>
        <p:nvSpPr>
          <p:cNvPr id="32" name="Shape 30"/>
          <p:cNvSpPr/>
          <p:nvPr/>
        </p:nvSpPr>
        <p:spPr>
          <a:xfrm>
            <a:off x="6172200" y="2514600"/>
            <a:ext cx="777240" cy="310896"/>
          </a:xfrm>
          <a:prstGeom prst="roundRect">
            <a:avLst>
              <a:gd name="adj" fmla="val 50000"/>
            </a:avLst>
          </a:prstGeom>
          <a:solidFill>
            <a:srgbClr val="FFFFFF"/>
          </a:solidFill>
          <a:ln w="9525">
            <a:solidFill>
              <a:srgbClr val="C5CDD8"/>
            </a:solidFill>
            <a:prstDash val="solid"/>
          </a:ln>
        </p:spPr>
      </p:sp>
      <p:sp>
        <p:nvSpPr>
          <p:cNvPr id="33" name="Text 31"/>
          <p:cNvSpPr txBox="1"/>
          <p:nvPr/>
        </p:nvSpPr>
        <p:spPr>
          <a:xfrm>
            <a:off x="6172200" y="2514600"/>
            <a:ext cx="777240" cy="310896"/>
          </a:xfrm>
          <a:prstGeom prst="rect">
            <a:avLst/>
          </a:prstGeom>
          <a:noFill/>
          <a:ln/>
        </p:spPr>
        <p:txBody>
          <a:bodyPr wrap="square" lIns="0" tIns="0" rIns="0" bIns="0" rtlCol="0" anchor="ctr"/>
          <a:lstStyle/>
          <a:p>
            <a:pPr algn="ctr" indent="0" marL="0">
              <a:buNone/>
            </a:pPr>
            <a:r>
              <a:rPr lang="en-US" sz="1200" dirty="0">
                <a:solidFill>
                  <a:srgbClr val="4B5563"/>
                </a:solidFill>
                <a:latin typeface="Calibri" pitchFamily="34" charset="0"/>
                <a:ea typeface="Calibri" pitchFamily="34" charset="-122"/>
                <a:cs typeface="Calibri" pitchFamily="34" charset="-120"/>
              </a:rPr>
              <a:t>table</a:t>
            </a:r>
            <a:endParaRPr lang="en-US" sz="1200" dirty="0"/>
          </a:p>
        </p:txBody>
      </p:sp>
      <p:sp>
        <p:nvSpPr>
          <p:cNvPr id="34" name="Shape 32"/>
          <p:cNvSpPr/>
          <p:nvPr/>
        </p:nvSpPr>
        <p:spPr>
          <a:xfrm>
            <a:off x="7040880" y="2514600"/>
            <a:ext cx="777240" cy="310896"/>
          </a:xfrm>
          <a:prstGeom prst="roundRect">
            <a:avLst>
              <a:gd name="adj" fmla="val 50000"/>
            </a:avLst>
          </a:prstGeom>
          <a:solidFill>
            <a:srgbClr val="FFFFFF"/>
          </a:solidFill>
          <a:ln w="9525">
            <a:solidFill>
              <a:srgbClr val="C5CDD8"/>
            </a:solidFill>
            <a:prstDash val="solid"/>
          </a:ln>
        </p:spPr>
      </p:sp>
      <p:sp>
        <p:nvSpPr>
          <p:cNvPr id="35" name="Text 33"/>
          <p:cNvSpPr txBox="1"/>
          <p:nvPr/>
        </p:nvSpPr>
        <p:spPr>
          <a:xfrm>
            <a:off x="7040880" y="2514600"/>
            <a:ext cx="777240" cy="310896"/>
          </a:xfrm>
          <a:prstGeom prst="rect">
            <a:avLst/>
          </a:prstGeom>
          <a:noFill/>
          <a:ln/>
        </p:spPr>
        <p:txBody>
          <a:bodyPr wrap="square" lIns="0" tIns="0" rIns="0" bIns="0" rtlCol="0" anchor="ctr"/>
          <a:lstStyle/>
          <a:p>
            <a:pPr algn="ctr" indent="0" marL="0">
              <a:buNone/>
            </a:pPr>
            <a:r>
              <a:rPr lang="en-US" sz="1200" dirty="0">
                <a:solidFill>
                  <a:srgbClr val="4B5563"/>
                </a:solidFill>
                <a:latin typeface="Calibri" pitchFamily="34" charset="0"/>
                <a:ea typeface="Calibri" pitchFamily="34" charset="-122"/>
                <a:cs typeface="Calibri" pitchFamily="34" charset="-120"/>
              </a:rPr>
              <a:t>desk</a:t>
            </a:r>
            <a:endParaRPr lang="en-US" sz="1200" dirty="0"/>
          </a:p>
        </p:txBody>
      </p:sp>
      <p:sp>
        <p:nvSpPr>
          <p:cNvPr id="36" name="Shape 34"/>
          <p:cNvSpPr/>
          <p:nvPr/>
        </p:nvSpPr>
        <p:spPr>
          <a:xfrm>
            <a:off x="2697480" y="3273552"/>
            <a:ext cx="5486400" cy="1216152"/>
          </a:xfrm>
          <a:prstGeom prst="roundRect">
            <a:avLst>
              <a:gd name="adj" fmla="val 7519"/>
            </a:avLst>
          </a:prstGeom>
          <a:solidFill>
            <a:srgbClr val="EEF2F7"/>
          </a:solidFill>
          <a:ln/>
        </p:spPr>
      </p:sp>
      <p:sp>
        <p:nvSpPr>
          <p:cNvPr id="37" name="Shape 35"/>
          <p:cNvSpPr/>
          <p:nvPr/>
        </p:nvSpPr>
        <p:spPr>
          <a:xfrm>
            <a:off x="2862072" y="3429000"/>
            <a:ext cx="347472" cy="347472"/>
          </a:xfrm>
          <a:prstGeom prst="ellipse">
            <a:avLst/>
          </a:prstGeom>
          <a:solidFill>
            <a:srgbClr val="0068B5"/>
          </a:solidFill>
          <a:ln/>
        </p:spPr>
      </p:sp>
      <p:sp>
        <p:nvSpPr>
          <p:cNvPr id="38" name="Text 36"/>
          <p:cNvSpPr txBox="1"/>
          <p:nvPr/>
        </p:nvSpPr>
        <p:spPr>
          <a:xfrm>
            <a:off x="2862072" y="34290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39" name="Text 37"/>
          <p:cNvSpPr txBox="1"/>
          <p:nvPr/>
        </p:nvSpPr>
        <p:spPr>
          <a:xfrm>
            <a:off x="3337560" y="3410712"/>
            <a:ext cx="4663440" cy="384048"/>
          </a:xfrm>
          <a:prstGeom prst="rect">
            <a:avLst/>
          </a:prstGeom>
          <a:noFill/>
          <a:ln/>
        </p:spPr>
        <p:txBody>
          <a:bodyPr wrap="square" lIns="0" tIns="0" rIns="0" bIns="0" rtlCol="0" anchor="ctr"/>
          <a:lstStyle/>
          <a:p>
            <a:pPr indent="0" marL="0">
              <a:buNone/>
            </a:pPr>
            <a:r>
              <a:rPr lang="en-US" sz="1500" b="1" dirty="0">
                <a:solidFill>
                  <a:srgbClr val="16213A"/>
                </a:solidFill>
                <a:latin typeface="Calibri" pitchFamily="34" charset="0"/>
                <a:ea typeface="Calibri" pitchFamily="34" charset="-122"/>
                <a:cs typeface="Calibri" pitchFamily="34" charset="-120"/>
              </a:rPr>
              <a:t>Score each object</a:t>
            </a:r>
            <a:endParaRPr lang="en-US" sz="1500" dirty="0"/>
          </a:p>
        </p:txBody>
      </p:sp>
      <p:sp>
        <p:nvSpPr>
          <p:cNvPr id="40" name="Text 38"/>
          <p:cNvSpPr txBox="1"/>
          <p:nvPr/>
        </p:nvSpPr>
        <p:spPr>
          <a:xfrm>
            <a:off x="3337560" y="3822192"/>
            <a:ext cx="4663440" cy="502920"/>
          </a:xfrm>
          <a:prstGeom prst="rect">
            <a:avLst/>
          </a:prstGeom>
          <a:noFill/>
          <a:ln/>
        </p:spPr>
        <p:txBody>
          <a:bodyPr wrap="square" lIns="0" tIns="0" rIns="0" bIns="0" rtlCol="0" anchor="t"/>
          <a:lstStyle/>
          <a:p>
            <a:pPr indent="0" marL="0">
              <a:buNone/>
            </a:pPr>
            <a:r>
              <a:rPr lang="en-US" sz="1300" dirty="0">
                <a:solidFill>
                  <a:srgbClr val="4B5563"/>
                </a:solidFill>
                <a:latin typeface="Calibri" pitchFamily="34" charset="0"/>
                <a:ea typeface="Calibri" pitchFamily="34" charset="-122"/>
                <a:cs typeface="Calibri" pitchFamily="34" charset="-120"/>
              </a:rPr>
              <a:t>Its CLIP image feature against the sentence's CLIP text vector</a:t>
            </a:r>
            <a:endParaRPr lang="en-US" sz="1300" dirty="0"/>
          </a:p>
        </p:txBody>
      </p:sp>
      <p:sp>
        <p:nvSpPr>
          <p:cNvPr id="41" name="Shape 39"/>
          <p:cNvSpPr/>
          <p:nvPr/>
        </p:nvSpPr>
        <p:spPr>
          <a:xfrm>
            <a:off x="2697480" y="4672584"/>
            <a:ext cx="5486400" cy="1216152"/>
          </a:xfrm>
          <a:prstGeom prst="roundRect">
            <a:avLst>
              <a:gd name="adj" fmla="val 7519"/>
            </a:avLst>
          </a:prstGeom>
          <a:solidFill>
            <a:srgbClr val="EEF2F7"/>
          </a:solidFill>
          <a:ln/>
        </p:spPr>
      </p:sp>
      <p:sp>
        <p:nvSpPr>
          <p:cNvPr id="42" name="Shape 40"/>
          <p:cNvSpPr/>
          <p:nvPr/>
        </p:nvSpPr>
        <p:spPr>
          <a:xfrm>
            <a:off x="2862072" y="4828032"/>
            <a:ext cx="347472" cy="347472"/>
          </a:xfrm>
          <a:prstGeom prst="ellipse">
            <a:avLst/>
          </a:prstGeom>
          <a:solidFill>
            <a:srgbClr val="0068B5"/>
          </a:solidFill>
          <a:ln/>
        </p:spPr>
      </p:sp>
      <p:sp>
        <p:nvSpPr>
          <p:cNvPr id="43" name="Text 41"/>
          <p:cNvSpPr txBox="1"/>
          <p:nvPr/>
        </p:nvSpPr>
        <p:spPr>
          <a:xfrm>
            <a:off x="2862072" y="482803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44" name="Text 42"/>
          <p:cNvSpPr txBox="1"/>
          <p:nvPr/>
        </p:nvSpPr>
        <p:spPr>
          <a:xfrm>
            <a:off x="3337560" y="4809744"/>
            <a:ext cx="4663440" cy="384048"/>
          </a:xfrm>
          <a:prstGeom prst="rect">
            <a:avLst/>
          </a:prstGeom>
          <a:noFill/>
          <a:ln/>
        </p:spPr>
        <p:txBody>
          <a:bodyPr wrap="square" lIns="0" tIns="0" rIns="0" bIns="0" rtlCol="0" anchor="ctr"/>
          <a:lstStyle/>
          <a:p>
            <a:pPr indent="0" marL="0">
              <a:buNone/>
            </a:pPr>
            <a:r>
              <a:rPr lang="en-US" sz="1500" b="1" dirty="0">
                <a:solidFill>
                  <a:srgbClr val="16213A"/>
                </a:solidFill>
                <a:latin typeface="Calibri" pitchFamily="34" charset="0"/>
                <a:ea typeface="Calibri" pitchFamily="34" charset="-122"/>
                <a:cs typeface="Calibri" pitchFamily="34" charset="-120"/>
              </a:rPr>
              <a:t>Rank the hits</a:t>
            </a:r>
            <a:endParaRPr lang="en-US" sz="1500" dirty="0"/>
          </a:p>
        </p:txBody>
      </p:sp>
      <p:sp>
        <p:nvSpPr>
          <p:cNvPr id="45" name="Text 43"/>
          <p:cNvSpPr txBox="1"/>
          <p:nvPr/>
        </p:nvSpPr>
        <p:spPr>
          <a:xfrm>
            <a:off x="3337560" y="5221224"/>
            <a:ext cx="4663440" cy="548640"/>
          </a:xfrm>
          <a:prstGeom prst="rect">
            <a:avLst/>
          </a:prstGeom>
          <a:noFill/>
          <a:ln/>
        </p:spPr>
        <p:txBody>
          <a:bodyPr wrap="square" lIns="0" tIns="0" rIns="0" bIns="0" rtlCol="0" anchor="t"/>
          <a:lstStyle/>
          <a:p>
            <a:pPr indent="0" marL="0">
              <a:buNone/>
            </a:pPr>
            <a:r>
              <a:rPr lang="en-US" sz="1300" dirty="0">
                <a:solidFill>
                  <a:srgbClr val="4B5563"/>
                </a:solidFill>
                <a:latin typeface="Calibri" pitchFamily="34" charset="0"/>
                <a:ea typeface="Calibri" pitchFamily="34" charset="-122"/>
                <a:cs typeface="Calibri" pitchFamily="34" charset="-120"/>
              </a:rPr>
              <a:t>Target classes first, then related, each by score. Each hit has a 3D centre and its best photo. A wrong hit can be rejected.</a:t>
            </a:r>
            <a:endParaRPr lang="en-US" sz="1300" dirty="0"/>
          </a:p>
        </p:txBody>
      </p:sp>
      <p:sp>
        <p:nvSpPr>
          <p:cNvPr id="46" name="Shape 44"/>
          <p:cNvSpPr/>
          <p:nvPr/>
        </p:nvSpPr>
        <p:spPr>
          <a:xfrm>
            <a:off x="8412480" y="1874520"/>
            <a:ext cx="3227832" cy="1737360"/>
          </a:xfrm>
          <a:prstGeom prst="roundRect">
            <a:avLst>
              <a:gd name="adj" fmla="val 5263"/>
            </a:avLst>
          </a:prstGeom>
          <a:solidFill>
            <a:srgbClr val="16213A"/>
          </a:solidFill>
          <a:ln/>
        </p:spPr>
      </p:sp>
      <p:sp>
        <p:nvSpPr>
          <p:cNvPr id="47" name="Text 45"/>
          <p:cNvSpPr txBox="1"/>
          <p:nvPr/>
        </p:nvSpPr>
        <p:spPr>
          <a:xfrm>
            <a:off x="8641080" y="2057400"/>
            <a:ext cx="2862072" cy="228600"/>
          </a:xfrm>
          <a:prstGeom prst="rect">
            <a:avLst/>
          </a:prstGeom>
          <a:noFill/>
          <a:ln/>
        </p:spPr>
        <p:txBody>
          <a:bodyPr wrap="square" lIns="0" tIns="0" rIns="0" bIns="0" rtlCol="0" anchor="ctr"/>
          <a:lstStyle/>
          <a:p>
            <a:pPr indent="0" marL="0">
              <a:buNone/>
            </a:pPr>
            <a:r>
              <a:rPr lang="en-US" sz="1100" b="1" spc="150" kern="0" dirty="0">
                <a:solidFill>
                  <a:srgbClr val="7DD3FC"/>
                </a:solidFill>
                <a:latin typeface="Calibri" pitchFamily="34" charset="0"/>
                <a:ea typeface="Calibri" pitchFamily="34" charset="-122"/>
                <a:cs typeface="Calibri" pitchFamily="34" charset="-120"/>
              </a:rPr>
              <a:t>SENTENCE TO CLASSES</a:t>
            </a:r>
            <a:endParaRPr lang="en-US" sz="1100" dirty="0"/>
          </a:p>
        </p:txBody>
      </p:sp>
      <p:sp>
        <p:nvSpPr>
          <p:cNvPr id="48" name="Text 46"/>
          <p:cNvSpPr txBox="1"/>
          <p:nvPr/>
        </p:nvSpPr>
        <p:spPr>
          <a:xfrm>
            <a:off x="8641080" y="2286000"/>
            <a:ext cx="2862072" cy="777240"/>
          </a:xfrm>
          <a:prstGeom prst="rect">
            <a:avLst/>
          </a:prstGeom>
          <a:noFill/>
          <a:ln/>
        </p:spPr>
        <p:txBody>
          <a:bodyPr wrap="square" lIns="0" tIns="0" rIns="0" bIns="0" rtlCol="0" anchor="b"/>
          <a:lstStyle/>
          <a:p>
            <a:pPr indent="0" marL="0">
              <a:buNone/>
            </a:pPr>
            <a:r>
              <a:rPr lang="en-US" sz="5000" b="1" dirty="0">
                <a:solidFill>
                  <a:srgbClr val="FFFFFF"/>
                </a:solidFill>
                <a:latin typeface="Calibri" pitchFamily="34" charset="0"/>
                <a:ea typeface="Calibri" pitchFamily="34" charset="-122"/>
                <a:cs typeface="Calibri" pitchFamily="34" charset="-120"/>
              </a:rPr>
              <a:t>20</a:t>
            </a:r>
            <a:pPr indent="0" marL="0">
              <a:buNone/>
            </a:pPr>
            <a:r>
              <a:rPr lang="en-US" sz="2200" b="1" dirty="0">
                <a:solidFill>
                  <a:srgbClr val="FF7A3A"/>
                </a:solidFill>
                <a:latin typeface="Calibri" pitchFamily="34" charset="0"/>
                <a:ea typeface="Calibri" pitchFamily="34" charset="-122"/>
                <a:cs typeface="Calibri" pitchFamily="34" charset="-120"/>
              </a:rPr>
              <a:t> of 22</a:t>
            </a:r>
            <a:endParaRPr lang="en-US" sz="5000" dirty="0"/>
          </a:p>
        </p:txBody>
      </p:sp>
      <p:sp>
        <p:nvSpPr>
          <p:cNvPr id="49" name="Text 47"/>
          <p:cNvSpPr txBox="1"/>
          <p:nvPr/>
        </p:nvSpPr>
        <p:spPr>
          <a:xfrm>
            <a:off x="8641080" y="3108960"/>
            <a:ext cx="2862072" cy="411480"/>
          </a:xfrm>
          <a:prstGeom prst="rect">
            <a:avLst/>
          </a:prstGeom>
          <a:noFill/>
          <a:ln/>
        </p:spPr>
        <p:txBody>
          <a:bodyPr wrap="square" lIns="0" tIns="0" rIns="0" bIns="0" rtlCol="0" anchor="t"/>
          <a:lstStyle/>
          <a:p>
            <a:pPr indent="0" marL="0">
              <a:buNone/>
            </a:pPr>
            <a:r>
              <a:rPr lang="en-US" sz="1300" dirty="0">
                <a:solidFill>
                  <a:srgbClr val="CBD5E1"/>
                </a:solidFill>
                <a:latin typeface="Calibri" pitchFamily="34" charset="0"/>
                <a:ea typeface="Calibri" pitchFamily="34" charset="-122"/>
                <a:cs typeface="Calibri" pitchFamily="34" charset="-120"/>
              </a:rPr>
              <a:t>test instructions, checked by hand</a:t>
            </a:r>
            <a:endParaRPr lang="en-US" sz="1300" dirty="0"/>
          </a:p>
        </p:txBody>
      </p:sp>
      <p:sp>
        <p:nvSpPr>
          <p:cNvPr id="50" name="Shape 48"/>
          <p:cNvSpPr/>
          <p:nvPr/>
        </p:nvSpPr>
        <p:spPr>
          <a:xfrm>
            <a:off x="8412480" y="3794760"/>
            <a:ext cx="3227832" cy="2103120"/>
          </a:xfrm>
          <a:prstGeom prst="roundRect">
            <a:avLst>
              <a:gd name="adj" fmla="val 4348"/>
            </a:avLst>
          </a:prstGeom>
          <a:solidFill>
            <a:srgbClr val="EEF2F7"/>
          </a:solidFill>
          <a:ln/>
        </p:spPr>
      </p:sp>
      <p:sp>
        <p:nvSpPr>
          <p:cNvPr id="51" name="Text 49"/>
          <p:cNvSpPr txBox="1"/>
          <p:nvPr/>
        </p:nvSpPr>
        <p:spPr>
          <a:xfrm>
            <a:off x="8577072" y="3931920"/>
            <a:ext cx="2953512" cy="228600"/>
          </a:xfrm>
          <a:prstGeom prst="rect">
            <a:avLst/>
          </a:prstGeom>
          <a:noFill/>
          <a:ln/>
        </p:spPr>
        <p:txBody>
          <a:bodyPr wrap="square" lIns="0" tIns="0" rIns="0" bIns="0" rtlCol="0" anchor="ctr"/>
          <a:lstStyle/>
          <a:p>
            <a:pPr indent="0" marL="0">
              <a:buNone/>
            </a:pPr>
            <a:r>
              <a:rPr lang="en-US" sz="1100" b="1" spc="150" kern="0" dirty="0">
                <a:solidFill>
                  <a:srgbClr val="6B7280"/>
                </a:solidFill>
                <a:latin typeface="Calibri" pitchFamily="34" charset="0"/>
                <a:ea typeface="Calibri" pitchFamily="34" charset="-122"/>
                <a:cs typeface="Calibri" pitchFamily="34" charset="-120"/>
              </a:rPr>
              <a:t>BY LANGUAGE MODEL</a:t>
            </a:r>
            <a:endParaRPr lang="en-US" sz="1100" dirty="0"/>
          </a:p>
        </p:txBody>
      </p:sp>
      <p:sp>
        <p:nvSpPr>
          <p:cNvPr id="52" name="Text 50"/>
          <p:cNvSpPr txBox="1"/>
          <p:nvPr/>
        </p:nvSpPr>
        <p:spPr>
          <a:xfrm>
            <a:off x="8577072" y="4297680"/>
            <a:ext cx="1417320" cy="274320"/>
          </a:xfrm>
          <a:prstGeom prst="rect">
            <a:avLst/>
          </a:prstGeom>
          <a:noFill/>
          <a:ln/>
        </p:spPr>
        <p:txBody>
          <a:bodyPr wrap="square" lIns="0" tIns="0" rIns="0" bIns="0" rtlCol="0" anchor="ctr"/>
          <a:lstStyle/>
          <a:p>
            <a:pPr indent="0" marL="0">
              <a:buNone/>
            </a:pPr>
            <a:r>
              <a:rPr lang="en-US" sz="1100" dirty="0">
                <a:solidFill>
                  <a:srgbClr val="4B5563"/>
                </a:solidFill>
                <a:latin typeface="Calibri" pitchFamily="34" charset="0"/>
                <a:ea typeface="Calibri" pitchFamily="34" charset="-122"/>
                <a:cs typeface="Calibri" pitchFamily="34" charset="-120"/>
              </a:rPr>
              <a:t>Qwen2.5 1.5B (used)</a:t>
            </a:r>
            <a:endParaRPr lang="en-US" sz="1100" dirty="0"/>
          </a:p>
        </p:txBody>
      </p:sp>
      <p:sp>
        <p:nvSpPr>
          <p:cNvPr id="53" name="Shape 51"/>
          <p:cNvSpPr/>
          <p:nvPr/>
        </p:nvSpPr>
        <p:spPr>
          <a:xfrm>
            <a:off x="10012680" y="4370832"/>
            <a:ext cx="997527" cy="137160"/>
          </a:xfrm>
          <a:prstGeom prst="rect">
            <a:avLst/>
          </a:prstGeom>
          <a:solidFill>
            <a:srgbClr val="0068B5"/>
          </a:solidFill>
          <a:ln/>
        </p:spPr>
      </p:sp>
      <p:sp>
        <p:nvSpPr>
          <p:cNvPr id="54" name="Text 52"/>
          <p:cNvSpPr txBox="1"/>
          <p:nvPr/>
        </p:nvSpPr>
        <p:spPr>
          <a:xfrm>
            <a:off x="11055927" y="4297680"/>
            <a:ext cx="548640" cy="274320"/>
          </a:xfrm>
          <a:prstGeom prst="rect">
            <a:avLst/>
          </a:prstGeom>
          <a:noFill/>
          <a:ln/>
        </p:spPr>
        <p:txBody>
          <a:bodyPr wrap="square" lIns="0" tIns="0" rIns="0" bIns="0" rtlCol="0" anchor="ctr"/>
          <a:lstStyle/>
          <a:p>
            <a:pPr indent="0" marL="0">
              <a:buNone/>
            </a:pPr>
            <a:r>
              <a:rPr lang="en-US" sz="1100" b="1" dirty="0">
                <a:solidFill>
                  <a:srgbClr val="16213A"/>
                </a:solidFill>
                <a:latin typeface="Calibri" pitchFamily="34" charset="0"/>
                <a:ea typeface="Calibri" pitchFamily="34" charset="-122"/>
                <a:cs typeface="Calibri" pitchFamily="34" charset="-120"/>
              </a:rPr>
              <a:t>20/22</a:t>
            </a:r>
            <a:endParaRPr lang="en-US" sz="1100" dirty="0"/>
          </a:p>
        </p:txBody>
      </p:sp>
      <p:sp>
        <p:nvSpPr>
          <p:cNvPr id="55" name="Text 53"/>
          <p:cNvSpPr txBox="1"/>
          <p:nvPr/>
        </p:nvSpPr>
        <p:spPr>
          <a:xfrm>
            <a:off x="8577072" y="4736592"/>
            <a:ext cx="1417320" cy="274320"/>
          </a:xfrm>
          <a:prstGeom prst="rect">
            <a:avLst/>
          </a:prstGeom>
          <a:noFill/>
          <a:ln/>
        </p:spPr>
        <p:txBody>
          <a:bodyPr wrap="square" lIns="0" tIns="0" rIns="0" bIns="0" rtlCol="0" anchor="ctr"/>
          <a:lstStyle/>
          <a:p>
            <a:pPr indent="0" marL="0">
              <a:buNone/>
            </a:pPr>
            <a:r>
              <a:rPr lang="en-US" sz="1100" dirty="0">
                <a:solidFill>
                  <a:srgbClr val="4B5563"/>
                </a:solidFill>
                <a:latin typeface="Calibri" pitchFamily="34" charset="0"/>
                <a:ea typeface="Calibri" pitchFamily="34" charset="-122"/>
                <a:cs typeface="Calibri" pitchFamily="34" charset="-120"/>
              </a:rPr>
              <a:t>No model, fallback</a:t>
            </a:r>
            <a:endParaRPr lang="en-US" sz="1100" dirty="0"/>
          </a:p>
        </p:txBody>
      </p:sp>
      <p:sp>
        <p:nvSpPr>
          <p:cNvPr id="56" name="Shape 54"/>
          <p:cNvSpPr/>
          <p:nvPr/>
        </p:nvSpPr>
        <p:spPr>
          <a:xfrm>
            <a:off x="10012680" y="4809744"/>
            <a:ext cx="748145" cy="137160"/>
          </a:xfrm>
          <a:prstGeom prst="rect">
            <a:avLst/>
          </a:prstGeom>
          <a:solidFill>
            <a:srgbClr val="C5CDD8"/>
          </a:solidFill>
          <a:ln/>
        </p:spPr>
      </p:sp>
      <p:sp>
        <p:nvSpPr>
          <p:cNvPr id="57" name="Text 55"/>
          <p:cNvSpPr txBox="1"/>
          <p:nvPr/>
        </p:nvSpPr>
        <p:spPr>
          <a:xfrm>
            <a:off x="10806545" y="4736592"/>
            <a:ext cx="548640" cy="274320"/>
          </a:xfrm>
          <a:prstGeom prst="rect">
            <a:avLst/>
          </a:prstGeom>
          <a:noFill/>
          <a:ln/>
        </p:spPr>
        <p:txBody>
          <a:bodyPr wrap="square" lIns="0" tIns="0" rIns="0" bIns="0" rtlCol="0" anchor="ctr"/>
          <a:lstStyle/>
          <a:p>
            <a:pPr indent="0" marL="0">
              <a:buNone/>
            </a:pPr>
            <a:r>
              <a:rPr lang="en-US" sz="1100" b="1" dirty="0">
                <a:solidFill>
                  <a:srgbClr val="16213A"/>
                </a:solidFill>
                <a:latin typeface="Calibri" pitchFamily="34" charset="0"/>
                <a:ea typeface="Calibri" pitchFamily="34" charset="-122"/>
                <a:cs typeface="Calibri" pitchFamily="34" charset="-120"/>
              </a:rPr>
              <a:t>15/22</a:t>
            </a:r>
            <a:endParaRPr lang="en-US" sz="1100" dirty="0"/>
          </a:p>
        </p:txBody>
      </p:sp>
      <p:sp>
        <p:nvSpPr>
          <p:cNvPr id="58" name="Text 56"/>
          <p:cNvSpPr txBox="1"/>
          <p:nvPr/>
        </p:nvSpPr>
        <p:spPr>
          <a:xfrm>
            <a:off x="8577072" y="5175504"/>
            <a:ext cx="1417320" cy="274320"/>
          </a:xfrm>
          <a:prstGeom prst="rect">
            <a:avLst/>
          </a:prstGeom>
          <a:noFill/>
          <a:ln/>
        </p:spPr>
        <p:txBody>
          <a:bodyPr wrap="square" lIns="0" tIns="0" rIns="0" bIns="0" rtlCol="0" anchor="ctr"/>
          <a:lstStyle/>
          <a:p>
            <a:pPr indent="0" marL="0">
              <a:buNone/>
            </a:pPr>
            <a:r>
              <a:rPr lang="en-US" sz="1100" dirty="0">
                <a:solidFill>
                  <a:srgbClr val="4B5563"/>
                </a:solidFill>
                <a:latin typeface="Calibri" pitchFamily="34" charset="0"/>
                <a:ea typeface="Calibri" pitchFamily="34" charset="-122"/>
                <a:cs typeface="Calibri" pitchFamily="34" charset="-120"/>
              </a:rPr>
              <a:t>Qwen2.5 0.5B</a:t>
            </a:r>
            <a:endParaRPr lang="en-US" sz="1100" dirty="0"/>
          </a:p>
        </p:txBody>
      </p:sp>
      <p:sp>
        <p:nvSpPr>
          <p:cNvPr id="59" name="Shape 57"/>
          <p:cNvSpPr/>
          <p:nvPr/>
        </p:nvSpPr>
        <p:spPr>
          <a:xfrm>
            <a:off x="10012680" y="5248656"/>
            <a:ext cx="598516" cy="137160"/>
          </a:xfrm>
          <a:prstGeom prst="rect">
            <a:avLst/>
          </a:prstGeom>
          <a:solidFill>
            <a:srgbClr val="C5CDD8"/>
          </a:solidFill>
          <a:ln/>
        </p:spPr>
      </p:sp>
      <p:sp>
        <p:nvSpPr>
          <p:cNvPr id="60" name="Text 58"/>
          <p:cNvSpPr txBox="1"/>
          <p:nvPr/>
        </p:nvSpPr>
        <p:spPr>
          <a:xfrm>
            <a:off x="10656916" y="5175504"/>
            <a:ext cx="548640" cy="274320"/>
          </a:xfrm>
          <a:prstGeom prst="rect">
            <a:avLst/>
          </a:prstGeom>
          <a:noFill/>
          <a:ln/>
        </p:spPr>
        <p:txBody>
          <a:bodyPr wrap="square" lIns="0" tIns="0" rIns="0" bIns="0" rtlCol="0" anchor="ctr"/>
          <a:lstStyle/>
          <a:p>
            <a:pPr indent="0" marL="0">
              <a:buNone/>
            </a:pPr>
            <a:r>
              <a:rPr lang="en-US" sz="1100" b="1" dirty="0">
                <a:solidFill>
                  <a:srgbClr val="16213A"/>
                </a:solidFill>
                <a:latin typeface="Calibri" pitchFamily="34" charset="0"/>
                <a:ea typeface="Calibri" pitchFamily="34" charset="-122"/>
                <a:cs typeface="Calibri" pitchFamily="34" charset="-120"/>
              </a:rPr>
              <a:t>12/22</a:t>
            </a:r>
            <a:endParaRPr lang="en-US" sz="1100" dirty="0"/>
          </a:p>
        </p:txBody>
      </p:sp>
      <p:sp>
        <p:nvSpPr>
          <p:cNvPr id="61" name="Text 59"/>
          <p:cNvSpPr txBox="1"/>
          <p:nvPr/>
        </p:nvSpPr>
        <p:spPr>
          <a:xfrm>
            <a:off x="8577072" y="5577840"/>
            <a:ext cx="2953512" cy="228600"/>
          </a:xfrm>
          <a:prstGeom prst="rect">
            <a:avLst/>
          </a:prstGeom>
          <a:noFill/>
          <a:ln/>
        </p:spPr>
        <p:txBody>
          <a:bodyPr wrap="square" lIns="0" tIns="0" rIns="0" bIns="0" rtlCol="0" anchor="ctr"/>
          <a:lstStyle/>
          <a:p>
            <a:pPr indent="0" marL="0">
              <a:buNone/>
            </a:pPr>
            <a:r>
              <a:rPr lang="en-US" sz="1100" dirty="0">
                <a:solidFill>
                  <a:srgbClr val="4B5563"/>
                </a:solidFill>
                <a:latin typeface="Calibri" pitchFamily="34" charset="0"/>
                <a:ea typeface="Calibri" pitchFamily="34" charset="-122"/>
                <a:cs typeface="Calibri" pitchFamily="34" charset="-120"/>
              </a:rPr>
              <a:t>0.28 to 0.32 s per reply, on the lab machine</a:t>
            </a:r>
            <a:endParaRPr lang="en-US" sz="1100" dirty="0"/>
          </a:p>
        </p:txBody>
      </p:sp>
      <p:sp>
        <p:nvSpPr>
          <p:cNvPr id="62" name="Shape 60"/>
          <p:cNvSpPr/>
          <p:nvPr/>
        </p:nvSpPr>
        <p:spPr>
          <a:xfrm>
            <a:off x="594360" y="6400800"/>
            <a:ext cx="1295019" cy="13716"/>
          </a:xfrm>
          <a:prstGeom prst="rect">
            <a:avLst/>
          </a:prstGeom>
          <a:solidFill>
            <a:srgbClr val="D7DEE8"/>
          </a:solidFill>
          <a:ln/>
        </p:spPr>
      </p:sp>
      <p:sp>
        <p:nvSpPr>
          <p:cNvPr id="63" name="Text 61"/>
          <p:cNvSpPr txBox="1"/>
          <p:nvPr/>
        </p:nvSpPr>
        <p:spPr>
          <a:xfrm>
            <a:off x="548640"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Problem</a:t>
            </a:r>
            <a:endParaRPr lang="en-US" sz="1100" dirty="0"/>
          </a:p>
        </p:txBody>
      </p:sp>
      <p:sp>
        <p:nvSpPr>
          <p:cNvPr id="64" name="Shape 62"/>
          <p:cNvSpPr/>
          <p:nvPr/>
        </p:nvSpPr>
        <p:spPr>
          <a:xfrm>
            <a:off x="1980819" y="6400800"/>
            <a:ext cx="1295019" cy="13716"/>
          </a:xfrm>
          <a:prstGeom prst="rect">
            <a:avLst/>
          </a:prstGeom>
          <a:solidFill>
            <a:srgbClr val="D7DEE8"/>
          </a:solidFill>
          <a:ln/>
        </p:spPr>
      </p:sp>
      <p:sp>
        <p:nvSpPr>
          <p:cNvPr id="65" name="Text 63"/>
          <p:cNvSpPr txBox="1"/>
          <p:nvPr/>
        </p:nvSpPr>
        <p:spPr>
          <a:xfrm>
            <a:off x="1935099"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System</a:t>
            </a:r>
            <a:endParaRPr lang="en-US" sz="1100" dirty="0"/>
          </a:p>
        </p:txBody>
      </p:sp>
      <p:sp>
        <p:nvSpPr>
          <p:cNvPr id="66" name="Shape 64"/>
          <p:cNvSpPr/>
          <p:nvPr/>
        </p:nvSpPr>
        <p:spPr>
          <a:xfrm>
            <a:off x="3367278" y="6400800"/>
            <a:ext cx="1295019" cy="13716"/>
          </a:xfrm>
          <a:prstGeom prst="rect">
            <a:avLst/>
          </a:prstGeom>
          <a:solidFill>
            <a:srgbClr val="D7DEE8"/>
          </a:solidFill>
          <a:ln/>
        </p:spPr>
      </p:sp>
      <p:sp>
        <p:nvSpPr>
          <p:cNvPr id="67" name="Text 65"/>
          <p:cNvSpPr txBox="1"/>
          <p:nvPr/>
        </p:nvSpPr>
        <p:spPr>
          <a:xfrm>
            <a:off x="3321558"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Intent</a:t>
            </a:r>
            <a:endParaRPr lang="en-US" sz="1100" dirty="0"/>
          </a:p>
        </p:txBody>
      </p:sp>
      <p:sp>
        <p:nvSpPr>
          <p:cNvPr id="68" name="Shape 66"/>
          <p:cNvSpPr/>
          <p:nvPr/>
        </p:nvSpPr>
        <p:spPr>
          <a:xfrm>
            <a:off x="4753737" y="6400800"/>
            <a:ext cx="1295019" cy="13716"/>
          </a:xfrm>
          <a:prstGeom prst="rect">
            <a:avLst/>
          </a:prstGeom>
          <a:solidFill>
            <a:srgbClr val="D7DEE8"/>
          </a:solidFill>
          <a:ln/>
        </p:spPr>
      </p:sp>
      <p:sp>
        <p:nvSpPr>
          <p:cNvPr id="69" name="Text 67"/>
          <p:cNvSpPr txBox="1"/>
          <p:nvPr/>
        </p:nvSpPr>
        <p:spPr>
          <a:xfrm>
            <a:off x="4708017"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Explore</a:t>
            </a:r>
            <a:endParaRPr lang="en-US" sz="1100" dirty="0"/>
          </a:p>
        </p:txBody>
      </p:sp>
      <p:sp>
        <p:nvSpPr>
          <p:cNvPr id="70" name="Shape 68"/>
          <p:cNvSpPr/>
          <p:nvPr/>
        </p:nvSpPr>
        <p:spPr>
          <a:xfrm>
            <a:off x="6140196" y="6400800"/>
            <a:ext cx="1295019" cy="36576"/>
          </a:xfrm>
          <a:prstGeom prst="rect">
            <a:avLst/>
          </a:prstGeom>
          <a:solidFill>
            <a:srgbClr val="0068B5"/>
          </a:solidFill>
          <a:ln/>
        </p:spPr>
      </p:sp>
      <p:sp>
        <p:nvSpPr>
          <p:cNvPr id="71" name="Text 69"/>
          <p:cNvSpPr txBox="1"/>
          <p:nvPr/>
        </p:nvSpPr>
        <p:spPr>
          <a:xfrm>
            <a:off x="6094476" y="6473952"/>
            <a:ext cx="1386459" cy="201168"/>
          </a:xfrm>
          <a:prstGeom prst="rect">
            <a:avLst/>
          </a:prstGeom>
          <a:noFill/>
          <a:ln/>
        </p:spPr>
        <p:txBody>
          <a:bodyPr wrap="square" lIns="0" tIns="0" rIns="0" bIns="0" rtlCol="0" anchor="ctr"/>
          <a:lstStyle/>
          <a:p>
            <a:pPr algn="ctr" indent="0" marL="0">
              <a:buNone/>
            </a:pPr>
            <a:r>
              <a:rPr lang="en-US" sz="1100" b="1" dirty="0">
                <a:solidFill>
                  <a:srgbClr val="16213A"/>
                </a:solidFill>
                <a:latin typeface="Calibri" pitchFamily="34" charset="0"/>
                <a:ea typeface="Calibri" pitchFamily="34" charset="-122"/>
                <a:cs typeface="Calibri" pitchFamily="34" charset="-120"/>
              </a:rPr>
              <a:t>Search</a:t>
            </a:r>
            <a:endParaRPr lang="en-US" sz="1100" dirty="0"/>
          </a:p>
        </p:txBody>
      </p:sp>
      <p:sp>
        <p:nvSpPr>
          <p:cNvPr id="72" name="Shape 70"/>
          <p:cNvSpPr/>
          <p:nvPr/>
        </p:nvSpPr>
        <p:spPr>
          <a:xfrm>
            <a:off x="7526655" y="6400800"/>
            <a:ext cx="1295019" cy="13716"/>
          </a:xfrm>
          <a:prstGeom prst="rect">
            <a:avLst/>
          </a:prstGeom>
          <a:solidFill>
            <a:srgbClr val="D7DEE8"/>
          </a:solidFill>
          <a:ln/>
        </p:spPr>
      </p:sp>
      <p:sp>
        <p:nvSpPr>
          <p:cNvPr id="73" name="Text 71"/>
          <p:cNvSpPr txBox="1"/>
          <p:nvPr/>
        </p:nvSpPr>
        <p:spPr>
          <a:xfrm>
            <a:off x="7480935"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Confirm</a:t>
            </a:r>
            <a:endParaRPr lang="en-US" sz="1100" dirty="0"/>
          </a:p>
        </p:txBody>
      </p:sp>
      <p:sp>
        <p:nvSpPr>
          <p:cNvPr id="74" name="Shape 72"/>
          <p:cNvSpPr/>
          <p:nvPr/>
        </p:nvSpPr>
        <p:spPr>
          <a:xfrm>
            <a:off x="8913114" y="6400800"/>
            <a:ext cx="1295019" cy="13716"/>
          </a:xfrm>
          <a:prstGeom prst="rect">
            <a:avLst/>
          </a:prstGeom>
          <a:solidFill>
            <a:srgbClr val="D7DEE8"/>
          </a:solidFill>
          <a:ln/>
        </p:spPr>
      </p:sp>
      <p:sp>
        <p:nvSpPr>
          <p:cNvPr id="75" name="Text 73"/>
          <p:cNvSpPr txBox="1"/>
          <p:nvPr/>
        </p:nvSpPr>
        <p:spPr>
          <a:xfrm>
            <a:off x="8867394"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Grasp</a:t>
            </a:r>
            <a:endParaRPr lang="en-US" sz="1100" dirty="0"/>
          </a:p>
        </p:txBody>
      </p:sp>
      <p:sp>
        <p:nvSpPr>
          <p:cNvPr id="76" name="Shape 74"/>
          <p:cNvSpPr/>
          <p:nvPr/>
        </p:nvSpPr>
        <p:spPr>
          <a:xfrm>
            <a:off x="10299573" y="6400800"/>
            <a:ext cx="1295019" cy="13716"/>
          </a:xfrm>
          <a:prstGeom prst="rect">
            <a:avLst/>
          </a:prstGeom>
          <a:solidFill>
            <a:srgbClr val="D7DEE8"/>
          </a:solidFill>
          <a:ln/>
        </p:spPr>
      </p:sp>
      <p:sp>
        <p:nvSpPr>
          <p:cNvPr id="77" name="Text 75"/>
          <p:cNvSpPr txBox="1"/>
          <p:nvPr/>
        </p:nvSpPr>
        <p:spPr>
          <a:xfrm>
            <a:off x="10253853"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Plan</a:t>
            </a:r>
            <a:endParaRPr lang="en-US" sz="1100" dirty="0"/>
          </a:p>
        </p:txBody>
      </p:sp>
      <p:sp>
        <p:nvSpPr>
          <p:cNvPr id="78" name="Text 76"/>
          <p:cNvSpPr txBox="1"/>
          <p:nvPr/>
        </p:nvSpPr>
        <p:spPr>
          <a:xfrm>
            <a:off x="11091672" y="6035040"/>
            <a:ext cx="548640" cy="22860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28600"/>
          </a:xfrm>
          <a:prstGeom prst="rect">
            <a:avLst/>
          </a:prstGeom>
          <a:noFill/>
          <a:ln/>
        </p:spPr>
        <p:txBody>
          <a:bodyPr wrap="square" lIns="0" tIns="0" rIns="0" bIns="0" rtlCol="0" anchor="ctr"/>
          <a:lstStyle/>
          <a:p>
            <a:pPr indent="0" marL="0">
              <a:buNone/>
            </a:pPr>
            <a:r>
              <a:rPr lang="en-US" sz="1100" b="1" spc="150" kern="0" dirty="0">
                <a:solidFill>
                  <a:srgbClr val="0068B5"/>
                </a:solidFill>
                <a:latin typeface="Calibri" pitchFamily="34" charset="0"/>
                <a:ea typeface="Calibri" pitchFamily="34" charset="-122"/>
                <a:cs typeface="Calibri" pitchFamily="34" charset="-120"/>
              </a:rPr>
              <a:t>GAPPLER  ·  DION</a:t>
            </a:r>
            <a:endParaRPr lang="en-US" sz="1100" dirty="0"/>
          </a:p>
        </p:txBody>
      </p:sp>
      <p:sp>
        <p:nvSpPr>
          <p:cNvPr id="3" name="Shape 1"/>
          <p:cNvSpPr/>
          <p:nvPr/>
        </p:nvSpPr>
        <p:spPr>
          <a:xfrm>
            <a:off x="8019288" y="347472"/>
            <a:ext cx="3621024" cy="347472"/>
          </a:xfrm>
          <a:prstGeom prst="roundRect">
            <a:avLst>
              <a:gd name="adj" fmla="val 50000"/>
            </a:avLst>
          </a:prstGeom>
          <a:solidFill>
            <a:srgbClr val="16213A"/>
          </a:solidFill>
          <a:ln/>
        </p:spPr>
      </p:sp>
      <p:sp>
        <p:nvSpPr>
          <p:cNvPr id="4" name="Text 2"/>
          <p:cNvSpPr txBox="1"/>
          <p:nvPr/>
        </p:nvSpPr>
        <p:spPr>
          <a:xfrm>
            <a:off x="8019288" y="347472"/>
            <a:ext cx="3621024" cy="347472"/>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PHASE 4  ·  APPROACH AND CONFIRM</a:t>
            </a:r>
            <a:endParaRPr lang="en-US" sz="1100" dirty="0"/>
          </a:p>
        </p:txBody>
      </p:sp>
      <p:sp>
        <p:nvSpPr>
          <p:cNvPr id="5" name="Text 3"/>
          <p:cNvSpPr txBox="1"/>
          <p:nvPr/>
        </p:nvSpPr>
        <p:spPr>
          <a:xfrm>
            <a:off x="548640" y="777240"/>
            <a:ext cx="11091672" cy="548640"/>
          </a:xfrm>
          <a:prstGeom prst="rect">
            <a:avLst/>
          </a:prstGeom>
          <a:noFill/>
          <a:ln/>
        </p:spPr>
        <p:txBody>
          <a:bodyPr wrap="square" lIns="0" tIns="0" rIns="0" bIns="0" rtlCol="0" anchor="ctr"/>
          <a:lstStyle/>
          <a:p>
            <a:pPr indent="0" marL="0">
              <a:buNone/>
            </a:pPr>
            <a:r>
              <a:rPr lang="en-US" sz="3000" b="1" dirty="0">
                <a:solidFill>
                  <a:srgbClr val="16213A"/>
                </a:solidFill>
                <a:latin typeface="Calibri" pitchFamily="34" charset="0"/>
                <a:ea typeface="Calibri" pitchFamily="34" charset="-122"/>
                <a:cs typeface="Calibri" pitchFamily="34" charset="-120"/>
              </a:rPr>
              <a:t>CLIP finds the looked-at box, and now steers the grasp</a:t>
            </a:r>
            <a:endParaRPr lang="en-US" sz="3000" dirty="0"/>
          </a:p>
        </p:txBody>
      </p:sp>
      <p:sp>
        <p:nvSpPr>
          <p:cNvPr id="6" name="Text 4"/>
          <p:cNvSpPr txBox="1"/>
          <p:nvPr/>
        </p:nvSpPr>
        <p:spPr>
          <a:xfrm>
            <a:off x="548640" y="1325880"/>
            <a:ext cx="11091672" cy="320040"/>
          </a:xfrm>
          <a:prstGeom prst="rect">
            <a:avLst/>
          </a:prstGeom>
          <a:noFill/>
          <a:ln/>
        </p:spPr>
        <p:txBody>
          <a:bodyPr wrap="square" lIns="0" tIns="0" rIns="0" bIns="0" rtlCol="0" anchor="ctr"/>
          <a:lstStyle/>
          <a:p>
            <a:pPr indent="0" marL="0">
              <a:buNone/>
            </a:pPr>
            <a:r>
              <a:rPr lang="en-US" sz="1700" dirty="0">
                <a:solidFill>
                  <a:srgbClr val="4B5563"/>
                </a:solidFill>
                <a:latin typeface="Calibri" pitchFamily="34" charset="0"/>
                <a:ea typeface="Calibri" pitchFamily="34" charset="-122"/>
                <a:cs typeface="Calibri" pitchFamily="34" charset="-120"/>
              </a:rPr>
              <a:t>Which wrist-camera mask is the object in the glasses crop?</a:t>
            </a:r>
            <a:endParaRPr lang="en-US" sz="1700" dirty="0"/>
          </a:p>
        </p:txBody>
      </p:sp>
      <p:sp>
        <p:nvSpPr>
          <p:cNvPr id="7" name="Shape 5"/>
          <p:cNvSpPr/>
          <p:nvPr/>
        </p:nvSpPr>
        <p:spPr>
          <a:xfrm>
            <a:off x="548640" y="1874520"/>
            <a:ext cx="4480560" cy="3794760"/>
          </a:xfrm>
          <a:prstGeom prst="roundRect">
            <a:avLst>
              <a:gd name="adj" fmla="val 2410"/>
            </a:avLst>
          </a:prstGeom>
          <a:solidFill>
            <a:srgbClr val="EEF2F7"/>
          </a:solidFill>
          <a:ln/>
        </p:spPr>
      </p:sp>
      <p:sp>
        <p:nvSpPr>
          <p:cNvPr id="8" name="Text 6"/>
          <p:cNvSpPr txBox="1"/>
          <p:nvPr/>
        </p:nvSpPr>
        <p:spPr>
          <a:xfrm>
            <a:off x="731520" y="2011680"/>
            <a:ext cx="4206240" cy="228600"/>
          </a:xfrm>
          <a:prstGeom prst="rect">
            <a:avLst/>
          </a:prstGeom>
          <a:noFill/>
          <a:ln/>
        </p:spPr>
        <p:txBody>
          <a:bodyPr wrap="square" lIns="0" tIns="0" rIns="0" bIns="0" rtlCol="0" anchor="ctr"/>
          <a:lstStyle/>
          <a:p>
            <a:pPr indent="0" marL="0">
              <a:buNone/>
            </a:pPr>
            <a:r>
              <a:rPr lang="en-US" sz="1100" b="1" spc="150" kern="0" dirty="0">
                <a:solidFill>
                  <a:srgbClr val="0068B5"/>
                </a:solidFill>
                <a:latin typeface="Calibri" pitchFamily="34" charset="0"/>
                <a:ea typeface="Calibri" pitchFamily="34" charset="-122"/>
                <a:cs typeface="Calibri" pitchFamily="34" charset="-120"/>
              </a:rPr>
              <a:t>1  ·  CHOOSE THE METHOD</a:t>
            </a:r>
            <a:endParaRPr lang="en-US" sz="1100" dirty="0"/>
          </a:p>
        </p:txBody>
      </p:sp>
      <p:sp>
        <p:nvSpPr>
          <p:cNvPr id="9" name="Text 7"/>
          <p:cNvSpPr txBox="1"/>
          <p:nvPr/>
        </p:nvSpPr>
        <p:spPr>
          <a:xfrm>
            <a:off x="731520" y="2258568"/>
            <a:ext cx="4206240" cy="274320"/>
          </a:xfrm>
          <a:prstGeom prst="rect">
            <a:avLst/>
          </a:prstGeom>
          <a:noFill/>
          <a:ln/>
        </p:spPr>
        <p:txBody>
          <a:bodyPr wrap="square" lIns="0" tIns="0" rIns="0" bIns="0" rtlCol="0" anchor="ctr"/>
          <a:lstStyle/>
          <a:p>
            <a:pPr indent="0" marL="0">
              <a:buNone/>
            </a:pPr>
            <a:r>
              <a:rPr lang="en-US" sz="1400" b="1" dirty="0">
                <a:solidFill>
                  <a:srgbClr val="16213A"/>
                </a:solidFill>
                <a:latin typeface="Calibri" pitchFamily="34" charset="0"/>
                <a:ea typeface="Calibri" pitchFamily="34" charset="-122"/>
                <a:cs typeface="Calibri" pitchFamily="34" charset="-120"/>
              </a:rPr>
              <a:t>Box ranked first, glasses vs wrist pairs</a:t>
            </a:r>
            <a:endParaRPr lang="en-US" sz="1400" dirty="0"/>
          </a:p>
        </p:txBody>
      </p:sp>
      <p:graphicFrame>
        <p:nvGraphicFramePr>
          <p:cNvPr id="10" name="Chart 0" descr=""/>
          <p:cNvGraphicFramePr/>
          <p:nvPr/>
        </p:nvGraphicFramePr>
        <p:xfrm>
          <a:off x="594360" y="2560320"/>
          <a:ext cx="4343400" cy="1874520"/>
        </p:xfrm>
        <a:graphic xmlns:a="http://schemas.openxmlformats.org/drawingml/2006/main">
          <a:graphicData uri="http://schemas.openxmlformats.org/drawingml/2006/chart">
            <c:chart xmlns:c="http://schemas.openxmlformats.org/drawingml/2006/chart" r:id="rId1"/>
          </a:graphicData>
        </a:graphic>
      </p:graphicFrame>
      <p:pic>
        <p:nvPicPr>
          <p:cNvPr id="11" name="Image 0" descr="Keypoint matches between glasses and wrist views land on the ceiling and floor">    </p:cNvPr>
          <p:cNvPicPr>
            <a:picLocks noChangeAspect="1"/>
          </p:cNvPicPr>
          <p:nvPr/>
        </p:nvPicPr>
        <p:blipFill>
          <a:blip r:embed="rId2"/>
          <a:stretch>
            <a:fillRect/>
          </a:stretch>
        </p:blipFill>
        <p:spPr>
          <a:xfrm>
            <a:off x="731520" y="4572000"/>
            <a:ext cx="2103120" cy="905256"/>
          </a:xfrm>
          <a:prstGeom prst="rect">
            <a:avLst/>
          </a:prstGeom>
        </p:spPr>
      </p:pic>
      <p:sp>
        <p:nvSpPr>
          <p:cNvPr id="12" name="Text 8"/>
          <p:cNvSpPr txBox="1"/>
          <p:nvPr/>
        </p:nvSpPr>
        <p:spPr>
          <a:xfrm>
            <a:off x="2971800" y="4572000"/>
            <a:ext cx="1874520" cy="905256"/>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Keypoints match the ceiling and floor, not the box</a:t>
            </a:r>
            <a:endParaRPr lang="en-US" sz="1200" dirty="0"/>
          </a:p>
        </p:txBody>
      </p:sp>
      <p:pic>
        <p:nvPicPr>
          <p:cNvPr id="13" name="Image 1" descr="GLASSES CROP">    </p:cNvPr>
          <p:cNvPicPr>
            <a:picLocks noChangeAspect="1"/>
          </p:cNvPicPr>
          <p:nvPr/>
        </p:nvPicPr>
        <p:blipFill>
          <a:blip r:embed="rId3"/>
          <a:srcRect l="0" r="0" t="0" b="0"/>
          <a:stretch/>
        </p:blipFill>
        <p:spPr>
          <a:xfrm>
            <a:off x="5257800" y="1874520"/>
            <a:ext cx="2926080" cy="1810512"/>
          </a:xfrm>
          <a:prstGeom prst="rect">
            <a:avLst/>
          </a:prstGeom>
        </p:spPr>
      </p:pic>
      <p:sp>
        <p:nvSpPr>
          <p:cNvPr id="14" name="Shape 9"/>
          <p:cNvSpPr/>
          <p:nvPr/>
        </p:nvSpPr>
        <p:spPr>
          <a:xfrm>
            <a:off x="5257800" y="3355848"/>
            <a:ext cx="2926080" cy="329184"/>
          </a:xfrm>
          <a:prstGeom prst="rect">
            <a:avLst/>
          </a:prstGeom>
          <a:solidFill>
            <a:srgbClr val="16213A">
              <a:alpha val="80000"/>
            </a:srgbClr>
          </a:solidFill>
          <a:ln/>
        </p:spPr>
      </p:sp>
      <p:sp>
        <p:nvSpPr>
          <p:cNvPr id="15" name="Text 10"/>
          <p:cNvSpPr txBox="1"/>
          <p:nvPr/>
        </p:nvSpPr>
        <p:spPr>
          <a:xfrm>
            <a:off x="5394960" y="3355848"/>
            <a:ext cx="2651760" cy="329184"/>
          </a:xfrm>
          <a:prstGeom prst="rect">
            <a:avLst/>
          </a:prstGeom>
          <a:noFill/>
          <a:ln/>
        </p:spPr>
        <p:txBody>
          <a:bodyPr wrap="square" lIns="0" tIns="0" rIns="0" bIns="0"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GLASSES CROP</a:t>
            </a:r>
            <a:endParaRPr lang="en-US" sz="1100" dirty="0"/>
          </a:p>
        </p:txBody>
      </p:sp>
      <p:sp>
        <p:nvSpPr>
          <p:cNvPr id="16" name="Shape 11"/>
          <p:cNvSpPr/>
          <p:nvPr/>
        </p:nvSpPr>
        <p:spPr>
          <a:xfrm>
            <a:off x="6217920" y="2185416"/>
            <a:ext cx="1005840" cy="1005840"/>
          </a:xfrm>
          <a:prstGeom prst="ellipse">
            <a:avLst/>
          </a:prstGeom>
          <a:ln w="25400">
            <a:solidFill>
              <a:srgbClr val="FF7A3A"/>
            </a:solidFill>
            <a:prstDash val="solid"/>
          </a:ln>
        </p:spPr>
      </p:sp>
      <p:pic>
        <p:nvPicPr>
          <p:cNvPr id="17" name="Image 2" descr="WRIST VIEW">    </p:cNvPr>
          <p:cNvPicPr>
            <a:picLocks noChangeAspect="1"/>
          </p:cNvPicPr>
          <p:nvPr/>
        </p:nvPicPr>
        <p:blipFill>
          <a:blip r:embed="rId4"/>
          <a:srcRect l="0" r="0" t="0" b="0"/>
          <a:stretch/>
        </p:blipFill>
        <p:spPr>
          <a:xfrm>
            <a:off x="5257800" y="3858768"/>
            <a:ext cx="2926080" cy="1810512"/>
          </a:xfrm>
          <a:prstGeom prst="rect">
            <a:avLst/>
          </a:prstGeom>
        </p:spPr>
      </p:pic>
      <p:sp>
        <p:nvSpPr>
          <p:cNvPr id="18" name="Shape 12"/>
          <p:cNvSpPr/>
          <p:nvPr/>
        </p:nvSpPr>
        <p:spPr>
          <a:xfrm>
            <a:off x="5257800" y="5340096"/>
            <a:ext cx="2926080" cy="329184"/>
          </a:xfrm>
          <a:prstGeom prst="rect">
            <a:avLst/>
          </a:prstGeom>
          <a:solidFill>
            <a:srgbClr val="16213A">
              <a:alpha val="80000"/>
            </a:srgbClr>
          </a:solidFill>
          <a:ln/>
        </p:spPr>
      </p:sp>
      <p:sp>
        <p:nvSpPr>
          <p:cNvPr id="19" name="Text 13"/>
          <p:cNvSpPr txBox="1"/>
          <p:nvPr/>
        </p:nvSpPr>
        <p:spPr>
          <a:xfrm>
            <a:off x="5394960" y="5340096"/>
            <a:ext cx="2651760" cy="329184"/>
          </a:xfrm>
          <a:prstGeom prst="rect">
            <a:avLst/>
          </a:prstGeom>
          <a:noFill/>
          <a:ln/>
        </p:spPr>
        <p:txBody>
          <a:bodyPr wrap="square" lIns="0" tIns="0" rIns="0" bIns="0"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WRIST VIEW</a:t>
            </a:r>
            <a:endParaRPr lang="en-US" sz="1100" dirty="0"/>
          </a:p>
        </p:txBody>
      </p:sp>
      <p:sp>
        <p:nvSpPr>
          <p:cNvPr id="20" name="Shape 14"/>
          <p:cNvSpPr/>
          <p:nvPr/>
        </p:nvSpPr>
        <p:spPr>
          <a:xfrm>
            <a:off x="8412480" y="1874520"/>
            <a:ext cx="3227832" cy="1737360"/>
          </a:xfrm>
          <a:prstGeom prst="roundRect">
            <a:avLst>
              <a:gd name="adj" fmla="val 5263"/>
            </a:avLst>
          </a:prstGeom>
          <a:solidFill>
            <a:srgbClr val="16213A"/>
          </a:solidFill>
          <a:ln/>
        </p:spPr>
      </p:sp>
      <p:sp>
        <p:nvSpPr>
          <p:cNvPr id="21" name="Text 15"/>
          <p:cNvSpPr txBox="1"/>
          <p:nvPr/>
        </p:nvSpPr>
        <p:spPr>
          <a:xfrm>
            <a:off x="8641080" y="2057400"/>
            <a:ext cx="2862072" cy="228600"/>
          </a:xfrm>
          <a:prstGeom prst="rect">
            <a:avLst/>
          </a:prstGeom>
          <a:noFill/>
          <a:ln/>
        </p:spPr>
        <p:txBody>
          <a:bodyPr wrap="square" lIns="0" tIns="0" rIns="0" bIns="0" rtlCol="0" anchor="ctr"/>
          <a:lstStyle/>
          <a:p>
            <a:pPr indent="0" marL="0">
              <a:buNone/>
            </a:pPr>
            <a:r>
              <a:rPr lang="en-US" sz="1100" b="1" spc="150" kern="0" dirty="0">
                <a:solidFill>
                  <a:srgbClr val="7DD3FC"/>
                </a:solidFill>
                <a:latin typeface="Calibri" pitchFamily="34" charset="0"/>
                <a:ea typeface="Calibri" pitchFamily="34" charset="-122"/>
                <a:cs typeface="Calibri" pitchFamily="34" charset="-120"/>
              </a:rPr>
              <a:t>2  ·  IN THE GRASP LOOP</a:t>
            </a:r>
            <a:endParaRPr lang="en-US" sz="1100" dirty="0"/>
          </a:p>
        </p:txBody>
      </p:sp>
      <p:sp>
        <p:nvSpPr>
          <p:cNvPr id="22" name="Text 16"/>
          <p:cNvSpPr txBox="1"/>
          <p:nvPr/>
        </p:nvSpPr>
        <p:spPr>
          <a:xfrm>
            <a:off x="8641080" y="2286000"/>
            <a:ext cx="2862072" cy="777240"/>
          </a:xfrm>
          <a:prstGeom prst="rect">
            <a:avLst/>
          </a:prstGeom>
          <a:noFill/>
          <a:ln/>
        </p:spPr>
        <p:txBody>
          <a:bodyPr wrap="square" lIns="0" tIns="0" rIns="0" bIns="0" rtlCol="0" anchor="b"/>
          <a:lstStyle/>
          <a:p>
            <a:pPr indent="0" marL="0">
              <a:buNone/>
            </a:pPr>
            <a:r>
              <a:rPr lang="en-US" sz="5000" b="1" dirty="0">
                <a:solidFill>
                  <a:srgbClr val="FFFFFF"/>
                </a:solidFill>
                <a:latin typeface="Calibri" pitchFamily="34" charset="0"/>
                <a:ea typeface="Calibri" pitchFamily="34" charset="-122"/>
                <a:cs typeface="Calibri" pitchFamily="34" charset="-120"/>
              </a:rPr>
              <a:t>600</a:t>
            </a:r>
            <a:pPr indent="0" marL="0">
              <a:buNone/>
            </a:pPr>
            <a:r>
              <a:rPr lang="en-US" sz="2200" b="1" dirty="0">
                <a:solidFill>
                  <a:srgbClr val="FF7A3A"/>
                </a:solidFill>
                <a:latin typeface="Calibri" pitchFamily="34" charset="0"/>
                <a:ea typeface="Calibri" pitchFamily="34" charset="-122"/>
                <a:cs typeface="Calibri" pitchFamily="34" charset="-120"/>
              </a:rPr>
              <a:t> of 602</a:t>
            </a:r>
            <a:endParaRPr lang="en-US" sz="5000" dirty="0"/>
          </a:p>
        </p:txBody>
      </p:sp>
      <p:sp>
        <p:nvSpPr>
          <p:cNvPr id="23" name="Text 17"/>
          <p:cNvSpPr txBox="1"/>
          <p:nvPr/>
        </p:nvSpPr>
        <p:spPr>
          <a:xfrm>
            <a:off x="8641080" y="3108960"/>
            <a:ext cx="2862072" cy="411480"/>
          </a:xfrm>
          <a:prstGeom prst="rect">
            <a:avLst/>
          </a:prstGeom>
          <a:noFill/>
          <a:ln/>
        </p:spPr>
        <p:txBody>
          <a:bodyPr wrap="square" lIns="0" tIns="0" rIns="0" bIns="0" rtlCol="0" anchor="t"/>
          <a:lstStyle/>
          <a:p>
            <a:pPr indent="0" marL="0">
              <a:buNone/>
            </a:pPr>
            <a:r>
              <a:rPr lang="en-US" sz="1300" dirty="0">
                <a:solidFill>
                  <a:srgbClr val="CBD5E1"/>
                </a:solidFill>
                <a:latin typeface="Calibri" pitchFamily="34" charset="0"/>
                <a:ea typeface="Calibri" pitchFamily="34" charset="-122"/>
                <a:cs typeface="Calibri" pitchFamily="34" charset="-120"/>
              </a:rPr>
              <a:t>wrist targets on the box the user looked at</a:t>
            </a:r>
            <a:endParaRPr lang="en-US" sz="1300" dirty="0"/>
          </a:p>
        </p:txBody>
      </p:sp>
      <p:sp>
        <p:nvSpPr>
          <p:cNvPr id="24" name="Shape 18"/>
          <p:cNvSpPr/>
          <p:nvPr/>
        </p:nvSpPr>
        <p:spPr>
          <a:xfrm>
            <a:off x="8412480" y="3749040"/>
            <a:ext cx="3227832" cy="914400"/>
          </a:xfrm>
          <a:prstGeom prst="roundRect">
            <a:avLst>
              <a:gd name="adj" fmla="val 10000"/>
            </a:avLst>
          </a:prstGeom>
          <a:solidFill>
            <a:srgbClr val="EEF2F7"/>
          </a:solidFill>
          <a:ln/>
        </p:spPr>
      </p:sp>
      <p:sp>
        <p:nvSpPr>
          <p:cNvPr id="25" name="Text 19"/>
          <p:cNvSpPr txBox="1"/>
          <p:nvPr/>
        </p:nvSpPr>
        <p:spPr>
          <a:xfrm>
            <a:off x="8577072" y="3840480"/>
            <a:ext cx="2953512" cy="228600"/>
          </a:xfrm>
          <a:prstGeom prst="rect">
            <a:avLst/>
          </a:prstGeom>
          <a:noFill/>
          <a:ln/>
        </p:spPr>
        <p:txBody>
          <a:bodyPr wrap="square" lIns="0" tIns="0" rIns="0" bIns="0" rtlCol="0" anchor="ctr"/>
          <a:lstStyle/>
          <a:p>
            <a:pPr indent="0" marL="0">
              <a:buNone/>
            </a:pPr>
            <a:r>
              <a:rPr lang="en-US" sz="1100" b="1" spc="150" kern="0" dirty="0">
                <a:solidFill>
                  <a:srgbClr val="6B7280"/>
                </a:solidFill>
                <a:latin typeface="Calibri" pitchFamily="34" charset="0"/>
                <a:ea typeface="Calibri" pitchFamily="34" charset="-122"/>
                <a:cs typeface="Calibri" pitchFamily="34" charset="-120"/>
              </a:rPr>
              <a:t>TWO LOOK-ALIKE CARDBOARD BOXES</a:t>
            </a:r>
            <a:endParaRPr lang="en-US" sz="1100" dirty="0"/>
          </a:p>
        </p:txBody>
      </p:sp>
      <p:sp>
        <p:nvSpPr>
          <p:cNvPr id="26" name="Text 20"/>
          <p:cNvSpPr txBox="1"/>
          <p:nvPr/>
        </p:nvSpPr>
        <p:spPr>
          <a:xfrm>
            <a:off x="8577072" y="4087368"/>
            <a:ext cx="960120" cy="237744"/>
          </a:xfrm>
          <a:prstGeom prst="rect">
            <a:avLst/>
          </a:prstGeom>
          <a:noFill/>
          <a:ln/>
        </p:spPr>
        <p:txBody>
          <a:bodyPr wrap="square" lIns="0" tIns="0" rIns="0" bIns="0" rtlCol="0" anchor="ctr"/>
          <a:lstStyle/>
          <a:p>
            <a:pPr indent="0" marL="0">
              <a:buNone/>
            </a:pPr>
            <a:r>
              <a:rPr lang="en-US" sz="1100" dirty="0">
                <a:solidFill>
                  <a:srgbClr val="4B5563"/>
                </a:solidFill>
                <a:latin typeface="Calibri" pitchFamily="34" charset="0"/>
                <a:ea typeface="Calibri" pitchFamily="34" charset="-122"/>
                <a:cs typeface="Calibri" pitchFamily="34" charset="-120"/>
              </a:rPr>
              <a:t>Old pick</a:t>
            </a:r>
            <a:endParaRPr lang="en-US" sz="1100" dirty="0"/>
          </a:p>
        </p:txBody>
      </p:sp>
      <p:sp>
        <p:nvSpPr>
          <p:cNvPr id="27" name="Shape 21"/>
          <p:cNvSpPr/>
          <p:nvPr/>
        </p:nvSpPr>
        <p:spPr>
          <a:xfrm>
            <a:off x="9555480" y="4151376"/>
            <a:ext cx="27432" cy="118872"/>
          </a:xfrm>
          <a:prstGeom prst="rect">
            <a:avLst/>
          </a:prstGeom>
          <a:solidFill>
            <a:srgbClr val="C5CDD8"/>
          </a:solidFill>
          <a:ln/>
        </p:spPr>
      </p:sp>
      <p:sp>
        <p:nvSpPr>
          <p:cNvPr id="28" name="Text 22"/>
          <p:cNvSpPr txBox="1"/>
          <p:nvPr/>
        </p:nvSpPr>
        <p:spPr>
          <a:xfrm>
            <a:off x="9601200" y="4087368"/>
            <a:ext cx="868680" cy="237744"/>
          </a:xfrm>
          <a:prstGeom prst="rect">
            <a:avLst/>
          </a:prstGeom>
          <a:noFill/>
          <a:ln/>
        </p:spPr>
        <p:txBody>
          <a:bodyPr wrap="square" lIns="0" tIns="0" rIns="0" bIns="0" rtlCol="0" anchor="ctr"/>
          <a:lstStyle/>
          <a:p>
            <a:pPr indent="0" marL="0">
              <a:buNone/>
            </a:pPr>
            <a:r>
              <a:rPr lang="en-US" sz="1100" b="1" dirty="0">
                <a:solidFill>
                  <a:srgbClr val="16213A"/>
                </a:solidFill>
                <a:latin typeface="Calibri" pitchFamily="34" charset="0"/>
                <a:ea typeface="Calibri" pitchFamily="34" charset="-122"/>
                <a:cs typeface="Calibri" pitchFamily="34" charset="-120"/>
              </a:rPr>
              <a:t>0 of 114</a:t>
            </a:r>
            <a:endParaRPr lang="en-US" sz="1100" dirty="0"/>
          </a:p>
        </p:txBody>
      </p:sp>
      <p:sp>
        <p:nvSpPr>
          <p:cNvPr id="29" name="Text 23"/>
          <p:cNvSpPr txBox="1"/>
          <p:nvPr/>
        </p:nvSpPr>
        <p:spPr>
          <a:xfrm>
            <a:off x="8577072" y="4361688"/>
            <a:ext cx="960120" cy="237744"/>
          </a:xfrm>
          <a:prstGeom prst="rect">
            <a:avLst/>
          </a:prstGeom>
          <a:noFill/>
          <a:ln/>
        </p:spPr>
        <p:txBody>
          <a:bodyPr wrap="square" lIns="0" tIns="0" rIns="0" bIns="0" rtlCol="0" anchor="ctr"/>
          <a:lstStyle/>
          <a:p>
            <a:pPr indent="0" marL="0">
              <a:buNone/>
            </a:pPr>
            <a:r>
              <a:rPr lang="en-US" sz="1100" dirty="0">
                <a:solidFill>
                  <a:srgbClr val="4B5563"/>
                </a:solidFill>
                <a:latin typeface="Calibri" pitchFamily="34" charset="0"/>
                <a:ea typeface="Calibri" pitchFamily="34" charset="-122"/>
                <a:cs typeface="Calibri" pitchFamily="34" charset="-120"/>
              </a:rPr>
              <a:t>Glasses crop</a:t>
            </a:r>
            <a:endParaRPr lang="en-US" sz="1100" dirty="0"/>
          </a:p>
        </p:txBody>
      </p:sp>
      <p:sp>
        <p:nvSpPr>
          <p:cNvPr id="30" name="Shape 24"/>
          <p:cNvSpPr/>
          <p:nvPr/>
        </p:nvSpPr>
        <p:spPr>
          <a:xfrm>
            <a:off x="9555480" y="4425696"/>
            <a:ext cx="1086307" cy="118872"/>
          </a:xfrm>
          <a:prstGeom prst="rect">
            <a:avLst/>
          </a:prstGeom>
          <a:solidFill>
            <a:srgbClr val="0068B5"/>
          </a:solidFill>
          <a:ln/>
        </p:spPr>
      </p:sp>
      <p:sp>
        <p:nvSpPr>
          <p:cNvPr id="31" name="Text 25"/>
          <p:cNvSpPr txBox="1"/>
          <p:nvPr/>
        </p:nvSpPr>
        <p:spPr>
          <a:xfrm>
            <a:off x="10687507" y="4361688"/>
            <a:ext cx="868680" cy="237744"/>
          </a:xfrm>
          <a:prstGeom prst="rect">
            <a:avLst/>
          </a:prstGeom>
          <a:noFill/>
          <a:ln/>
        </p:spPr>
        <p:txBody>
          <a:bodyPr wrap="square" lIns="0" tIns="0" rIns="0" bIns="0" rtlCol="0" anchor="ctr"/>
          <a:lstStyle/>
          <a:p>
            <a:pPr indent="0" marL="0">
              <a:buNone/>
            </a:pPr>
            <a:r>
              <a:rPr lang="en-US" sz="1100" b="1" dirty="0">
                <a:solidFill>
                  <a:srgbClr val="16213A"/>
                </a:solidFill>
                <a:latin typeface="Calibri" pitchFamily="34" charset="0"/>
                <a:ea typeface="Calibri" pitchFamily="34" charset="-122"/>
                <a:cs typeface="Calibri" pitchFamily="34" charset="-120"/>
              </a:rPr>
              <a:t>266 of 268</a:t>
            </a:r>
            <a:endParaRPr lang="en-US" sz="1100" dirty="0"/>
          </a:p>
        </p:txBody>
      </p:sp>
      <p:sp>
        <p:nvSpPr>
          <p:cNvPr id="32" name="Shape 26"/>
          <p:cNvSpPr/>
          <p:nvPr/>
        </p:nvSpPr>
        <p:spPr>
          <a:xfrm>
            <a:off x="8412480" y="4800600"/>
            <a:ext cx="3227832" cy="868680"/>
          </a:xfrm>
          <a:prstGeom prst="roundRect">
            <a:avLst>
              <a:gd name="adj" fmla="val 10526"/>
            </a:avLst>
          </a:prstGeom>
          <a:solidFill>
            <a:srgbClr val="EEF2F7"/>
          </a:solidFill>
          <a:ln/>
        </p:spPr>
      </p:sp>
      <p:sp>
        <p:nvSpPr>
          <p:cNvPr id="33" name="Text 27"/>
          <p:cNvSpPr txBox="1"/>
          <p:nvPr/>
        </p:nvSpPr>
        <p:spPr>
          <a:xfrm>
            <a:off x="8577072" y="4937760"/>
            <a:ext cx="2953512" cy="201168"/>
          </a:xfrm>
          <a:prstGeom prst="rect">
            <a:avLst/>
          </a:prstGeom>
          <a:noFill/>
          <a:ln/>
        </p:spPr>
        <p:txBody>
          <a:bodyPr wrap="square" lIns="0" tIns="0" rIns="0" bIns="0" rtlCol="0" anchor="ctr"/>
          <a:lstStyle/>
          <a:p>
            <a:pPr indent="0" marL="0">
              <a:buNone/>
            </a:pPr>
            <a:r>
              <a:rPr lang="en-US" sz="1100" b="1" spc="150" kern="0" dirty="0">
                <a:solidFill>
                  <a:srgbClr val="C2410C"/>
                </a:solidFill>
                <a:latin typeface="Calibri" pitchFamily="34" charset="0"/>
                <a:ea typeface="Calibri" pitchFamily="34" charset="-122"/>
                <a:cs typeface="Calibri" pitchFamily="34" charset="-120"/>
              </a:rPr>
              <a:t>LIMIT</a:t>
            </a:r>
            <a:endParaRPr lang="en-US" sz="1100" dirty="0"/>
          </a:p>
        </p:txBody>
      </p:sp>
      <p:sp>
        <p:nvSpPr>
          <p:cNvPr id="34" name="Text 28"/>
          <p:cNvSpPr txBox="1"/>
          <p:nvPr/>
        </p:nvSpPr>
        <p:spPr>
          <a:xfrm>
            <a:off x="8577072" y="5184648"/>
            <a:ext cx="2953512" cy="411480"/>
          </a:xfrm>
          <a:prstGeom prst="rect">
            <a:avLst/>
          </a:prstGeom>
          <a:noFill/>
          <a:ln/>
        </p:spPr>
        <p:txBody>
          <a:bodyPr wrap="square" lIns="0" tIns="0" rIns="0" bIns="0" rtlCol="0" anchor="t"/>
          <a:lstStyle/>
          <a:p>
            <a:pPr indent="0" marL="0">
              <a:buNone/>
            </a:pPr>
            <a:r>
              <a:rPr lang="en-US" sz="1300" dirty="0">
                <a:solidFill>
                  <a:srgbClr val="16213A"/>
                </a:solidFill>
                <a:latin typeface="Calibri" pitchFamily="34" charset="0"/>
                <a:ea typeface="Calibri" pitchFamily="34" charset="-122"/>
                <a:cs typeface="Calibri" pitchFamily="34" charset="-120"/>
              </a:rPr>
              <a:t>Same-colour boxes: 6 of 12. Needs the gaze ray in the robot's frame (T8.8)</a:t>
            </a:r>
            <a:endParaRPr lang="en-US" sz="1300" dirty="0"/>
          </a:p>
        </p:txBody>
      </p:sp>
      <p:sp>
        <p:nvSpPr>
          <p:cNvPr id="35" name="Text 29"/>
          <p:cNvSpPr txBox="1"/>
          <p:nvPr/>
        </p:nvSpPr>
        <p:spPr>
          <a:xfrm>
            <a:off x="548640" y="5742432"/>
            <a:ext cx="11091672" cy="22860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Replayed recordings, arm not moved. Below 0.56, or a tie, the arm waits.</a:t>
            </a:r>
            <a:endParaRPr lang="en-US" sz="1100" dirty="0"/>
          </a:p>
        </p:txBody>
      </p:sp>
      <p:sp>
        <p:nvSpPr>
          <p:cNvPr id="36" name="Shape 30"/>
          <p:cNvSpPr/>
          <p:nvPr/>
        </p:nvSpPr>
        <p:spPr>
          <a:xfrm>
            <a:off x="594360" y="6400800"/>
            <a:ext cx="1295019" cy="13716"/>
          </a:xfrm>
          <a:prstGeom prst="rect">
            <a:avLst/>
          </a:prstGeom>
          <a:solidFill>
            <a:srgbClr val="D7DEE8"/>
          </a:solidFill>
          <a:ln/>
        </p:spPr>
      </p:sp>
      <p:sp>
        <p:nvSpPr>
          <p:cNvPr id="37" name="Text 31"/>
          <p:cNvSpPr txBox="1"/>
          <p:nvPr/>
        </p:nvSpPr>
        <p:spPr>
          <a:xfrm>
            <a:off x="548640"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Problem</a:t>
            </a:r>
            <a:endParaRPr lang="en-US" sz="1100" dirty="0"/>
          </a:p>
        </p:txBody>
      </p:sp>
      <p:sp>
        <p:nvSpPr>
          <p:cNvPr id="38" name="Shape 32"/>
          <p:cNvSpPr/>
          <p:nvPr/>
        </p:nvSpPr>
        <p:spPr>
          <a:xfrm>
            <a:off x="1980819" y="6400800"/>
            <a:ext cx="1295019" cy="13716"/>
          </a:xfrm>
          <a:prstGeom prst="rect">
            <a:avLst/>
          </a:prstGeom>
          <a:solidFill>
            <a:srgbClr val="D7DEE8"/>
          </a:solidFill>
          <a:ln/>
        </p:spPr>
      </p:sp>
      <p:sp>
        <p:nvSpPr>
          <p:cNvPr id="39" name="Text 33"/>
          <p:cNvSpPr txBox="1"/>
          <p:nvPr/>
        </p:nvSpPr>
        <p:spPr>
          <a:xfrm>
            <a:off x="1935099"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System</a:t>
            </a:r>
            <a:endParaRPr lang="en-US" sz="1100" dirty="0"/>
          </a:p>
        </p:txBody>
      </p:sp>
      <p:sp>
        <p:nvSpPr>
          <p:cNvPr id="40" name="Shape 34"/>
          <p:cNvSpPr/>
          <p:nvPr/>
        </p:nvSpPr>
        <p:spPr>
          <a:xfrm>
            <a:off x="3367278" y="6400800"/>
            <a:ext cx="1295019" cy="13716"/>
          </a:xfrm>
          <a:prstGeom prst="rect">
            <a:avLst/>
          </a:prstGeom>
          <a:solidFill>
            <a:srgbClr val="D7DEE8"/>
          </a:solidFill>
          <a:ln/>
        </p:spPr>
      </p:sp>
      <p:sp>
        <p:nvSpPr>
          <p:cNvPr id="41" name="Text 35"/>
          <p:cNvSpPr txBox="1"/>
          <p:nvPr/>
        </p:nvSpPr>
        <p:spPr>
          <a:xfrm>
            <a:off x="3321558"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Intent</a:t>
            </a:r>
            <a:endParaRPr lang="en-US" sz="1100" dirty="0"/>
          </a:p>
        </p:txBody>
      </p:sp>
      <p:sp>
        <p:nvSpPr>
          <p:cNvPr id="42" name="Shape 36"/>
          <p:cNvSpPr/>
          <p:nvPr/>
        </p:nvSpPr>
        <p:spPr>
          <a:xfrm>
            <a:off x="4753737" y="6400800"/>
            <a:ext cx="1295019" cy="13716"/>
          </a:xfrm>
          <a:prstGeom prst="rect">
            <a:avLst/>
          </a:prstGeom>
          <a:solidFill>
            <a:srgbClr val="D7DEE8"/>
          </a:solidFill>
          <a:ln/>
        </p:spPr>
      </p:sp>
      <p:sp>
        <p:nvSpPr>
          <p:cNvPr id="43" name="Text 37"/>
          <p:cNvSpPr txBox="1"/>
          <p:nvPr/>
        </p:nvSpPr>
        <p:spPr>
          <a:xfrm>
            <a:off x="4708017"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Explore</a:t>
            </a:r>
            <a:endParaRPr lang="en-US" sz="1100" dirty="0"/>
          </a:p>
        </p:txBody>
      </p:sp>
      <p:sp>
        <p:nvSpPr>
          <p:cNvPr id="44" name="Shape 38"/>
          <p:cNvSpPr/>
          <p:nvPr/>
        </p:nvSpPr>
        <p:spPr>
          <a:xfrm>
            <a:off x="6140196" y="6400800"/>
            <a:ext cx="1295019" cy="13716"/>
          </a:xfrm>
          <a:prstGeom prst="rect">
            <a:avLst/>
          </a:prstGeom>
          <a:solidFill>
            <a:srgbClr val="D7DEE8"/>
          </a:solidFill>
          <a:ln/>
        </p:spPr>
      </p:sp>
      <p:sp>
        <p:nvSpPr>
          <p:cNvPr id="45" name="Text 39"/>
          <p:cNvSpPr txBox="1"/>
          <p:nvPr/>
        </p:nvSpPr>
        <p:spPr>
          <a:xfrm>
            <a:off x="6094476"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Search</a:t>
            </a:r>
            <a:endParaRPr lang="en-US" sz="1100" dirty="0"/>
          </a:p>
        </p:txBody>
      </p:sp>
      <p:sp>
        <p:nvSpPr>
          <p:cNvPr id="46" name="Shape 40"/>
          <p:cNvSpPr/>
          <p:nvPr/>
        </p:nvSpPr>
        <p:spPr>
          <a:xfrm>
            <a:off x="7526655" y="6400800"/>
            <a:ext cx="1295019" cy="36576"/>
          </a:xfrm>
          <a:prstGeom prst="rect">
            <a:avLst/>
          </a:prstGeom>
          <a:solidFill>
            <a:srgbClr val="0068B5"/>
          </a:solidFill>
          <a:ln/>
        </p:spPr>
      </p:sp>
      <p:sp>
        <p:nvSpPr>
          <p:cNvPr id="47" name="Text 41"/>
          <p:cNvSpPr txBox="1"/>
          <p:nvPr/>
        </p:nvSpPr>
        <p:spPr>
          <a:xfrm>
            <a:off x="7480935" y="6473952"/>
            <a:ext cx="1386459" cy="201168"/>
          </a:xfrm>
          <a:prstGeom prst="rect">
            <a:avLst/>
          </a:prstGeom>
          <a:noFill/>
          <a:ln/>
        </p:spPr>
        <p:txBody>
          <a:bodyPr wrap="square" lIns="0" tIns="0" rIns="0" bIns="0" rtlCol="0" anchor="ctr"/>
          <a:lstStyle/>
          <a:p>
            <a:pPr algn="ctr" indent="0" marL="0">
              <a:buNone/>
            </a:pPr>
            <a:r>
              <a:rPr lang="en-US" sz="1100" b="1" dirty="0">
                <a:solidFill>
                  <a:srgbClr val="16213A"/>
                </a:solidFill>
                <a:latin typeface="Calibri" pitchFamily="34" charset="0"/>
                <a:ea typeface="Calibri" pitchFamily="34" charset="-122"/>
                <a:cs typeface="Calibri" pitchFamily="34" charset="-120"/>
              </a:rPr>
              <a:t>Confirm</a:t>
            </a:r>
            <a:endParaRPr lang="en-US" sz="1100" dirty="0"/>
          </a:p>
        </p:txBody>
      </p:sp>
      <p:sp>
        <p:nvSpPr>
          <p:cNvPr id="48" name="Shape 42"/>
          <p:cNvSpPr/>
          <p:nvPr/>
        </p:nvSpPr>
        <p:spPr>
          <a:xfrm>
            <a:off x="8913114" y="6400800"/>
            <a:ext cx="1295019" cy="13716"/>
          </a:xfrm>
          <a:prstGeom prst="rect">
            <a:avLst/>
          </a:prstGeom>
          <a:solidFill>
            <a:srgbClr val="D7DEE8"/>
          </a:solidFill>
          <a:ln/>
        </p:spPr>
      </p:sp>
      <p:sp>
        <p:nvSpPr>
          <p:cNvPr id="49" name="Text 43"/>
          <p:cNvSpPr txBox="1"/>
          <p:nvPr/>
        </p:nvSpPr>
        <p:spPr>
          <a:xfrm>
            <a:off x="8867394"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Grasp</a:t>
            </a:r>
            <a:endParaRPr lang="en-US" sz="1100" dirty="0"/>
          </a:p>
        </p:txBody>
      </p:sp>
      <p:sp>
        <p:nvSpPr>
          <p:cNvPr id="50" name="Shape 44"/>
          <p:cNvSpPr/>
          <p:nvPr/>
        </p:nvSpPr>
        <p:spPr>
          <a:xfrm>
            <a:off x="10299573" y="6400800"/>
            <a:ext cx="1295019" cy="13716"/>
          </a:xfrm>
          <a:prstGeom prst="rect">
            <a:avLst/>
          </a:prstGeom>
          <a:solidFill>
            <a:srgbClr val="D7DEE8"/>
          </a:solidFill>
          <a:ln/>
        </p:spPr>
      </p:sp>
      <p:sp>
        <p:nvSpPr>
          <p:cNvPr id="51" name="Text 45"/>
          <p:cNvSpPr txBox="1"/>
          <p:nvPr/>
        </p:nvSpPr>
        <p:spPr>
          <a:xfrm>
            <a:off x="10253853"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Plan</a:t>
            </a:r>
            <a:endParaRPr lang="en-US" sz="1100" dirty="0"/>
          </a:p>
        </p:txBody>
      </p:sp>
      <p:sp>
        <p:nvSpPr>
          <p:cNvPr id="52" name="Text 46"/>
          <p:cNvSpPr txBox="1"/>
          <p:nvPr/>
        </p:nvSpPr>
        <p:spPr>
          <a:xfrm>
            <a:off x="11091672" y="6035040"/>
            <a:ext cx="548640" cy="22860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28600"/>
          </a:xfrm>
          <a:prstGeom prst="rect">
            <a:avLst/>
          </a:prstGeom>
          <a:noFill/>
          <a:ln/>
        </p:spPr>
        <p:txBody>
          <a:bodyPr wrap="square" lIns="0" tIns="0" rIns="0" bIns="0" rtlCol="0" anchor="ctr"/>
          <a:lstStyle/>
          <a:p>
            <a:pPr indent="0" marL="0">
              <a:buNone/>
            </a:pPr>
            <a:r>
              <a:rPr lang="en-US" sz="1100" b="1" spc="150" kern="0" dirty="0">
                <a:solidFill>
                  <a:srgbClr val="0068B5"/>
                </a:solidFill>
                <a:latin typeface="Calibri" pitchFamily="34" charset="0"/>
                <a:ea typeface="Calibri" pitchFamily="34" charset="-122"/>
                <a:cs typeface="Calibri" pitchFamily="34" charset="-120"/>
              </a:rPr>
              <a:t>GAPPLER  ·  DION</a:t>
            </a:r>
            <a:endParaRPr lang="en-US" sz="1100" dirty="0"/>
          </a:p>
        </p:txBody>
      </p:sp>
      <p:sp>
        <p:nvSpPr>
          <p:cNvPr id="3" name="Shape 1"/>
          <p:cNvSpPr/>
          <p:nvPr/>
        </p:nvSpPr>
        <p:spPr>
          <a:xfrm>
            <a:off x="9445752" y="347472"/>
            <a:ext cx="2194560" cy="347472"/>
          </a:xfrm>
          <a:prstGeom prst="roundRect">
            <a:avLst>
              <a:gd name="adj" fmla="val 50000"/>
            </a:avLst>
          </a:prstGeom>
          <a:solidFill>
            <a:srgbClr val="16213A"/>
          </a:solidFill>
          <a:ln/>
        </p:spPr>
      </p:sp>
      <p:sp>
        <p:nvSpPr>
          <p:cNvPr id="4" name="Text 2"/>
          <p:cNvSpPr txBox="1"/>
          <p:nvPr/>
        </p:nvSpPr>
        <p:spPr>
          <a:xfrm>
            <a:off x="9445752" y="347472"/>
            <a:ext cx="2194560" cy="347472"/>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PHASE 5  ·  GRASP</a:t>
            </a:r>
            <a:endParaRPr lang="en-US" sz="1100" dirty="0"/>
          </a:p>
        </p:txBody>
      </p:sp>
      <p:sp>
        <p:nvSpPr>
          <p:cNvPr id="5" name="Text 3"/>
          <p:cNvSpPr txBox="1"/>
          <p:nvPr/>
        </p:nvSpPr>
        <p:spPr>
          <a:xfrm>
            <a:off x="548640" y="777240"/>
            <a:ext cx="11091672" cy="548640"/>
          </a:xfrm>
          <a:prstGeom prst="rect">
            <a:avLst/>
          </a:prstGeom>
          <a:noFill/>
          <a:ln/>
        </p:spPr>
        <p:txBody>
          <a:bodyPr wrap="square" lIns="0" tIns="0" rIns="0" bIns="0" rtlCol="0" anchor="ctr"/>
          <a:lstStyle/>
          <a:p>
            <a:pPr indent="0" marL="0">
              <a:buNone/>
            </a:pPr>
            <a:r>
              <a:rPr lang="en-US" sz="3000" b="1" dirty="0">
                <a:solidFill>
                  <a:srgbClr val="16213A"/>
                </a:solidFill>
                <a:latin typeface="Calibri" pitchFamily="34" charset="0"/>
                <a:ea typeface="Calibri" pitchFamily="34" charset="-122"/>
                <a:cs typeface="Calibri" pitchFamily="34" charset="-120"/>
              </a:rPr>
              <a:t>The real arm grasps on a spoken command</a:t>
            </a:r>
            <a:endParaRPr lang="en-US" sz="3000" dirty="0"/>
          </a:p>
        </p:txBody>
      </p:sp>
      <p:sp>
        <p:nvSpPr>
          <p:cNvPr id="6" name="Text 4"/>
          <p:cNvSpPr txBox="1"/>
          <p:nvPr/>
        </p:nvSpPr>
        <p:spPr>
          <a:xfrm>
            <a:off x="548640" y="1325880"/>
            <a:ext cx="11091672" cy="320040"/>
          </a:xfrm>
          <a:prstGeom prst="rect">
            <a:avLst/>
          </a:prstGeom>
          <a:noFill/>
          <a:ln/>
        </p:spPr>
        <p:txBody>
          <a:bodyPr wrap="square" lIns="0" tIns="0" rIns="0" bIns="0" rtlCol="0" anchor="ctr"/>
          <a:lstStyle/>
          <a:p>
            <a:pPr indent="0" marL="0">
              <a:buNone/>
            </a:pPr>
            <a:r>
              <a:rPr lang="en-US" sz="1700" dirty="0">
                <a:solidFill>
                  <a:srgbClr val="4B5563"/>
                </a:solidFill>
                <a:latin typeface="Calibri" pitchFamily="34" charset="0"/>
                <a:ea typeface="Calibri" pitchFamily="34" charset="-122"/>
                <a:cs typeface="Calibri" pitchFamily="34" charset="-120"/>
              </a:rPr>
              <a:t>First real grasp on 13 Oct 2026, with a tested software stop</a:t>
            </a:r>
            <a:endParaRPr lang="en-US" sz="1700" dirty="0"/>
          </a:p>
        </p:txBody>
      </p:sp>
      <p:sp>
        <p:nvSpPr>
          <p:cNvPr id="7" name="Shape 5"/>
          <p:cNvSpPr/>
          <p:nvPr/>
        </p:nvSpPr>
        <p:spPr>
          <a:xfrm>
            <a:off x="548640" y="1874520"/>
            <a:ext cx="1703070" cy="731520"/>
          </a:xfrm>
          <a:prstGeom prst="roundRect">
            <a:avLst>
              <a:gd name="adj" fmla="val 12500"/>
            </a:avLst>
          </a:prstGeom>
          <a:solidFill>
            <a:srgbClr val="EEF2F7"/>
          </a:solidFill>
          <a:ln/>
        </p:spPr>
      </p:sp>
      <p:sp>
        <p:nvSpPr>
          <p:cNvPr id="8" name="Text 6"/>
          <p:cNvSpPr txBox="1"/>
          <p:nvPr/>
        </p:nvSpPr>
        <p:spPr>
          <a:xfrm>
            <a:off x="685800" y="1920240"/>
            <a:ext cx="1474470" cy="292608"/>
          </a:xfrm>
          <a:prstGeom prst="rect">
            <a:avLst/>
          </a:prstGeom>
          <a:noFill/>
          <a:ln/>
        </p:spPr>
        <p:txBody>
          <a:bodyPr wrap="square" lIns="0" tIns="0" rIns="0" bIns="0" rtlCol="0" anchor="ctr"/>
          <a:lstStyle/>
          <a:p>
            <a:pPr indent="0" marL="0">
              <a:buNone/>
            </a:pPr>
            <a:r>
              <a:rPr lang="en-US" sz="1400" b="1" dirty="0">
                <a:solidFill>
                  <a:srgbClr val="16213A"/>
                </a:solidFill>
                <a:latin typeface="Calibri" pitchFamily="34" charset="0"/>
                <a:ea typeface="Calibri" pitchFamily="34" charset="-122"/>
                <a:cs typeface="Calibri" pitchFamily="34" charset="-120"/>
              </a:rPr>
              <a:t>Idle</a:t>
            </a:r>
            <a:endParaRPr lang="en-US" sz="1400" dirty="0"/>
          </a:p>
        </p:txBody>
      </p:sp>
      <p:sp>
        <p:nvSpPr>
          <p:cNvPr id="9" name="Text 7"/>
          <p:cNvSpPr txBox="1"/>
          <p:nvPr/>
        </p:nvSpPr>
        <p:spPr>
          <a:xfrm>
            <a:off x="685800" y="2212848"/>
            <a:ext cx="1474470" cy="365760"/>
          </a:xfrm>
          <a:prstGeom prst="rect">
            <a:avLst/>
          </a:prstGeom>
          <a:noFill/>
          <a:ln/>
        </p:spPr>
        <p:txBody>
          <a:bodyPr wrap="square" lIns="0" tIns="0" rIns="0" bIns="0" rtlCol="0" anchor="t"/>
          <a:lstStyle/>
          <a:p>
            <a:pPr indent="0" marL="0">
              <a:buNone/>
            </a:pPr>
            <a:r>
              <a:rPr lang="en-US" sz="1100" dirty="0">
                <a:solidFill>
                  <a:srgbClr val="4B5563"/>
                </a:solidFill>
                <a:latin typeface="Calibri" pitchFamily="34" charset="0"/>
                <a:ea typeface="Calibri" pitchFamily="34" charset="-122"/>
                <a:cs typeface="Calibri" pitchFamily="34" charset="-120"/>
              </a:rPr>
              <a:t>at home</a:t>
            </a:r>
            <a:endParaRPr lang="en-US" sz="1100" dirty="0"/>
          </a:p>
        </p:txBody>
      </p:sp>
      <p:sp>
        <p:nvSpPr>
          <p:cNvPr id="10" name="Text 8"/>
          <p:cNvSpPr txBox="1"/>
          <p:nvPr/>
        </p:nvSpPr>
        <p:spPr>
          <a:xfrm>
            <a:off x="2251710" y="1965960"/>
            <a:ext cx="274320" cy="457200"/>
          </a:xfrm>
          <a:prstGeom prst="rect">
            <a:avLst/>
          </a:prstGeom>
          <a:noFill/>
          <a:ln/>
        </p:spPr>
        <p:txBody>
          <a:bodyPr wrap="square" lIns="0" tIns="0" rIns="0" bIns="0" rtlCol="0" anchor="ctr"/>
          <a:lstStyle/>
          <a:p>
            <a:pPr algn="ctr" indent="0" marL="0">
              <a:buNone/>
            </a:pPr>
            <a:r>
              <a:rPr lang="en-US" sz="2200" b="1" dirty="0">
                <a:solidFill>
                  <a:srgbClr val="6B7280"/>
                </a:solidFill>
                <a:latin typeface="Calibri" pitchFamily="34" charset="0"/>
                <a:ea typeface="Calibri" pitchFamily="34" charset="-122"/>
                <a:cs typeface="Calibri" pitchFamily="34" charset="-120"/>
              </a:rPr>
              <a:t>›</a:t>
            </a:r>
            <a:endParaRPr lang="en-US" sz="2200" dirty="0"/>
          </a:p>
        </p:txBody>
      </p:sp>
      <p:sp>
        <p:nvSpPr>
          <p:cNvPr id="11" name="Shape 9"/>
          <p:cNvSpPr/>
          <p:nvPr/>
        </p:nvSpPr>
        <p:spPr>
          <a:xfrm>
            <a:off x="2526030" y="1874520"/>
            <a:ext cx="1703070" cy="731520"/>
          </a:xfrm>
          <a:prstGeom prst="roundRect">
            <a:avLst>
              <a:gd name="adj" fmla="val 12500"/>
            </a:avLst>
          </a:prstGeom>
          <a:solidFill>
            <a:srgbClr val="EEF2F7"/>
          </a:solidFill>
          <a:ln/>
        </p:spPr>
      </p:sp>
      <p:sp>
        <p:nvSpPr>
          <p:cNvPr id="12" name="Text 10"/>
          <p:cNvSpPr txBox="1"/>
          <p:nvPr/>
        </p:nvSpPr>
        <p:spPr>
          <a:xfrm>
            <a:off x="2663190" y="1920240"/>
            <a:ext cx="1474470" cy="292608"/>
          </a:xfrm>
          <a:prstGeom prst="rect">
            <a:avLst/>
          </a:prstGeom>
          <a:noFill/>
          <a:ln/>
        </p:spPr>
        <p:txBody>
          <a:bodyPr wrap="square" lIns="0" tIns="0" rIns="0" bIns="0" rtlCol="0" anchor="ctr"/>
          <a:lstStyle/>
          <a:p>
            <a:pPr indent="0" marL="0">
              <a:buNone/>
            </a:pPr>
            <a:r>
              <a:rPr lang="en-US" sz="1400" b="1" dirty="0">
                <a:solidFill>
                  <a:srgbClr val="16213A"/>
                </a:solidFill>
                <a:latin typeface="Calibri" pitchFamily="34" charset="0"/>
                <a:ea typeface="Calibri" pitchFamily="34" charset="-122"/>
                <a:cs typeface="Calibri" pitchFamily="34" charset="-120"/>
              </a:rPr>
              <a:t>Approach</a:t>
            </a:r>
            <a:endParaRPr lang="en-US" sz="1400" dirty="0"/>
          </a:p>
        </p:txBody>
      </p:sp>
      <p:sp>
        <p:nvSpPr>
          <p:cNvPr id="13" name="Text 11"/>
          <p:cNvSpPr txBox="1"/>
          <p:nvPr/>
        </p:nvSpPr>
        <p:spPr>
          <a:xfrm>
            <a:off x="2663190" y="2212848"/>
            <a:ext cx="1474470" cy="365760"/>
          </a:xfrm>
          <a:prstGeom prst="rect">
            <a:avLst/>
          </a:prstGeom>
          <a:noFill/>
          <a:ln/>
        </p:spPr>
        <p:txBody>
          <a:bodyPr wrap="square" lIns="0" tIns="0" rIns="0" bIns="0" rtlCol="0" anchor="t"/>
          <a:lstStyle/>
          <a:p>
            <a:pPr indent="0" marL="0">
              <a:buNone/>
            </a:pPr>
            <a:r>
              <a:rPr lang="en-US" sz="1100" dirty="0">
                <a:solidFill>
                  <a:srgbClr val="4B5563"/>
                </a:solidFill>
                <a:latin typeface="Calibri" pitchFamily="34" charset="0"/>
                <a:ea typeface="Calibri" pitchFamily="34" charset="-122"/>
                <a:cs typeface="Calibri" pitchFamily="34" charset="-120"/>
              </a:rPr>
              <a:t>wrist camera steps 2 cm to 0.21 m</a:t>
            </a:r>
            <a:endParaRPr lang="en-US" sz="1100" dirty="0"/>
          </a:p>
        </p:txBody>
      </p:sp>
      <p:sp>
        <p:nvSpPr>
          <p:cNvPr id="14" name="Text 12"/>
          <p:cNvSpPr txBox="1"/>
          <p:nvPr/>
        </p:nvSpPr>
        <p:spPr>
          <a:xfrm>
            <a:off x="4229100" y="1965960"/>
            <a:ext cx="274320" cy="457200"/>
          </a:xfrm>
          <a:prstGeom prst="rect">
            <a:avLst/>
          </a:prstGeom>
          <a:noFill/>
          <a:ln/>
        </p:spPr>
        <p:txBody>
          <a:bodyPr wrap="square" lIns="0" tIns="0" rIns="0" bIns="0" rtlCol="0" anchor="ctr"/>
          <a:lstStyle/>
          <a:p>
            <a:pPr algn="ctr" indent="0" marL="0">
              <a:buNone/>
            </a:pPr>
            <a:r>
              <a:rPr lang="en-US" sz="2200" b="1" dirty="0">
                <a:solidFill>
                  <a:srgbClr val="6B7280"/>
                </a:solidFill>
                <a:latin typeface="Calibri" pitchFamily="34" charset="0"/>
                <a:ea typeface="Calibri" pitchFamily="34" charset="-122"/>
                <a:cs typeface="Calibri" pitchFamily="34" charset="-120"/>
              </a:rPr>
              <a:t>›</a:t>
            </a:r>
            <a:endParaRPr lang="en-US" sz="2200" dirty="0"/>
          </a:p>
        </p:txBody>
      </p:sp>
      <p:sp>
        <p:nvSpPr>
          <p:cNvPr id="15" name="Shape 13"/>
          <p:cNvSpPr/>
          <p:nvPr/>
        </p:nvSpPr>
        <p:spPr>
          <a:xfrm>
            <a:off x="4503420" y="1874520"/>
            <a:ext cx="1703070" cy="731520"/>
          </a:xfrm>
          <a:prstGeom prst="roundRect">
            <a:avLst>
              <a:gd name="adj" fmla="val 12500"/>
            </a:avLst>
          </a:prstGeom>
          <a:solidFill>
            <a:srgbClr val="16213A"/>
          </a:solidFill>
          <a:ln/>
        </p:spPr>
      </p:sp>
      <p:sp>
        <p:nvSpPr>
          <p:cNvPr id="16" name="Text 14"/>
          <p:cNvSpPr txBox="1"/>
          <p:nvPr/>
        </p:nvSpPr>
        <p:spPr>
          <a:xfrm>
            <a:off x="4640580" y="1920240"/>
            <a:ext cx="147447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Grasp</a:t>
            </a:r>
            <a:endParaRPr lang="en-US" sz="1400" dirty="0"/>
          </a:p>
        </p:txBody>
      </p:sp>
      <p:sp>
        <p:nvSpPr>
          <p:cNvPr id="17" name="Text 15"/>
          <p:cNvSpPr txBox="1"/>
          <p:nvPr/>
        </p:nvSpPr>
        <p:spPr>
          <a:xfrm>
            <a:off x="4640580" y="2212848"/>
            <a:ext cx="1474470" cy="36576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choose and execute</a:t>
            </a:r>
            <a:endParaRPr lang="en-US" sz="1100" dirty="0"/>
          </a:p>
        </p:txBody>
      </p:sp>
      <p:sp>
        <p:nvSpPr>
          <p:cNvPr id="18" name="Text 16"/>
          <p:cNvSpPr txBox="1"/>
          <p:nvPr/>
        </p:nvSpPr>
        <p:spPr>
          <a:xfrm>
            <a:off x="6206490" y="1965960"/>
            <a:ext cx="274320" cy="457200"/>
          </a:xfrm>
          <a:prstGeom prst="rect">
            <a:avLst/>
          </a:prstGeom>
          <a:noFill/>
          <a:ln/>
        </p:spPr>
        <p:txBody>
          <a:bodyPr wrap="square" lIns="0" tIns="0" rIns="0" bIns="0" rtlCol="0" anchor="ctr"/>
          <a:lstStyle/>
          <a:p>
            <a:pPr algn="ctr" indent="0" marL="0">
              <a:buNone/>
            </a:pPr>
            <a:r>
              <a:rPr lang="en-US" sz="2200" b="1" dirty="0">
                <a:solidFill>
                  <a:srgbClr val="6B7280"/>
                </a:solidFill>
                <a:latin typeface="Calibri" pitchFamily="34" charset="0"/>
                <a:ea typeface="Calibri" pitchFamily="34" charset="-122"/>
                <a:cs typeface="Calibri" pitchFamily="34" charset="-120"/>
              </a:rPr>
              <a:t>›</a:t>
            </a:r>
            <a:endParaRPr lang="en-US" sz="2200" dirty="0"/>
          </a:p>
        </p:txBody>
      </p:sp>
      <p:sp>
        <p:nvSpPr>
          <p:cNvPr id="19" name="Shape 17"/>
          <p:cNvSpPr/>
          <p:nvPr/>
        </p:nvSpPr>
        <p:spPr>
          <a:xfrm>
            <a:off x="6480810" y="1874520"/>
            <a:ext cx="1703070" cy="731520"/>
          </a:xfrm>
          <a:prstGeom prst="roundRect">
            <a:avLst>
              <a:gd name="adj" fmla="val 12500"/>
            </a:avLst>
          </a:prstGeom>
          <a:solidFill>
            <a:srgbClr val="EEF2F7"/>
          </a:solidFill>
          <a:ln/>
        </p:spPr>
      </p:sp>
      <p:sp>
        <p:nvSpPr>
          <p:cNvPr id="20" name="Text 18"/>
          <p:cNvSpPr txBox="1"/>
          <p:nvPr/>
        </p:nvSpPr>
        <p:spPr>
          <a:xfrm>
            <a:off x="6617970" y="1920240"/>
            <a:ext cx="1474470" cy="292608"/>
          </a:xfrm>
          <a:prstGeom prst="rect">
            <a:avLst/>
          </a:prstGeom>
          <a:noFill/>
          <a:ln/>
        </p:spPr>
        <p:txBody>
          <a:bodyPr wrap="square" lIns="0" tIns="0" rIns="0" bIns="0" rtlCol="0" anchor="ctr"/>
          <a:lstStyle/>
          <a:p>
            <a:pPr indent="0" marL="0">
              <a:buNone/>
            </a:pPr>
            <a:r>
              <a:rPr lang="en-US" sz="1400" b="1" dirty="0">
                <a:solidFill>
                  <a:srgbClr val="16213A"/>
                </a:solidFill>
                <a:latin typeface="Calibri" pitchFamily="34" charset="0"/>
                <a:ea typeface="Calibri" pitchFamily="34" charset="-122"/>
                <a:cs typeface="Calibri" pitchFamily="34" charset="-120"/>
              </a:rPr>
              <a:t>Hold</a:t>
            </a:r>
            <a:endParaRPr lang="en-US" sz="1400" dirty="0"/>
          </a:p>
        </p:txBody>
      </p:sp>
      <p:sp>
        <p:nvSpPr>
          <p:cNvPr id="21" name="Text 19"/>
          <p:cNvSpPr txBox="1"/>
          <p:nvPr/>
        </p:nvSpPr>
        <p:spPr>
          <a:xfrm>
            <a:off x="6617970" y="2212848"/>
            <a:ext cx="1474470" cy="365760"/>
          </a:xfrm>
          <a:prstGeom prst="rect">
            <a:avLst/>
          </a:prstGeom>
          <a:noFill/>
          <a:ln/>
        </p:spPr>
        <p:txBody>
          <a:bodyPr wrap="square" lIns="0" tIns="0" rIns="0" bIns="0" rtlCol="0" anchor="t"/>
          <a:lstStyle/>
          <a:p>
            <a:pPr indent="0" marL="0">
              <a:buNone/>
            </a:pPr>
            <a:r>
              <a:rPr lang="en-US" sz="1100" dirty="0">
                <a:solidFill>
                  <a:srgbClr val="4B5563"/>
                </a:solidFill>
                <a:latin typeface="Calibri" pitchFamily="34" charset="0"/>
                <a:ea typeface="Calibri" pitchFamily="34" charset="-122"/>
                <a:cs typeface="Calibri" pitchFamily="34" charset="-120"/>
              </a:rPr>
              <a:t>until “release”</a:t>
            </a:r>
            <a:endParaRPr lang="en-US" sz="1100" dirty="0"/>
          </a:p>
        </p:txBody>
      </p:sp>
      <p:sp>
        <p:nvSpPr>
          <p:cNvPr id="22" name="Shape 20"/>
          <p:cNvSpPr/>
          <p:nvPr/>
        </p:nvSpPr>
        <p:spPr>
          <a:xfrm>
            <a:off x="548640" y="2788920"/>
            <a:ext cx="3657600" cy="3108960"/>
          </a:xfrm>
          <a:prstGeom prst="roundRect">
            <a:avLst>
              <a:gd name="adj" fmla="val 2941"/>
            </a:avLst>
          </a:prstGeom>
          <a:solidFill>
            <a:srgbClr val="F8FAFC"/>
          </a:solidFill>
          <a:ln w="12700">
            <a:solidFill>
              <a:srgbClr val="C5CDD8"/>
            </a:solidFill>
            <a:prstDash val="dash"/>
          </a:ln>
        </p:spPr>
      </p:sp>
      <p:sp>
        <p:nvSpPr>
          <p:cNvPr id="23" name="Shape 21"/>
          <p:cNvSpPr/>
          <p:nvPr/>
        </p:nvSpPr>
        <p:spPr>
          <a:xfrm>
            <a:off x="2057400" y="3611880"/>
            <a:ext cx="640080" cy="640080"/>
          </a:xfrm>
          <a:prstGeom prst="ellipse">
            <a:avLst/>
          </a:prstGeom>
          <a:solidFill>
            <a:srgbClr val="C5CDD8"/>
          </a:solidFill>
          <a:ln/>
        </p:spPr>
      </p:sp>
      <p:pic>
        <p:nvPicPr>
          <p:cNvPr id="24" name="Image 0" descr="preencoded.png">    </p:cNvPr>
          <p:cNvPicPr>
            <a:picLocks noChangeAspect="1"/>
          </p:cNvPicPr>
          <p:nvPr/>
        </p:nvPicPr>
        <p:blipFill>
          <a:blip r:embed="rId1"/>
          <a:stretch>
            <a:fillRect/>
          </a:stretch>
        </p:blipFill>
        <p:spPr>
          <a:xfrm>
            <a:off x="2198218" y="3752698"/>
            <a:ext cx="358445" cy="358445"/>
          </a:xfrm>
          <a:prstGeom prst="rect">
            <a:avLst/>
          </a:prstGeom>
        </p:spPr>
      </p:pic>
      <p:sp>
        <p:nvSpPr>
          <p:cNvPr id="25" name="Text 22"/>
          <p:cNvSpPr txBox="1"/>
          <p:nvPr/>
        </p:nvSpPr>
        <p:spPr>
          <a:xfrm>
            <a:off x="548640" y="4389120"/>
            <a:ext cx="3657600" cy="320040"/>
          </a:xfrm>
          <a:prstGeom prst="rect">
            <a:avLst/>
          </a:prstGeom>
          <a:noFill/>
          <a:ln/>
        </p:spPr>
        <p:txBody>
          <a:bodyPr wrap="square" lIns="0" tIns="0" rIns="0" bIns="0" rtlCol="0" anchor="ctr"/>
          <a:lstStyle/>
          <a:p>
            <a:pPr algn="ctr" indent="0" marL="0">
              <a:buNone/>
            </a:pPr>
            <a:r>
              <a:rPr lang="en-US" sz="1500" b="1" dirty="0">
                <a:solidFill>
                  <a:srgbClr val="16213A"/>
                </a:solidFill>
                <a:latin typeface="Calibri" pitchFamily="34" charset="0"/>
                <a:ea typeface="Calibri" pitchFamily="34" charset="-122"/>
                <a:cs typeface="Calibri" pitchFamily="34" charset="-120"/>
              </a:rPr>
              <a:t>Video of the first real grasp</a:t>
            </a:r>
            <a:endParaRPr lang="en-US" sz="1500" dirty="0"/>
          </a:p>
        </p:txBody>
      </p:sp>
      <p:sp>
        <p:nvSpPr>
          <p:cNvPr id="26" name="Text 23"/>
          <p:cNvSpPr txBox="1"/>
          <p:nvPr/>
        </p:nvSpPr>
        <p:spPr>
          <a:xfrm>
            <a:off x="548640" y="4709160"/>
            <a:ext cx="3657600" cy="27432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Dion: drop in grasp_real_arm.mp4 (15 s or less)</a:t>
            </a:r>
            <a:endParaRPr lang="en-US" sz="1100" dirty="0"/>
          </a:p>
        </p:txBody>
      </p:sp>
      <p:sp>
        <p:nvSpPr>
          <p:cNvPr id="27" name="Text 24"/>
          <p:cNvSpPr txBox="1"/>
          <p:nvPr/>
        </p:nvSpPr>
        <p:spPr>
          <a:xfrm>
            <a:off x="4434840" y="2788920"/>
            <a:ext cx="3749040" cy="274320"/>
          </a:xfrm>
          <a:prstGeom prst="rect">
            <a:avLst/>
          </a:prstGeom>
          <a:noFill/>
          <a:ln/>
        </p:spPr>
        <p:txBody>
          <a:bodyPr wrap="square" lIns="0" tIns="0" rIns="0" bIns="0" rtlCol="0" anchor="ctr"/>
          <a:lstStyle/>
          <a:p>
            <a:pPr indent="0" marL="0">
              <a:buNone/>
            </a:pPr>
            <a:r>
              <a:rPr lang="en-US" sz="1400" b="1" dirty="0">
                <a:solidFill>
                  <a:srgbClr val="16213A"/>
                </a:solidFill>
                <a:latin typeface="Calibri" pitchFamily="34" charset="0"/>
                <a:ea typeface="Calibri" pitchFamily="34" charset="-122"/>
                <a:cs typeface="Calibri" pitchFamily="34" charset="-120"/>
              </a:rPr>
              <a:t>Grasps by distance</a:t>
            </a:r>
            <a:endParaRPr lang="en-US" sz="1400" dirty="0"/>
          </a:p>
        </p:txBody>
      </p:sp>
      <p:graphicFrame>
        <p:nvGraphicFramePr>
          <p:cNvPr id="28" name="Chart 0" descr=""/>
          <p:cNvGraphicFramePr/>
          <p:nvPr/>
        </p:nvGraphicFramePr>
        <p:xfrm>
          <a:off x="4343400" y="3108960"/>
          <a:ext cx="3840480" cy="2468880"/>
        </p:xfrm>
        <a:graphic xmlns:a="http://schemas.openxmlformats.org/drawingml/2006/main">
          <a:graphicData uri="http://schemas.openxmlformats.org/drawingml/2006/chart">
            <c:chart xmlns:c="http://schemas.openxmlformats.org/drawingml/2006/chart" r:id="rId2"/>
          </a:graphicData>
        </a:graphic>
      </p:graphicFrame>
      <p:sp>
        <p:nvSpPr>
          <p:cNvPr id="29" name="Text 25"/>
          <p:cNvSpPr txBox="1"/>
          <p:nvPr/>
        </p:nvSpPr>
        <p:spPr>
          <a:xfrm>
            <a:off x="4434840" y="5641848"/>
            <a:ext cx="3749040" cy="22860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54.5 cm is out of reach</a:t>
            </a:r>
            <a:endParaRPr lang="en-US" sz="1100" dirty="0"/>
          </a:p>
        </p:txBody>
      </p:sp>
      <p:sp>
        <p:nvSpPr>
          <p:cNvPr id="30" name="Shape 26"/>
          <p:cNvSpPr/>
          <p:nvPr/>
        </p:nvSpPr>
        <p:spPr>
          <a:xfrm>
            <a:off x="8412480" y="1874520"/>
            <a:ext cx="3227832" cy="1737360"/>
          </a:xfrm>
          <a:prstGeom prst="roundRect">
            <a:avLst>
              <a:gd name="adj" fmla="val 5263"/>
            </a:avLst>
          </a:prstGeom>
          <a:solidFill>
            <a:srgbClr val="16213A"/>
          </a:solidFill>
          <a:ln/>
        </p:spPr>
      </p:sp>
      <p:sp>
        <p:nvSpPr>
          <p:cNvPr id="31" name="Text 27"/>
          <p:cNvSpPr txBox="1"/>
          <p:nvPr/>
        </p:nvSpPr>
        <p:spPr>
          <a:xfrm>
            <a:off x="8641080" y="2057400"/>
            <a:ext cx="2862072" cy="228600"/>
          </a:xfrm>
          <a:prstGeom prst="rect">
            <a:avLst/>
          </a:prstGeom>
          <a:noFill/>
          <a:ln/>
        </p:spPr>
        <p:txBody>
          <a:bodyPr wrap="square" lIns="0" tIns="0" rIns="0" bIns="0" rtlCol="0" anchor="ctr"/>
          <a:lstStyle/>
          <a:p>
            <a:pPr indent="0" marL="0">
              <a:buNone/>
            </a:pPr>
            <a:r>
              <a:rPr lang="en-US" sz="1100" b="1" spc="150" kern="0" dirty="0">
                <a:solidFill>
                  <a:srgbClr val="7DD3FC"/>
                </a:solidFill>
                <a:latin typeface="Calibri" pitchFamily="34" charset="0"/>
                <a:ea typeface="Calibri" pitchFamily="34" charset="-122"/>
                <a:cs typeface="Calibri" pitchFamily="34" charset="-120"/>
              </a:rPr>
              <a:t>WITHIN REACH</a:t>
            </a:r>
            <a:endParaRPr lang="en-US" sz="1100" dirty="0"/>
          </a:p>
        </p:txBody>
      </p:sp>
      <p:sp>
        <p:nvSpPr>
          <p:cNvPr id="32" name="Text 28"/>
          <p:cNvSpPr txBox="1"/>
          <p:nvPr/>
        </p:nvSpPr>
        <p:spPr>
          <a:xfrm>
            <a:off x="8641080" y="2286000"/>
            <a:ext cx="2862072" cy="777240"/>
          </a:xfrm>
          <a:prstGeom prst="rect">
            <a:avLst/>
          </a:prstGeom>
          <a:noFill/>
          <a:ln/>
        </p:spPr>
        <p:txBody>
          <a:bodyPr wrap="square" lIns="0" tIns="0" rIns="0" bIns="0" rtlCol="0" anchor="b"/>
          <a:lstStyle/>
          <a:p>
            <a:pPr indent="0" marL="0">
              <a:buNone/>
            </a:pPr>
            <a:r>
              <a:rPr lang="en-US" sz="5000" b="1" dirty="0">
                <a:solidFill>
                  <a:srgbClr val="FFFFFF"/>
                </a:solidFill>
                <a:latin typeface="Calibri" pitchFamily="34" charset="0"/>
                <a:ea typeface="Calibri" pitchFamily="34" charset="-122"/>
                <a:cs typeface="Calibri" pitchFamily="34" charset="-120"/>
              </a:rPr>
              <a:t>5</a:t>
            </a:r>
            <a:pPr indent="0" marL="0">
              <a:buNone/>
            </a:pPr>
            <a:r>
              <a:rPr lang="en-US" sz="2200" b="1" dirty="0">
                <a:solidFill>
                  <a:srgbClr val="FF7A3A"/>
                </a:solidFill>
                <a:latin typeface="Calibri" pitchFamily="34" charset="0"/>
                <a:ea typeface="Calibri" pitchFamily="34" charset="-122"/>
                <a:cs typeface="Calibri" pitchFamily="34" charset="-120"/>
              </a:rPr>
              <a:t> of 6</a:t>
            </a:r>
            <a:endParaRPr lang="en-US" sz="5000" dirty="0"/>
          </a:p>
        </p:txBody>
      </p:sp>
      <p:sp>
        <p:nvSpPr>
          <p:cNvPr id="33" name="Text 29"/>
          <p:cNvSpPr txBox="1"/>
          <p:nvPr/>
        </p:nvSpPr>
        <p:spPr>
          <a:xfrm>
            <a:off x="8641080" y="3108960"/>
            <a:ext cx="2862072" cy="411480"/>
          </a:xfrm>
          <a:prstGeom prst="rect">
            <a:avLst/>
          </a:prstGeom>
          <a:noFill/>
          <a:ln/>
        </p:spPr>
        <p:txBody>
          <a:bodyPr wrap="square" lIns="0" tIns="0" rIns="0" bIns="0" rtlCol="0" anchor="t"/>
          <a:lstStyle/>
          <a:p>
            <a:pPr indent="0" marL="0">
              <a:buNone/>
            </a:pPr>
            <a:r>
              <a:rPr lang="en-US" sz="1300" dirty="0">
                <a:solidFill>
                  <a:srgbClr val="CBD5E1"/>
                </a:solidFill>
                <a:latin typeface="Calibri" pitchFamily="34" charset="0"/>
                <a:ea typeface="Calibri" pitchFamily="34" charset="-122"/>
                <a:cs typeface="Calibri" pitchFamily="34" charset="-120"/>
              </a:rPr>
              <a:t>grasps (5 of 8 overall), started by a recorded voice command</a:t>
            </a:r>
            <a:endParaRPr lang="en-US" sz="1300" dirty="0"/>
          </a:p>
        </p:txBody>
      </p:sp>
      <p:sp>
        <p:nvSpPr>
          <p:cNvPr id="34" name="Shape 30"/>
          <p:cNvSpPr/>
          <p:nvPr/>
        </p:nvSpPr>
        <p:spPr>
          <a:xfrm>
            <a:off x="8412480" y="3749040"/>
            <a:ext cx="3227832" cy="822960"/>
          </a:xfrm>
          <a:prstGeom prst="roundRect">
            <a:avLst>
              <a:gd name="adj" fmla="val 11111"/>
            </a:avLst>
          </a:prstGeom>
          <a:solidFill>
            <a:srgbClr val="EEF2F7"/>
          </a:solidFill>
          <a:ln/>
        </p:spPr>
      </p:sp>
      <p:sp>
        <p:nvSpPr>
          <p:cNvPr id="35" name="Shape 31"/>
          <p:cNvSpPr/>
          <p:nvPr/>
        </p:nvSpPr>
        <p:spPr>
          <a:xfrm>
            <a:off x="8577072" y="3931920"/>
            <a:ext cx="457200" cy="457200"/>
          </a:xfrm>
          <a:prstGeom prst="ellipse">
            <a:avLst/>
          </a:prstGeom>
          <a:solidFill>
            <a:srgbClr val="0068B5"/>
          </a:solidFill>
          <a:ln/>
        </p:spPr>
      </p:sp>
      <p:pic>
        <p:nvPicPr>
          <p:cNvPr id="36" name="Image 1" descr="preencoded.png">    </p:cNvPr>
          <p:cNvPicPr>
            <a:picLocks noChangeAspect="1"/>
          </p:cNvPicPr>
          <p:nvPr/>
        </p:nvPicPr>
        <p:blipFill>
          <a:blip r:embed="rId3"/>
          <a:stretch>
            <a:fillRect/>
          </a:stretch>
        </p:blipFill>
        <p:spPr>
          <a:xfrm>
            <a:off x="8677656" y="4032504"/>
            <a:ext cx="256032" cy="256032"/>
          </a:xfrm>
          <a:prstGeom prst="rect">
            <a:avLst/>
          </a:prstGeom>
        </p:spPr>
      </p:pic>
      <p:sp>
        <p:nvSpPr>
          <p:cNvPr id="37" name="Text 32"/>
          <p:cNvSpPr txBox="1"/>
          <p:nvPr/>
        </p:nvSpPr>
        <p:spPr>
          <a:xfrm>
            <a:off x="9189720" y="3831336"/>
            <a:ext cx="2313432" cy="329184"/>
          </a:xfrm>
          <a:prstGeom prst="rect">
            <a:avLst/>
          </a:prstGeom>
          <a:noFill/>
          <a:ln/>
        </p:spPr>
        <p:txBody>
          <a:bodyPr wrap="square" lIns="0" tIns="0" rIns="0" bIns="0" rtlCol="0" anchor="b"/>
          <a:lstStyle/>
          <a:p>
            <a:pPr indent="0" marL="0">
              <a:buNone/>
            </a:pPr>
            <a:r>
              <a:rPr lang="en-US" sz="2000" b="1" dirty="0">
                <a:solidFill>
                  <a:srgbClr val="16213A"/>
                </a:solidFill>
                <a:latin typeface="Calibri" pitchFamily="34" charset="0"/>
                <a:ea typeface="Calibri" pitchFamily="34" charset="-122"/>
                <a:cs typeface="Calibri" pitchFamily="34" charset="-120"/>
              </a:rPr>
              <a:t>&lt; 1 ms</a:t>
            </a:r>
            <a:endParaRPr lang="en-US" sz="2000" dirty="0"/>
          </a:p>
        </p:txBody>
      </p:sp>
      <p:sp>
        <p:nvSpPr>
          <p:cNvPr id="38" name="Text 33"/>
          <p:cNvSpPr txBox="1"/>
          <p:nvPr/>
        </p:nvSpPr>
        <p:spPr>
          <a:xfrm>
            <a:off x="9189720" y="4178808"/>
            <a:ext cx="2313432" cy="274320"/>
          </a:xfrm>
          <a:prstGeom prst="rect">
            <a:avLst/>
          </a:prstGeom>
          <a:noFill/>
          <a:ln/>
        </p:spPr>
        <p:txBody>
          <a:bodyPr wrap="square" lIns="0" tIns="0" rIns="0" bIns="0" rtlCol="0" anchor="t"/>
          <a:lstStyle/>
          <a:p>
            <a:pPr indent="0" marL="0">
              <a:buNone/>
            </a:pPr>
            <a:r>
              <a:rPr lang="en-US" sz="1200" dirty="0">
                <a:solidFill>
                  <a:srgbClr val="4B5563"/>
                </a:solidFill>
                <a:latin typeface="Calibri" pitchFamily="34" charset="0"/>
                <a:ea typeface="Calibri" pitchFamily="34" charset="-122"/>
                <a:cs typeface="Calibri" pitchFamily="34" charset="-120"/>
              </a:rPr>
              <a:t>software stop cancels motion</a:t>
            </a:r>
            <a:endParaRPr lang="en-US" sz="1200" dirty="0"/>
          </a:p>
        </p:txBody>
      </p:sp>
      <p:sp>
        <p:nvSpPr>
          <p:cNvPr id="39" name="Shape 34"/>
          <p:cNvSpPr/>
          <p:nvPr/>
        </p:nvSpPr>
        <p:spPr>
          <a:xfrm>
            <a:off x="8412480" y="4709160"/>
            <a:ext cx="3227832" cy="1188720"/>
          </a:xfrm>
          <a:prstGeom prst="roundRect">
            <a:avLst>
              <a:gd name="adj" fmla="val 7692"/>
            </a:avLst>
          </a:prstGeom>
          <a:solidFill>
            <a:srgbClr val="EEF2F7"/>
          </a:solidFill>
          <a:ln/>
        </p:spPr>
      </p:sp>
      <p:sp>
        <p:nvSpPr>
          <p:cNvPr id="40" name="Text 35"/>
          <p:cNvSpPr txBox="1"/>
          <p:nvPr/>
        </p:nvSpPr>
        <p:spPr>
          <a:xfrm>
            <a:off x="8577072" y="4846320"/>
            <a:ext cx="2953512" cy="201168"/>
          </a:xfrm>
          <a:prstGeom prst="rect">
            <a:avLst/>
          </a:prstGeom>
          <a:noFill/>
          <a:ln/>
        </p:spPr>
        <p:txBody>
          <a:bodyPr wrap="square" lIns="0" tIns="0" rIns="0" bIns="0" rtlCol="0" anchor="ctr"/>
          <a:lstStyle/>
          <a:p>
            <a:pPr indent="0" marL="0">
              <a:buNone/>
            </a:pPr>
            <a:r>
              <a:rPr lang="en-US" sz="1100" b="1" spc="150" kern="0" dirty="0">
                <a:solidFill>
                  <a:srgbClr val="C2410C"/>
                </a:solidFill>
                <a:latin typeface="Calibri" pitchFamily="34" charset="0"/>
                <a:ea typeface="Calibri" pitchFamily="34" charset="-122"/>
                <a:cs typeface="Calibri" pitchFamily="34" charset="-120"/>
              </a:rPr>
              <a:t>LIMIT</a:t>
            </a:r>
            <a:endParaRPr lang="en-US" sz="1100" dirty="0"/>
          </a:p>
        </p:txBody>
      </p:sp>
      <p:sp>
        <p:nvSpPr>
          <p:cNvPr id="41" name="Text 36"/>
          <p:cNvSpPr txBox="1"/>
          <p:nvPr/>
        </p:nvSpPr>
        <p:spPr>
          <a:xfrm>
            <a:off x="8577072" y="5093208"/>
            <a:ext cx="2953512" cy="731520"/>
          </a:xfrm>
          <a:prstGeom prst="rect">
            <a:avLst/>
          </a:prstGeom>
          <a:noFill/>
          <a:ln/>
        </p:spPr>
        <p:txBody>
          <a:bodyPr wrap="square" lIns="0" tIns="0" rIns="0" bIns="0" rtlCol="0" anchor="t"/>
          <a:lstStyle/>
          <a:p>
            <a:pPr indent="0" marL="0">
              <a:buNone/>
            </a:pPr>
            <a:r>
              <a:rPr lang="en-US" sz="1300" dirty="0">
                <a:solidFill>
                  <a:srgbClr val="16213A"/>
                </a:solidFill>
                <a:latin typeface="Calibri" pitchFamily="34" charset="0"/>
                <a:ea typeface="Calibri" pitchFamily="34" charset="-122"/>
                <a:cs typeface="Calibri" pitchFamily="34" charset="-120"/>
              </a:rPr>
              <a:t>Narrow band of positions. Two people and a hand on the power button</a:t>
            </a:r>
            <a:endParaRPr lang="en-US" sz="1300" dirty="0"/>
          </a:p>
        </p:txBody>
      </p:sp>
      <p:sp>
        <p:nvSpPr>
          <p:cNvPr id="42" name="Shape 37"/>
          <p:cNvSpPr/>
          <p:nvPr/>
        </p:nvSpPr>
        <p:spPr>
          <a:xfrm>
            <a:off x="594360" y="6400800"/>
            <a:ext cx="1295019" cy="13716"/>
          </a:xfrm>
          <a:prstGeom prst="rect">
            <a:avLst/>
          </a:prstGeom>
          <a:solidFill>
            <a:srgbClr val="D7DEE8"/>
          </a:solidFill>
          <a:ln/>
        </p:spPr>
      </p:sp>
      <p:sp>
        <p:nvSpPr>
          <p:cNvPr id="43" name="Text 38"/>
          <p:cNvSpPr txBox="1"/>
          <p:nvPr/>
        </p:nvSpPr>
        <p:spPr>
          <a:xfrm>
            <a:off x="548640"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Problem</a:t>
            </a:r>
            <a:endParaRPr lang="en-US" sz="1100" dirty="0"/>
          </a:p>
        </p:txBody>
      </p:sp>
      <p:sp>
        <p:nvSpPr>
          <p:cNvPr id="44" name="Shape 39"/>
          <p:cNvSpPr/>
          <p:nvPr/>
        </p:nvSpPr>
        <p:spPr>
          <a:xfrm>
            <a:off x="1980819" y="6400800"/>
            <a:ext cx="1295019" cy="13716"/>
          </a:xfrm>
          <a:prstGeom prst="rect">
            <a:avLst/>
          </a:prstGeom>
          <a:solidFill>
            <a:srgbClr val="D7DEE8"/>
          </a:solidFill>
          <a:ln/>
        </p:spPr>
      </p:sp>
      <p:sp>
        <p:nvSpPr>
          <p:cNvPr id="45" name="Text 40"/>
          <p:cNvSpPr txBox="1"/>
          <p:nvPr/>
        </p:nvSpPr>
        <p:spPr>
          <a:xfrm>
            <a:off x="1935099"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System</a:t>
            </a:r>
            <a:endParaRPr lang="en-US" sz="1100" dirty="0"/>
          </a:p>
        </p:txBody>
      </p:sp>
      <p:sp>
        <p:nvSpPr>
          <p:cNvPr id="46" name="Shape 41"/>
          <p:cNvSpPr/>
          <p:nvPr/>
        </p:nvSpPr>
        <p:spPr>
          <a:xfrm>
            <a:off x="3367278" y="6400800"/>
            <a:ext cx="1295019" cy="13716"/>
          </a:xfrm>
          <a:prstGeom prst="rect">
            <a:avLst/>
          </a:prstGeom>
          <a:solidFill>
            <a:srgbClr val="D7DEE8"/>
          </a:solidFill>
          <a:ln/>
        </p:spPr>
      </p:sp>
      <p:sp>
        <p:nvSpPr>
          <p:cNvPr id="47" name="Text 42"/>
          <p:cNvSpPr txBox="1"/>
          <p:nvPr/>
        </p:nvSpPr>
        <p:spPr>
          <a:xfrm>
            <a:off x="3321558"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Intent</a:t>
            </a:r>
            <a:endParaRPr lang="en-US" sz="1100" dirty="0"/>
          </a:p>
        </p:txBody>
      </p:sp>
      <p:sp>
        <p:nvSpPr>
          <p:cNvPr id="48" name="Shape 43"/>
          <p:cNvSpPr/>
          <p:nvPr/>
        </p:nvSpPr>
        <p:spPr>
          <a:xfrm>
            <a:off x="4753737" y="6400800"/>
            <a:ext cx="1295019" cy="13716"/>
          </a:xfrm>
          <a:prstGeom prst="rect">
            <a:avLst/>
          </a:prstGeom>
          <a:solidFill>
            <a:srgbClr val="D7DEE8"/>
          </a:solidFill>
          <a:ln/>
        </p:spPr>
      </p:sp>
      <p:sp>
        <p:nvSpPr>
          <p:cNvPr id="49" name="Text 44"/>
          <p:cNvSpPr txBox="1"/>
          <p:nvPr/>
        </p:nvSpPr>
        <p:spPr>
          <a:xfrm>
            <a:off x="4708017"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Explore</a:t>
            </a:r>
            <a:endParaRPr lang="en-US" sz="1100" dirty="0"/>
          </a:p>
        </p:txBody>
      </p:sp>
      <p:sp>
        <p:nvSpPr>
          <p:cNvPr id="50" name="Shape 45"/>
          <p:cNvSpPr/>
          <p:nvPr/>
        </p:nvSpPr>
        <p:spPr>
          <a:xfrm>
            <a:off x="6140196" y="6400800"/>
            <a:ext cx="1295019" cy="13716"/>
          </a:xfrm>
          <a:prstGeom prst="rect">
            <a:avLst/>
          </a:prstGeom>
          <a:solidFill>
            <a:srgbClr val="D7DEE8"/>
          </a:solidFill>
          <a:ln/>
        </p:spPr>
      </p:sp>
      <p:sp>
        <p:nvSpPr>
          <p:cNvPr id="51" name="Text 46"/>
          <p:cNvSpPr txBox="1"/>
          <p:nvPr/>
        </p:nvSpPr>
        <p:spPr>
          <a:xfrm>
            <a:off x="6094476"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Search</a:t>
            </a:r>
            <a:endParaRPr lang="en-US" sz="1100" dirty="0"/>
          </a:p>
        </p:txBody>
      </p:sp>
      <p:sp>
        <p:nvSpPr>
          <p:cNvPr id="52" name="Shape 47"/>
          <p:cNvSpPr/>
          <p:nvPr/>
        </p:nvSpPr>
        <p:spPr>
          <a:xfrm>
            <a:off x="7526655" y="6400800"/>
            <a:ext cx="1295019" cy="13716"/>
          </a:xfrm>
          <a:prstGeom prst="rect">
            <a:avLst/>
          </a:prstGeom>
          <a:solidFill>
            <a:srgbClr val="D7DEE8"/>
          </a:solidFill>
          <a:ln/>
        </p:spPr>
      </p:sp>
      <p:sp>
        <p:nvSpPr>
          <p:cNvPr id="53" name="Text 48"/>
          <p:cNvSpPr txBox="1"/>
          <p:nvPr/>
        </p:nvSpPr>
        <p:spPr>
          <a:xfrm>
            <a:off x="7480935"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Confirm</a:t>
            </a:r>
            <a:endParaRPr lang="en-US" sz="1100" dirty="0"/>
          </a:p>
        </p:txBody>
      </p:sp>
      <p:sp>
        <p:nvSpPr>
          <p:cNvPr id="54" name="Shape 49"/>
          <p:cNvSpPr/>
          <p:nvPr/>
        </p:nvSpPr>
        <p:spPr>
          <a:xfrm>
            <a:off x="8913114" y="6400800"/>
            <a:ext cx="1295019" cy="36576"/>
          </a:xfrm>
          <a:prstGeom prst="rect">
            <a:avLst/>
          </a:prstGeom>
          <a:solidFill>
            <a:srgbClr val="0068B5"/>
          </a:solidFill>
          <a:ln/>
        </p:spPr>
      </p:sp>
      <p:sp>
        <p:nvSpPr>
          <p:cNvPr id="55" name="Text 50"/>
          <p:cNvSpPr txBox="1"/>
          <p:nvPr/>
        </p:nvSpPr>
        <p:spPr>
          <a:xfrm>
            <a:off x="8867394" y="6473952"/>
            <a:ext cx="1386459" cy="201168"/>
          </a:xfrm>
          <a:prstGeom prst="rect">
            <a:avLst/>
          </a:prstGeom>
          <a:noFill/>
          <a:ln/>
        </p:spPr>
        <p:txBody>
          <a:bodyPr wrap="square" lIns="0" tIns="0" rIns="0" bIns="0" rtlCol="0" anchor="ctr"/>
          <a:lstStyle/>
          <a:p>
            <a:pPr algn="ctr" indent="0" marL="0">
              <a:buNone/>
            </a:pPr>
            <a:r>
              <a:rPr lang="en-US" sz="1100" b="1" dirty="0">
                <a:solidFill>
                  <a:srgbClr val="16213A"/>
                </a:solidFill>
                <a:latin typeface="Calibri" pitchFamily="34" charset="0"/>
                <a:ea typeface="Calibri" pitchFamily="34" charset="-122"/>
                <a:cs typeface="Calibri" pitchFamily="34" charset="-120"/>
              </a:rPr>
              <a:t>Grasp</a:t>
            </a:r>
            <a:endParaRPr lang="en-US" sz="1100" dirty="0"/>
          </a:p>
        </p:txBody>
      </p:sp>
      <p:sp>
        <p:nvSpPr>
          <p:cNvPr id="56" name="Shape 51"/>
          <p:cNvSpPr/>
          <p:nvPr/>
        </p:nvSpPr>
        <p:spPr>
          <a:xfrm>
            <a:off x="10299573" y="6400800"/>
            <a:ext cx="1295019" cy="13716"/>
          </a:xfrm>
          <a:prstGeom prst="rect">
            <a:avLst/>
          </a:prstGeom>
          <a:solidFill>
            <a:srgbClr val="D7DEE8"/>
          </a:solidFill>
          <a:ln/>
        </p:spPr>
      </p:sp>
      <p:sp>
        <p:nvSpPr>
          <p:cNvPr id="57" name="Text 52"/>
          <p:cNvSpPr txBox="1"/>
          <p:nvPr/>
        </p:nvSpPr>
        <p:spPr>
          <a:xfrm>
            <a:off x="10253853"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Plan</a:t>
            </a:r>
            <a:endParaRPr lang="en-US" sz="1100" dirty="0"/>
          </a:p>
        </p:txBody>
      </p:sp>
      <p:sp>
        <p:nvSpPr>
          <p:cNvPr id="58" name="Text 53"/>
          <p:cNvSpPr txBox="1"/>
          <p:nvPr/>
        </p:nvSpPr>
        <p:spPr>
          <a:xfrm>
            <a:off x="11091672" y="6035040"/>
            <a:ext cx="548640" cy="22860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28600"/>
          </a:xfrm>
          <a:prstGeom prst="rect">
            <a:avLst/>
          </a:prstGeom>
          <a:noFill/>
          <a:ln/>
        </p:spPr>
        <p:txBody>
          <a:bodyPr wrap="square" lIns="0" tIns="0" rIns="0" bIns="0" rtlCol="0" anchor="ctr"/>
          <a:lstStyle/>
          <a:p>
            <a:pPr indent="0" marL="0">
              <a:buNone/>
            </a:pPr>
            <a:r>
              <a:rPr lang="en-US" sz="1100" b="1" spc="150" kern="0" dirty="0">
                <a:solidFill>
                  <a:srgbClr val="0068B5"/>
                </a:solidFill>
                <a:latin typeface="Calibri" pitchFamily="34" charset="0"/>
                <a:ea typeface="Calibri" pitchFamily="34" charset="-122"/>
                <a:cs typeface="Calibri" pitchFamily="34" charset="-120"/>
              </a:rPr>
              <a:t>GAPPLER  ·  DION</a:t>
            </a:r>
            <a:endParaRPr lang="en-US" sz="1100" dirty="0"/>
          </a:p>
        </p:txBody>
      </p:sp>
      <p:sp>
        <p:nvSpPr>
          <p:cNvPr id="3" name="Shape 1"/>
          <p:cNvSpPr/>
          <p:nvPr/>
        </p:nvSpPr>
        <p:spPr>
          <a:xfrm>
            <a:off x="9445752" y="347472"/>
            <a:ext cx="2194560" cy="347472"/>
          </a:xfrm>
          <a:prstGeom prst="roundRect">
            <a:avLst>
              <a:gd name="adj" fmla="val 50000"/>
            </a:avLst>
          </a:prstGeom>
          <a:solidFill>
            <a:srgbClr val="16213A"/>
          </a:solidFill>
          <a:ln/>
        </p:spPr>
      </p:sp>
      <p:sp>
        <p:nvSpPr>
          <p:cNvPr id="4" name="Text 2"/>
          <p:cNvSpPr txBox="1"/>
          <p:nvPr/>
        </p:nvSpPr>
        <p:spPr>
          <a:xfrm>
            <a:off x="9445752" y="347472"/>
            <a:ext cx="2194560" cy="347472"/>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PHASE 5  ·  GRASP</a:t>
            </a:r>
            <a:endParaRPr lang="en-US" sz="1100" dirty="0"/>
          </a:p>
        </p:txBody>
      </p:sp>
      <p:sp>
        <p:nvSpPr>
          <p:cNvPr id="5" name="Text 3"/>
          <p:cNvSpPr txBox="1"/>
          <p:nvPr/>
        </p:nvSpPr>
        <p:spPr>
          <a:xfrm>
            <a:off x="548640" y="777240"/>
            <a:ext cx="11091672" cy="548640"/>
          </a:xfrm>
          <a:prstGeom prst="rect">
            <a:avLst/>
          </a:prstGeom>
          <a:noFill/>
          <a:ln/>
        </p:spPr>
        <p:txBody>
          <a:bodyPr wrap="square" lIns="0" tIns="0" rIns="0" bIns="0" rtlCol="0" anchor="ctr"/>
          <a:lstStyle/>
          <a:p>
            <a:pPr indent="0" marL="0">
              <a:buNone/>
            </a:pPr>
            <a:r>
              <a:rPr lang="en-US" sz="3000" b="1" dirty="0">
                <a:solidFill>
                  <a:srgbClr val="16213A"/>
                </a:solidFill>
                <a:latin typeface="Calibri" pitchFamily="34" charset="0"/>
                <a:ea typeface="Calibri" pitchFamily="34" charset="-122"/>
                <a:cs typeface="Calibri" pitchFamily="34" charset="-120"/>
              </a:rPr>
              <a:t>AnyGrasp works at only one ideal spot</a:t>
            </a:r>
            <a:endParaRPr lang="en-US" sz="3000" dirty="0"/>
          </a:p>
        </p:txBody>
      </p:sp>
      <p:sp>
        <p:nvSpPr>
          <p:cNvPr id="6" name="Text 4"/>
          <p:cNvSpPr txBox="1"/>
          <p:nvPr/>
        </p:nvSpPr>
        <p:spPr>
          <a:xfrm>
            <a:off x="548640" y="1325880"/>
            <a:ext cx="11091672" cy="320040"/>
          </a:xfrm>
          <a:prstGeom prst="rect">
            <a:avLst/>
          </a:prstGeom>
          <a:noFill/>
          <a:ln/>
        </p:spPr>
        <p:txBody>
          <a:bodyPr wrap="square" lIns="0" tIns="0" rIns="0" bIns="0" rtlCol="0" anchor="ctr"/>
          <a:lstStyle/>
          <a:p>
            <a:pPr indent="0" marL="0">
              <a:buNone/>
            </a:pPr>
            <a:r>
              <a:rPr lang="en-US" sz="1700" dirty="0">
                <a:solidFill>
                  <a:srgbClr val="4B5563"/>
                </a:solidFill>
                <a:latin typeface="Calibri" pitchFamily="34" charset="0"/>
                <a:ea typeface="Calibri" pitchFamily="34" charset="-122"/>
                <a:cs typeface="Calibri" pitchFamily="34" charset="-120"/>
              </a:rPr>
              <a:t>Up close, the wrist camera sees only one face of the box</a:t>
            </a:r>
            <a:endParaRPr lang="en-US" sz="1700" dirty="0"/>
          </a:p>
        </p:txBody>
      </p:sp>
      <p:pic>
        <p:nvPicPr>
          <p:cNvPr id="7" name="Image 0" descr="Fit check: an edge grasp on the 75 mm face measured as 56 mm passes wrongly">    </p:cNvPr>
          <p:cNvPicPr>
            <a:picLocks noChangeAspect="1"/>
          </p:cNvPicPr>
          <p:nvPr/>
        </p:nvPicPr>
        <p:blipFill>
          <a:blip r:embed="rId1"/>
          <a:srcRect l="0" r="0" t="0" b="0"/>
          <a:stretch/>
        </p:blipFill>
        <p:spPr>
          <a:xfrm>
            <a:off x="548640" y="1874520"/>
            <a:ext cx="3520440" cy="2788920"/>
          </a:xfrm>
          <a:prstGeom prst="rect">
            <a:avLst/>
          </a:prstGeom>
        </p:spPr>
      </p:pic>
      <p:sp>
        <p:nvSpPr>
          <p:cNvPr id="8" name="Shape 5"/>
          <p:cNvSpPr/>
          <p:nvPr/>
        </p:nvSpPr>
        <p:spPr>
          <a:xfrm>
            <a:off x="548640" y="1874520"/>
            <a:ext cx="3520440" cy="2788920"/>
          </a:xfrm>
          <a:prstGeom prst="rect">
            <a:avLst/>
          </a:prstGeom>
          <a:ln w="9525">
            <a:solidFill>
              <a:srgbClr val="D7DEE8"/>
            </a:solidFill>
            <a:prstDash val="solid"/>
          </a:ln>
        </p:spPr>
      </p:sp>
      <p:sp>
        <p:nvSpPr>
          <p:cNvPr id="9" name="Shape 6"/>
          <p:cNvSpPr/>
          <p:nvPr/>
        </p:nvSpPr>
        <p:spPr>
          <a:xfrm>
            <a:off x="4297680" y="1874520"/>
            <a:ext cx="3886200" cy="2788920"/>
          </a:xfrm>
          <a:prstGeom prst="roundRect">
            <a:avLst>
              <a:gd name="adj" fmla="val 3279"/>
            </a:avLst>
          </a:prstGeom>
          <a:solidFill>
            <a:srgbClr val="EEF2F7"/>
          </a:solidFill>
          <a:ln/>
        </p:spPr>
      </p:sp>
      <p:sp>
        <p:nvSpPr>
          <p:cNvPr id="10" name="Text 7"/>
          <p:cNvSpPr txBox="1"/>
          <p:nvPr/>
        </p:nvSpPr>
        <p:spPr>
          <a:xfrm>
            <a:off x="4480560" y="2011680"/>
            <a:ext cx="3611880" cy="228600"/>
          </a:xfrm>
          <a:prstGeom prst="rect">
            <a:avLst/>
          </a:prstGeom>
          <a:noFill/>
          <a:ln/>
        </p:spPr>
        <p:txBody>
          <a:bodyPr wrap="square" lIns="0" tIns="0" rIns="0" bIns="0" rtlCol="0" anchor="ctr"/>
          <a:lstStyle/>
          <a:p>
            <a:pPr indent="0" marL="0">
              <a:buNone/>
            </a:pPr>
            <a:r>
              <a:rPr lang="en-US" sz="1100" b="1" spc="150" kern="0" dirty="0">
                <a:solidFill>
                  <a:srgbClr val="0068B5"/>
                </a:solidFill>
                <a:latin typeface="Calibri" pitchFamily="34" charset="0"/>
                <a:ea typeface="Calibri" pitchFamily="34" charset="-122"/>
                <a:cs typeface="Calibri" pitchFamily="34" charset="-120"/>
              </a:rPr>
              <a:t>WHY IT FAILS UP CLOSE</a:t>
            </a:r>
            <a:endParaRPr lang="en-US" sz="1100" dirty="0"/>
          </a:p>
        </p:txBody>
      </p:sp>
      <p:sp>
        <p:nvSpPr>
          <p:cNvPr id="11" name="Text 8"/>
          <p:cNvSpPr txBox="1"/>
          <p:nvPr/>
        </p:nvSpPr>
        <p:spPr>
          <a:xfrm>
            <a:off x="4480560" y="2423160"/>
            <a:ext cx="868680" cy="411480"/>
          </a:xfrm>
          <a:prstGeom prst="rect">
            <a:avLst/>
          </a:prstGeom>
          <a:noFill/>
          <a:ln/>
        </p:spPr>
        <p:txBody>
          <a:bodyPr wrap="square" lIns="0" tIns="0" rIns="0" bIns="0" rtlCol="0" anchor="ctr"/>
          <a:lstStyle/>
          <a:p>
            <a:pPr indent="0" marL="0">
              <a:buNone/>
            </a:pPr>
            <a:r>
              <a:rPr lang="en-US" sz="1300" b="1" dirty="0">
                <a:solidFill>
                  <a:srgbClr val="16213A"/>
                </a:solidFill>
                <a:latin typeface="Calibri" pitchFamily="34" charset="0"/>
                <a:ea typeface="Calibri" pitchFamily="34" charset="-122"/>
                <a:cs typeface="Calibri" pitchFamily="34" charset="-120"/>
              </a:rPr>
              <a:t>Side face</a:t>
            </a:r>
            <a:endParaRPr lang="en-US" sz="1300" dirty="0"/>
          </a:p>
        </p:txBody>
      </p:sp>
      <p:sp>
        <p:nvSpPr>
          <p:cNvPr id="12" name="Shape 9"/>
          <p:cNvSpPr/>
          <p:nvPr/>
        </p:nvSpPr>
        <p:spPr>
          <a:xfrm>
            <a:off x="5394960" y="2468880"/>
            <a:ext cx="1920240" cy="320040"/>
          </a:xfrm>
          <a:prstGeom prst="rect">
            <a:avLst/>
          </a:prstGeom>
          <a:solidFill>
            <a:srgbClr val="C5CDD8"/>
          </a:solidFill>
          <a:ln/>
        </p:spPr>
      </p:sp>
      <p:sp>
        <p:nvSpPr>
          <p:cNvPr id="13" name="Text 10"/>
          <p:cNvSpPr txBox="1"/>
          <p:nvPr/>
        </p:nvSpPr>
        <p:spPr>
          <a:xfrm>
            <a:off x="5394960" y="2468880"/>
            <a:ext cx="1920240" cy="320040"/>
          </a:xfrm>
          <a:prstGeom prst="rect">
            <a:avLst/>
          </a:prstGeom>
          <a:noFill/>
          <a:ln/>
        </p:spPr>
        <p:txBody>
          <a:bodyPr wrap="square" lIns="0" tIns="0" rIns="0" bIns="0" rtlCol="0" anchor="ctr"/>
          <a:lstStyle/>
          <a:p>
            <a:pPr algn="ctr" indent="0" marL="0">
              <a:buNone/>
            </a:pPr>
            <a:r>
              <a:rPr lang="en-US" sz="1200" b="1" dirty="0">
                <a:solidFill>
                  <a:srgbClr val="16213A"/>
                </a:solidFill>
                <a:latin typeface="Calibri" pitchFamily="34" charset="0"/>
                <a:ea typeface="Calibri" pitchFamily="34" charset="-122"/>
                <a:cs typeface="Calibri" pitchFamily="34" charset="-120"/>
              </a:rPr>
              <a:t>75 mm</a:t>
            </a:r>
            <a:endParaRPr lang="en-US" sz="1200" dirty="0"/>
          </a:p>
        </p:txBody>
      </p:sp>
      <p:sp>
        <p:nvSpPr>
          <p:cNvPr id="14" name="Shape 11"/>
          <p:cNvSpPr/>
          <p:nvPr/>
        </p:nvSpPr>
        <p:spPr>
          <a:xfrm>
            <a:off x="5394960" y="2404872"/>
            <a:ext cx="1817827" cy="448056"/>
          </a:xfrm>
          <a:prstGeom prst="rect">
            <a:avLst/>
          </a:prstGeom>
          <a:ln w="15875">
            <a:solidFill>
              <a:srgbClr val="16213A"/>
            </a:solidFill>
            <a:prstDash val="dash"/>
          </a:ln>
        </p:spPr>
      </p:sp>
      <p:sp>
        <p:nvSpPr>
          <p:cNvPr id="15" name="Shape 12"/>
          <p:cNvSpPr/>
          <p:nvPr/>
        </p:nvSpPr>
        <p:spPr>
          <a:xfrm>
            <a:off x="7452360" y="2468880"/>
            <a:ext cx="329184" cy="329184"/>
          </a:xfrm>
          <a:prstGeom prst="ellipse">
            <a:avLst/>
          </a:prstGeom>
          <a:solidFill>
            <a:srgbClr val="DC2626"/>
          </a:solidFill>
          <a:ln/>
        </p:spPr>
      </p:sp>
      <p:pic>
        <p:nvPicPr>
          <p:cNvPr id="16" name="Image 1" descr="preencoded.png">    </p:cNvPr>
          <p:cNvPicPr>
            <a:picLocks noChangeAspect="1"/>
          </p:cNvPicPr>
          <p:nvPr/>
        </p:nvPicPr>
        <p:blipFill>
          <a:blip r:embed="rId2"/>
          <a:stretch>
            <a:fillRect/>
          </a:stretch>
        </p:blipFill>
        <p:spPr>
          <a:xfrm>
            <a:off x="7524780" y="2541300"/>
            <a:ext cx="184343" cy="184343"/>
          </a:xfrm>
          <a:prstGeom prst="rect">
            <a:avLst/>
          </a:prstGeom>
        </p:spPr>
      </p:pic>
      <p:sp>
        <p:nvSpPr>
          <p:cNvPr id="17" name="Text 13"/>
          <p:cNvSpPr txBox="1"/>
          <p:nvPr/>
        </p:nvSpPr>
        <p:spPr>
          <a:xfrm>
            <a:off x="4480560" y="3200400"/>
            <a:ext cx="868680" cy="411480"/>
          </a:xfrm>
          <a:prstGeom prst="rect">
            <a:avLst/>
          </a:prstGeom>
          <a:noFill/>
          <a:ln/>
        </p:spPr>
        <p:txBody>
          <a:bodyPr wrap="square" lIns="0" tIns="0" rIns="0" bIns="0" rtlCol="0" anchor="ctr"/>
          <a:lstStyle/>
          <a:p>
            <a:pPr indent="0" marL="0">
              <a:buNone/>
            </a:pPr>
            <a:r>
              <a:rPr lang="en-US" sz="1300" b="1" dirty="0">
                <a:solidFill>
                  <a:srgbClr val="16213A"/>
                </a:solidFill>
                <a:latin typeface="Calibri" pitchFamily="34" charset="0"/>
                <a:ea typeface="Calibri" pitchFamily="34" charset="-122"/>
                <a:cs typeface="Calibri" pitchFamily="34" charset="-120"/>
              </a:rPr>
              <a:t>Top</a:t>
            </a:r>
            <a:endParaRPr lang="en-US" sz="1300" dirty="0"/>
          </a:p>
        </p:txBody>
      </p:sp>
      <p:sp>
        <p:nvSpPr>
          <p:cNvPr id="18" name="Shape 14"/>
          <p:cNvSpPr/>
          <p:nvPr/>
        </p:nvSpPr>
        <p:spPr>
          <a:xfrm>
            <a:off x="5394960" y="3246120"/>
            <a:ext cx="1536192" cy="320040"/>
          </a:xfrm>
          <a:prstGeom prst="rect">
            <a:avLst/>
          </a:prstGeom>
          <a:solidFill>
            <a:srgbClr val="0068B5"/>
          </a:solidFill>
          <a:ln/>
        </p:spPr>
      </p:sp>
      <p:sp>
        <p:nvSpPr>
          <p:cNvPr id="19" name="Text 15"/>
          <p:cNvSpPr txBox="1"/>
          <p:nvPr/>
        </p:nvSpPr>
        <p:spPr>
          <a:xfrm>
            <a:off x="5394960" y="3246120"/>
            <a:ext cx="1536192"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60 mm</a:t>
            </a:r>
            <a:endParaRPr lang="en-US" sz="1200" dirty="0"/>
          </a:p>
        </p:txBody>
      </p:sp>
      <p:sp>
        <p:nvSpPr>
          <p:cNvPr id="20" name="Shape 16"/>
          <p:cNvSpPr/>
          <p:nvPr/>
        </p:nvSpPr>
        <p:spPr>
          <a:xfrm>
            <a:off x="5394960" y="3182112"/>
            <a:ext cx="1817827" cy="448056"/>
          </a:xfrm>
          <a:prstGeom prst="rect">
            <a:avLst/>
          </a:prstGeom>
          <a:ln w="15875">
            <a:solidFill>
              <a:srgbClr val="16213A"/>
            </a:solidFill>
            <a:prstDash val="dash"/>
          </a:ln>
        </p:spPr>
      </p:sp>
      <p:sp>
        <p:nvSpPr>
          <p:cNvPr id="21" name="Shape 17"/>
          <p:cNvSpPr/>
          <p:nvPr/>
        </p:nvSpPr>
        <p:spPr>
          <a:xfrm>
            <a:off x="7452360" y="3246120"/>
            <a:ext cx="329184" cy="329184"/>
          </a:xfrm>
          <a:prstGeom prst="ellipse">
            <a:avLst/>
          </a:prstGeom>
          <a:solidFill>
            <a:srgbClr val="16A34A"/>
          </a:solidFill>
          <a:ln/>
        </p:spPr>
      </p:sp>
      <p:pic>
        <p:nvPicPr>
          <p:cNvPr id="22" name="Image 2" descr="preencoded.png">    </p:cNvPr>
          <p:cNvPicPr>
            <a:picLocks noChangeAspect="1"/>
          </p:cNvPicPr>
          <p:nvPr/>
        </p:nvPicPr>
        <p:blipFill>
          <a:blip r:embed="rId3"/>
          <a:stretch>
            <a:fillRect/>
          </a:stretch>
        </p:blipFill>
        <p:spPr>
          <a:xfrm>
            <a:off x="7524780" y="3318540"/>
            <a:ext cx="184343" cy="184343"/>
          </a:xfrm>
          <a:prstGeom prst="rect">
            <a:avLst/>
          </a:prstGeom>
        </p:spPr>
      </p:pic>
      <p:sp>
        <p:nvSpPr>
          <p:cNvPr id="23" name="Text 18"/>
          <p:cNvSpPr txBox="1"/>
          <p:nvPr/>
        </p:nvSpPr>
        <p:spPr>
          <a:xfrm>
            <a:off x="5394960" y="3794760"/>
            <a:ext cx="2697480" cy="22860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Dashed: gripper opens to 71 mm</a:t>
            </a:r>
            <a:endParaRPr lang="en-US" sz="1100" dirty="0"/>
          </a:p>
        </p:txBody>
      </p:sp>
      <p:sp>
        <p:nvSpPr>
          <p:cNvPr id="24" name="Text 19"/>
          <p:cNvSpPr txBox="1"/>
          <p:nvPr/>
        </p:nvSpPr>
        <p:spPr>
          <a:xfrm>
            <a:off x="4480560" y="4069080"/>
            <a:ext cx="3566160" cy="548640"/>
          </a:xfrm>
          <a:prstGeom prst="rect">
            <a:avLst/>
          </a:prstGeom>
          <a:noFill/>
          <a:ln/>
        </p:spPr>
        <p:txBody>
          <a:bodyPr wrap="square" lIns="0" tIns="0" rIns="0" bIns="0" rtlCol="0" anchor="t"/>
          <a:lstStyle/>
          <a:p>
            <a:pPr indent="0" marL="0">
              <a:buNone/>
            </a:pPr>
            <a:r>
              <a:rPr lang="en-US" sz="1200" dirty="0">
                <a:solidFill>
                  <a:srgbClr val="16213A"/>
                </a:solidFill>
                <a:latin typeface="Calibri" pitchFamily="34" charset="0"/>
                <a:ea typeface="Calibri" pitchFamily="34" charset="-122"/>
                <a:cs typeface="Calibri" pitchFamily="34" charset="-120"/>
              </a:rPr>
              <a:t>Top grasp: proposed in 49 of 75 frames, but scores ≤ 0.25, under the 0.3 floor</a:t>
            </a:r>
            <a:endParaRPr lang="en-US" sz="1200" dirty="0"/>
          </a:p>
        </p:txBody>
      </p:sp>
      <p:sp>
        <p:nvSpPr>
          <p:cNvPr id="25" name="Shape 20"/>
          <p:cNvSpPr/>
          <p:nvPr/>
        </p:nvSpPr>
        <p:spPr>
          <a:xfrm>
            <a:off x="8412480" y="1874520"/>
            <a:ext cx="3227832" cy="1737360"/>
          </a:xfrm>
          <a:prstGeom prst="roundRect">
            <a:avLst>
              <a:gd name="adj" fmla="val 5263"/>
            </a:avLst>
          </a:prstGeom>
          <a:solidFill>
            <a:srgbClr val="16213A"/>
          </a:solidFill>
          <a:ln/>
        </p:spPr>
      </p:sp>
      <p:sp>
        <p:nvSpPr>
          <p:cNvPr id="26" name="Text 21"/>
          <p:cNvSpPr txBox="1"/>
          <p:nvPr/>
        </p:nvSpPr>
        <p:spPr>
          <a:xfrm>
            <a:off x="8641080" y="2057400"/>
            <a:ext cx="2862072" cy="228600"/>
          </a:xfrm>
          <a:prstGeom prst="rect">
            <a:avLst/>
          </a:prstGeom>
          <a:noFill/>
          <a:ln/>
        </p:spPr>
        <p:txBody>
          <a:bodyPr wrap="square" lIns="0" tIns="0" rIns="0" bIns="0" rtlCol="0" anchor="ctr"/>
          <a:lstStyle/>
          <a:p>
            <a:pPr indent="0" marL="0">
              <a:buNone/>
            </a:pPr>
            <a:r>
              <a:rPr lang="en-US" sz="1100" b="1" spc="150" kern="0" dirty="0">
                <a:solidFill>
                  <a:srgbClr val="7DD3FC"/>
                </a:solidFill>
                <a:latin typeface="Calibri" pitchFamily="34" charset="0"/>
                <a:ea typeface="Calibri" pitchFamily="34" charset="-122"/>
                <a:cs typeface="Calibri" pitchFamily="34" charset="-120"/>
              </a:rPr>
              <a:t>AT THE IDEAL SPOT</a:t>
            </a:r>
            <a:endParaRPr lang="en-US" sz="1100" dirty="0"/>
          </a:p>
        </p:txBody>
      </p:sp>
      <p:sp>
        <p:nvSpPr>
          <p:cNvPr id="27" name="Text 22"/>
          <p:cNvSpPr txBox="1"/>
          <p:nvPr/>
        </p:nvSpPr>
        <p:spPr>
          <a:xfrm>
            <a:off x="8641080" y="2286000"/>
            <a:ext cx="2862072" cy="777240"/>
          </a:xfrm>
          <a:prstGeom prst="rect">
            <a:avLst/>
          </a:prstGeom>
          <a:noFill/>
          <a:ln/>
        </p:spPr>
        <p:txBody>
          <a:bodyPr wrap="square" lIns="0" tIns="0" rIns="0" bIns="0" rtlCol="0" anchor="b"/>
          <a:lstStyle/>
          <a:p>
            <a:pPr indent="0" marL="0">
              <a:buNone/>
            </a:pPr>
            <a:r>
              <a:rPr lang="en-US" sz="5000" b="1" dirty="0">
                <a:solidFill>
                  <a:srgbClr val="FFFFFF"/>
                </a:solidFill>
                <a:latin typeface="Calibri" pitchFamily="34" charset="0"/>
                <a:ea typeface="Calibri" pitchFamily="34" charset="-122"/>
                <a:cs typeface="Calibri" pitchFamily="34" charset="-120"/>
              </a:rPr>
              <a:t>2</a:t>
            </a:r>
            <a:pPr indent="0" marL="0">
              <a:buNone/>
            </a:pPr>
            <a:r>
              <a:rPr lang="en-US" sz="2200" b="1" dirty="0">
                <a:solidFill>
                  <a:srgbClr val="FF7A3A"/>
                </a:solidFill>
                <a:latin typeface="Calibri" pitchFamily="34" charset="0"/>
                <a:ea typeface="Calibri" pitchFamily="34" charset="-122"/>
                <a:cs typeface="Calibri" pitchFamily="34" charset="-120"/>
              </a:rPr>
              <a:t> of 3</a:t>
            </a:r>
            <a:endParaRPr lang="en-US" sz="5000" dirty="0"/>
          </a:p>
        </p:txBody>
      </p:sp>
      <p:sp>
        <p:nvSpPr>
          <p:cNvPr id="28" name="Text 23"/>
          <p:cNvSpPr txBox="1"/>
          <p:nvPr/>
        </p:nvSpPr>
        <p:spPr>
          <a:xfrm>
            <a:off x="8641080" y="3108960"/>
            <a:ext cx="2862072" cy="411480"/>
          </a:xfrm>
          <a:prstGeom prst="rect">
            <a:avLst/>
          </a:prstGeom>
          <a:noFill/>
          <a:ln/>
        </p:spPr>
        <p:txBody>
          <a:bodyPr wrap="square" lIns="0" tIns="0" rIns="0" bIns="0" rtlCol="0" anchor="t"/>
          <a:lstStyle/>
          <a:p>
            <a:pPr indent="0" marL="0">
              <a:buNone/>
            </a:pPr>
            <a:r>
              <a:rPr lang="en-US" sz="1300" dirty="0">
                <a:solidFill>
                  <a:srgbClr val="CBD5E1"/>
                </a:solidFill>
                <a:latin typeface="Calibri" pitchFamily="34" charset="0"/>
                <a:ea typeface="Calibri" pitchFamily="34" charset="-122"/>
                <a:cs typeface="Calibri" pitchFamily="34" charset="-120"/>
              </a:rPr>
              <a:t>grasps at 44.5 cm, centred and square</a:t>
            </a:r>
            <a:endParaRPr lang="en-US" sz="1300" dirty="0"/>
          </a:p>
        </p:txBody>
      </p:sp>
      <p:sp>
        <p:nvSpPr>
          <p:cNvPr id="29" name="Shape 24"/>
          <p:cNvSpPr/>
          <p:nvPr/>
        </p:nvSpPr>
        <p:spPr>
          <a:xfrm>
            <a:off x="8412480" y="3749040"/>
            <a:ext cx="3227832" cy="914400"/>
          </a:xfrm>
          <a:prstGeom prst="roundRect">
            <a:avLst>
              <a:gd name="adj" fmla="val 10000"/>
            </a:avLst>
          </a:prstGeom>
          <a:solidFill>
            <a:srgbClr val="EEF2F7"/>
          </a:solidFill>
          <a:ln/>
        </p:spPr>
      </p:sp>
      <p:sp>
        <p:nvSpPr>
          <p:cNvPr id="30" name="Shape 25"/>
          <p:cNvSpPr/>
          <p:nvPr/>
        </p:nvSpPr>
        <p:spPr>
          <a:xfrm>
            <a:off x="8577072" y="3977640"/>
            <a:ext cx="457200" cy="457200"/>
          </a:xfrm>
          <a:prstGeom prst="ellipse">
            <a:avLst/>
          </a:prstGeom>
          <a:solidFill>
            <a:srgbClr val="0068B5"/>
          </a:solidFill>
          <a:ln/>
        </p:spPr>
      </p:sp>
      <p:pic>
        <p:nvPicPr>
          <p:cNvPr id="31" name="Image 3" descr="preencoded.png">    </p:cNvPr>
          <p:cNvPicPr>
            <a:picLocks noChangeAspect="1"/>
          </p:cNvPicPr>
          <p:nvPr/>
        </p:nvPicPr>
        <p:blipFill>
          <a:blip r:embed="rId4"/>
          <a:stretch>
            <a:fillRect/>
          </a:stretch>
        </p:blipFill>
        <p:spPr>
          <a:xfrm>
            <a:off x="8677656" y="4078224"/>
            <a:ext cx="256032" cy="256032"/>
          </a:xfrm>
          <a:prstGeom prst="rect">
            <a:avLst/>
          </a:prstGeom>
        </p:spPr>
      </p:pic>
      <p:sp>
        <p:nvSpPr>
          <p:cNvPr id="32" name="Text 26"/>
          <p:cNvSpPr txBox="1"/>
          <p:nvPr/>
        </p:nvSpPr>
        <p:spPr>
          <a:xfrm>
            <a:off x="9189720" y="3877056"/>
            <a:ext cx="2313432" cy="329184"/>
          </a:xfrm>
          <a:prstGeom prst="rect">
            <a:avLst/>
          </a:prstGeom>
          <a:noFill/>
          <a:ln/>
        </p:spPr>
        <p:txBody>
          <a:bodyPr wrap="square" lIns="0" tIns="0" rIns="0" bIns="0" rtlCol="0" anchor="b"/>
          <a:lstStyle/>
          <a:p>
            <a:pPr indent="0" marL="0">
              <a:buNone/>
            </a:pPr>
            <a:r>
              <a:rPr lang="en-US" sz="2000" b="1" dirty="0">
                <a:solidFill>
                  <a:srgbClr val="16213A"/>
                </a:solidFill>
                <a:latin typeface="Calibri" pitchFamily="34" charset="0"/>
                <a:ea typeface="Calibri" pitchFamily="34" charset="-122"/>
                <a:cs typeface="Calibri" pitchFamily="34" charset="-120"/>
              </a:rPr>
              <a:t>0 of 4</a:t>
            </a:r>
            <a:endParaRPr lang="en-US" sz="2000" dirty="0"/>
          </a:p>
        </p:txBody>
      </p:sp>
      <p:sp>
        <p:nvSpPr>
          <p:cNvPr id="33" name="Text 27"/>
          <p:cNvSpPr txBox="1"/>
          <p:nvPr/>
        </p:nvSpPr>
        <p:spPr>
          <a:xfrm>
            <a:off x="9189720" y="4224528"/>
            <a:ext cx="2313432" cy="274320"/>
          </a:xfrm>
          <a:prstGeom prst="rect">
            <a:avLst/>
          </a:prstGeom>
          <a:noFill/>
          <a:ln/>
        </p:spPr>
        <p:txBody>
          <a:bodyPr wrap="square" lIns="0" tIns="0" rIns="0" bIns="0" rtlCol="0" anchor="t"/>
          <a:lstStyle/>
          <a:p>
            <a:pPr indent="0" marL="0">
              <a:buNone/>
            </a:pPr>
            <a:r>
              <a:rPr lang="en-US" sz="1200" dirty="0">
                <a:solidFill>
                  <a:srgbClr val="4B5563"/>
                </a:solidFill>
                <a:latin typeface="Calibri" pitchFamily="34" charset="0"/>
                <a:ea typeface="Calibri" pitchFamily="34" charset="-122"/>
                <a:cs typeface="Calibri" pitchFamily="34" charset="-120"/>
              </a:rPr>
              <a:t>live, with the OK-Robot recipe</a:t>
            </a:r>
            <a:endParaRPr lang="en-US" sz="1200" dirty="0"/>
          </a:p>
        </p:txBody>
      </p:sp>
      <p:sp>
        <p:nvSpPr>
          <p:cNvPr id="34" name="Text 28"/>
          <p:cNvSpPr txBox="1"/>
          <p:nvPr/>
        </p:nvSpPr>
        <p:spPr>
          <a:xfrm>
            <a:off x="548640" y="4690872"/>
            <a:ext cx="7680960" cy="22860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Fit check reads the 75 mm face as 56 mm, so it passes (369 of 369 on replay)</a:t>
            </a:r>
            <a:endParaRPr lang="en-US" sz="1100" dirty="0"/>
          </a:p>
        </p:txBody>
      </p:sp>
      <p:sp>
        <p:nvSpPr>
          <p:cNvPr id="35" name="Text 29"/>
          <p:cNvSpPr txBox="1"/>
          <p:nvPr/>
        </p:nvSpPr>
        <p:spPr>
          <a:xfrm>
            <a:off x="548640" y="4983480"/>
            <a:ext cx="1463040" cy="914400"/>
          </a:xfrm>
          <a:prstGeom prst="rect">
            <a:avLst/>
          </a:prstGeom>
          <a:noFill/>
          <a:ln/>
        </p:spPr>
        <p:txBody>
          <a:bodyPr wrap="square" lIns="0" tIns="0" rIns="0" bIns="0" rtlCol="0" anchor="ctr"/>
          <a:lstStyle/>
          <a:p>
            <a:pPr indent="0" marL="0">
              <a:buNone/>
            </a:pPr>
            <a:r>
              <a:rPr lang="en-US" sz="1100" b="1" spc="150" kern="0" dirty="0">
                <a:solidFill>
                  <a:srgbClr val="6B7280"/>
                </a:solidFill>
                <a:latin typeface="Calibri" pitchFamily="34" charset="0"/>
                <a:ea typeface="Calibri" pitchFamily="34" charset="-122"/>
                <a:cs typeface="Calibri" pitchFamily="34" charset="-120"/>
              </a:rPr>
              <a:t>NEXT, CHEAPEST FIRST</a:t>
            </a:r>
            <a:endParaRPr lang="en-US" sz="1100" dirty="0"/>
          </a:p>
        </p:txBody>
      </p:sp>
      <p:sp>
        <p:nvSpPr>
          <p:cNvPr id="36" name="Shape 30"/>
          <p:cNvSpPr/>
          <p:nvPr/>
        </p:nvSpPr>
        <p:spPr>
          <a:xfrm>
            <a:off x="2103120" y="4983480"/>
            <a:ext cx="3057144" cy="914400"/>
          </a:xfrm>
          <a:prstGeom prst="roundRect">
            <a:avLst>
              <a:gd name="adj" fmla="val 10000"/>
            </a:avLst>
          </a:prstGeom>
          <a:solidFill>
            <a:srgbClr val="16213A"/>
          </a:solidFill>
          <a:ln/>
        </p:spPr>
      </p:sp>
      <p:sp>
        <p:nvSpPr>
          <p:cNvPr id="37" name="Shape 31"/>
          <p:cNvSpPr/>
          <p:nvPr/>
        </p:nvSpPr>
        <p:spPr>
          <a:xfrm>
            <a:off x="2240280" y="5157216"/>
            <a:ext cx="347472" cy="347472"/>
          </a:xfrm>
          <a:prstGeom prst="ellipse">
            <a:avLst/>
          </a:prstGeom>
          <a:solidFill>
            <a:srgbClr val="FFFFFF"/>
          </a:solidFill>
          <a:ln/>
        </p:spPr>
      </p:sp>
      <p:sp>
        <p:nvSpPr>
          <p:cNvPr id="38" name="Text 32"/>
          <p:cNvSpPr txBox="1"/>
          <p:nvPr/>
        </p:nvSpPr>
        <p:spPr>
          <a:xfrm>
            <a:off x="2240280" y="5157216"/>
            <a:ext cx="347472" cy="347472"/>
          </a:xfrm>
          <a:prstGeom prst="rect">
            <a:avLst/>
          </a:prstGeom>
          <a:noFill/>
          <a:ln/>
        </p:spPr>
        <p:txBody>
          <a:bodyPr wrap="square" lIns="0" tIns="0" rIns="0" bIns="0" rtlCol="0" anchor="ctr"/>
          <a:lstStyle/>
          <a:p>
            <a:pPr algn="ctr" indent="0" marL="0">
              <a:buNone/>
            </a:pPr>
            <a:r>
              <a:rPr lang="en-US" sz="1300" b="1" dirty="0">
                <a:solidFill>
                  <a:srgbClr val="16213A"/>
                </a:solidFill>
                <a:latin typeface="Calibri" pitchFamily="34" charset="0"/>
                <a:ea typeface="Calibri" pitchFamily="34" charset="-122"/>
                <a:cs typeface="Calibri" pitchFamily="34" charset="-120"/>
              </a:rPr>
              <a:t>A</a:t>
            </a:r>
            <a:endParaRPr lang="en-US" sz="1300" dirty="0"/>
          </a:p>
        </p:txBody>
      </p:sp>
      <p:sp>
        <p:nvSpPr>
          <p:cNvPr id="39" name="Text 33"/>
          <p:cNvSpPr txBox="1"/>
          <p:nvPr/>
        </p:nvSpPr>
        <p:spPr>
          <a:xfrm>
            <a:off x="2697480" y="4983480"/>
            <a:ext cx="2371344" cy="9144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Grasp from 0.4 to 0.5 m, whole box in view</a:t>
            </a:r>
            <a:endParaRPr lang="en-US" sz="1300" dirty="0"/>
          </a:p>
        </p:txBody>
      </p:sp>
      <p:sp>
        <p:nvSpPr>
          <p:cNvPr id="40" name="Shape 34"/>
          <p:cNvSpPr/>
          <p:nvPr/>
        </p:nvSpPr>
        <p:spPr>
          <a:xfrm>
            <a:off x="5343144" y="4983480"/>
            <a:ext cx="3057144" cy="914400"/>
          </a:xfrm>
          <a:prstGeom prst="roundRect">
            <a:avLst>
              <a:gd name="adj" fmla="val 10000"/>
            </a:avLst>
          </a:prstGeom>
          <a:solidFill>
            <a:srgbClr val="EEF2F7"/>
          </a:solidFill>
          <a:ln/>
        </p:spPr>
      </p:sp>
      <p:sp>
        <p:nvSpPr>
          <p:cNvPr id="41" name="Shape 35"/>
          <p:cNvSpPr/>
          <p:nvPr/>
        </p:nvSpPr>
        <p:spPr>
          <a:xfrm>
            <a:off x="5480304" y="5157216"/>
            <a:ext cx="347472" cy="347472"/>
          </a:xfrm>
          <a:prstGeom prst="ellipse">
            <a:avLst/>
          </a:prstGeom>
          <a:solidFill>
            <a:srgbClr val="0068B5"/>
          </a:solidFill>
          <a:ln/>
        </p:spPr>
      </p:sp>
      <p:sp>
        <p:nvSpPr>
          <p:cNvPr id="42" name="Text 36"/>
          <p:cNvSpPr txBox="1"/>
          <p:nvPr/>
        </p:nvSpPr>
        <p:spPr>
          <a:xfrm>
            <a:off x="5480304" y="515721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43" name="Text 37"/>
          <p:cNvSpPr txBox="1"/>
          <p:nvPr/>
        </p:nvSpPr>
        <p:spPr>
          <a:xfrm>
            <a:off x="5937504" y="4983480"/>
            <a:ext cx="2371344" cy="914400"/>
          </a:xfrm>
          <a:prstGeom prst="rect">
            <a:avLst/>
          </a:prstGeom>
          <a:noFill/>
          <a:ln/>
        </p:spPr>
        <p:txBody>
          <a:bodyPr wrap="square" lIns="0" tIns="0" rIns="0" bIns="0" rtlCol="0" anchor="ctr"/>
          <a:lstStyle/>
          <a:p>
            <a:pPr indent="0" marL="0">
              <a:buNone/>
            </a:pPr>
            <a:r>
              <a:rPr lang="en-US" sz="1300" dirty="0">
                <a:solidFill>
                  <a:srgbClr val="16213A"/>
                </a:solidFill>
                <a:latin typeface="Calibri" pitchFamily="34" charset="0"/>
                <a:ea typeface="Calibri" pitchFamily="34" charset="-122"/>
                <a:cs typeface="Calibri" pitchFamily="34" charset="-120"/>
              </a:rPr>
              <a:t>Fused views: built, retest owed</a:t>
            </a:r>
            <a:endParaRPr lang="en-US" sz="1300" dirty="0"/>
          </a:p>
        </p:txBody>
      </p:sp>
      <p:sp>
        <p:nvSpPr>
          <p:cNvPr id="44" name="Shape 38"/>
          <p:cNvSpPr/>
          <p:nvPr/>
        </p:nvSpPr>
        <p:spPr>
          <a:xfrm>
            <a:off x="8583168" y="4983480"/>
            <a:ext cx="3057144" cy="914400"/>
          </a:xfrm>
          <a:prstGeom prst="roundRect">
            <a:avLst>
              <a:gd name="adj" fmla="val 10000"/>
            </a:avLst>
          </a:prstGeom>
          <a:solidFill>
            <a:srgbClr val="EEF2F7"/>
          </a:solidFill>
          <a:ln/>
        </p:spPr>
      </p:sp>
      <p:sp>
        <p:nvSpPr>
          <p:cNvPr id="45" name="Shape 39"/>
          <p:cNvSpPr/>
          <p:nvPr/>
        </p:nvSpPr>
        <p:spPr>
          <a:xfrm>
            <a:off x="8720328" y="5157216"/>
            <a:ext cx="347472" cy="347472"/>
          </a:xfrm>
          <a:prstGeom prst="ellipse">
            <a:avLst/>
          </a:prstGeom>
          <a:solidFill>
            <a:srgbClr val="0068B5"/>
          </a:solidFill>
          <a:ln/>
        </p:spPr>
      </p:sp>
      <p:sp>
        <p:nvSpPr>
          <p:cNvPr id="46" name="Text 40"/>
          <p:cNvSpPr txBox="1"/>
          <p:nvPr/>
        </p:nvSpPr>
        <p:spPr>
          <a:xfrm>
            <a:off x="8720328" y="515721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47" name="Text 41"/>
          <p:cNvSpPr txBox="1"/>
          <p:nvPr/>
        </p:nvSpPr>
        <p:spPr>
          <a:xfrm>
            <a:off x="9177528" y="4983480"/>
            <a:ext cx="2371344" cy="914400"/>
          </a:xfrm>
          <a:prstGeom prst="rect">
            <a:avLst/>
          </a:prstGeom>
          <a:noFill/>
          <a:ln/>
        </p:spPr>
        <p:txBody>
          <a:bodyPr wrap="square" lIns="0" tIns="0" rIns="0" bIns="0" rtlCol="0" anchor="ctr"/>
          <a:lstStyle/>
          <a:p>
            <a:pPr indent="0" marL="0">
              <a:buNone/>
            </a:pPr>
            <a:r>
              <a:rPr lang="en-US" sz="1300" dirty="0">
                <a:solidFill>
                  <a:srgbClr val="16213A"/>
                </a:solidFill>
                <a:latin typeface="Calibri" pitchFamily="34" charset="0"/>
                <a:ea typeface="Calibri" pitchFamily="34" charset="-122"/>
                <a:cs typeface="Calibri" pitchFamily="34" charset="-120"/>
              </a:rPr>
              <a:t>New SDK: licence pending</a:t>
            </a:r>
            <a:endParaRPr lang="en-US" sz="1300" dirty="0"/>
          </a:p>
        </p:txBody>
      </p:sp>
      <p:sp>
        <p:nvSpPr>
          <p:cNvPr id="48" name="Shape 42"/>
          <p:cNvSpPr/>
          <p:nvPr/>
        </p:nvSpPr>
        <p:spPr>
          <a:xfrm>
            <a:off x="594360" y="6400800"/>
            <a:ext cx="1295019" cy="13716"/>
          </a:xfrm>
          <a:prstGeom prst="rect">
            <a:avLst/>
          </a:prstGeom>
          <a:solidFill>
            <a:srgbClr val="D7DEE8"/>
          </a:solidFill>
          <a:ln/>
        </p:spPr>
      </p:sp>
      <p:sp>
        <p:nvSpPr>
          <p:cNvPr id="49" name="Text 43"/>
          <p:cNvSpPr txBox="1"/>
          <p:nvPr/>
        </p:nvSpPr>
        <p:spPr>
          <a:xfrm>
            <a:off x="548640"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Problem</a:t>
            </a:r>
            <a:endParaRPr lang="en-US" sz="1100" dirty="0"/>
          </a:p>
        </p:txBody>
      </p:sp>
      <p:sp>
        <p:nvSpPr>
          <p:cNvPr id="50" name="Shape 44"/>
          <p:cNvSpPr/>
          <p:nvPr/>
        </p:nvSpPr>
        <p:spPr>
          <a:xfrm>
            <a:off x="1980819" y="6400800"/>
            <a:ext cx="1295019" cy="13716"/>
          </a:xfrm>
          <a:prstGeom prst="rect">
            <a:avLst/>
          </a:prstGeom>
          <a:solidFill>
            <a:srgbClr val="D7DEE8"/>
          </a:solidFill>
          <a:ln/>
        </p:spPr>
      </p:sp>
      <p:sp>
        <p:nvSpPr>
          <p:cNvPr id="51" name="Text 45"/>
          <p:cNvSpPr txBox="1"/>
          <p:nvPr/>
        </p:nvSpPr>
        <p:spPr>
          <a:xfrm>
            <a:off x="1935099"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System</a:t>
            </a:r>
            <a:endParaRPr lang="en-US" sz="1100" dirty="0"/>
          </a:p>
        </p:txBody>
      </p:sp>
      <p:sp>
        <p:nvSpPr>
          <p:cNvPr id="52" name="Shape 46"/>
          <p:cNvSpPr/>
          <p:nvPr/>
        </p:nvSpPr>
        <p:spPr>
          <a:xfrm>
            <a:off x="3367278" y="6400800"/>
            <a:ext cx="1295019" cy="13716"/>
          </a:xfrm>
          <a:prstGeom prst="rect">
            <a:avLst/>
          </a:prstGeom>
          <a:solidFill>
            <a:srgbClr val="D7DEE8"/>
          </a:solidFill>
          <a:ln/>
        </p:spPr>
      </p:sp>
      <p:sp>
        <p:nvSpPr>
          <p:cNvPr id="53" name="Text 47"/>
          <p:cNvSpPr txBox="1"/>
          <p:nvPr/>
        </p:nvSpPr>
        <p:spPr>
          <a:xfrm>
            <a:off x="3321558"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Intent</a:t>
            </a:r>
            <a:endParaRPr lang="en-US" sz="1100" dirty="0"/>
          </a:p>
        </p:txBody>
      </p:sp>
      <p:sp>
        <p:nvSpPr>
          <p:cNvPr id="54" name="Shape 48"/>
          <p:cNvSpPr/>
          <p:nvPr/>
        </p:nvSpPr>
        <p:spPr>
          <a:xfrm>
            <a:off x="4753737" y="6400800"/>
            <a:ext cx="1295019" cy="13716"/>
          </a:xfrm>
          <a:prstGeom prst="rect">
            <a:avLst/>
          </a:prstGeom>
          <a:solidFill>
            <a:srgbClr val="D7DEE8"/>
          </a:solidFill>
          <a:ln/>
        </p:spPr>
      </p:sp>
      <p:sp>
        <p:nvSpPr>
          <p:cNvPr id="55" name="Text 49"/>
          <p:cNvSpPr txBox="1"/>
          <p:nvPr/>
        </p:nvSpPr>
        <p:spPr>
          <a:xfrm>
            <a:off x="4708017"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Explore</a:t>
            </a:r>
            <a:endParaRPr lang="en-US" sz="1100" dirty="0"/>
          </a:p>
        </p:txBody>
      </p:sp>
      <p:sp>
        <p:nvSpPr>
          <p:cNvPr id="56" name="Shape 50"/>
          <p:cNvSpPr/>
          <p:nvPr/>
        </p:nvSpPr>
        <p:spPr>
          <a:xfrm>
            <a:off x="6140196" y="6400800"/>
            <a:ext cx="1295019" cy="13716"/>
          </a:xfrm>
          <a:prstGeom prst="rect">
            <a:avLst/>
          </a:prstGeom>
          <a:solidFill>
            <a:srgbClr val="D7DEE8"/>
          </a:solidFill>
          <a:ln/>
        </p:spPr>
      </p:sp>
      <p:sp>
        <p:nvSpPr>
          <p:cNvPr id="57" name="Text 51"/>
          <p:cNvSpPr txBox="1"/>
          <p:nvPr/>
        </p:nvSpPr>
        <p:spPr>
          <a:xfrm>
            <a:off x="6094476"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Search</a:t>
            </a:r>
            <a:endParaRPr lang="en-US" sz="1100" dirty="0"/>
          </a:p>
        </p:txBody>
      </p:sp>
      <p:sp>
        <p:nvSpPr>
          <p:cNvPr id="58" name="Shape 52"/>
          <p:cNvSpPr/>
          <p:nvPr/>
        </p:nvSpPr>
        <p:spPr>
          <a:xfrm>
            <a:off x="7526655" y="6400800"/>
            <a:ext cx="1295019" cy="13716"/>
          </a:xfrm>
          <a:prstGeom prst="rect">
            <a:avLst/>
          </a:prstGeom>
          <a:solidFill>
            <a:srgbClr val="D7DEE8"/>
          </a:solidFill>
          <a:ln/>
        </p:spPr>
      </p:sp>
      <p:sp>
        <p:nvSpPr>
          <p:cNvPr id="59" name="Text 53"/>
          <p:cNvSpPr txBox="1"/>
          <p:nvPr/>
        </p:nvSpPr>
        <p:spPr>
          <a:xfrm>
            <a:off x="7480935"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Confirm</a:t>
            </a:r>
            <a:endParaRPr lang="en-US" sz="1100" dirty="0"/>
          </a:p>
        </p:txBody>
      </p:sp>
      <p:sp>
        <p:nvSpPr>
          <p:cNvPr id="60" name="Shape 54"/>
          <p:cNvSpPr/>
          <p:nvPr/>
        </p:nvSpPr>
        <p:spPr>
          <a:xfrm>
            <a:off x="8913114" y="6400800"/>
            <a:ext cx="1295019" cy="36576"/>
          </a:xfrm>
          <a:prstGeom prst="rect">
            <a:avLst/>
          </a:prstGeom>
          <a:solidFill>
            <a:srgbClr val="0068B5"/>
          </a:solidFill>
          <a:ln/>
        </p:spPr>
      </p:sp>
      <p:sp>
        <p:nvSpPr>
          <p:cNvPr id="61" name="Text 55"/>
          <p:cNvSpPr txBox="1"/>
          <p:nvPr/>
        </p:nvSpPr>
        <p:spPr>
          <a:xfrm>
            <a:off x="8867394" y="6473952"/>
            <a:ext cx="1386459" cy="201168"/>
          </a:xfrm>
          <a:prstGeom prst="rect">
            <a:avLst/>
          </a:prstGeom>
          <a:noFill/>
          <a:ln/>
        </p:spPr>
        <p:txBody>
          <a:bodyPr wrap="square" lIns="0" tIns="0" rIns="0" bIns="0" rtlCol="0" anchor="ctr"/>
          <a:lstStyle/>
          <a:p>
            <a:pPr algn="ctr" indent="0" marL="0">
              <a:buNone/>
            </a:pPr>
            <a:r>
              <a:rPr lang="en-US" sz="1100" b="1" dirty="0">
                <a:solidFill>
                  <a:srgbClr val="16213A"/>
                </a:solidFill>
                <a:latin typeface="Calibri" pitchFamily="34" charset="0"/>
                <a:ea typeface="Calibri" pitchFamily="34" charset="-122"/>
                <a:cs typeface="Calibri" pitchFamily="34" charset="-120"/>
              </a:rPr>
              <a:t>Grasp</a:t>
            </a:r>
            <a:endParaRPr lang="en-US" sz="1100" dirty="0"/>
          </a:p>
        </p:txBody>
      </p:sp>
      <p:sp>
        <p:nvSpPr>
          <p:cNvPr id="62" name="Shape 56"/>
          <p:cNvSpPr/>
          <p:nvPr/>
        </p:nvSpPr>
        <p:spPr>
          <a:xfrm>
            <a:off x="10299573" y="6400800"/>
            <a:ext cx="1295019" cy="13716"/>
          </a:xfrm>
          <a:prstGeom prst="rect">
            <a:avLst/>
          </a:prstGeom>
          <a:solidFill>
            <a:srgbClr val="D7DEE8"/>
          </a:solidFill>
          <a:ln/>
        </p:spPr>
      </p:sp>
      <p:sp>
        <p:nvSpPr>
          <p:cNvPr id="63" name="Text 57"/>
          <p:cNvSpPr txBox="1"/>
          <p:nvPr/>
        </p:nvSpPr>
        <p:spPr>
          <a:xfrm>
            <a:off x="10253853"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Plan</a:t>
            </a:r>
            <a:endParaRPr lang="en-US" sz="1100" dirty="0"/>
          </a:p>
        </p:txBody>
      </p:sp>
      <p:sp>
        <p:nvSpPr>
          <p:cNvPr id="64" name="Text 58"/>
          <p:cNvSpPr txBox="1"/>
          <p:nvPr/>
        </p:nvSpPr>
        <p:spPr>
          <a:xfrm>
            <a:off x="11091672" y="6035040"/>
            <a:ext cx="548640" cy="22860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6213A"/>
        </a:solidFill>
      </p:bgPr>
    </p:bg>
    <p:spTree>
      <p:nvGrpSpPr>
        <p:cNvPr id="1" name=""/>
        <p:cNvGrpSpPr/>
        <p:nvPr/>
      </p:nvGrpSpPr>
      <p:grpSpPr>
        <a:xfrm>
          <a:off x="0" y="0"/>
          <a:ext cx="0" cy="0"/>
          <a:chOff x="0" y="0"/>
          <a:chExt cx="0" cy="0"/>
        </a:xfrm>
      </p:grpSpPr>
      <p:pic>
        <p:nvPicPr>
          <p:cNvPr id="2" name="Image 0" descr="Two sensors, one scene: the parts work, the joins come next.">    </p:cNvPr>
          <p:cNvPicPr>
            <a:picLocks noChangeAspect="1"/>
          </p:cNvPicPr>
          <p:nvPr/>
        </p:nvPicPr>
        <p:blipFill>
          <a:blip r:embed="rId1"/>
          <a:srcRect l="0" r="0" t="0" b="0"/>
          <a:stretch/>
        </p:blipFill>
        <p:spPr>
          <a:xfrm>
            <a:off x="6355080" y="868680"/>
            <a:ext cx="5285232" cy="4526280"/>
          </a:xfrm>
          <a:prstGeom prst="rect">
            <a:avLst/>
          </a:prstGeom>
        </p:spPr>
      </p:pic>
      <p:sp>
        <p:nvSpPr>
          <p:cNvPr id="3" name="Shape 0"/>
          <p:cNvSpPr/>
          <p:nvPr/>
        </p:nvSpPr>
        <p:spPr>
          <a:xfrm>
            <a:off x="6227064" y="740664"/>
            <a:ext cx="457200" cy="914"/>
          </a:xfrm>
          <a:prstGeom prst="line">
            <a:avLst/>
          </a:prstGeom>
          <a:noFill/>
          <a:ln w="31750">
            <a:solidFill>
              <a:srgbClr val="7DD3FC"/>
            </a:solidFill>
            <a:prstDash val="solid"/>
          </a:ln>
        </p:spPr>
      </p:sp>
      <p:sp>
        <p:nvSpPr>
          <p:cNvPr id="4" name="Shape 1"/>
          <p:cNvSpPr/>
          <p:nvPr/>
        </p:nvSpPr>
        <p:spPr>
          <a:xfrm>
            <a:off x="6227064" y="740664"/>
            <a:ext cx="914" cy="457200"/>
          </a:xfrm>
          <a:prstGeom prst="line">
            <a:avLst/>
          </a:prstGeom>
          <a:noFill/>
          <a:ln w="31750">
            <a:solidFill>
              <a:srgbClr val="7DD3FC"/>
            </a:solidFill>
            <a:prstDash val="solid"/>
          </a:ln>
        </p:spPr>
      </p:sp>
      <p:sp>
        <p:nvSpPr>
          <p:cNvPr id="5" name="Shape 2"/>
          <p:cNvSpPr/>
          <p:nvPr/>
        </p:nvSpPr>
        <p:spPr>
          <a:xfrm flipH="1">
            <a:off x="11311128" y="740664"/>
            <a:ext cx="457200" cy="914"/>
          </a:xfrm>
          <a:prstGeom prst="line">
            <a:avLst/>
          </a:prstGeom>
          <a:noFill/>
          <a:ln w="31750">
            <a:solidFill>
              <a:srgbClr val="7DD3FC"/>
            </a:solidFill>
            <a:prstDash val="solid"/>
          </a:ln>
        </p:spPr>
      </p:sp>
      <p:sp>
        <p:nvSpPr>
          <p:cNvPr id="6" name="Shape 3"/>
          <p:cNvSpPr/>
          <p:nvPr/>
        </p:nvSpPr>
        <p:spPr>
          <a:xfrm>
            <a:off x="11768328" y="740664"/>
            <a:ext cx="914" cy="457200"/>
          </a:xfrm>
          <a:prstGeom prst="line">
            <a:avLst/>
          </a:prstGeom>
          <a:noFill/>
          <a:ln w="31750">
            <a:solidFill>
              <a:srgbClr val="7DD3FC"/>
            </a:solidFill>
            <a:prstDash val="solid"/>
          </a:ln>
        </p:spPr>
      </p:sp>
      <p:sp>
        <p:nvSpPr>
          <p:cNvPr id="7" name="Shape 4"/>
          <p:cNvSpPr/>
          <p:nvPr/>
        </p:nvSpPr>
        <p:spPr>
          <a:xfrm>
            <a:off x="6227064" y="5522976"/>
            <a:ext cx="457200" cy="914"/>
          </a:xfrm>
          <a:prstGeom prst="line">
            <a:avLst/>
          </a:prstGeom>
          <a:noFill/>
          <a:ln w="31750">
            <a:solidFill>
              <a:srgbClr val="7DD3FC"/>
            </a:solidFill>
            <a:prstDash val="solid"/>
          </a:ln>
        </p:spPr>
      </p:sp>
      <p:sp>
        <p:nvSpPr>
          <p:cNvPr id="8" name="Shape 5"/>
          <p:cNvSpPr/>
          <p:nvPr/>
        </p:nvSpPr>
        <p:spPr>
          <a:xfrm flipV="1">
            <a:off x="6227064" y="5065776"/>
            <a:ext cx="914" cy="457200"/>
          </a:xfrm>
          <a:prstGeom prst="line">
            <a:avLst/>
          </a:prstGeom>
          <a:noFill/>
          <a:ln w="31750">
            <a:solidFill>
              <a:srgbClr val="7DD3FC"/>
            </a:solidFill>
            <a:prstDash val="solid"/>
          </a:ln>
        </p:spPr>
      </p:sp>
      <p:sp>
        <p:nvSpPr>
          <p:cNvPr id="9" name="Shape 6"/>
          <p:cNvSpPr/>
          <p:nvPr/>
        </p:nvSpPr>
        <p:spPr>
          <a:xfrm flipH="1">
            <a:off x="11311128" y="5522976"/>
            <a:ext cx="457200" cy="914"/>
          </a:xfrm>
          <a:prstGeom prst="line">
            <a:avLst/>
          </a:prstGeom>
          <a:noFill/>
          <a:ln w="31750">
            <a:solidFill>
              <a:srgbClr val="7DD3FC"/>
            </a:solidFill>
            <a:prstDash val="solid"/>
          </a:ln>
        </p:spPr>
      </p:sp>
      <p:sp>
        <p:nvSpPr>
          <p:cNvPr id="10" name="Shape 7"/>
          <p:cNvSpPr/>
          <p:nvPr/>
        </p:nvSpPr>
        <p:spPr>
          <a:xfrm flipV="1">
            <a:off x="11768328" y="5065776"/>
            <a:ext cx="914" cy="457200"/>
          </a:xfrm>
          <a:prstGeom prst="line">
            <a:avLst/>
          </a:prstGeom>
          <a:noFill/>
          <a:ln w="31750">
            <a:solidFill>
              <a:srgbClr val="7DD3FC"/>
            </a:solidFill>
            <a:prstDash val="solid"/>
          </a:ln>
        </p:spPr>
      </p:sp>
      <p:sp>
        <p:nvSpPr>
          <p:cNvPr id="11" name="Shape 8"/>
          <p:cNvSpPr/>
          <p:nvPr/>
        </p:nvSpPr>
        <p:spPr>
          <a:xfrm>
            <a:off x="8988552" y="2886932"/>
            <a:ext cx="621792" cy="621792"/>
          </a:xfrm>
          <a:prstGeom prst="ellipse">
            <a:avLst/>
          </a:prstGeom>
          <a:ln w="31750">
            <a:solidFill>
              <a:srgbClr val="FF7A3A"/>
            </a:solidFill>
            <a:prstDash val="solid"/>
          </a:ln>
        </p:spPr>
      </p:sp>
      <p:sp>
        <p:nvSpPr>
          <p:cNvPr id="12" name="Shape 9"/>
          <p:cNvSpPr/>
          <p:nvPr/>
        </p:nvSpPr>
        <p:spPr>
          <a:xfrm>
            <a:off x="9253728" y="3152108"/>
            <a:ext cx="91440" cy="91440"/>
          </a:xfrm>
          <a:prstGeom prst="ellipse">
            <a:avLst/>
          </a:prstGeom>
          <a:solidFill>
            <a:srgbClr val="FF7A3A"/>
          </a:solidFill>
          <a:ln/>
        </p:spPr>
      </p:sp>
      <p:sp>
        <p:nvSpPr>
          <p:cNvPr id="13" name="Shape 10"/>
          <p:cNvSpPr/>
          <p:nvPr/>
        </p:nvSpPr>
        <p:spPr>
          <a:xfrm>
            <a:off x="8823960" y="3197828"/>
            <a:ext cx="219456" cy="914"/>
          </a:xfrm>
          <a:prstGeom prst="line">
            <a:avLst/>
          </a:prstGeom>
          <a:noFill/>
          <a:ln w="31750">
            <a:solidFill>
              <a:srgbClr val="FF7A3A"/>
            </a:solidFill>
            <a:prstDash val="solid"/>
          </a:ln>
        </p:spPr>
      </p:sp>
      <p:sp>
        <p:nvSpPr>
          <p:cNvPr id="14" name="Shape 11"/>
          <p:cNvSpPr/>
          <p:nvPr/>
        </p:nvSpPr>
        <p:spPr>
          <a:xfrm>
            <a:off x="9555480" y="3197828"/>
            <a:ext cx="219456" cy="914"/>
          </a:xfrm>
          <a:prstGeom prst="line">
            <a:avLst/>
          </a:prstGeom>
          <a:noFill/>
          <a:ln w="31750">
            <a:solidFill>
              <a:srgbClr val="FF7A3A"/>
            </a:solidFill>
            <a:prstDash val="solid"/>
          </a:ln>
        </p:spPr>
      </p:sp>
      <p:sp>
        <p:nvSpPr>
          <p:cNvPr id="15" name="Shape 12"/>
          <p:cNvSpPr/>
          <p:nvPr/>
        </p:nvSpPr>
        <p:spPr>
          <a:xfrm>
            <a:off x="9299448" y="2722340"/>
            <a:ext cx="914" cy="219456"/>
          </a:xfrm>
          <a:prstGeom prst="line">
            <a:avLst/>
          </a:prstGeom>
          <a:noFill/>
          <a:ln w="31750">
            <a:solidFill>
              <a:srgbClr val="FF7A3A"/>
            </a:solidFill>
            <a:prstDash val="solid"/>
          </a:ln>
        </p:spPr>
      </p:sp>
      <p:sp>
        <p:nvSpPr>
          <p:cNvPr id="16" name="Shape 13"/>
          <p:cNvSpPr/>
          <p:nvPr/>
        </p:nvSpPr>
        <p:spPr>
          <a:xfrm>
            <a:off x="9299448" y="3453860"/>
            <a:ext cx="914" cy="219456"/>
          </a:xfrm>
          <a:prstGeom prst="line">
            <a:avLst/>
          </a:prstGeom>
          <a:noFill/>
          <a:ln w="31750">
            <a:solidFill>
              <a:srgbClr val="FF7A3A"/>
            </a:solidFill>
            <a:prstDash val="solid"/>
          </a:ln>
        </p:spPr>
      </p:sp>
      <p:sp>
        <p:nvSpPr>
          <p:cNvPr id="17" name="Shape 14"/>
          <p:cNvSpPr/>
          <p:nvPr/>
        </p:nvSpPr>
        <p:spPr>
          <a:xfrm>
            <a:off x="6355080" y="411480"/>
            <a:ext cx="3745382" cy="292608"/>
          </a:xfrm>
          <a:prstGeom prst="roundRect">
            <a:avLst>
              <a:gd name="adj" fmla="val 15625"/>
            </a:avLst>
          </a:prstGeom>
          <a:solidFill>
            <a:srgbClr val="FF7A3A"/>
          </a:solidFill>
          <a:ln/>
        </p:spPr>
      </p:sp>
      <p:sp>
        <p:nvSpPr>
          <p:cNvPr id="18" name="Text 15"/>
          <p:cNvSpPr txBox="1"/>
          <p:nvPr/>
        </p:nvSpPr>
        <p:spPr>
          <a:xfrm>
            <a:off x="6355080" y="411480"/>
            <a:ext cx="3745382" cy="292608"/>
          </a:xfrm>
          <a:prstGeom prst="rect">
            <a:avLst/>
          </a:prstGeom>
          <a:noFill/>
          <a:ln/>
        </p:spPr>
        <p:txBody>
          <a:bodyPr wrap="square" lIns="0" tIns="0" rIns="0" bIns="0" rtlCol="0" anchor="ctr"/>
          <a:lstStyle/>
          <a:p>
            <a:pPr algn="ctr" indent="0" marL="0">
              <a:buNone/>
            </a:pPr>
            <a:r>
              <a:rPr lang="en-US" sz="1100" b="1" spc="100" kern="0" dirty="0">
                <a:solidFill>
                  <a:srgbClr val="16213A"/>
                </a:solidFill>
                <a:latin typeface="Calibri" pitchFamily="34" charset="0"/>
                <a:ea typeface="Calibri" pitchFamily="34" charset="-122"/>
                <a:cs typeface="Calibri" pitchFamily="34" charset="-120"/>
              </a:rPr>
              <a:t>BASE CAMERA + LIDAR  ·  NOT YET CALIBRATED</a:t>
            </a:r>
            <a:endParaRPr lang="en-US" sz="1100" dirty="0"/>
          </a:p>
        </p:txBody>
      </p:sp>
      <p:sp>
        <p:nvSpPr>
          <p:cNvPr id="19" name="Text 16"/>
          <p:cNvSpPr txBox="1"/>
          <p:nvPr/>
        </p:nvSpPr>
        <p:spPr>
          <a:xfrm>
            <a:off x="6355080" y="5650992"/>
            <a:ext cx="5285232" cy="274320"/>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Two sensors, one scene: the parts work, the joins come next.</a:t>
            </a:r>
            <a:endParaRPr lang="en-US" sz="1200" dirty="0"/>
          </a:p>
        </p:txBody>
      </p:sp>
      <p:sp>
        <p:nvSpPr>
          <p:cNvPr id="20" name="Text 17"/>
          <p:cNvSpPr txBox="1"/>
          <p:nvPr/>
        </p:nvSpPr>
        <p:spPr>
          <a:xfrm>
            <a:off x="548640" y="1051560"/>
            <a:ext cx="4572000" cy="274320"/>
          </a:xfrm>
          <a:prstGeom prst="rect">
            <a:avLst/>
          </a:prstGeom>
          <a:noFill/>
          <a:ln/>
        </p:spPr>
        <p:txBody>
          <a:bodyPr wrap="square" lIns="0" tIns="0" rIns="0" bIns="0" rtlCol="0" anchor="ctr"/>
          <a:lstStyle/>
          <a:p>
            <a:pPr indent="0" marL="0">
              <a:buNone/>
            </a:pPr>
            <a:r>
              <a:rPr lang="en-US" sz="1200" b="1" spc="200" kern="0" dirty="0">
                <a:solidFill>
                  <a:srgbClr val="FF7A3A"/>
                </a:solidFill>
                <a:latin typeface="Calibri" pitchFamily="34" charset="0"/>
                <a:ea typeface="Calibri" pitchFamily="34" charset="-122"/>
                <a:cs typeface="Calibri" pitchFamily="34" charset="-120"/>
              </a:rPr>
              <a:t>PART 3 / 3</a:t>
            </a:r>
            <a:endParaRPr lang="en-US" sz="1200" dirty="0"/>
          </a:p>
        </p:txBody>
      </p:sp>
      <p:sp>
        <p:nvSpPr>
          <p:cNvPr id="21" name="Text 18"/>
          <p:cNvSpPr txBox="1"/>
          <p:nvPr/>
        </p:nvSpPr>
        <p:spPr>
          <a:xfrm>
            <a:off x="548640" y="1371600"/>
            <a:ext cx="5394960" cy="64008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Where we stand</a:t>
            </a:r>
            <a:endParaRPr lang="en-US" sz="4000" dirty="0"/>
          </a:p>
        </p:txBody>
      </p:sp>
      <p:sp>
        <p:nvSpPr>
          <p:cNvPr id="22" name="Text 19"/>
          <p:cNvSpPr txBox="1"/>
          <p:nvPr/>
        </p:nvSpPr>
        <p:spPr>
          <a:xfrm>
            <a:off x="548640" y="2039112"/>
            <a:ext cx="5394960" cy="365760"/>
          </a:xfrm>
          <a:prstGeom prst="rect">
            <a:avLst/>
          </a:prstGeom>
          <a:noFill/>
          <a:ln/>
        </p:spPr>
        <p:txBody>
          <a:bodyPr wrap="square" lIns="0" tIns="0" rIns="0" bIns="0" rtlCol="0" anchor="t"/>
          <a:lstStyle/>
          <a:p>
            <a:pPr indent="0" marL="0">
              <a:buNone/>
            </a:pPr>
            <a:r>
              <a:rPr lang="en-US" sz="1700" dirty="0">
                <a:solidFill>
                  <a:srgbClr val="CBD5E1"/>
                </a:solidFill>
                <a:latin typeface="Calibri" pitchFamily="34" charset="0"/>
                <a:ea typeface="Calibri" pitchFamily="34" charset="-122"/>
                <a:cs typeface="Calibri" pitchFamily="34" charset="-120"/>
              </a:rPr>
              <a:t>Joins, schedule, budget and next steps</a:t>
            </a:r>
            <a:endParaRPr lang="en-US" sz="1700" dirty="0"/>
          </a:p>
        </p:txBody>
      </p:sp>
      <p:sp>
        <p:nvSpPr>
          <p:cNvPr id="23" name="Shape 20"/>
          <p:cNvSpPr/>
          <p:nvPr/>
        </p:nvSpPr>
        <p:spPr>
          <a:xfrm>
            <a:off x="548640" y="2843784"/>
            <a:ext cx="475488" cy="292608"/>
          </a:xfrm>
          <a:prstGeom prst="rect">
            <a:avLst/>
          </a:prstGeom>
          <a:ln w="15875">
            <a:solidFill>
              <a:srgbClr val="7DD3FC"/>
            </a:solidFill>
            <a:prstDash val="solid"/>
          </a:ln>
        </p:spPr>
      </p:sp>
      <p:sp>
        <p:nvSpPr>
          <p:cNvPr id="24" name="Text 21"/>
          <p:cNvSpPr txBox="1"/>
          <p:nvPr/>
        </p:nvSpPr>
        <p:spPr>
          <a:xfrm>
            <a:off x="548640" y="2843784"/>
            <a:ext cx="475488" cy="292608"/>
          </a:xfrm>
          <a:prstGeom prst="rect">
            <a:avLst/>
          </a:prstGeom>
          <a:noFill/>
          <a:ln/>
        </p:spPr>
        <p:txBody>
          <a:bodyPr wrap="square" lIns="0" tIns="0" rIns="0" bIns="0" rtlCol="0" anchor="ctr"/>
          <a:lstStyle/>
          <a:p>
            <a:pPr algn="ctr" indent="0" marL="0">
              <a:buNone/>
            </a:pPr>
            <a:r>
              <a:rPr lang="en-US" sz="1200" b="1" dirty="0">
                <a:solidFill>
                  <a:srgbClr val="7DD3FC"/>
                </a:solidFill>
                <a:latin typeface="Calibri" pitchFamily="34" charset="0"/>
                <a:ea typeface="Calibri" pitchFamily="34" charset="-122"/>
                <a:cs typeface="Calibri" pitchFamily="34" charset="-120"/>
              </a:rPr>
              <a:t>#1</a:t>
            </a:r>
            <a:endParaRPr lang="en-US" sz="1200" dirty="0"/>
          </a:p>
        </p:txBody>
      </p:sp>
      <p:sp>
        <p:nvSpPr>
          <p:cNvPr id="25" name="Text 22"/>
          <p:cNvSpPr txBox="1"/>
          <p:nvPr/>
        </p:nvSpPr>
        <p:spPr>
          <a:xfrm>
            <a:off x="1188720" y="2816352"/>
            <a:ext cx="4937760" cy="34747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Sherman</a:t>
            </a:r>
            <a:pPr indent="0" marL="0">
              <a:buNone/>
            </a:pPr>
            <a:r>
              <a:rPr lang="en-US" sz="1500" dirty="0">
                <a:solidFill>
                  <a:srgbClr val="CBD5E1"/>
                </a:solidFill>
                <a:latin typeface="Calibri" pitchFamily="34" charset="0"/>
                <a:ea typeface="Calibri" pitchFamily="34" charset="-122"/>
                <a:cs typeface="Calibri" pitchFamily="34" charset="-120"/>
              </a:rPr>
              <a:t>   the full flow and the schedule</a:t>
            </a:r>
            <a:endParaRPr lang="en-US" sz="1500" dirty="0"/>
          </a:p>
        </p:txBody>
      </p:sp>
      <p:sp>
        <p:nvSpPr>
          <p:cNvPr id="26" name="Shape 23"/>
          <p:cNvSpPr/>
          <p:nvPr/>
        </p:nvSpPr>
        <p:spPr>
          <a:xfrm>
            <a:off x="548640" y="3319272"/>
            <a:ext cx="475488" cy="292608"/>
          </a:xfrm>
          <a:prstGeom prst="rect">
            <a:avLst/>
          </a:prstGeom>
          <a:ln w="15875">
            <a:solidFill>
              <a:srgbClr val="7DD3FC"/>
            </a:solidFill>
            <a:prstDash val="solid"/>
          </a:ln>
        </p:spPr>
      </p:sp>
      <p:sp>
        <p:nvSpPr>
          <p:cNvPr id="27" name="Text 24"/>
          <p:cNvSpPr txBox="1"/>
          <p:nvPr/>
        </p:nvSpPr>
        <p:spPr>
          <a:xfrm>
            <a:off x="548640" y="3319272"/>
            <a:ext cx="475488" cy="292608"/>
          </a:xfrm>
          <a:prstGeom prst="rect">
            <a:avLst/>
          </a:prstGeom>
          <a:noFill/>
          <a:ln/>
        </p:spPr>
        <p:txBody>
          <a:bodyPr wrap="square" lIns="0" tIns="0" rIns="0" bIns="0" rtlCol="0" anchor="ctr"/>
          <a:lstStyle/>
          <a:p>
            <a:pPr algn="ctr" indent="0" marL="0">
              <a:buNone/>
            </a:pPr>
            <a:r>
              <a:rPr lang="en-US" sz="1200" b="1" dirty="0">
                <a:solidFill>
                  <a:srgbClr val="7DD3FC"/>
                </a:solidFill>
                <a:latin typeface="Calibri" pitchFamily="34" charset="0"/>
                <a:ea typeface="Calibri" pitchFamily="34" charset="-122"/>
                <a:cs typeface="Calibri" pitchFamily="34" charset="-120"/>
              </a:rPr>
              <a:t>#2</a:t>
            </a:r>
            <a:endParaRPr lang="en-US" sz="1200" dirty="0"/>
          </a:p>
        </p:txBody>
      </p:sp>
      <p:sp>
        <p:nvSpPr>
          <p:cNvPr id="28" name="Text 25"/>
          <p:cNvSpPr txBox="1"/>
          <p:nvPr/>
        </p:nvSpPr>
        <p:spPr>
          <a:xfrm>
            <a:off x="1188720" y="3291840"/>
            <a:ext cx="4937760" cy="34747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Zongzhe</a:t>
            </a:r>
            <a:pPr indent="0" marL="0">
              <a:buNone/>
            </a:pPr>
            <a:r>
              <a:rPr lang="en-US" sz="1500" dirty="0">
                <a:solidFill>
                  <a:srgbClr val="CBD5E1"/>
                </a:solidFill>
                <a:latin typeface="Calibri" pitchFamily="34" charset="0"/>
                <a:ea typeface="Calibri" pitchFamily="34" charset="-122"/>
                <a:cs typeface="Calibri" pitchFamily="34" charset="-120"/>
              </a:rPr>
              <a:t>   budget, risks and next steps</a:t>
            </a:r>
            <a:endParaRPr lang="en-US" sz="1500" dirty="0"/>
          </a:p>
        </p:txBody>
      </p:sp>
      <p:sp>
        <p:nvSpPr>
          <p:cNvPr id="29" name="Shape 26"/>
          <p:cNvSpPr/>
          <p:nvPr/>
        </p:nvSpPr>
        <p:spPr>
          <a:xfrm>
            <a:off x="548640" y="5989320"/>
            <a:ext cx="1600200" cy="64008"/>
          </a:xfrm>
          <a:prstGeom prst="roundRect">
            <a:avLst>
              <a:gd name="adj" fmla="val 42857"/>
            </a:avLst>
          </a:prstGeom>
          <a:solidFill>
            <a:srgbClr val="64748B"/>
          </a:solidFill>
          <a:ln/>
        </p:spPr>
      </p:sp>
      <p:sp>
        <p:nvSpPr>
          <p:cNvPr id="30" name="Text 27"/>
          <p:cNvSpPr txBox="1"/>
          <p:nvPr/>
        </p:nvSpPr>
        <p:spPr>
          <a:xfrm>
            <a:off x="548640" y="6108192"/>
            <a:ext cx="1600200" cy="22860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Problem and plan</a:t>
            </a:r>
            <a:endParaRPr lang="en-US" sz="1100" dirty="0"/>
          </a:p>
        </p:txBody>
      </p:sp>
      <p:sp>
        <p:nvSpPr>
          <p:cNvPr id="31" name="Shape 28"/>
          <p:cNvSpPr/>
          <p:nvPr/>
        </p:nvSpPr>
        <p:spPr>
          <a:xfrm>
            <a:off x="2258568" y="5989320"/>
            <a:ext cx="1600200" cy="64008"/>
          </a:xfrm>
          <a:prstGeom prst="roundRect">
            <a:avLst>
              <a:gd name="adj" fmla="val 42857"/>
            </a:avLst>
          </a:prstGeom>
          <a:solidFill>
            <a:srgbClr val="64748B"/>
          </a:solidFill>
          <a:ln/>
        </p:spPr>
      </p:sp>
      <p:sp>
        <p:nvSpPr>
          <p:cNvPr id="32" name="Text 29"/>
          <p:cNvSpPr txBox="1"/>
          <p:nvPr/>
        </p:nvSpPr>
        <p:spPr>
          <a:xfrm>
            <a:off x="2258568" y="6108192"/>
            <a:ext cx="1600200" cy="22860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Results</a:t>
            </a:r>
            <a:endParaRPr lang="en-US" sz="1100" dirty="0"/>
          </a:p>
        </p:txBody>
      </p:sp>
      <p:sp>
        <p:nvSpPr>
          <p:cNvPr id="33" name="Shape 30"/>
          <p:cNvSpPr/>
          <p:nvPr/>
        </p:nvSpPr>
        <p:spPr>
          <a:xfrm>
            <a:off x="3968496" y="5989320"/>
            <a:ext cx="1600200" cy="64008"/>
          </a:xfrm>
          <a:prstGeom prst="roundRect">
            <a:avLst>
              <a:gd name="adj" fmla="val 42857"/>
            </a:avLst>
          </a:prstGeom>
          <a:solidFill>
            <a:srgbClr val="FF7A3A"/>
          </a:solidFill>
          <a:ln/>
        </p:spPr>
      </p:sp>
      <p:sp>
        <p:nvSpPr>
          <p:cNvPr id="34" name="Text 31"/>
          <p:cNvSpPr txBox="1"/>
          <p:nvPr/>
        </p:nvSpPr>
        <p:spPr>
          <a:xfrm>
            <a:off x="3968496" y="6108192"/>
            <a:ext cx="1600200" cy="2286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Where we stand</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28600"/>
          </a:xfrm>
          <a:prstGeom prst="rect">
            <a:avLst/>
          </a:prstGeom>
          <a:noFill/>
          <a:ln/>
        </p:spPr>
        <p:txBody>
          <a:bodyPr wrap="square" lIns="0" tIns="0" rIns="0" bIns="0" rtlCol="0" anchor="ctr"/>
          <a:lstStyle/>
          <a:p>
            <a:pPr indent="0" marL="0">
              <a:buNone/>
            </a:pPr>
            <a:r>
              <a:rPr lang="en-US" sz="1100" b="1" spc="150" kern="0" dirty="0">
                <a:solidFill>
                  <a:srgbClr val="0068B5"/>
                </a:solidFill>
                <a:latin typeface="Calibri" pitchFamily="34" charset="0"/>
                <a:ea typeface="Calibri" pitchFamily="34" charset="-122"/>
                <a:cs typeface="Calibri" pitchFamily="34" charset="-120"/>
              </a:rPr>
              <a:t>GAPPLER  ·  SHERMAN</a:t>
            </a:r>
            <a:endParaRPr lang="en-US" sz="1100" dirty="0"/>
          </a:p>
        </p:txBody>
      </p:sp>
      <p:sp>
        <p:nvSpPr>
          <p:cNvPr id="3" name="Shape 1"/>
          <p:cNvSpPr/>
          <p:nvPr/>
        </p:nvSpPr>
        <p:spPr>
          <a:xfrm>
            <a:off x="9445752" y="347472"/>
            <a:ext cx="2194560" cy="347472"/>
          </a:xfrm>
          <a:prstGeom prst="roundRect">
            <a:avLst>
              <a:gd name="adj" fmla="val 50000"/>
            </a:avLst>
          </a:prstGeom>
          <a:solidFill>
            <a:srgbClr val="16213A"/>
          </a:solidFill>
          <a:ln/>
        </p:spPr>
      </p:sp>
      <p:sp>
        <p:nvSpPr>
          <p:cNvPr id="4" name="Text 2"/>
          <p:cNvSpPr txBox="1"/>
          <p:nvPr/>
        </p:nvSpPr>
        <p:spPr>
          <a:xfrm>
            <a:off x="9445752" y="347472"/>
            <a:ext cx="2194560" cy="347472"/>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THE FULL FLOW</a:t>
            </a:r>
            <a:endParaRPr lang="en-US" sz="1100" dirty="0"/>
          </a:p>
        </p:txBody>
      </p:sp>
      <p:sp>
        <p:nvSpPr>
          <p:cNvPr id="5" name="Text 3"/>
          <p:cNvSpPr txBox="1"/>
          <p:nvPr/>
        </p:nvSpPr>
        <p:spPr>
          <a:xfrm>
            <a:off x="548640" y="777240"/>
            <a:ext cx="11091672" cy="548640"/>
          </a:xfrm>
          <a:prstGeom prst="rect">
            <a:avLst/>
          </a:prstGeom>
          <a:noFill/>
          <a:ln/>
        </p:spPr>
        <p:txBody>
          <a:bodyPr wrap="square" lIns="0" tIns="0" rIns="0" bIns="0" rtlCol="0" anchor="ctr"/>
          <a:lstStyle/>
          <a:p>
            <a:pPr indent="0" marL="0">
              <a:buNone/>
            </a:pPr>
            <a:r>
              <a:rPr lang="en-US" sz="3000" b="1" dirty="0">
                <a:solidFill>
                  <a:srgbClr val="16213A"/>
                </a:solidFill>
                <a:latin typeface="Calibri" pitchFamily="34" charset="0"/>
                <a:ea typeface="Calibri" pitchFamily="34" charset="-122"/>
                <a:cs typeface="Calibri" pitchFamily="34" charset="-120"/>
              </a:rPr>
              <a:t>Every phase has a working part. Two links are still to join</a:t>
            </a:r>
            <a:endParaRPr lang="en-US" sz="3000" dirty="0"/>
          </a:p>
        </p:txBody>
      </p:sp>
      <p:sp>
        <p:nvSpPr>
          <p:cNvPr id="6" name="Text 4"/>
          <p:cNvSpPr txBox="1"/>
          <p:nvPr/>
        </p:nvSpPr>
        <p:spPr>
          <a:xfrm>
            <a:off x="548640" y="1325880"/>
            <a:ext cx="11091672" cy="320040"/>
          </a:xfrm>
          <a:prstGeom prst="rect">
            <a:avLst/>
          </a:prstGeom>
          <a:noFill/>
          <a:ln/>
        </p:spPr>
        <p:txBody>
          <a:bodyPr wrap="square" lIns="0" tIns="0" rIns="0" bIns="0" rtlCol="0" anchor="ctr"/>
          <a:lstStyle/>
          <a:p>
            <a:pPr indent="0" marL="0">
              <a:buNone/>
            </a:pPr>
            <a:r>
              <a:rPr lang="en-US" sz="1700" dirty="0">
                <a:solidFill>
                  <a:srgbClr val="4B5563"/>
                </a:solidFill>
                <a:latin typeface="Calibri" pitchFamily="34" charset="0"/>
                <a:ea typeface="Calibri" pitchFamily="34" charset="-122"/>
                <a:cs typeface="Calibri" pitchFamily="34" charset="-120"/>
              </a:rPr>
              <a:t>No end-to-end run yet, as planned: the first full run is M4, January 2027</a:t>
            </a:r>
            <a:endParaRPr lang="en-US" sz="1700" dirty="0"/>
          </a:p>
        </p:txBody>
      </p:sp>
      <p:sp>
        <p:nvSpPr>
          <p:cNvPr id="7" name="Shape 5"/>
          <p:cNvSpPr/>
          <p:nvPr/>
        </p:nvSpPr>
        <p:spPr>
          <a:xfrm>
            <a:off x="697687" y="1874520"/>
            <a:ext cx="1920240" cy="310896"/>
          </a:xfrm>
          <a:prstGeom prst="roundRect">
            <a:avLst>
              <a:gd name="adj" fmla="val 50000"/>
            </a:avLst>
          </a:prstGeom>
          <a:solidFill>
            <a:srgbClr val="16213A"/>
          </a:solidFill>
          <a:ln/>
        </p:spPr>
      </p:sp>
      <p:sp>
        <p:nvSpPr>
          <p:cNvPr id="8" name="Text 6"/>
          <p:cNvSpPr txBox="1"/>
          <p:nvPr/>
        </p:nvSpPr>
        <p:spPr>
          <a:xfrm>
            <a:off x="697687" y="1874520"/>
            <a:ext cx="19202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 Intent</a:t>
            </a:r>
            <a:endParaRPr lang="en-US" sz="1200" dirty="0"/>
          </a:p>
        </p:txBody>
      </p:sp>
      <p:sp>
        <p:nvSpPr>
          <p:cNvPr id="9" name="Shape 7"/>
          <p:cNvSpPr/>
          <p:nvPr/>
        </p:nvSpPr>
        <p:spPr>
          <a:xfrm>
            <a:off x="2916022" y="1874520"/>
            <a:ext cx="1920240" cy="310896"/>
          </a:xfrm>
          <a:prstGeom prst="roundRect">
            <a:avLst>
              <a:gd name="adj" fmla="val 50000"/>
            </a:avLst>
          </a:prstGeom>
          <a:solidFill>
            <a:srgbClr val="16213A"/>
          </a:solidFill>
          <a:ln/>
        </p:spPr>
      </p:sp>
      <p:sp>
        <p:nvSpPr>
          <p:cNvPr id="10" name="Text 8"/>
          <p:cNvSpPr txBox="1"/>
          <p:nvPr/>
        </p:nvSpPr>
        <p:spPr>
          <a:xfrm>
            <a:off x="2916022" y="1874520"/>
            <a:ext cx="19202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 Explore, find the user</a:t>
            </a:r>
            <a:endParaRPr lang="en-US" sz="1200" dirty="0"/>
          </a:p>
        </p:txBody>
      </p:sp>
      <p:sp>
        <p:nvSpPr>
          <p:cNvPr id="11" name="Shape 9"/>
          <p:cNvSpPr/>
          <p:nvPr/>
        </p:nvSpPr>
        <p:spPr>
          <a:xfrm>
            <a:off x="5134356" y="1874520"/>
            <a:ext cx="1920240" cy="310896"/>
          </a:xfrm>
          <a:prstGeom prst="roundRect">
            <a:avLst>
              <a:gd name="adj" fmla="val 50000"/>
            </a:avLst>
          </a:prstGeom>
          <a:solidFill>
            <a:srgbClr val="16213A"/>
          </a:solidFill>
          <a:ln/>
        </p:spPr>
      </p:sp>
      <p:sp>
        <p:nvSpPr>
          <p:cNvPr id="12" name="Text 10"/>
          <p:cNvSpPr txBox="1"/>
          <p:nvPr/>
        </p:nvSpPr>
        <p:spPr>
          <a:xfrm>
            <a:off x="5134356" y="1874520"/>
            <a:ext cx="19202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 Search</a:t>
            </a:r>
            <a:endParaRPr lang="en-US" sz="1200" dirty="0"/>
          </a:p>
        </p:txBody>
      </p:sp>
      <p:sp>
        <p:nvSpPr>
          <p:cNvPr id="13" name="Shape 11"/>
          <p:cNvSpPr/>
          <p:nvPr/>
        </p:nvSpPr>
        <p:spPr>
          <a:xfrm>
            <a:off x="7352690" y="1874520"/>
            <a:ext cx="1920240" cy="310896"/>
          </a:xfrm>
          <a:prstGeom prst="roundRect">
            <a:avLst>
              <a:gd name="adj" fmla="val 50000"/>
            </a:avLst>
          </a:prstGeom>
          <a:solidFill>
            <a:srgbClr val="16213A"/>
          </a:solidFill>
          <a:ln/>
        </p:spPr>
      </p:sp>
      <p:sp>
        <p:nvSpPr>
          <p:cNvPr id="14" name="Text 12"/>
          <p:cNvSpPr txBox="1"/>
          <p:nvPr/>
        </p:nvSpPr>
        <p:spPr>
          <a:xfrm>
            <a:off x="7352690" y="1874520"/>
            <a:ext cx="19202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 Approach, confirm</a:t>
            </a:r>
            <a:endParaRPr lang="en-US" sz="1200" dirty="0"/>
          </a:p>
        </p:txBody>
      </p:sp>
      <p:sp>
        <p:nvSpPr>
          <p:cNvPr id="15" name="Shape 13"/>
          <p:cNvSpPr/>
          <p:nvPr/>
        </p:nvSpPr>
        <p:spPr>
          <a:xfrm>
            <a:off x="9571025" y="1874520"/>
            <a:ext cx="1920240" cy="310896"/>
          </a:xfrm>
          <a:prstGeom prst="roundRect">
            <a:avLst>
              <a:gd name="adj" fmla="val 50000"/>
            </a:avLst>
          </a:prstGeom>
          <a:solidFill>
            <a:srgbClr val="16213A"/>
          </a:solidFill>
          <a:ln/>
        </p:spPr>
      </p:sp>
      <p:sp>
        <p:nvSpPr>
          <p:cNvPr id="16" name="Text 14"/>
          <p:cNvSpPr txBox="1"/>
          <p:nvPr/>
        </p:nvSpPr>
        <p:spPr>
          <a:xfrm>
            <a:off x="9571025" y="1874520"/>
            <a:ext cx="19202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 Grasp</a:t>
            </a:r>
            <a:endParaRPr lang="en-US" sz="1200" dirty="0"/>
          </a:p>
        </p:txBody>
      </p:sp>
      <p:sp>
        <p:nvSpPr>
          <p:cNvPr id="17" name="Shape 15"/>
          <p:cNvSpPr/>
          <p:nvPr/>
        </p:nvSpPr>
        <p:spPr>
          <a:xfrm>
            <a:off x="2617927" y="2606040"/>
            <a:ext cx="4734763" cy="914"/>
          </a:xfrm>
          <a:prstGeom prst="line">
            <a:avLst/>
          </a:prstGeom>
          <a:noFill/>
          <a:ln w="28575">
            <a:solidFill>
              <a:srgbClr val="16A34A"/>
            </a:solidFill>
            <a:prstDash val="solid"/>
            <a:tailEnd type="triangle"/>
          </a:ln>
        </p:spPr>
      </p:sp>
      <p:sp>
        <p:nvSpPr>
          <p:cNvPr id="18" name="Text 16"/>
          <p:cNvSpPr txBox="1"/>
          <p:nvPr/>
        </p:nvSpPr>
        <p:spPr>
          <a:xfrm>
            <a:off x="2617927" y="2359152"/>
            <a:ext cx="4734763" cy="201168"/>
          </a:xfrm>
          <a:prstGeom prst="rect">
            <a:avLst/>
          </a:prstGeom>
          <a:noFill/>
          <a:ln/>
        </p:spPr>
        <p:txBody>
          <a:bodyPr wrap="square" lIns="0" tIns="0" rIns="0" bIns="0" rtlCol="0" anchor="ctr"/>
          <a:lstStyle/>
          <a:p>
            <a:pPr algn="ctr" indent="0" marL="0">
              <a:buNone/>
            </a:pPr>
            <a:r>
              <a:rPr lang="en-US" sz="1100" b="1" dirty="0">
                <a:solidFill>
                  <a:srgbClr val="15803D"/>
                </a:solidFill>
                <a:latin typeface="Calibri" pitchFamily="34" charset="0"/>
                <a:ea typeface="Calibri" pitchFamily="34" charset="-122"/>
                <a:cs typeface="Calibri" pitchFamily="34" charset="-120"/>
              </a:rPr>
              <a:t>gaze reference crop (replay)</a:t>
            </a:r>
            <a:endParaRPr lang="en-US" sz="1100" dirty="0"/>
          </a:p>
        </p:txBody>
      </p:sp>
      <p:sp>
        <p:nvSpPr>
          <p:cNvPr id="19" name="Shape 17"/>
          <p:cNvSpPr/>
          <p:nvPr/>
        </p:nvSpPr>
        <p:spPr>
          <a:xfrm>
            <a:off x="9272930" y="2606040"/>
            <a:ext cx="298094" cy="914"/>
          </a:xfrm>
          <a:prstGeom prst="line">
            <a:avLst/>
          </a:prstGeom>
          <a:noFill/>
          <a:ln w="28575">
            <a:solidFill>
              <a:srgbClr val="16A34A"/>
            </a:solidFill>
            <a:prstDash val="solid"/>
            <a:tailEnd type="triangle"/>
          </a:ln>
        </p:spPr>
      </p:sp>
      <p:sp>
        <p:nvSpPr>
          <p:cNvPr id="20" name="Shape 18"/>
          <p:cNvSpPr/>
          <p:nvPr/>
        </p:nvSpPr>
        <p:spPr>
          <a:xfrm flipV="1">
            <a:off x="3876142" y="4892040"/>
            <a:ext cx="914" cy="365760"/>
          </a:xfrm>
          <a:prstGeom prst="line">
            <a:avLst/>
          </a:prstGeom>
          <a:noFill/>
          <a:ln w="28575">
            <a:solidFill>
              <a:srgbClr val="16A34A"/>
            </a:solidFill>
            <a:prstDash val="solid"/>
            <a:tailEnd type="triangle"/>
          </a:ln>
        </p:spPr>
      </p:sp>
      <p:sp>
        <p:nvSpPr>
          <p:cNvPr id="21" name="Text 19"/>
          <p:cNvSpPr txBox="1"/>
          <p:nvPr/>
        </p:nvSpPr>
        <p:spPr>
          <a:xfrm>
            <a:off x="3949294" y="4965192"/>
            <a:ext cx="1463040" cy="201168"/>
          </a:xfrm>
          <a:prstGeom prst="rect">
            <a:avLst/>
          </a:prstGeom>
          <a:noFill/>
          <a:ln/>
        </p:spPr>
        <p:txBody>
          <a:bodyPr wrap="square" lIns="0" tIns="0" rIns="0" bIns="0" rtlCol="0" anchor="ctr"/>
          <a:lstStyle/>
          <a:p>
            <a:pPr algn="l" indent="0" marL="0">
              <a:buNone/>
            </a:pPr>
            <a:r>
              <a:rPr lang="en-US" sz="1100" b="1" dirty="0">
                <a:solidFill>
                  <a:srgbClr val="15803D"/>
                </a:solidFill>
                <a:latin typeface="Calibri" pitchFamily="34" charset="0"/>
                <a:ea typeface="Calibri" pitchFamily="34" charset="-122"/>
                <a:cs typeface="Calibri" pitchFamily="34" charset="-120"/>
              </a:rPr>
              <a:t>pose, checked live</a:t>
            </a:r>
            <a:endParaRPr lang="en-US" sz="1100" dirty="0"/>
          </a:p>
        </p:txBody>
      </p:sp>
      <p:sp>
        <p:nvSpPr>
          <p:cNvPr id="22" name="Shape 20"/>
          <p:cNvSpPr/>
          <p:nvPr/>
        </p:nvSpPr>
        <p:spPr>
          <a:xfrm flipH="1">
            <a:off x="2712110" y="5532120"/>
            <a:ext cx="203911" cy="914"/>
          </a:xfrm>
          <a:prstGeom prst="line">
            <a:avLst/>
          </a:prstGeom>
          <a:noFill/>
          <a:ln w="28575">
            <a:solidFill>
              <a:srgbClr val="16A34A"/>
            </a:solidFill>
            <a:prstDash val="solid"/>
          </a:ln>
        </p:spPr>
      </p:sp>
      <p:sp>
        <p:nvSpPr>
          <p:cNvPr id="23" name="Shape 21"/>
          <p:cNvSpPr/>
          <p:nvPr/>
        </p:nvSpPr>
        <p:spPr>
          <a:xfrm flipV="1">
            <a:off x="2712110" y="3611880"/>
            <a:ext cx="914" cy="1920240"/>
          </a:xfrm>
          <a:prstGeom prst="line">
            <a:avLst/>
          </a:prstGeom>
          <a:noFill/>
          <a:ln w="28575">
            <a:solidFill>
              <a:srgbClr val="16A34A"/>
            </a:solidFill>
            <a:prstDash val="solid"/>
          </a:ln>
        </p:spPr>
      </p:sp>
      <p:sp>
        <p:nvSpPr>
          <p:cNvPr id="24" name="Shape 22"/>
          <p:cNvSpPr/>
          <p:nvPr/>
        </p:nvSpPr>
        <p:spPr>
          <a:xfrm>
            <a:off x="2712110" y="3611880"/>
            <a:ext cx="203911" cy="914"/>
          </a:xfrm>
          <a:prstGeom prst="line">
            <a:avLst/>
          </a:prstGeom>
          <a:noFill/>
          <a:ln w="28575">
            <a:solidFill>
              <a:srgbClr val="16A34A"/>
            </a:solidFill>
            <a:prstDash val="solid"/>
            <a:tailEnd type="triangle"/>
          </a:ln>
        </p:spPr>
      </p:sp>
      <p:sp>
        <p:nvSpPr>
          <p:cNvPr id="25" name="Text 23"/>
          <p:cNvSpPr txBox="1"/>
          <p:nvPr/>
        </p:nvSpPr>
        <p:spPr>
          <a:xfrm>
            <a:off x="548640" y="5349240"/>
            <a:ext cx="2072030" cy="201168"/>
          </a:xfrm>
          <a:prstGeom prst="rect">
            <a:avLst/>
          </a:prstGeom>
          <a:noFill/>
          <a:ln/>
        </p:spPr>
        <p:txBody>
          <a:bodyPr wrap="square" lIns="0" tIns="0" rIns="0" bIns="0" rtlCol="0" anchor="ctr"/>
          <a:lstStyle/>
          <a:p>
            <a:pPr algn="r" indent="0" marL="0">
              <a:buNone/>
            </a:pPr>
            <a:r>
              <a:rPr lang="en-US" sz="1100" b="1" dirty="0">
                <a:solidFill>
                  <a:srgbClr val="15803D"/>
                </a:solidFill>
                <a:latin typeface="Calibri" pitchFamily="34" charset="0"/>
                <a:ea typeface="Calibri" pitchFamily="34" charset="-122"/>
                <a:cs typeface="Calibri" pitchFamily="34" charset="-120"/>
              </a:rPr>
              <a:t>recorded drive, offline</a:t>
            </a:r>
            <a:endParaRPr lang="en-US" sz="1100" dirty="0"/>
          </a:p>
        </p:txBody>
      </p:sp>
      <p:sp>
        <p:nvSpPr>
          <p:cNvPr id="26" name="Shape 24"/>
          <p:cNvSpPr/>
          <p:nvPr/>
        </p:nvSpPr>
        <p:spPr>
          <a:xfrm flipV="1">
            <a:off x="3876142" y="3886200"/>
            <a:ext cx="914" cy="457200"/>
          </a:xfrm>
          <a:prstGeom prst="line">
            <a:avLst/>
          </a:prstGeom>
          <a:noFill/>
          <a:ln w="25400">
            <a:solidFill>
              <a:srgbClr val="C2410C"/>
            </a:solidFill>
            <a:prstDash val="dash"/>
            <a:tailEnd type="triangle"/>
          </a:ln>
        </p:spPr>
      </p:sp>
      <p:sp>
        <p:nvSpPr>
          <p:cNvPr id="27" name="Text 25"/>
          <p:cNvSpPr txBox="1"/>
          <p:nvPr/>
        </p:nvSpPr>
        <p:spPr>
          <a:xfrm>
            <a:off x="3967582" y="4005072"/>
            <a:ext cx="2011680" cy="201168"/>
          </a:xfrm>
          <a:prstGeom prst="rect">
            <a:avLst/>
          </a:prstGeom>
          <a:noFill/>
          <a:ln/>
        </p:spPr>
        <p:txBody>
          <a:bodyPr wrap="square" lIns="0" tIns="0" rIns="0" bIns="0" rtlCol="0" anchor="ctr"/>
          <a:lstStyle/>
          <a:p>
            <a:pPr algn="l" indent="0" marL="0">
              <a:buNone/>
            </a:pPr>
            <a:r>
              <a:rPr lang="en-US" sz="1100" b="1" dirty="0">
                <a:solidFill>
                  <a:srgbClr val="C2410C"/>
                </a:solidFill>
                <a:latin typeface="Calibri" pitchFamily="34" charset="0"/>
                <a:ea typeface="Calibri" pitchFamily="34" charset="-122"/>
                <a:cs typeface="Calibri" pitchFamily="34" charset="-120"/>
              </a:rPr>
              <a:t>graph grows live (T7.5)</a:t>
            </a:r>
            <a:endParaRPr lang="en-US" sz="1100" dirty="0"/>
          </a:p>
        </p:txBody>
      </p:sp>
      <p:sp>
        <p:nvSpPr>
          <p:cNvPr id="28" name="Shape 26"/>
          <p:cNvSpPr/>
          <p:nvPr/>
        </p:nvSpPr>
        <p:spPr>
          <a:xfrm>
            <a:off x="4836262" y="4617720"/>
            <a:ext cx="298094" cy="914"/>
          </a:xfrm>
          <a:prstGeom prst="line">
            <a:avLst/>
          </a:prstGeom>
          <a:noFill/>
          <a:ln w="25400">
            <a:solidFill>
              <a:srgbClr val="C2410C"/>
            </a:solidFill>
            <a:prstDash val="dash"/>
            <a:tailEnd type="triangle"/>
          </a:ln>
        </p:spPr>
      </p:sp>
      <p:sp>
        <p:nvSpPr>
          <p:cNvPr id="29" name="Shape 27"/>
          <p:cNvSpPr/>
          <p:nvPr/>
        </p:nvSpPr>
        <p:spPr>
          <a:xfrm>
            <a:off x="2435047" y="2880360"/>
            <a:ext cx="3385109" cy="457200"/>
          </a:xfrm>
          <a:prstGeom prst="line">
            <a:avLst/>
          </a:prstGeom>
          <a:noFill/>
          <a:ln w="25400">
            <a:solidFill>
              <a:srgbClr val="C2410C"/>
            </a:solidFill>
            <a:prstDash val="dash"/>
            <a:tailEnd type="triangle"/>
          </a:ln>
        </p:spPr>
      </p:sp>
      <p:sp>
        <p:nvSpPr>
          <p:cNvPr id="30" name="Text 28"/>
          <p:cNvSpPr txBox="1"/>
          <p:nvPr/>
        </p:nvSpPr>
        <p:spPr>
          <a:xfrm>
            <a:off x="822960" y="2953512"/>
            <a:ext cx="1554480" cy="201168"/>
          </a:xfrm>
          <a:prstGeom prst="rect">
            <a:avLst/>
          </a:prstGeom>
          <a:noFill/>
          <a:ln/>
        </p:spPr>
        <p:txBody>
          <a:bodyPr wrap="square" lIns="0" tIns="0" rIns="0" bIns="0" rtlCol="0" anchor="ctr"/>
          <a:lstStyle/>
          <a:p>
            <a:pPr algn="r" indent="0" marL="0">
              <a:buNone/>
            </a:pPr>
            <a:r>
              <a:rPr lang="en-US" sz="1100" b="1" dirty="0">
                <a:solidFill>
                  <a:srgbClr val="C2410C"/>
                </a:solidFill>
                <a:latin typeface="Calibri" pitchFamily="34" charset="0"/>
                <a:ea typeface="Calibri" pitchFamily="34" charset="-122"/>
                <a:cs typeface="Calibri" pitchFamily="34" charset="-120"/>
              </a:rPr>
              <a:t>gaze target</a:t>
            </a:r>
            <a:endParaRPr lang="en-US" sz="1100" dirty="0"/>
          </a:p>
        </p:txBody>
      </p:sp>
      <p:sp>
        <p:nvSpPr>
          <p:cNvPr id="31" name="Shape 29"/>
          <p:cNvSpPr/>
          <p:nvPr/>
        </p:nvSpPr>
        <p:spPr>
          <a:xfrm>
            <a:off x="4836262" y="3611880"/>
            <a:ext cx="298094" cy="914"/>
          </a:xfrm>
          <a:prstGeom prst="line">
            <a:avLst/>
          </a:prstGeom>
          <a:noFill/>
          <a:ln w="25400">
            <a:solidFill>
              <a:srgbClr val="C2410C"/>
            </a:solidFill>
            <a:prstDash val="dash"/>
            <a:tailEnd type="triangle"/>
          </a:ln>
        </p:spPr>
      </p:sp>
      <p:sp>
        <p:nvSpPr>
          <p:cNvPr id="32" name="Shape 30"/>
          <p:cNvSpPr/>
          <p:nvPr/>
        </p:nvSpPr>
        <p:spPr>
          <a:xfrm>
            <a:off x="7054596" y="3611880"/>
            <a:ext cx="298094" cy="914"/>
          </a:xfrm>
          <a:prstGeom prst="line">
            <a:avLst/>
          </a:prstGeom>
          <a:noFill/>
          <a:ln w="25400">
            <a:solidFill>
              <a:srgbClr val="C2410C"/>
            </a:solidFill>
            <a:prstDash val="dash"/>
            <a:tailEnd type="triangle"/>
          </a:ln>
        </p:spPr>
      </p:sp>
      <p:sp>
        <p:nvSpPr>
          <p:cNvPr id="33" name="Shape 31"/>
          <p:cNvSpPr/>
          <p:nvPr/>
        </p:nvSpPr>
        <p:spPr>
          <a:xfrm flipV="1">
            <a:off x="8312810" y="2880360"/>
            <a:ext cx="914" cy="457200"/>
          </a:xfrm>
          <a:prstGeom prst="line">
            <a:avLst/>
          </a:prstGeom>
          <a:noFill/>
          <a:ln w="25400">
            <a:solidFill>
              <a:srgbClr val="C2410C"/>
            </a:solidFill>
            <a:prstDash val="dash"/>
            <a:tailEnd type="triangle"/>
          </a:ln>
        </p:spPr>
      </p:sp>
      <p:sp>
        <p:nvSpPr>
          <p:cNvPr id="34" name="Text 32"/>
          <p:cNvSpPr txBox="1"/>
          <p:nvPr/>
        </p:nvSpPr>
        <p:spPr>
          <a:xfrm>
            <a:off x="8404250" y="2999232"/>
            <a:ext cx="2011680" cy="201168"/>
          </a:xfrm>
          <a:prstGeom prst="rect">
            <a:avLst/>
          </a:prstGeom>
          <a:noFill/>
          <a:ln/>
        </p:spPr>
        <p:txBody>
          <a:bodyPr wrap="square" lIns="0" tIns="0" rIns="0" bIns="0" rtlCol="0" anchor="ctr"/>
          <a:lstStyle/>
          <a:p>
            <a:pPr algn="l" indent="0" marL="0">
              <a:buNone/>
            </a:pPr>
            <a:r>
              <a:rPr lang="en-US" sz="1100" b="1" dirty="0">
                <a:solidFill>
                  <a:srgbClr val="C2410C"/>
                </a:solidFill>
                <a:latin typeface="Calibri" pitchFamily="34" charset="0"/>
                <a:ea typeface="Calibri" pitchFamily="34" charset="-122"/>
                <a:cs typeface="Calibri" pitchFamily="34" charset="-120"/>
              </a:rPr>
              <a:t>arrive, hand over (T3.7)</a:t>
            </a:r>
            <a:endParaRPr lang="en-US" sz="1100" dirty="0"/>
          </a:p>
        </p:txBody>
      </p:sp>
      <p:sp>
        <p:nvSpPr>
          <p:cNvPr id="35" name="Shape 33"/>
          <p:cNvSpPr/>
          <p:nvPr/>
        </p:nvSpPr>
        <p:spPr>
          <a:xfrm>
            <a:off x="697687" y="2331720"/>
            <a:ext cx="1920240" cy="548640"/>
          </a:xfrm>
          <a:prstGeom prst="roundRect">
            <a:avLst>
              <a:gd name="adj" fmla="val 13333"/>
            </a:avLst>
          </a:prstGeom>
          <a:solidFill>
            <a:srgbClr val="DCFCE7"/>
          </a:solidFill>
          <a:ln/>
        </p:spPr>
      </p:sp>
      <p:sp>
        <p:nvSpPr>
          <p:cNvPr id="36" name="Text 34"/>
          <p:cNvSpPr txBox="1"/>
          <p:nvPr/>
        </p:nvSpPr>
        <p:spPr>
          <a:xfrm>
            <a:off x="807415" y="2368296"/>
            <a:ext cx="1737360" cy="274320"/>
          </a:xfrm>
          <a:prstGeom prst="rect">
            <a:avLst/>
          </a:prstGeom>
          <a:noFill/>
          <a:ln/>
        </p:spPr>
        <p:txBody>
          <a:bodyPr wrap="square" lIns="0" tIns="0" rIns="0" bIns="0" rtlCol="0" anchor="ctr"/>
          <a:lstStyle/>
          <a:p>
            <a:pPr indent="0" marL="0">
              <a:buNone/>
            </a:pPr>
            <a:r>
              <a:rPr lang="en-US" sz="1200" b="1" dirty="0">
                <a:solidFill>
                  <a:srgbClr val="16213A"/>
                </a:solidFill>
                <a:latin typeface="Calibri" pitchFamily="34" charset="0"/>
                <a:ea typeface="Calibri" pitchFamily="34" charset="-122"/>
                <a:cs typeface="Calibri" pitchFamily="34" charset="-120"/>
              </a:rPr>
              <a:t>Voice and gaze to a crop</a:t>
            </a:r>
            <a:endParaRPr lang="en-US" sz="1200" dirty="0"/>
          </a:p>
        </p:txBody>
      </p:sp>
      <p:sp>
        <p:nvSpPr>
          <p:cNvPr id="37" name="Text 35"/>
          <p:cNvSpPr txBox="1"/>
          <p:nvPr/>
        </p:nvSpPr>
        <p:spPr>
          <a:xfrm>
            <a:off x="807415" y="2615184"/>
            <a:ext cx="1737360" cy="219456"/>
          </a:xfrm>
          <a:prstGeom prst="rect">
            <a:avLst/>
          </a:prstGeom>
          <a:noFill/>
          <a:ln/>
        </p:spPr>
        <p:txBody>
          <a:bodyPr wrap="square" lIns="0" tIns="0" rIns="0" bIns="0" rtlCol="0" anchor="ctr"/>
          <a:lstStyle/>
          <a:p>
            <a:pPr indent="0" marL="0">
              <a:buNone/>
            </a:pPr>
            <a:r>
              <a:rPr lang="en-US" sz="1100" dirty="0">
                <a:solidFill>
                  <a:srgbClr val="15803D"/>
                </a:solidFill>
                <a:latin typeface="Calibri" pitchFamily="34" charset="0"/>
                <a:ea typeface="Calibri" pitchFamily="34" charset="-122"/>
                <a:cs typeface="Calibri" pitchFamily="34" charset="-120"/>
              </a:rPr>
              <a:t>tested on replay</a:t>
            </a:r>
            <a:endParaRPr lang="en-US" sz="1100" dirty="0"/>
          </a:p>
        </p:txBody>
      </p:sp>
      <p:sp>
        <p:nvSpPr>
          <p:cNvPr id="38" name="Shape 36"/>
          <p:cNvSpPr/>
          <p:nvPr/>
        </p:nvSpPr>
        <p:spPr>
          <a:xfrm>
            <a:off x="7352690" y="2331720"/>
            <a:ext cx="1920240" cy="548640"/>
          </a:xfrm>
          <a:prstGeom prst="roundRect">
            <a:avLst>
              <a:gd name="adj" fmla="val 13333"/>
            </a:avLst>
          </a:prstGeom>
          <a:solidFill>
            <a:srgbClr val="DCFCE7"/>
          </a:solidFill>
          <a:ln/>
        </p:spPr>
      </p:sp>
      <p:sp>
        <p:nvSpPr>
          <p:cNvPr id="39" name="Text 37"/>
          <p:cNvSpPr txBox="1"/>
          <p:nvPr/>
        </p:nvSpPr>
        <p:spPr>
          <a:xfrm>
            <a:off x="7462418" y="2368296"/>
            <a:ext cx="1737360" cy="274320"/>
          </a:xfrm>
          <a:prstGeom prst="rect">
            <a:avLst/>
          </a:prstGeom>
          <a:noFill/>
          <a:ln/>
        </p:spPr>
        <p:txBody>
          <a:bodyPr wrap="square" lIns="0" tIns="0" rIns="0" bIns="0" rtlCol="0" anchor="ctr"/>
          <a:lstStyle/>
          <a:p>
            <a:pPr indent="0" marL="0">
              <a:buNone/>
            </a:pPr>
            <a:r>
              <a:rPr lang="en-US" sz="1200" b="1" dirty="0">
                <a:solidFill>
                  <a:srgbClr val="16213A"/>
                </a:solidFill>
                <a:latin typeface="Calibri" pitchFamily="34" charset="0"/>
                <a:ea typeface="Calibri" pitchFamily="34" charset="-122"/>
                <a:cs typeface="Calibri" pitchFamily="34" charset="-120"/>
              </a:rPr>
              <a:t>Wrist camera confirms</a:t>
            </a:r>
            <a:endParaRPr lang="en-US" sz="1200" dirty="0"/>
          </a:p>
        </p:txBody>
      </p:sp>
      <p:sp>
        <p:nvSpPr>
          <p:cNvPr id="40" name="Text 38"/>
          <p:cNvSpPr txBox="1"/>
          <p:nvPr/>
        </p:nvSpPr>
        <p:spPr>
          <a:xfrm>
            <a:off x="7462418" y="2615184"/>
            <a:ext cx="1737360" cy="219456"/>
          </a:xfrm>
          <a:prstGeom prst="rect">
            <a:avLst/>
          </a:prstGeom>
          <a:noFill/>
          <a:ln/>
        </p:spPr>
        <p:txBody>
          <a:bodyPr wrap="square" lIns="0" tIns="0" rIns="0" bIns="0" rtlCol="0" anchor="ctr"/>
          <a:lstStyle/>
          <a:p>
            <a:pPr indent="0" marL="0">
              <a:buNone/>
            </a:pPr>
            <a:r>
              <a:rPr lang="en-US" sz="1100" dirty="0">
                <a:solidFill>
                  <a:srgbClr val="15803D"/>
                </a:solidFill>
                <a:latin typeface="Calibri" pitchFamily="34" charset="0"/>
                <a:ea typeface="Calibri" pitchFamily="34" charset="-122"/>
                <a:cs typeface="Calibri" pitchFamily="34" charset="-120"/>
              </a:rPr>
              <a:t>600 / 602 on replay</a:t>
            </a:r>
            <a:endParaRPr lang="en-US" sz="1100" dirty="0"/>
          </a:p>
        </p:txBody>
      </p:sp>
      <p:sp>
        <p:nvSpPr>
          <p:cNvPr id="41" name="Shape 39"/>
          <p:cNvSpPr/>
          <p:nvPr/>
        </p:nvSpPr>
        <p:spPr>
          <a:xfrm>
            <a:off x="9571025" y="2331720"/>
            <a:ext cx="1920240" cy="548640"/>
          </a:xfrm>
          <a:prstGeom prst="roundRect">
            <a:avLst>
              <a:gd name="adj" fmla="val 13333"/>
            </a:avLst>
          </a:prstGeom>
          <a:solidFill>
            <a:srgbClr val="DCFCE7"/>
          </a:solidFill>
          <a:ln/>
        </p:spPr>
      </p:sp>
      <p:sp>
        <p:nvSpPr>
          <p:cNvPr id="42" name="Text 40"/>
          <p:cNvSpPr txBox="1"/>
          <p:nvPr/>
        </p:nvSpPr>
        <p:spPr>
          <a:xfrm>
            <a:off x="9680753" y="2368296"/>
            <a:ext cx="1737360" cy="274320"/>
          </a:xfrm>
          <a:prstGeom prst="rect">
            <a:avLst/>
          </a:prstGeom>
          <a:noFill/>
          <a:ln/>
        </p:spPr>
        <p:txBody>
          <a:bodyPr wrap="square" lIns="0" tIns="0" rIns="0" bIns="0" rtlCol="0" anchor="ctr"/>
          <a:lstStyle/>
          <a:p>
            <a:pPr indent="0" marL="0">
              <a:buNone/>
            </a:pPr>
            <a:r>
              <a:rPr lang="en-US" sz="1200" b="1" dirty="0">
                <a:solidFill>
                  <a:srgbClr val="16213A"/>
                </a:solidFill>
                <a:latin typeface="Calibri" pitchFamily="34" charset="0"/>
                <a:ea typeface="Calibri" pitchFamily="34" charset="-122"/>
                <a:cs typeface="Calibri" pitchFamily="34" charset="-120"/>
              </a:rPr>
              <a:t>Grasp on the real arm</a:t>
            </a:r>
            <a:endParaRPr lang="en-US" sz="1200" dirty="0"/>
          </a:p>
        </p:txBody>
      </p:sp>
      <p:sp>
        <p:nvSpPr>
          <p:cNvPr id="43" name="Text 41"/>
          <p:cNvSpPr txBox="1"/>
          <p:nvPr/>
        </p:nvSpPr>
        <p:spPr>
          <a:xfrm>
            <a:off x="9680753" y="2615184"/>
            <a:ext cx="1737360" cy="219456"/>
          </a:xfrm>
          <a:prstGeom prst="rect">
            <a:avLst/>
          </a:prstGeom>
          <a:noFill/>
          <a:ln/>
        </p:spPr>
        <p:txBody>
          <a:bodyPr wrap="square" lIns="0" tIns="0" rIns="0" bIns="0" rtlCol="0" anchor="ctr"/>
          <a:lstStyle/>
          <a:p>
            <a:pPr indent="0" marL="0">
              <a:buNone/>
            </a:pPr>
            <a:r>
              <a:rPr lang="en-US" sz="1100" dirty="0">
                <a:solidFill>
                  <a:srgbClr val="15803D"/>
                </a:solidFill>
                <a:latin typeface="Calibri" pitchFamily="34" charset="0"/>
                <a:ea typeface="Calibri" pitchFamily="34" charset="-122"/>
                <a:cs typeface="Calibri" pitchFamily="34" charset="-120"/>
              </a:rPr>
              <a:t>tested on the real arm</a:t>
            </a:r>
            <a:endParaRPr lang="en-US" sz="1100" dirty="0"/>
          </a:p>
        </p:txBody>
      </p:sp>
      <p:sp>
        <p:nvSpPr>
          <p:cNvPr id="44" name="Shape 42"/>
          <p:cNvSpPr/>
          <p:nvPr/>
        </p:nvSpPr>
        <p:spPr>
          <a:xfrm>
            <a:off x="2916022" y="3337560"/>
            <a:ext cx="1920240" cy="548640"/>
          </a:xfrm>
          <a:prstGeom prst="roundRect">
            <a:avLst>
              <a:gd name="adj" fmla="val 13333"/>
            </a:avLst>
          </a:prstGeom>
          <a:solidFill>
            <a:srgbClr val="CFFAFE"/>
          </a:solidFill>
          <a:ln/>
        </p:spPr>
      </p:sp>
      <p:sp>
        <p:nvSpPr>
          <p:cNvPr id="45" name="Text 43"/>
          <p:cNvSpPr txBox="1"/>
          <p:nvPr/>
        </p:nvSpPr>
        <p:spPr>
          <a:xfrm>
            <a:off x="3025750" y="3374136"/>
            <a:ext cx="1737360" cy="274320"/>
          </a:xfrm>
          <a:prstGeom prst="rect">
            <a:avLst/>
          </a:prstGeom>
          <a:noFill/>
          <a:ln/>
        </p:spPr>
        <p:txBody>
          <a:bodyPr wrap="square" lIns="0" tIns="0" rIns="0" bIns="0" rtlCol="0" anchor="ctr"/>
          <a:lstStyle/>
          <a:p>
            <a:pPr indent="0" marL="0">
              <a:buNone/>
            </a:pPr>
            <a:r>
              <a:rPr lang="en-US" sz="1200" b="1" dirty="0">
                <a:solidFill>
                  <a:srgbClr val="16213A"/>
                </a:solidFill>
                <a:latin typeface="Calibri" pitchFamily="34" charset="0"/>
                <a:ea typeface="Calibri" pitchFamily="34" charset="-122"/>
                <a:cs typeface="Calibri" pitchFamily="34" charset="-120"/>
              </a:rPr>
              <a:t>Memory graph</a:t>
            </a:r>
            <a:endParaRPr lang="en-US" sz="1200" dirty="0"/>
          </a:p>
        </p:txBody>
      </p:sp>
      <p:sp>
        <p:nvSpPr>
          <p:cNvPr id="46" name="Text 44"/>
          <p:cNvSpPr txBox="1"/>
          <p:nvPr/>
        </p:nvSpPr>
        <p:spPr>
          <a:xfrm>
            <a:off x="3025750" y="3621024"/>
            <a:ext cx="1737360" cy="219456"/>
          </a:xfrm>
          <a:prstGeom prst="rect">
            <a:avLst/>
          </a:prstGeom>
          <a:noFill/>
          <a:ln/>
        </p:spPr>
        <p:txBody>
          <a:bodyPr wrap="square" lIns="0" tIns="0" rIns="0" bIns="0" rtlCol="0" anchor="ctr"/>
          <a:lstStyle/>
          <a:p>
            <a:pPr indent="0" marL="0">
              <a:buNone/>
            </a:pPr>
            <a:r>
              <a:rPr lang="en-US" sz="1100" dirty="0">
                <a:solidFill>
                  <a:srgbClr val="0E7490"/>
                </a:solidFill>
                <a:latin typeface="Calibri" pitchFamily="34" charset="0"/>
                <a:ea typeface="Calibri" pitchFamily="34" charset="-122"/>
                <a:cs typeface="Calibri" pitchFamily="34" charset="-120"/>
              </a:rPr>
              <a:t>works alone, offline</a:t>
            </a:r>
            <a:endParaRPr lang="en-US" sz="1100" dirty="0"/>
          </a:p>
        </p:txBody>
      </p:sp>
      <p:sp>
        <p:nvSpPr>
          <p:cNvPr id="47" name="Shape 45"/>
          <p:cNvSpPr/>
          <p:nvPr/>
        </p:nvSpPr>
        <p:spPr>
          <a:xfrm>
            <a:off x="5134356" y="3337560"/>
            <a:ext cx="1920240" cy="548640"/>
          </a:xfrm>
          <a:prstGeom prst="roundRect">
            <a:avLst>
              <a:gd name="adj" fmla="val 13333"/>
            </a:avLst>
          </a:prstGeom>
          <a:solidFill>
            <a:srgbClr val="FFFFFF"/>
          </a:solidFill>
          <a:ln w="12700">
            <a:solidFill>
              <a:srgbClr val="9CA3AF"/>
            </a:solidFill>
            <a:prstDash val="dash"/>
          </a:ln>
        </p:spPr>
      </p:sp>
      <p:sp>
        <p:nvSpPr>
          <p:cNvPr id="48" name="Text 46"/>
          <p:cNvSpPr txBox="1"/>
          <p:nvPr/>
        </p:nvSpPr>
        <p:spPr>
          <a:xfrm>
            <a:off x="5244084" y="3374136"/>
            <a:ext cx="1737360" cy="274320"/>
          </a:xfrm>
          <a:prstGeom prst="rect">
            <a:avLst/>
          </a:prstGeom>
          <a:noFill/>
          <a:ln/>
        </p:spPr>
        <p:txBody>
          <a:bodyPr wrap="square" lIns="0" tIns="0" rIns="0" bIns="0" rtlCol="0" anchor="ctr"/>
          <a:lstStyle/>
          <a:p>
            <a:pPr indent="0" marL="0">
              <a:buNone/>
            </a:pPr>
            <a:r>
              <a:rPr lang="en-US" sz="1200" b="1" dirty="0">
                <a:solidFill>
                  <a:srgbClr val="16213A"/>
                </a:solidFill>
                <a:latin typeface="Calibri" pitchFamily="34" charset="0"/>
                <a:ea typeface="Calibri" pitchFamily="34" charset="-122"/>
                <a:cs typeface="Calibri" pitchFamily="34" charset="-120"/>
              </a:rPr>
              <a:t>Gaze match on graph</a:t>
            </a:r>
            <a:endParaRPr lang="en-US" sz="1200" dirty="0"/>
          </a:p>
        </p:txBody>
      </p:sp>
      <p:sp>
        <p:nvSpPr>
          <p:cNvPr id="49" name="Text 47"/>
          <p:cNvSpPr txBox="1"/>
          <p:nvPr/>
        </p:nvSpPr>
        <p:spPr>
          <a:xfrm>
            <a:off x="5244084" y="3621024"/>
            <a:ext cx="1737360" cy="219456"/>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planned (T8.2)</a:t>
            </a:r>
            <a:endParaRPr lang="en-US" sz="1100" dirty="0"/>
          </a:p>
        </p:txBody>
      </p:sp>
      <p:sp>
        <p:nvSpPr>
          <p:cNvPr id="50" name="Shape 48"/>
          <p:cNvSpPr/>
          <p:nvPr/>
        </p:nvSpPr>
        <p:spPr>
          <a:xfrm>
            <a:off x="7352690" y="3337560"/>
            <a:ext cx="1920240" cy="548640"/>
          </a:xfrm>
          <a:prstGeom prst="roundRect">
            <a:avLst>
              <a:gd name="adj" fmla="val 13333"/>
            </a:avLst>
          </a:prstGeom>
          <a:solidFill>
            <a:srgbClr val="FFFFFF"/>
          </a:solidFill>
          <a:ln w="12700">
            <a:solidFill>
              <a:srgbClr val="9CA3AF"/>
            </a:solidFill>
            <a:prstDash val="dash"/>
          </a:ln>
        </p:spPr>
      </p:sp>
      <p:sp>
        <p:nvSpPr>
          <p:cNvPr id="51" name="Text 49"/>
          <p:cNvSpPr txBox="1"/>
          <p:nvPr/>
        </p:nvSpPr>
        <p:spPr>
          <a:xfrm>
            <a:off x="7462418" y="3374136"/>
            <a:ext cx="1737360" cy="274320"/>
          </a:xfrm>
          <a:prstGeom prst="rect">
            <a:avLst/>
          </a:prstGeom>
          <a:noFill/>
          <a:ln/>
        </p:spPr>
        <p:txBody>
          <a:bodyPr wrap="square" lIns="0" tIns="0" rIns="0" bIns="0" rtlCol="0" anchor="ctr"/>
          <a:lstStyle/>
          <a:p>
            <a:pPr indent="0" marL="0">
              <a:buNone/>
            </a:pPr>
            <a:r>
              <a:rPr lang="en-US" sz="1200" b="1" dirty="0">
                <a:solidFill>
                  <a:srgbClr val="16213A"/>
                </a:solidFill>
                <a:latin typeface="Calibri" pitchFamily="34" charset="0"/>
                <a:ea typeface="Calibri" pitchFamily="34" charset="-122"/>
                <a:cs typeface="Calibri" pitchFamily="34" charset="-120"/>
              </a:rPr>
              <a:t>Drive and hand over</a:t>
            </a:r>
            <a:endParaRPr lang="en-US" sz="1200" dirty="0"/>
          </a:p>
        </p:txBody>
      </p:sp>
      <p:sp>
        <p:nvSpPr>
          <p:cNvPr id="52" name="Text 50"/>
          <p:cNvSpPr txBox="1"/>
          <p:nvPr/>
        </p:nvSpPr>
        <p:spPr>
          <a:xfrm>
            <a:off x="7462418" y="3621024"/>
            <a:ext cx="1737360" cy="219456"/>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planned (T7.1)</a:t>
            </a:r>
            <a:endParaRPr lang="en-US" sz="1100" dirty="0"/>
          </a:p>
        </p:txBody>
      </p:sp>
      <p:sp>
        <p:nvSpPr>
          <p:cNvPr id="53" name="Shape 51"/>
          <p:cNvSpPr/>
          <p:nvPr/>
        </p:nvSpPr>
        <p:spPr>
          <a:xfrm>
            <a:off x="2916022" y="4343400"/>
            <a:ext cx="1920240" cy="548640"/>
          </a:xfrm>
          <a:prstGeom prst="roundRect">
            <a:avLst>
              <a:gd name="adj" fmla="val 13333"/>
            </a:avLst>
          </a:prstGeom>
          <a:solidFill>
            <a:srgbClr val="FEF3C7"/>
          </a:solidFill>
          <a:ln/>
        </p:spPr>
      </p:sp>
      <p:sp>
        <p:nvSpPr>
          <p:cNvPr id="54" name="Text 52"/>
          <p:cNvSpPr txBox="1"/>
          <p:nvPr/>
        </p:nvSpPr>
        <p:spPr>
          <a:xfrm>
            <a:off x="3025750" y="4379976"/>
            <a:ext cx="1737360" cy="274320"/>
          </a:xfrm>
          <a:prstGeom prst="rect">
            <a:avLst/>
          </a:prstGeom>
          <a:noFill/>
          <a:ln/>
        </p:spPr>
        <p:txBody>
          <a:bodyPr wrap="square" lIns="0" tIns="0" rIns="0" bIns="0" rtlCol="0" anchor="ctr"/>
          <a:lstStyle/>
          <a:p>
            <a:pPr indent="0" marL="0">
              <a:buNone/>
            </a:pPr>
            <a:r>
              <a:rPr lang="en-US" sz="1200" b="1" dirty="0">
                <a:solidFill>
                  <a:srgbClr val="16213A"/>
                </a:solidFill>
                <a:latin typeface="Calibri" pitchFamily="34" charset="0"/>
                <a:ea typeface="Calibri" pitchFamily="34" charset="-122"/>
                <a:cs typeface="Calibri" pitchFamily="34" charset="-120"/>
              </a:rPr>
              <a:t>Nav2 drives the base</a:t>
            </a:r>
            <a:endParaRPr lang="en-US" sz="1200" dirty="0"/>
          </a:p>
        </p:txBody>
      </p:sp>
      <p:sp>
        <p:nvSpPr>
          <p:cNvPr id="55" name="Text 53"/>
          <p:cNvSpPr txBox="1"/>
          <p:nvPr/>
        </p:nvSpPr>
        <p:spPr>
          <a:xfrm>
            <a:off x="3025750" y="4626864"/>
            <a:ext cx="1737360" cy="219456"/>
          </a:xfrm>
          <a:prstGeom prst="rect">
            <a:avLst/>
          </a:prstGeom>
          <a:noFill/>
          <a:ln/>
        </p:spPr>
        <p:txBody>
          <a:bodyPr wrap="square" lIns="0" tIns="0" rIns="0" bIns="0" rtlCol="0" anchor="ctr"/>
          <a:lstStyle/>
          <a:p>
            <a:pPr indent="0" marL="0">
              <a:buNone/>
            </a:pPr>
            <a:r>
              <a:rPr lang="en-US" sz="1100" dirty="0">
                <a:solidFill>
                  <a:srgbClr val="B45309"/>
                </a:solidFill>
                <a:latin typeface="Calibri" pitchFamily="34" charset="0"/>
                <a:ea typeface="Calibri" pitchFamily="34" charset="-122"/>
                <a:cs typeface="Calibri" pitchFamily="34" charset="-120"/>
              </a:rPr>
              <a:t>built, never driven (T3.6)</a:t>
            </a:r>
            <a:endParaRPr lang="en-US" sz="1100" dirty="0"/>
          </a:p>
        </p:txBody>
      </p:sp>
      <p:sp>
        <p:nvSpPr>
          <p:cNvPr id="56" name="Shape 54"/>
          <p:cNvSpPr/>
          <p:nvPr/>
        </p:nvSpPr>
        <p:spPr>
          <a:xfrm>
            <a:off x="5134356" y="4343400"/>
            <a:ext cx="1920240" cy="548640"/>
          </a:xfrm>
          <a:prstGeom prst="roundRect">
            <a:avLst>
              <a:gd name="adj" fmla="val 13333"/>
            </a:avLst>
          </a:prstGeom>
          <a:solidFill>
            <a:srgbClr val="FFFFFF"/>
          </a:solidFill>
          <a:ln w="12700">
            <a:solidFill>
              <a:srgbClr val="9CA3AF"/>
            </a:solidFill>
            <a:prstDash val="dash"/>
          </a:ln>
        </p:spPr>
      </p:sp>
      <p:sp>
        <p:nvSpPr>
          <p:cNvPr id="57" name="Text 55"/>
          <p:cNvSpPr txBox="1"/>
          <p:nvPr/>
        </p:nvSpPr>
        <p:spPr>
          <a:xfrm>
            <a:off x="5244084" y="4379976"/>
            <a:ext cx="1737360" cy="274320"/>
          </a:xfrm>
          <a:prstGeom prst="rect">
            <a:avLst/>
          </a:prstGeom>
          <a:noFill/>
          <a:ln/>
        </p:spPr>
        <p:txBody>
          <a:bodyPr wrap="square" lIns="0" tIns="0" rIns="0" bIns="0" rtlCol="0" anchor="ctr"/>
          <a:lstStyle/>
          <a:p>
            <a:pPr indent="0" marL="0">
              <a:buNone/>
            </a:pPr>
            <a:r>
              <a:rPr lang="en-US" sz="1200" b="1" dirty="0">
                <a:solidFill>
                  <a:srgbClr val="16213A"/>
                </a:solidFill>
                <a:latin typeface="Calibri" pitchFamily="34" charset="0"/>
                <a:ea typeface="Calibri" pitchFamily="34" charset="-122"/>
                <a:cs typeface="Calibri" pitchFamily="34" charset="-120"/>
              </a:rPr>
              <a:t>Find the user</a:t>
            </a:r>
            <a:endParaRPr lang="en-US" sz="1200" dirty="0"/>
          </a:p>
        </p:txBody>
      </p:sp>
      <p:sp>
        <p:nvSpPr>
          <p:cNvPr id="58" name="Text 56"/>
          <p:cNvSpPr txBox="1"/>
          <p:nvPr/>
        </p:nvSpPr>
        <p:spPr>
          <a:xfrm>
            <a:off x="5244084" y="4626864"/>
            <a:ext cx="1737360" cy="219456"/>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planned (T7.6)</a:t>
            </a:r>
            <a:endParaRPr lang="en-US" sz="1100" dirty="0"/>
          </a:p>
        </p:txBody>
      </p:sp>
      <p:sp>
        <p:nvSpPr>
          <p:cNvPr id="59" name="Shape 57"/>
          <p:cNvSpPr/>
          <p:nvPr/>
        </p:nvSpPr>
        <p:spPr>
          <a:xfrm>
            <a:off x="2916022" y="5257800"/>
            <a:ext cx="1920240" cy="548640"/>
          </a:xfrm>
          <a:prstGeom prst="roundRect">
            <a:avLst>
              <a:gd name="adj" fmla="val 13333"/>
            </a:avLst>
          </a:prstGeom>
          <a:solidFill>
            <a:srgbClr val="DCFCE7"/>
          </a:solidFill>
          <a:ln/>
        </p:spPr>
      </p:sp>
      <p:sp>
        <p:nvSpPr>
          <p:cNvPr id="60" name="Text 58"/>
          <p:cNvSpPr txBox="1"/>
          <p:nvPr/>
        </p:nvSpPr>
        <p:spPr>
          <a:xfrm>
            <a:off x="3025750" y="5294376"/>
            <a:ext cx="1737360" cy="274320"/>
          </a:xfrm>
          <a:prstGeom prst="rect">
            <a:avLst/>
          </a:prstGeom>
          <a:noFill/>
          <a:ln/>
        </p:spPr>
        <p:txBody>
          <a:bodyPr wrap="square" lIns="0" tIns="0" rIns="0" bIns="0" rtlCol="0" anchor="ctr"/>
          <a:lstStyle/>
          <a:p>
            <a:pPr indent="0" marL="0">
              <a:buNone/>
            </a:pPr>
            <a:r>
              <a:rPr lang="en-US" sz="1200" b="1" dirty="0">
                <a:solidFill>
                  <a:srgbClr val="16213A"/>
                </a:solidFill>
                <a:latin typeface="Calibri" pitchFamily="34" charset="0"/>
                <a:ea typeface="Calibri" pitchFamily="34" charset="-122"/>
                <a:cs typeface="Calibri" pitchFamily="34" charset="-120"/>
              </a:rPr>
              <a:t>FAST-LIVO2 map and pose</a:t>
            </a:r>
            <a:endParaRPr lang="en-US" sz="1200" dirty="0"/>
          </a:p>
        </p:txBody>
      </p:sp>
      <p:sp>
        <p:nvSpPr>
          <p:cNvPr id="61" name="Text 59"/>
          <p:cNvSpPr txBox="1"/>
          <p:nvPr/>
        </p:nvSpPr>
        <p:spPr>
          <a:xfrm>
            <a:off x="3025750" y="5541264"/>
            <a:ext cx="1737360" cy="219456"/>
          </a:xfrm>
          <a:prstGeom prst="rect">
            <a:avLst/>
          </a:prstGeom>
          <a:noFill/>
          <a:ln/>
        </p:spPr>
        <p:txBody>
          <a:bodyPr wrap="square" lIns="0" tIns="0" rIns="0" bIns="0" rtlCol="0" anchor="ctr"/>
          <a:lstStyle/>
          <a:p>
            <a:pPr indent="0" marL="0">
              <a:buNone/>
            </a:pPr>
            <a:r>
              <a:rPr lang="en-US" sz="1100" dirty="0">
                <a:solidFill>
                  <a:srgbClr val="15803D"/>
                </a:solidFill>
                <a:latin typeface="Calibri" pitchFamily="34" charset="0"/>
                <a:ea typeface="Calibri" pitchFamily="34" charset="-122"/>
                <a:cs typeface="Calibri" pitchFamily="34" charset="-120"/>
              </a:rPr>
              <a:t>tested, pushed by hand</a:t>
            </a:r>
            <a:endParaRPr lang="en-US" sz="1100" dirty="0"/>
          </a:p>
        </p:txBody>
      </p:sp>
      <p:sp>
        <p:nvSpPr>
          <p:cNvPr id="62" name="Shape 60"/>
          <p:cNvSpPr/>
          <p:nvPr/>
        </p:nvSpPr>
        <p:spPr>
          <a:xfrm>
            <a:off x="7352690" y="4343400"/>
            <a:ext cx="4138574" cy="1463040"/>
          </a:xfrm>
          <a:prstGeom prst="roundRect">
            <a:avLst>
              <a:gd name="adj" fmla="val 6250"/>
            </a:avLst>
          </a:prstGeom>
          <a:solidFill>
            <a:srgbClr val="16213A"/>
          </a:solidFill>
          <a:ln/>
        </p:spPr>
      </p:sp>
      <p:sp>
        <p:nvSpPr>
          <p:cNvPr id="63" name="Text 61"/>
          <p:cNvSpPr txBox="1"/>
          <p:nvPr/>
        </p:nvSpPr>
        <p:spPr>
          <a:xfrm>
            <a:off x="7581290" y="4498848"/>
            <a:ext cx="3772814" cy="228600"/>
          </a:xfrm>
          <a:prstGeom prst="rect">
            <a:avLst/>
          </a:prstGeom>
          <a:noFill/>
          <a:ln/>
        </p:spPr>
        <p:txBody>
          <a:bodyPr wrap="square" lIns="0" tIns="0" rIns="0" bIns="0" rtlCol="0" anchor="ctr"/>
          <a:lstStyle/>
          <a:p>
            <a:pPr indent="0" marL="0">
              <a:buNone/>
            </a:pPr>
            <a:r>
              <a:rPr lang="en-US" sz="1100" b="1" spc="150" kern="0" dirty="0">
                <a:solidFill>
                  <a:srgbClr val="7DD3FC"/>
                </a:solidFill>
                <a:latin typeface="Calibri" pitchFamily="34" charset="0"/>
                <a:ea typeface="Calibri" pitchFamily="34" charset="-122"/>
                <a:cs typeface="Calibri" pitchFamily="34" charset="-120"/>
              </a:rPr>
              <a:t>NEXT ON THIS PATH</a:t>
            </a:r>
            <a:endParaRPr lang="en-US" sz="1100" dirty="0"/>
          </a:p>
        </p:txBody>
      </p:sp>
      <p:sp>
        <p:nvSpPr>
          <p:cNvPr id="64" name="Shape 62"/>
          <p:cNvSpPr/>
          <p:nvPr/>
        </p:nvSpPr>
        <p:spPr>
          <a:xfrm>
            <a:off x="7581290" y="4828032"/>
            <a:ext cx="329184" cy="329184"/>
          </a:xfrm>
          <a:prstGeom prst="ellipse">
            <a:avLst/>
          </a:prstGeom>
          <a:solidFill>
            <a:srgbClr val="FF7A3A"/>
          </a:solidFill>
          <a:ln/>
        </p:spPr>
      </p:sp>
      <p:sp>
        <p:nvSpPr>
          <p:cNvPr id="65" name="Text 63"/>
          <p:cNvSpPr txBox="1"/>
          <p:nvPr/>
        </p:nvSpPr>
        <p:spPr>
          <a:xfrm>
            <a:off x="7581290" y="4828032"/>
            <a:ext cx="329184" cy="329184"/>
          </a:xfrm>
          <a:prstGeom prst="rect">
            <a:avLst/>
          </a:prstGeom>
          <a:noFill/>
          <a:ln/>
        </p:spPr>
        <p:txBody>
          <a:bodyPr wrap="square" lIns="0" tIns="0" rIns="0" bIns="0" rtlCol="0" anchor="ctr"/>
          <a:lstStyle/>
          <a:p>
            <a:pPr algn="ctr" indent="0" marL="0">
              <a:buNone/>
            </a:pPr>
            <a:r>
              <a:rPr lang="en-US" sz="1300" b="1" dirty="0">
                <a:solidFill>
                  <a:srgbClr val="16213A"/>
                </a:solidFill>
                <a:latin typeface="Calibri" pitchFamily="34" charset="0"/>
                <a:ea typeface="Calibri" pitchFamily="34" charset="-122"/>
                <a:cs typeface="Calibri" pitchFamily="34" charset="-120"/>
              </a:rPr>
              <a:t>1</a:t>
            </a:r>
            <a:endParaRPr lang="en-US" sz="1300" dirty="0"/>
          </a:p>
        </p:txBody>
      </p:sp>
      <p:sp>
        <p:nvSpPr>
          <p:cNvPr id="66" name="Text 64"/>
          <p:cNvSpPr txBox="1"/>
          <p:nvPr/>
        </p:nvSpPr>
        <p:spPr>
          <a:xfrm>
            <a:off x="8038490" y="4764024"/>
            <a:ext cx="3269894" cy="25603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Nav2 drives the base</a:t>
            </a:r>
            <a:endParaRPr lang="en-US" sz="1400" dirty="0"/>
          </a:p>
        </p:txBody>
      </p:sp>
      <p:sp>
        <p:nvSpPr>
          <p:cNvPr id="67" name="Text 65"/>
          <p:cNvSpPr txBox="1"/>
          <p:nvPr/>
        </p:nvSpPr>
        <p:spPr>
          <a:xfrm>
            <a:off x="8038490" y="5010912"/>
            <a:ext cx="3269894" cy="219456"/>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starts after this presentation (T3.6)</a:t>
            </a:r>
            <a:endParaRPr lang="en-US" sz="1200" dirty="0"/>
          </a:p>
        </p:txBody>
      </p:sp>
      <p:sp>
        <p:nvSpPr>
          <p:cNvPr id="68" name="Shape 66"/>
          <p:cNvSpPr/>
          <p:nvPr/>
        </p:nvSpPr>
        <p:spPr>
          <a:xfrm>
            <a:off x="7581290" y="5330952"/>
            <a:ext cx="329184" cy="329184"/>
          </a:xfrm>
          <a:prstGeom prst="ellipse">
            <a:avLst/>
          </a:prstGeom>
          <a:solidFill>
            <a:srgbClr val="FF7A3A"/>
          </a:solidFill>
          <a:ln/>
        </p:spPr>
      </p:sp>
      <p:sp>
        <p:nvSpPr>
          <p:cNvPr id="69" name="Text 67"/>
          <p:cNvSpPr txBox="1"/>
          <p:nvPr/>
        </p:nvSpPr>
        <p:spPr>
          <a:xfrm>
            <a:off x="7581290" y="5330952"/>
            <a:ext cx="329184" cy="329184"/>
          </a:xfrm>
          <a:prstGeom prst="rect">
            <a:avLst/>
          </a:prstGeom>
          <a:noFill/>
          <a:ln/>
        </p:spPr>
        <p:txBody>
          <a:bodyPr wrap="square" lIns="0" tIns="0" rIns="0" bIns="0" rtlCol="0" anchor="ctr"/>
          <a:lstStyle/>
          <a:p>
            <a:pPr algn="ctr" indent="0" marL="0">
              <a:buNone/>
            </a:pPr>
            <a:r>
              <a:rPr lang="en-US" sz="1300" b="1" dirty="0">
                <a:solidFill>
                  <a:srgbClr val="16213A"/>
                </a:solidFill>
                <a:latin typeface="Calibri" pitchFamily="34" charset="0"/>
                <a:ea typeface="Calibri" pitchFamily="34" charset="-122"/>
                <a:cs typeface="Calibri" pitchFamily="34" charset="-120"/>
              </a:rPr>
              <a:t>2</a:t>
            </a:r>
            <a:endParaRPr lang="en-US" sz="1300" dirty="0"/>
          </a:p>
        </p:txBody>
      </p:sp>
      <p:sp>
        <p:nvSpPr>
          <p:cNvPr id="70" name="Text 68"/>
          <p:cNvSpPr txBox="1"/>
          <p:nvPr/>
        </p:nvSpPr>
        <p:spPr>
          <a:xfrm>
            <a:off x="8038490" y="5266944"/>
            <a:ext cx="3269894" cy="25603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First full run, speak to grasp</a:t>
            </a:r>
            <a:endParaRPr lang="en-US" sz="1400" dirty="0"/>
          </a:p>
        </p:txBody>
      </p:sp>
      <p:sp>
        <p:nvSpPr>
          <p:cNvPr id="71" name="Text 69"/>
          <p:cNvSpPr txBox="1"/>
          <p:nvPr/>
        </p:nvSpPr>
        <p:spPr>
          <a:xfrm>
            <a:off x="8038490" y="5513832"/>
            <a:ext cx="3269894" cy="219456"/>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M4, January 2027</a:t>
            </a:r>
            <a:endParaRPr lang="en-US" sz="1200" dirty="0"/>
          </a:p>
        </p:txBody>
      </p:sp>
      <p:sp>
        <p:nvSpPr>
          <p:cNvPr id="72" name="Shape 70"/>
          <p:cNvSpPr/>
          <p:nvPr/>
        </p:nvSpPr>
        <p:spPr>
          <a:xfrm>
            <a:off x="548640" y="6089904"/>
            <a:ext cx="457200" cy="914"/>
          </a:xfrm>
          <a:prstGeom prst="line">
            <a:avLst/>
          </a:prstGeom>
          <a:noFill/>
          <a:ln w="28575">
            <a:solidFill>
              <a:srgbClr val="16A34A"/>
            </a:solidFill>
            <a:prstDash val="solid"/>
          </a:ln>
        </p:spPr>
      </p:sp>
      <p:sp>
        <p:nvSpPr>
          <p:cNvPr id="73" name="Text 71"/>
          <p:cNvSpPr txBox="1"/>
          <p:nvPr/>
        </p:nvSpPr>
        <p:spPr>
          <a:xfrm>
            <a:off x="1097280" y="5989320"/>
            <a:ext cx="1188720" cy="201168"/>
          </a:xfrm>
          <a:prstGeom prst="rect">
            <a:avLst/>
          </a:prstGeom>
          <a:noFill/>
          <a:ln/>
        </p:spPr>
        <p:txBody>
          <a:bodyPr wrap="square" lIns="0" tIns="0" rIns="0" bIns="0" rtlCol="0" anchor="ctr"/>
          <a:lstStyle/>
          <a:p>
            <a:pPr indent="0" marL="0">
              <a:buNone/>
            </a:pPr>
            <a:r>
              <a:rPr lang="en-US" sz="1100" dirty="0">
                <a:solidFill>
                  <a:srgbClr val="4B5563"/>
                </a:solidFill>
                <a:latin typeface="Calibri" pitchFamily="34" charset="0"/>
                <a:ea typeface="Calibri" pitchFamily="34" charset="-122"/>
                <a:cs typeface="Calibri" pitchFamily="34" charset="-120"/>
              </a:rPr>
              <a:t>works today</a:t>
            </a:r>
            <a:endParaRPr lang="en-US" sz="1100" dirty="0"/>
          </a:p>
        </p:txBody>
      </p:sp>
      <p:sp>
        <p:nvSpPr>
          <p:cNvPr id="74" name="Shape 72"/>
          <p:cNvSpPr/>
          <p:nvPr/>
        </p:nvSpPr>
        <p:spPr>
          <a:xfrm>
            <a:off x="2286000" y="6089904"/>
            <a:ext cx="457200" cy="914"/>
          </a:xfrm>
          <a:prstGeom prst="line">
            <a:avLst/>
          </a:prstGeom>
          <a:noFill/>
          <a:ln w="25400">
            <a:solidFill>
              <a:srgbClr val="C2410C"/>
            </a:solidFill>
            <a:prstDash val="dash"/>
          </a:ln>
        </p:spPr>
      </p:sp>
      <p:sp>
        <p:nvSpPr>
          <p:cNvPr id="75" name="Text 73"/>
          <p:cNvSpPr txBox="1"/>
          <p:nvPr/>
        </p:nvSpPr>
        <p:spPr>
          <a:xfrm>
            <a:off x="2834640" y="5989320"/>
            <a:ext cx="1188720" cy="201168"/>
          </a:xfrm>
          <a:prstGeom prst="rect">
            <a:avLst/>
          </a:prstGeom>
          <a:noFill/>
          <a:ln/>
        </p:spPr>
        <p:txBody>
          <a:bodyPr wrap="square" lIns="0" tIns="0" rIns="0" bIns="0" rtlCol="0" anchor="ctr"/>
          <a:lstStyle/>
          <a:p>
            <a:pPr indent="0" marL="0">
              <a:buNone/>
            </a:pPr>
            <a:r>
              <a:rPr lang="en-US" sz="1100" dirty="0">
                <a:solidFill>
                  <a:srgbClr val="4B5563"/>
                </a:solidFill>
                <a:latin typeface="Calibri" pitchFamily="34" charset="0"/>
                <a:ea typeface="Calibri" pitchFamily="34" charset="-122"/>
                <a:cs typeface="Calibri" pitchFamily="34" charset="-120"/>
              </a:rPr>
              <a:t>still to join</a:t>
            </a:r>
            <a:endParaRPr lang="en-US" sz="1100" dirty="0"/>
          </a:p>
        </p:txBody>
      </p:sp>
      <p:sp>
        <p:nvSpPr>
          <p:cNvPr id="76" name="Shape 74"/>
          <p:cNvSpPr/>
          <p:nvPr/>
        </p:nvSpPr>
        <p:spPr>
          <a:xfrm>
            <a:off x="4206240" y="5971032"/>
            <a:ext cx="1554480" cy="237744"/>
          </a:xfrm>
          <a:prstGeom prst="roundRect">
            <a:avLst>
              <a:gd name="adj" fmla="val 50000"/>
            </a:avLst>
          </a:prstGeom>
          <a:solidFill>
            <a:srgbClr val="DCFCE7"/>
          </a:solidFill>
          <a:ln/>
        </p:spPr>
      </p:sp>
      <p:sp>
        <p:nvSpPr>
          <p:cNvPr id="77" name="Text 75"/>
          <p:cNvSpPr txBox="1"/>
          <p:nvPr/>
        </p:nvSpPr>
        <p:spPr>
          <a:xfrm>
            <a:off x="4206240" y="5971032"/>
            <a:ext cx="1554480" cy="237744"/>
          </a:xfrm>
          <a:prstGeom prst="rect">
            <a:avLst/>
          </a:prstGeom>
          <a:noFill/>
          <a:ln/>
        </p:spPr>
        <p:txBody>
          <a:bodyPr wrap="square" lIns="0" tIns="0" rIns="0" bIns="0" rtlCol="0" anchor="ctr"/>
          <a:lstStyle/>
          <a:p>
            <a:pPr algn="ctr" indent="0" marL="0">
              <a:buNone/>
            </a:pPr>
            <a:r>
              <a:rPr lang="en-US" sz="1100" b="1" dirty="0">
                <a:solidFill>
                  <a:srgbClr val="15803D"/>
                </a:solidFill>
                <a:latin typeface="Calibri" pitchFamily="34" charset="0"/>
                <a:ea typeface="Calibri" pitchFamily="34" charset="-122"/>
                <a:cs typeface="Calibri" pitchFamily="34" charset="-120"/>
              </a:rPr>
              <a:t>tested</a:t>
            </a:r>
            <a:endParaRPr lang="en-US" sz="1100" dirty="0"/>
          </a:p>
        </p:txBody>
      </p:sp>
      <p:sp>
        <p:nvSpPr>
          <p:cNvPr id="78" name="Shape 76"/>
          <p:cNvSpPr/>
          <p:nvPr/>
        </p:nvSpPr>
        <p:spPr>
          <a:xfrm>
            <a:off x="5897880" y="5971032"/>
            <a:ext cx="1554480" cy="237744"/>
          </a:xfrm>
          <a:prstGeom prst="roundRect">
            <a:avLst>
              <a:gd name="adj" fmla="val 50000"/>
            </a:avLst>
          </a:prstGeom>
          <a:solidFill>
            <a:srgbClr val="FEF3C7"/>
          </a:solidFill>
          <a:ln/>
        </p:spPr>
      </p:sp>
      <p:sp>
        <p:nvSpPr>
          <p:cNvPr id="79" name="Text 77"/>
          <p:cNvSpPr txBox="1"/>
          <p:nvPr/>
        </p:nvSpPr>
        <p:spPr>
          <a:xfrm>
            <a:off x="5897880" y="5971032"/>
            <a:ext cx="1554480" cy="237744"/>
          </a:xfrm>
          <a:prstGeom prst="rect">
            <a:avLst/>
          </a:prstGeom>
          <a:noFill/>
          <a:ln/>
        </p:spPr>
        <p:txBody>
          <a:bodyPr wrap="square" lIns="0" tIns="0" rIns="0" bIns="0" rtlCol="0" anchor="ctr"/>
          <a:lstStyle/>
          <a:p>
            <a:pPr algn="ctr" indent="0" marL="0">
              <a:buNone/>
            </a:pPr>
            <a:r>
              <a:rPr lang="en-US" sz="1100" b="1" dirty="0">
                <a:solidFill>
                  <a:srgbClr val="B45309"/>
                </a:solidFill>
                <a:latin typeface="Calibri" pitchFamily="34" charset="0"/>
                <a:ea typeface="Calibri" pitchFamily="34" charset="-122"/>
                <a:cs typeface="Calibri" pitchFamily="34" charset="-120"/>
              </a:rPr>
              <a:t>built, not validated</a:t>
            </a:r>
            <a:endParaRPr lang="en-US" sz="1100" dirty="0"/>
          </a:p>
        </p:txBody>
      </p:sp>
      <p:sp>
        <p:nvSpPr>
          <p:cNvPr id="80" name="Shape 78"/>
          <p:cNvSpPr/>
          <p:nvPr/>
        </p:nvSpPr>
        <p:spPr>
          <a:xfrm>
            <a:off x="7589520" y="5971032"/>
            <a:ext cx="1554480" cy="237744"/>
          </a:xfrm>
          <a:prstGeom prst="roundRect">
            <a:avLst>
              <a:gd name="adj" fmla="val 50000"/>
            </a:avLst>
          </a:prstGeom>
          <a:solidFill>
            <a:srgbClr val="CFFAFE"/>
          </a:solidFill>
          <a:ln/>
        </p:spPr>
      </p:sp>
      <p:sp>
        <p:nvSpPr>
          <p:cNvPr id="81" name="Text 79"/>
          <p:cNvSpPr txBox="1"/>
          <p:nvPr/>
        </p:nvSpPr>
        <p:spPr>
          <a:xfrm>
            <a:off x="7589520" y="5971032"/>
            <a:ext cx="1554480" cy="237744"/>
          </a:xfrm>
          <a:prstGeom prst="rect">
            <a:avLst/>
          </a:prstGeom>
          <a:noFill/>
          <a:ln/>
        </p:spPr>
        <p:txBody>
          <a:bodyPr wrap="square" lIns="0" tIns="0" rIns="0" bIns="0" rtlCol="0" anchor="ctr"/>
          <a:lstStyle/>
          <a:p>
            <a:pPr algn="ctr" indent="0" marL="0">
              <a:buNone/>
            </a:pPr>
            <a:r>
              <a:rPr lang="en-US" sz="1100" b="1" dirty="0">
                <a:solidFill>
                  <a:srgbClr val="0E7490"/>
                </a:solidFill>
                <a:latin typeface="Calibri" pitchFamily="34" charset="0"/>
                <a:ea typeface="Calibri" pitchFamily="34" charset="-122"/>
                <a:cs typeface="Calibri" pitchFamily="34" charset="-120"/>
              </a:rPr>
              <a:t>works alone</a:t>
            </a:r>
            <a:endParaRPr lang="en-US" sz="1100" dirty="0"/>
          </a:p>
        </p:txBody>
      </p:sp>
      <p:sp>
        <p:nvSpPr>
          <p:cNvPr id="82" name="Shape 80"/>
          <p:cNvSpPr/>
          <p:nvPr/>
        </p:nvSpPr>
        <p:spPr>
          <a:xfrm>
            <a:off x="9281160" y="5971032"/>
            <a:ext cx="1554480" cy="237744"/>
          </a:xfrm>
          <a:prstGeom prst="roundRect">
            <a:avLst>
              <a:gd name="adj" fmla="val 50000"/>
            </a:avLst>
          </a:prstGeom>
          <a:solidFill>
            <a:srgbClr val="FFFFFF"/>
          </a:solidFill>
          <a:ln w="9525">
            <a:solidFill>
              <a:srgbClr val="9CA3AF"/>
            </a:solidFill>
            <a:prstDash val="dash"/>
          </a:ln>
        </p:spPr>
      </p:sp>
      <p:sp>
        <p:nvSpPr>
          <p:cNvPr id="83" name="Text 81"/>
          <p:cNvSpPr txBox="1"/>
          <p:nvPr/>
        </p:nvSpPr>
        <p:spPr>
          <a:xfrm>
            <a:off x="9281160" y="5971032"/>
            <a:ext cx="1554480" cy="237744"/>
          </a:xfrm>
          <a:prstGeom prst="rect">
            <a:avLst/>
          </a:prstGeom>
          <a:noFill/>
          <a:ln/>
        </p:spPr>
        <p:txBody>
          <a:bodyPr wrap="square" lIns="0" tIns="0" rIns="0" bIns="0" rtlCol="0" anchor="ctr"/>
          <a:lstStyle/>
          <a:p>
            <a:pPr algn="ctr" indent="0" marL="0">
              <a:buNone/>
            </a:pPr>
            <a:r>
              <a:rPr lang="en-US" sz="1100" b="1" dirty="0">
                <a:solidFill>
                  <a:srgbClr val="6B7280"/>
                </a:solidFill>
                <a:latin typeface="Calibri" pitchFamily="34" charset="0"/>
                <a:ea typeface="Calibri" pitchFamily="34" charset="-122"/>
                <a:cs typeface="Calibri" pitchFamily="34" charset="-120"/>
              </a:rPr>
              <a:t>planned</a:t>
            </a:r>
            <a:endParaRPr lang="en-US" sz="1100" dirty="0"/>
          </a:p>
        </p:txBody>
      </p:sp>
      <p:sp>
        <p:nvSpPr>
          <p:cNvPr id="84" name="Shape 82"/>
          <p:cNvSpPr/>
          <p:nvPr/>
        </p:nvSpPr>
        <p:spPr>
          <a:xfrm>
            <a:off x="594360" y="6400800"/>
            <a:ext cx="1295019" cy="13716"/>
          </a:xfrm>
          <a:prstGeom prst="rect">
            <a:avLst/>
          </a:prstGeom>
          <a:solidFill>
            <a:srgbClr val="D7DEE8"/>
          </a:solidFill>
          <a:ln/>
        </p:spPr>
      </p:sp>
      <p:sp>
        <p:nvSpPr>
          <p:cNvPr id="85" name="Text 83"/>
          <p:cNvSpPr txBox="1"/>
          <p:nvPr/>
        </p:nvSpPr>
        <p:spPr>
          <a:xfrm>
            <a:off x="548640"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Problem</a:t>
            </a:r>
            <a:endParaRPr lang="en-US" sz="1100" dirty="0"/>
          </a:p>
        </p:txBody>
      </p:sp>
      <p:sp>
        <p:nvSpPr>
          <p:cNvPr id="86" name="Shape 84"/>
          <p:cNvSpPr/>
          <p:nvPr/>
        </p:nvSpPr>
        <p:spPr>
          <a:xfrm>
            <a:off x="1980819" y="6400800"/>
            <a:ext cx="1295019" cy="13716"/>
          </a:xfrm>
          <a:prstGeom prst="rect">
            <a:avLst/>
          </a:prstGeom>
          <a:solidFill>
            <a:srgbClr val="D7DEE8"/>
          </a:solidFill>
          <a:ln/>
        </p:spPr>
      </p:sp>
      <p:sp>
        <p:nvSpPr>
          <p:cNvPr id="87" name="Text 85"/>
          <p:cNvSpPr txBox="1"/>
          <p:nvPr/>
        </p:nvSpPr>
        <p:spPr>
          <a:xfrm>
            <a:off x="1935099"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System</a:t>
            </a:r>
            <a:endParaRPr lang="en-US" sz="1100" dirty="0"/>
          </a:p>
        </p:txBody>
      </p:sp>
      <p:sp>
        <p:nvSpPr>
          <p:cNvPr id="88" name="Shape 86"/>
          <p:cNvSpPr/>
          <p:nvPr/>
        </p:nvSpPr>
        <p:spPr>
          <a:xfrm>
            <a:off x="3367278" y="6400800"/>
            <a:ext cx="1295019" cy="13716"/>
          </a:xfrm>
          <a:prstGeom prst="rect">
            <a:avLst/>
          </a:prstGeom>
          <a:solidFill>
            <a:srgbClr val="D7DEE8"/>
          </a:solidFill>
          <a:ln/>
        </p:spPr>
      </p:sp>
      <p:sp>
        <p:nvSpPr>
          <p:cNvPr id="89" name="Text 87"/>
          <p:cNvSpPr txBox="1"/>
          <p:nvPr/>
        </p:nvSpPr>
        <p:spPr>
          <a:xfrm>
            <a:off x="3321558"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Intent</a:t>
            </a:r>
            <a:endParaRPr lang="en-US" sz="1100" dirty="0"/>
          </a:p>
        </p:txBody>
      </p:sp>
      <p:sp>
        <p:nvSpPr>
          <p:cNvPr id="90" name="Shape 88"/>
          <p:cNvSpPr/>
          <p:nvPr/>
        </p:nvSpPr>
        <p:spPr>
          <a:xfrm>
            <a:off x="4753737" y="6400800"/>
            <a:ext cx="1295019" cy="13716"/>
          </a:xfrm>
          <a:prstGeom prst="rect">
            <a:avLst/>
          </a:prstGeom>
          <a:solidFill>
            <a:srgbClr val="D7DEE8"/>
          </a:solidFill>
          <a:ln/>
        </p:spPr>
      </p:sp>
      <p:sp>
        <p:nvSpPr>
          <p:cNvPr id="91" name="Text 89"/>
          <p:cNvSpPr txBox="1"/>
          <p:nvPr/>
        </p:nvSpPr>
        <p:spPr>
          <a:xfrm>
            <a:off x="4708017"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Explore</a:t>
            </a:r>
            <a:endParaRPr lang="en-US" sz="1100" dirty="0"/>
          </a:p>
        </p:txBody>
      </p:sp>
      <p:sp>
        <p:nvSpPr>
          <p:cNvPr id="92" name="Shape 90"/>
          <p:cNvSpPr/>
          <p:nvPr/>
        </p:nvSpPr>
        <p:spPr>
          <a:xfrm>
            <a:off x="6140196" y="6400800"/>
            <a:ext cx="1295019" cy="13716"/>
          </a:xfrm>
          <a:prstGeom prst="rect">
            <a:avLst/>
          </a:prstGeom>
          <a:solidFill>
            <a:srgbClr val="D7DEE8"/>
          </a:solidFill>
          <a:ln/>
        </p:spPr>
      </p:sp>
      <p:sp>
        <p:nvSpPr>
          <p:cNvPr id="93" name="Text 91"/>
          <p:cNvSpPr txBox="1"/>
          <p:nvPr/>
        </p:nvSpPr>
        <p:spPr>
          <a:xfrm>
            <a:off x="6094476"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Search</a:t>
            </a:r>
            <a:endParaRPr lang="en-US" sz="1100" dirty="0"/>
          </a:p>
        </p:txBody>
      </p:sp>
      <p:sp>
        <p:nvSpPr>
          <p:cNvPr id="94" name="Shape 92"/>
          <p:cNvSpPr/>
          <p:nvPr/>
        </p:nvSpPr>
        <p:spPr>
          <a:xfrm>
            <a:off x="7526655" y="6400800"/>
            <a:ext cx="1295019" cy="13716"/>
          </a:xfrm>
          <a:prstGeom prst="rect">
            <a:avLst/>
          </a:prstGeom>
          <a:solidFill>
            <a:srgbClr val="D7DEE8"/>
          </a:solidFill>
          <a:ln/>
        </p:spPr>
      </p:sp>
      <p:sp>
        <p:nvSpPr>
          <p:cNvPr id="95" name="Text 93"/>
          <p:cNvSpPr txBox="1"/>
          <p:nvPr/>
        </p:nvSpPr>
        <p:spPr>
          <a:xfrm>
            <a:off x="7480935"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Confirm</a:t>
            </a:r>
            <a:endParaRPr lang="en-US" sz="1100" dirty="0"/>
          </a:p>
        </p:txBody>
      </p:sp>
      <p:sp>
        <p:nvSpPr>
          <p:cNvPr id="96" name="Shape 94"/>
          <p:cNvSpPr/>
          <p:nvPr/>
        </p:nvSpPr>
        <p:spPr>
          <a:xfrm>
            <a:off x="8913114" y="6400800"/>
            <a:ext cx="1295019" cy="13716"/>
          </a:xfrm>
          <a:prstGeom prst="rect">
            <a:avLst/>
          </a:prstGeom>
          <a:solidFill>
            <a:srgbClr val="D7DEE8"/>
          </a:solidFill>
          <a:ln/>
        </p:spPr>
      </p:sp>
      <p:sp>
        <p:nvSpPr>
          <p:cNvPr id="97" name="Text 95"/>
          <p:cNvSpPr txBox="1"/>
          <p:nvPr/>
        </p:nvSpPr>
        <p:spPr>
          <a:xfrm>
            <a:off x="8867394"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Grasp</a:t>
            </a:r>
            <a:endParaRPr lang="en-US" sz="1100" dirty="0"/>
          </a:p>
        </p:txBody>
      </p:sp>
      <p:sp>
        <p:nvSpPr>
          <p:cNvPr id="98" name="Shape 96"/>
          <p:cNvSpPr/>
          <p:nvPr/>
        </p:nvSpPr>
        <p:spPr>
          <a:xfrm>
            <a:off x="10299573" y="6400800"/>
            <a:ext cx="1295019" cy="36576"/>
          </a:xfrm>
          <a:prstGeom prst="rect">
            <a:avLst/>
          </a:prstGeom>
          <a:solidFill>
            <a:srgbClr val="0068B5"/>
          </a:solidFill>
          <a:ln/>
        </p:spPr>
      </p:sp>
      <p:sp>
        <p:nvSpPr>
          <p:cNvPr id="99" name="Text 97"/>
          <p:cNvSpPr txBox="1"/>
          <p:nvPr/>
        </p:nvSpPr>
        <p:spPr>
          <a:xfrm>
            <a:off x="10253853" y="6473952"/>
            <a:ext cx="1386459" cy="201168"/>
          </a:xfrm>
          <a:prstGeom prst="rect">
            <a:avLst/>
          </a:prstGeom>
          <a:noFill/>
          <a:ln/>
        </p:spPr>
        <p:txBody>
          <a:bodyPr wrap="square" lIns="0" tIns="0" rIns="0" bIns="0" rtlCol="0" anchor="ctr"/>
          <a:lstStyle/>
          <a:p>
            <a:pPr algn="ctr" indent="0" marL="0">
              <a:buNone/>
            </a:pPr>
            <a:r>
              <a:rPr lang="en-US" sz="1100" b="1" dirty="0">
                <a:solidFill>
                  <a:srgbClr val="16213A"/>
                </a:solidFill>
                <a:latin typeface="Calibri" pitchFamily="34" charset="0"/>
                <a:ea typeface="Calibri" pitchFamily="34" charset="-122"/>
                <a:cs typeface="Calibri" pitchFamily="34" charset="-120"/>
              </a:rPr>
              <a:t>Plan</a:t>
            </a:r>
            <a:endParaRPr lang="en-US" sz="1100" dirty="0"/>
          </a:p>
        </p:txBody>
      </p:sp>
      <p:sp>
        <p:nvSpPr>
          <p:cNvPr id="100" name="Text 98"/>
          <p:cNvSpPr txBox="1"/>
          <p:nvPr/>
        </p:nvSpPr>
        <p:spPr>
          <a:xfrm>
            <a:off x="11091672" y="6035040"/>
            <a:ext cx="548640" cy="22860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28600"/>
          </a:xfrm>
          <a:prstGeom prst="rect">
            <a:avLst/>
          </a:prstGeom>
          <a:noFill/>
          <a:ln/>
        </p:spPr>
        <p:txBody>
          <a:bodyPr wrap="square" lIns="0" tIns="0" rIns="0" bIns="0" rtlCol="0" anchor="ctr"/>
          <a:lstStyle/>
          <a:p>
            <a:pPr indent="0" marL="0">
              <a:buNone/>
            </a:pPr>
            <a:r>
              <a:rPr lang="en-US" sz="1100" b="1" spc="150" kern="0" dirty="0">
                <a:solidFill>
                  <a:srgbClr val="0068B5"/>
                </a:solidFill>
                <a:latin typeface="Calibri" pitchFamily="34" charset="0"/>
                <a:ea typeface="Calibri" pitchFamily="34" charset="-122"/>
                <a:cs typeface="Calibri" pitchFamily="34" charset="-120"/>
              </a:rPr>
              <a:t>GAPPLER  ·  SHERMAN</a:t>
            </a:r>
            <a:endParaRPr lang="en-US" sz="1100" dirty="0"/>
          </a:p>
        </p:txBody>
      </p:sp>
      <p:sp>
        <p:nvSpPr>
          <p:cNvPr id="3" name="Shape 1"/>
          <p:cNvSpPr/>
          <p:nvPr/>
        </p:nvSpPr>
        <p:spPr>
          <a:xfrm>
            <a:off x="9445752" y="347472"/>
            <a:ext cx="2194560" cy="347472"/>
          </a:xfrm>
          <a:prstGeom prst="roundRect">
            <a:avLst>
              <a:gd name="adj" fmla="val 50000"/>
            </a:avLst>
          </a:prstGeom>
          <a:solidFill>
            <a:srgbClr val="16213A"/>
          </a:solidFill>
          <a:ln/>
        </p:spPr>
      </p:sp>
      <p:sp>
        <p:nvSpPr>
          <p:cNvPr id="4" name="Text 2"/>
          <p:cNvSpPr txBox="1"/>
          <p:nvPr/>
        </p:nvSpPr>
        <p:spPr>
          <a:xfrm>
            <a:off x="9445752" y="347472"/>
            <a:ext cx="2194560" cy="347472"/>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SCHEDULE</a:t>
            </a:r>
            <a:endParaRPr lang="en-US" sz="1100" dirty="0"/>
          </a:p>
        </p:txBody>
      </p:sp>
      <p:sp>
        <p:nvSpPr>
          <p:cNvPr id="5" name="Text 3"/>
          <p:cNvSpPr txBox="1"/>
          <p:nvPr/>
        </p:nvSpPr>
        <p:spPr>
          <a:xfrm>
            <a:off x="548640" y="777240"/>
            <a:ext cx="11091672" cy="548640"/>
          </a:xfrm>
          <a:prstGeom prst="rect">
            <a:avLst/>
          </a:prstGeom>
          <a:noFill/>
          <a:ln/>
        </p:spPr>
        <p:txBody>
          <a:bodyPr wrap="square" lIns="0" tIns="0" rIns="0" bIns="0" rtlCol="0" anchor="ctr"/>
          <a:lstStyle/>
          <a:p>
            <a:pPr indent="0" marL="0">
              <a:buNone/>
            </a:pPr>
            <a:r>
              <a:rPr lang="en-US" sz="3000" b="1" dirty="0">
                <a:solidFill>
                  <a:srgbClr val="16213A"/>
                </a:solidFill>
                <a:latin typeface="Calibri" pitchFamily="34" charset="0"/>
                <a:ea typeface="Calibri" pitchFamily="34" charset="-122"/>
                <a:cs typeface="Calibri" pitchFamily="34" charset="-120"/>
              </a:rPr>
              <a:t>Ahead on memory and gaze, behind on driving</a:t>
            </a:r>
            <a:endParaRPr lang="en-US" sz="3000" dirty="0"/>
          </a:p>
        </p:txBody>
      </p:sp>
      <p:sp>
        <p:nvSpPr>
          <p:cNvPr id="6" name="Text 4"/>
          <p:cNvSpPr txBox="1"/>
          <p:nvPr/>
        </p:nvSpPr>
        <p:spPr>
          <a:xfrm>
            <a:off x="548640" y="1325880"/>
            <a:ext cx="11091672" cy="320040"/>
          </a:xfrm>
          <a:prstGeom prst="rect">
            <a:avLst/>
          </a:prstGeom>
          <a:noFill/>
          <a:ln/>
        </p:spPr>
        <p:txBody>
          <a:bodyPr wrap="square" lIns="0" tIns="0" rIns="0" bIns="0" rtlCol="0" anchor="ctr"/>
          <a:lstStyle/>
          <a:p>
            <a:pPr indent="0" marL="0">
              <a:buNone/>
            </a:pPr>
            <a:r>
              <a:rPr lang="en-US" sz="1700" dirty="0">
                <a:solidFill>
                  <a:srgbClr val="4B5563"/>
                </a:solidFill>
                <a:latin typeface="Calibri" pitchFamily="34" charset="0"/>
                <a:ea typeface="Calibri" pitchFamily="34" charset="-122"/>
                <a:cs typeface="Calibri" pitchFamily="34" charset="-120"/>
              </a:rPr>
              <a:t>Final dates unchanged. Forecasts re-estimated on 24 Oct, weeks counted from 14 Sep 2026</a:t>
            </a:r>
            <a:endParaRPr lang="en-US" sz="1700" dirty="0"/>
          </a:p>
        </p:txBody>
      </p:sp>
      <p:sp>
        <p:nvSpPr>
          <p:cNvPr id="7" name="Shape 5"/>
          <p:cNvSpPr/>
          <p:nvPr/>
        </p:nvSpPr>
        <p:spPr>
          <a:xfrm>
            <a:off x="3702140" y="2148840"/>
            <a:ext cx="273730" cy="2962656"/>
          </a:xfrm>
          <a:prstGeom prst="rect">
            <a:avLst/>
          </a:prstGeom>
          <a:solidFill>
            <a:srgbClr val="E5E7EB"/>
          </a:solidFill>
          <a:ln/>
        </p:spPr>
      </p:sp>
      <p:sp>
        <p:nvSpPr>
          <p:cNvPr id="8" name="Shape 6"/>
          <p:cNvSpPr/>
          <p:nvPr/>
        </p:nvSpPr>
        <p:spPr>
          <a:xfrm>
            <a:off x="5344521" y="2148840"/>
            <a:ext cx="1642380" cy="2962656"/>
          </a:xfrm>
          <a:prstGeom prst="rect">
            <a:avLst/>
          </a:prstGeom>
          <a:solidFill>
            <a:srgbClr val="E5E7EB"/>
          </a:solidFill>
          <a:ln/>
        </p:spPr>
      </p:sp>
      <p:sp>
        <p:nvSpPr>
          <p:cNvPr id="9" name="Shape 7"/>
          <p:cNvSpPr/>
          <p:nvPr/>
        </p:nvSpPr>
        <p:spPr>
          <a:xfrm>
            <a:off x="6986901" y="2148840"/>
            <a:ext cx="547460" cy="2962656"/>
          </a:xfrm>
          <a:prstGeom prst="rect">
            <a:avLst/>
          </a:prstGeom>
          <a:solidFill>
            <a:srgbClr val="F1F5F9"/>
          </a:solidFill>
          <a:ln/>
        </p:spPr>
      </p:sp>
      <p:sp>
        <p:nvSpPr>
          <p:cNvPr id="10" name="Shape 8"/>
          <p:cNvSpPr/>
          <p:nvPr/>
        </p:nvSpPr>
        <p:spPr>
          <a:xfrm>
            <a:off x="3819453" y="1874520"/>
            <a:ext cx="914" cy="3236976"/>
          </a:xfrm>
          <a:prstGeom prst="line">
            <a:avLst/>
          </a:prstGeom>
          <a:noFill/>
          <a:ln w="6350">
            <a:solidFill>
              <a:srgbClr val="D7DEE8"/>
            </a:solidFill>
            <a:prstDash val="solid"/>
          </a:ln>
        </p:spPr>
      </p:sp>
      <p:sp>
        <p:nvSpPr>
          <p:cNvPr id="11" name="Text 9"/>
          <p:cNvSpPr txBox="1"/>
          <p:nvPr/>
        </p:nvSpPr>
        <p:spPr>
          <a:xfrm>
            <a:off x="3856029" y="1874520"/>
            <a:ext cx="548640" cy="228600"/>
          </a:xfrm>
          <a:prstGeom prst="rect">
            <a:avLst/>
          </a:prstGeom>
          <a:noFill/>
          <a:ln/>
        </p:spPr>
        <p:txBody>
          <a:bodyPr wrap="square" lIns="0" tIns="0" rIns="0" bIns="0" rtlCol="0" anchor="ctr"/>
          <a:lstStyle/>
          <a:p>
            <a:pPr indent="0" marL="0">
              <a:buNone/>
            </a:pPr>
            <a:r>
              <a:rPr lang="en-US" sz="1100" b="1" dirty="0">
                <a:solidFill>
                  <a:srgbClr val="4B5563"/>
                </a:solidFill>
                <a:latin typeface="Calibri" pitchFamily="34" charset="0"/>
                <a:ea typeface="Calibri" pitchFamily="34" charset="-122"/>
                <a:cs typeface="Calibri" pitchFamily="34" charset="-120"/>
              </a:rPr>
              <a:t>Oct</a:t>
            </a:r>
            <a:endParaRPr lang="en-US" sz="1100" dirty="0"/>
          </a:p>
        </p:txBody>
      </p:sp>
      <p:sp>
        <p:nvSpPr>
          <p:cNvPr id="12" name="Shape 10"/>
          <p:cNvSpPr/>
          <p:nvPr/>
        </p:nvSpPr>
        <p:spPr>
          <a:xfrm>
            <a:off x="5031686" y="1874520"/>
            <a:ext cx="914" cy="3236976"/>
          </a:xfrm>
          <a:prstGeom prst="line">
            <a:avLst/>
          </a:prstGeom>
          <a:noFill/>
          <a:ln w="6350">
            <a:solidFill>
              <a:srgbClr val="D7DEE8"/>
            </a:solidFill>
            <a:prstDash val="solid"/>
          </a:ln>
        </p:spPr>
      </p:sp>
      <p:sp>
        <p:nvSpPr>
          <p:cNvPr id="13" name="Text 11"/>
          <p:cNvSpPr txBox="1"/>
          <p:nvPr/>
        </p:nvSpPr>
        <p:spPr>
          <a:xfrm>
            <a:off x="5068262" y="1874520"/>
            <a:ext cx="548640" cy="228600"/>
          </a:xfrm>
          <a:prstGeom prst="rect">
            <a:avLst/>
          </a:prstGeom>
          <a:noFill/>
          <a:ln/>
        </p:spPr>
        <p:txBody>
          <a:bodyPr wrap="square" lIns="0" tIns="0" rIns="0" bIns="0" rtlCol="0" anchor="ctr"/>
          <a:lstStyle/>
          <a:p>
            <a:pPr indent="0" marL="0">
              <a:buNone/>
            </a:pPr>
            <a:r>
              <a:rPr lang="en-US" sz="1100" b="1" dirty="0">
                <a:solidFill>
                  <a:srgbClr val="4B5563"/>
                </a:solidFill>
                <a:latin typeface="Calibri" pitchFamily="34" charset="0"/>
                <a:ea typeface="Calibri" pitchFamily="34" charset="-122"/>
                <a:cs typeface="Calibri" pitchFamily="34" charset="-120"/>
              </a:rPr>
              <a:t>Nov</a:t>
            </a:r>
            <a:endParaRPr lang="en-US" sz="1100" dirty="0"/>
          </a:p>
        </p:txBody>
      </p:sp>
      <p:sp>
        <p:nvSpPr>
          <p:cNvPr id="14" name="Shape 12"/>
          <p:cNvSpPr/>
          <p:nvPr/>
        </p:nvSpPr>
        <p:spPr>
          <a:xfrm>
            <a:off x="6204815" y="1874520"/>
            <a:ext cx="914" cy="3236976"/>
          </a:xfrm>
          <a:prstGeom prst="line">
            <a:avLst/>
          </a:prstGeom>
          <a:noFill/>
          <a:ln w="6350">
            <a:solidFill>
              <a:srgbClr val="D7DEE8"/>
            </a:solidFill>
            <a:prstDash val="solid"/>
          </a:ln>
        </p:spPr>
      </p:sp>
      <p:sp>
        <p:nvSpPr>
          <p:cNvPr id="15" name="Text 13"/>
          <p:cNvSpPr txBox="1"/>
          <p:nvPr/>
        </p:nvSpPr>
        <p:spPr>
          <a:xfrm>
            <a:off x="6241391" y="1874520"/>
            <a:ext cx="548640" cy="228600"/>
          </a:xfrm>
          <a:prstGeom prst="rect">
            <a:avLst/>
          </a:prstGeom>
          <a:noFill/>
          <a:ln/>
        </p:spPr>
        <p:txBody>
          <a:bodyPr wrap="square" lIns="0" tIns="0" rIns="0" bIns="0" rtlCol="0" anchor="ctr"/>
          <a:lstStyle/>
          <a:p>
            <a:pPr indent="0" marL="0">
              <a:buNone/>
            </a:pPr>
            <a:r>
              <a:rPr lang="en-US" sz="1100" b="1" dirty="0">
                <a:solidFill>
                  <a:srgbClr val="4B5563"/>
                </a:solidFill>
                <a:latin typeface="Calibri" pitchFamily="34" charset="0"/>
                <a:ea typeface="Calibri" pitchFamily="34" charset="-122"/>
                <a:cs typeface="Calibri" pitchFamily="34" charset="-120"/>
              </a:rPr>
              <a:t>Dec</a:t>
            </a:r>
            <a:endParaRPr lang="en-US" sz="1100" dirty="0"/>
          </a:p>
        </p:txBody>
      </p:sp>
      <p:sp>
        <p:nvSpPr>
          <p:cNvPr id="16" name="Shape 14"/>
          <p:cNvSpPr/>
          <p:nvPr/>
        </p:nvSpPr>
        <p:spPr>
          <a:xfrm>
            <a:off x="7417048" y="1874520"/>
            <a:ext cx="914" cy="3236976"/>
          </a:xfrm>
          <a:prstGeom prst="line">
            <a:avLst/>
          </a:prstGeom>
          <a:noFill/>
          <a:ln w="6350">
            <a:solidFill>
              <a:srgbClr val="D7DEE8"/>
            </a:solidFill>
            <a:prstDash val="solid"/>
          </a:ln>
        </p:spPr>
      </p:sp>
      <p:sp>
        <p:nvSpPr>
          <p:cNvPr id="17" name="Text 15"/>
          <p:cNvSpPr txBox="1"/>
          <p:nvPr/>
        </p:nvSpPr>
        <p:spPr>
          <a:xfrm>
            <a:off x="7453624" y="1874520"/>
            <a:ext cx="548640" cy="228600"/>
          </a:xfrm>
          <a:prstGeom prst="rect">
            <a:avLst/>
          </a:prstGeom>
          <a:noFill/>
          <a:ln/>
        </p:spPr>
        <p:txBody>
          <a:bodyPr wrap="square" lIns="0" tIns="0" rIns="0" bIns="0" rtlCol="0" anchor="ctr"/>
          <a:lstStyle/>
          <a:p>
            <a:pPr indent="0" marL="0">
              <a:buNone/>
            </a:pPr>
            <a:r>
              <a:rPr lang="en-US" sz="1100" b="1" dirty="0">
                <a:solidFill>
                  <a:srgbClr val="4B5563"/>
                </a:solidFill>
                <a:latin typeface="Calibri" pitchFamily="34" charset="0"/>
                <a:ea typeface="Calibri" pitchFamily="34" charset="-122"/>
                <a:cs typeface="Calibri" pitchFamily="34" charset="-120"/>
              </a:rPr>
              <a:t>Jan</a:t>
            </a:r>
            <a:endParaRPr lang="en-US" sz="1100" dirty="0"/>
          </a:p>
        </p:txBody>
      </p:sp>
      <p:sp>
        <p:nvSpPr>
          <p:cNvPr id="18" name="Shape 16"/>
          <p:cNvSpPr/>
          <p:nvPr/>
        </p:nvSpPr>
        <p:spPr>
          <a:xfrm>
            <a:off x="8629281" y="1874520"/>
            <a:ext cx="914" cy="3236976"/>
          </a:xfrm>
          <a:prstGeom prst="line">
            <a:avLst/>
          </a:prstGeom>
          <a:noFill/>
          <a:ln w="6350">
            <a:solidFill>
              <a:srgbClr val="D7DEE8"/>
            </a:solidFill>
            <a:prstDash val="solid"/>
          </a:ln>
        </p:spPr>
      </p:sp>
      <p:sp>
        <p:nvSpPr>
          <p:cNvPr id="19" name="Text 17"/>
          <p:cNvSpPr txBox="1"/>
          <p:nvPr/>
        </p:nvSpPr>
        <p:spPr>
          <a:xfrm>
            <a:off x="8665857" y="1874520"/>
            <a:ext cx="548640" cy="228600"/>
          </a:xfrm>
          <a:prstGeom prst="rect">
            <a:avLst/>
          </a:prstGeom>
          <a:noFill/>
          <a:ln/>
        </p:spPr>
        <p:txBody>
          <a:bodyPr wrap="square" lIns="0" tIns="0" rIns="0" bIns="0" rtlCol="0" anchor="ctr"/>
          <a:lstStyle/>
          <a:p>
            <a:pPr indent="0" marL="0">
              <a:buNone/>
            </a:pPr>
            <a:r>
              <a:rPr lang="en-US" sz="1100" b="1" dirty="0">
                <a:solidFill>
                  <a:srgbClr val="4B5563"/>
                </a:solidFill>
                <a:latin typeface="Calibri" pitchFamily="34" charset="0"/>
                <a:ea typeface="Calibri" pitchFamily="34" charset="-122"/>
                <a:cs typeface="Calibri" pitchFamily="34" charset="-120"/>
              </a:rPr>
              <a:t>Feb</a:t>
            </a:r>
            <a:endParaRPr lang="en-US" sz="1100" dirty="0"/>
          </a:p>
        </p:txBody>
      </p:sp>
      <p:sp>
        <p:nvSpPr>
          <p:cNvPr id="20" name="Shape 18"/>
          <p:cNvSpPr/>
          <p:nvPr/>
        </p:nvSpPr>
        <p:spPr>
          <a:xfrm>
            <a:off x="9724202" y="1874520"/>
            <a:ext cx="914" cy="3236976"/>
          </a:xfrm>
          <a:prstGeom prst="line">
            <a:avLst/>
          </a:prstGeom>
          <a:noFill/>
          <a:ln w="6350">
            <a:solidFill>
              <a:srgbClr val="D7DEE8"/>
            </a:solidFill>
            <a:prstDash val="solid"/>
          </a:ln>
        </p:spPr>
      </p:sp>
      <p:sp>
        <p:nvSpPr>
          <p:cNvPr id="21" name="Text 19"/>
          <p:cNvSpPr txBox="1"/>
          <p:nvPr/>
        </p:nvSpPr>
        <p:spPr>
          <a:xfrm>
            <a:off x="9760778" y="1874520"/>
            <a:ext cx="548640" cy="228600"/>
          </a:xfrm>
          <a:prstGeom prst="rect">
            <a:avLst/>
          </a:prstGeom>
          <a:noFill/>
          <a:ln/>
        </p:spPr>
        <p:txBody>
          <a:bodyPr wrap="square" lIns="0" tIns="0" rIns="0" bIns="0" rtlCol="0" anchor="ctr"/>
          <a:lstStyle/>
          <a:p>
            <a:pPr indent="0" marL="0">
              <a:buNone/>
            </a:pPr>
            <a:r>
              <a:rPr lang="en-US" sz="1100" b="1" dirty="0">
                <a:solidFill>
                  <a:srgbClr val="4B5563"/>
                </a:solidFill>
                <a:latin typeface="Calibri" pitchFamily="34" charset="0"/>
                <a:ea typeface="Calibri" pitchFamily="34" charset="-122"/>
                <a:cs typeface="Calibri" pitchFamily="34" charset="-120"/>
              </a:rPr>
              <a:t>Mar</a:t>
            </a:r>
            <a:endParaRPr lang="en-US" sz="1100" dirty="0"/>
          </a:p>
        </p:txBody>
      </p:sp>
      <p:sp>
        <p:nvSpPr>
          <p:cNvPr id="22" name="Shape 20"/>
          <p:cNvSpPr/>
          <p:nvPr/>
        </p:nvSpPr>
        <p:spPr>
          <a:xfrm>
            <a:off x="10936435" y="1874520"/>
            <a:ext cx="914" cy="3236976"/>
          </a:xfrm>
          <a:prstGeom prst="line">
            <a:avLst/>
          </a:prstGeom>
          <a:noFill/>
          <a:ln w="6350">
            <a:solidFill>
              <a:srgbClr val="D7DEE8"/>
            </a:solidFill>
            <a:prstDash val="solid"/>
          </a:ln>
        </p:spPr>
      </p:sp>
      <p:sp>
        <p:nvSpPr>
          <p:cNvPr id="23" name="Text 21"/>
          <p:cNvSpPr txBox="1"/>
          <p:nvPr/>
        </p:nvSpPr>
        <p:spPr>
          <a:xfrm>
            <a:off x="10973011" y="1874520"/>
            <a:ext cx="548640" cy="228600"/>
          </a:xfrm>
          <a:prstGeom prst="rect">
            <a:avLst/>
          </a:prstGeom>
          <a:noFill/>
          <a:ln/>
        </p:spPr>
        <p:txBody>
          <a:bodyPr wrap="square" lIns="0" tIns="0" rIns="0" bIns="0" rtlCol="0" anchor="ctr"/>
          <a:lstStyle/>
          <a:p>
            <a:pPr indent="0" marL="0">
              <a:buNone/>
            </a:pPr>
            <a:r>
              <a:rPr lang="en-US" sz="1100" b="1" dirty="0">
                <a:solidFill>
                  <a:srgbClr val="4B5563"/>
                </a:solidFill>
                <a:latin typeface="Calibri" pitchFamily="34" charset="0"/>
                <a:ea typeface="Calibri" pitchFamily="34" charset="-122"/>
                <a:cs typeface="Calibri" pitchFamily="34" charset="-120"/>
              </a:rPr>
              <a:t>Apr</a:t>
            </a:r>
            <a:endParaRPr lang="en-US" sz="1100" dirty="0"/>
          </a:p>
        </p:txBody>
      </p:sp>
      <p:sp>
        <p:nvSpPr>
          <p:cNvPr id="24" name="Text 22"/>
          <p:cNvSpPr txBox="1"/>
          <p:nvPr/>
        </p:nvSpPr>
        <p:spPr>
          <a:xfrm>
            <a:off x="3191256" y="1874520"/>
            <a:ext cx="548640" cy="228600"/>
          </a:xfrm>
          <a:prstGeom prst="rect">
            <a:avLst/>
          </a:prstGeom>
          <a:noFill/>
          <a:ln/>
        </p:spPr>
        <p:txBody>
          <a:bodyPr wrap="square" lIns="0" tIns="0" rIns="0" bIns="0" rtlCol="0" anchor="ctr"/>
          <a:lstStyle/>
          <a:p>
            <a:pPr indent="0" marL="0">
              <a:buNone/>
            </a:pPr>
            <a:r>
              <a:rPr lang="en-US" sz="1100" b="1" dirty="0">
                <a:solidFill>
                  <a:srgbClr val="4B5563"/>
                </a:solidFill>
                <a:latin typeface="Calibri" pitchFamily="34" charset="0"/>
                <a:ea typeface="Calibri" pitchFamily="34" charset="-122"/>
                <a:cs typeface="Calibri" pitchFamily="34" charset="-120"/>
              </a:rPr>
              <a:t>Sep</a:t>
            </a:r>
            <a:endParaRPr lang="en-US" sz="1100" dirty="0"/>
          </a:p>
        </p:txBody>
      </p:sp>
      <p:sp>
        <p:nvSpPr>
          <p:cNvPr id="25" name="Text 23"/>
          <p:cNvSpPr txBox="1"/>
          <p:nvPr/>
        </p:nvSpPr>
        <p:spPr>
          <a:xfrm>
            <a:off x="548640" y="2194560"/>
            <a:ext cx="2514600" cy="265176"/>
          </a:xfrm>
          <a:prstGeom prst="rect">
            <a:avLst/>
          </a:prstGeom>
          <a:noFill/>
          <a:ln/>
        </p:spPr>
        <p:txBody>
          <a:bodyPr wrap="square" lIns="0" tIns="0" rIns="0" bIns="0" rtlCol="0" anchor="ctr"/>
          <a:lstStyle/>
          <a:p>
            <a:pPr indent="0" marL="0">
              <a:buNone/>
            </a:pPr>
            <a:r>
              <a:rPr lang="en-US" sz="1200" dirty="0">
                <a:solidFill>
                  <a:srgbClr val="16213A"/>
                </a:solidFill>
                <a:latin typeface="Calibri" pitchFamily="34" charset="0"/>
                <a:ea typeface="Calibri" pitchFamily="34" charset="-122"/>
                <a:cs typeface="Calibri" pitchFamily="34" charset="-120"/>
              </a:rPr>
              <a:t>M0 Build and run</a:t>
            </a:r>
            <a:endParaRPr lang="en-US" sz="1200" dirty="0"/>
          </a:p>
        </p:txBody>
      </p:sp>
      <p:sp>
        <p:nvSpPr>
          <p:cNvPr id="26" name="Shape 24"/>
          <p:cNvSpPr/>
          <p:nvPr/>
        </p:nvSpPr>
        <p:spPr>
          <a:xfrm>
            <a:off x="3154680" y="2249424"/>
            <a:ext cx="547460" cy="155448"/>
          </a:xfrm>
          <a:prstGeom prst="roundRect">
            <a:avLst>
              <a:gd name="adj" fmla="val 29412"/>
            </a:avLst>
          </a:prstGeom>
          <a:solidFill>
            <a:srgbClr val="16213A"/>
          </a:solidFill>
          <a:ln/>
        </p:spPr>
      </p:sp>
      <p:sp>
        <p:nvSpPr>
          <p:cNvPr id="27" name="Text 25"/>
          <p:cNvSpPr txBox="1"/>
          <p:nvPr/>
        </p:nvSpPr>
        <p:spPr>
          <a:xfrm>
            <a:off x="548640" y="2459736"/>
            <a:ext cx="2514600" cy="265176"/>
          </a:xfrm>
          <a:prstGeom prst="rect">
            <a:avLst/>
          </a:prstGeom>
          <a:noFill/>
          <a:ln/>
        </p:spPr>
        <p:txBody>
          <a:bodyPr wrap="square" lIns="0" tIns="0" rIns="0" bIns="0" rtlCol="0" anchor="ctr"/>
          <a:lstStyle/>
          <a:p>
            <a:pPr indent="0" marL="0">
              <a:buNone/>
            </a:pPr>
            <a:r>
              <a:rPr lang="en-US" sz="1200" dirty="0">
                <a:solidFill>
                  <a:srgbClr val="16213A"/>
                </a:solidFill>
                <a:latin typeface="Calibri" pitchFamily="34" charset="0"/>
                <a:ea typeface="Calibri" pitchFamily="34" charset="-122"/>
                <a:cs typeface="Calibri" pitchFamily="34" charset="-120"/>
              </a:rPr>
              <a:t>M1 Arm picks something up</a:t>
            </a:r>
            <a:endParaRPr lang="en-US" sz="1200" dirty="0"/>
          </a:p>
        </p:txBody>
      </p:sp>
      <p:sp>
        <p:nvSpPr>
          <p:cNvPr id="28" name="Shape 26"/>
          <p:cNvSpPr/>
          <p:nvPr/>
        </p:nvSpPr>
        <p:spPr>
          <a:xfrm>
            <a:off x="4797060" y="2514600"/>
            <a:ext cx="547460" cy="155448"/>
          </a:xfrm>
          <a:prstGeom prst="roundRect">
            <a:avLst>
              <a:gd name="adj" fmla="val 29412"/>
            </a:avLst>
          </a:prstGeom>
          <a:solidFill>
            <a:srgbClr val="93C5FD"/>
          </a:solidFill>
          <a:ln/>
        </p:spPr>
      </p:sp>
      <p:sp>
        <p:nvSpPr>
          <p:cNvPr id="29" name="Shape 27"/>
          <p:cNvSpPr/>
          <p:nvPr/>
        </p:nvSpPr>
        <p:spPr>
          <a:xfrm>
            <a:off x="3428410" y="2514600"/>
            <a:ext cx="1368650" cy="155448"/>
          </a:xfrm>
          <a:prstGeom prst="roundRect">
            <a:avLst>
              <a:gd name="adj" fmla="val 29412"/>
            </a:avLst>
          </a:prstGeom>
          <a:solidFill>
            <a:srgbClr val="16213A"/>
          </a:solidFill>
          <a:ln/>
        </p:spPr>
      </p:sp>
      <p:sp>
        <p:nvSpPr>
          <p:cNvPr id="30" name="Text 28"/>
          <p:cNvSpPr txBox="1"/>
          <p:nvPr/>
        </p:nvSpPr>
        <p:spPr>
          <a:xfrm>
            <a:off x="548640" y="2724912"/>
            <a:ext cx="2514600" cy="265176"/>
          </a:xfrm>
          <a:prstGeom prst="rect">
            <a:avLst/>
          </a:prstGeom>
          <a:noFill/>
          <a:ln/>
        </p:spPr>
        <p:txBody>
          <a:bodyPr wrap="square" lIns="0" tIns="0" rIns="0" bIns="0" rtlCol="0" anchor="ctr"/>
          <a:lstStyle/>
          <a:p>
            <a:pPr indent="0" marL="0">
              <a:buNone/>
            </a:pPr>
            <a:r>
              <a:rPr lang="en-US" sz="1200" dirty="0">
                <a:solidFill>
                  <a:srgbClr val="16213A"/>
                </a:solidFill>
                <a:latin typeface="Calibri" pitchFamily="34" charset="0"/>
                <a:ea typeface="Calibri" pitchFamily="34" charset="-122"/>
                <a:cs typeface="Calibri" pitchFamily="34" charset="-120"/>
              </a:rPr>
              <a:t>M2 Voice and gaze to arm</a:t>
            </a:r>
            <a:endParaRPr lang="en-US" sz="1200" dirty="0"/>
          </a:p>
        </p:txBody>
      </p:sp>
      <p:sp>
        <p:nvSpPr>
          <p:cNvPr id="31" name="Shape 29"/>
          <p:cNvSpPr/>
          <p:nvPr/>
        </p:nvSpPr>
        <p:spPr>
          <a:xfrm>
            <a:off x="4797060" y="2779776"/>
            <a:ext cx="3011031" cy="155448"/>
          </a:xfrm>
          <a:prstGeom prst="roundRect">
            <a:avLst>
              <a:gd name="adj" fmla="val 29412"/>
            </a:avLst>
          </a:prstGeom>
          <a:solidFill>
            <a:srgbClr val="93C5FD"/>
          </a:solidFill>
          <a:ln/>
        </p:spPr>
      </p:sp>
      <p:sp>
        <p:nvSpPr>
          <p:cNvPr id="32" name="Shape 30"/>
          <p:cNvSpPr/>
          <p:nvPr/>
        </p:nvSpPr>
        <p:spPr>
          <a:xfrm>
            <a:off x="3975870" y="2779776"/>
            <a:ext cx="821190" cy="155448"/>
          </a:xfrm>
          <a:prstGeom prst="roundRect">
            <a:avLst>
              <a:gd name="adj" fmla="val 29412"/>
            </a:avLst>
          </a:prstGeom>
          <a:solidFill>
            <a:srgbClr val="16213A"/>
          </a:solidFill>
          <a:ln/>
        </p:spPr>
      </p:sp>
      <p:sp>
        <p:nvSpPr>
          <p:cNvPr id="33" name="Text 31"/>
          <p:cNvSpPr txBox="1"/>
          <p:nvPr/>
        </p:nvSpPr>
        <p:spPr>
          <a:xfrm>
            <a:off x="548640" y="2990088"/>
            <a:ext cx="2514600" cy="265176"/>
          </a:xfrm>
          <a:prstGeom prst="rect">
            <a:avLst/>
          </a:prstGeom>
          <a:noFill/>
          <a:ln/>
        </p:spPr>
        <p:txBody>
          <a:bodyPr wrap="square" lIns="0" tIns="0" rIns="0" bIns="0" rtlCol="0" anchor="ctr"/>
          <a:lstStyle/>
          <a:p>
            <a:pPr indent="0" marL="0">
              <a:buNone/>
            </a:pPr>
            <a:r>
              <a:rPr lang="en-US" sz="1200" dirty="0">
                <a:solidFill>
                  <a:srgbClr val="16213A"/>
                </a:solidFill>
                <a:latin typeface="Calibri" pitchFamily="34" charset="0"/>
                <a:ea typeface="Calibri" pitchFamily="34" charset="-122"/>
                <a:cs typeface="Calibri" pitchFamily="34" charset="-120"/>
              </a:rPr>
              <a:t>M3 Base navigates</a:t>
            </a:r>
            <a:endParaRPr lang="en-US" sz="1200" dirty="0"/>
          </a:p>
        </p:txBody>
      </p:sp>
      <p:sp>
        <p:nvSpPr>
          <p:cNvPr id="34" name="Shape 32"/>
          <p:cNvSpPr/>
          <p:nvPr/>
        </p:nvSpPr>
        <p:spPr>
          <a:xfrm>
            <a:off x="4797060" y="3044952"/>
            <a:ext cx="3011031" cy="155448"/>
          </a:xfrm>
          <a:prstGeom prst="roundRect">
            <a:avLst>
              <a:gd name="adj" fmla="val 29412"/>
            </a:avLst>
          </a:prstGeom>
          <a:solidFill>
            <a:srgbClr val="93C5FD"/>
          </a:solidFill>
          <a:ln/>
        </p:spPr>
      </p:sp>
      <p:sp>
        <p:nvSpPr>
          <p:cNvPr id="35" name="Shape 33"/>
          <p:cNvSpPr/>
          <p:nvPr/>
        </p:nvSpPr>
        <p:spPr>
          <a:xfrm>
            <a:off x="3154680" y="3044952"/>
            <a:ext cx="1642380" cy="155448"/>
          </a:xfrm>
          <a:prstGeom prst="roundRect">
            <a:avLst>
              <a:gd name="adj" fmla="val 29412"/>
            </a:avLst>
          </a:prstGeom>
          <a:solidFill>
            <a:srgbClr val="16213A"/>
          </a:solidFill>
          <a:ln/>
        </p:spPr>
      </p:sp>
      <p:sp>
        <p:nvSpPr>
          <p:cNvPr id="36" name="Text 34"/>
          <p:cNvSpPr txBox="1"/>
          <p:nvPr/>
        </p:nvSpPr>
        <p:spPr>
          <a:xfrm>
            <a:off x="548640" y="3255264"/>
            <a:ext cx="2514600" cy="265176"/>
          </a:xfrm>
          <a:prstGeom prst="rect">
            <a:avLst/>
          </a:prstGeom>
          <a:noFill/>
          <a:ln/>
        </p:spPr>
        <p:txBody>
          <a:bodyPr wrap="square" lIns="0" tIns="0" rIns="0" bIns="0" rtlCol="0" anchor="ctr"/>
          <a:lstStyle/>
          <a:p>
            <a:pPr indent="0" marL="0">
              <a:buNone/>
            </a:pPr>
            <a:r>
              <a:rPr lang="en-US" sz="1200" dirty="0">
                <a:solidFill>
                  <a:srgbClr val="16213A"/>
                </a:solidFill>
                <a:latin typeface="Calibri" pitchFamily="34" charset="0"/>
                <a:ea typeface="Calibri" pitchFamily="34" charset="-122"/>
                <a:cs typeface="Calibri" pitchFamily="34" charset="-120"/>
              </a:rPr>
              <a:t>M4 Closed loop</a:t>
            </a:r>
            <a:endParaRPr lang="en-US" sz="1200" dirty="0"/>
          </a:p>
        </p:txBody>
      </p:sp>
      <p:sp>
        <p:nvSpPr>
          <p:cNvPr id="37" name="Shape 35"/>
          <p:cNvSpPr/>
          <p:nvPr/>
        </p:nvSpPr>
        <p:spPr>
          <a:xfrm>
            <a:off x="7808091" y="3310128"/>
            <a:ext cx="821190" cy="155448"/>
          </a:xfrm>
          <a:prstGeom prst="roundRect">
            <a:avLst>
              <a:gd name="adj" fmla="val 29412"/>
            </a:avLst>
          </a:prstGeom>
          <a:solidFill>
            <a:srgbClr val="93C5FD"/>
          </a:solidFill>
          <a:ln/>
        </p:spPr>
      </p:sp>
      <p:sp>
        <p:nvSpPr>
          <p:cNvPr id="38" name="Text 36"/>
          <p:cNvSpPr txBox="1"/>
          <p:nvPr/>
        </p:nvSpPr>
        <p:spPr>
          <a:xfrm>
            <a:off x="548640" y="3520440"/>
            <a:ext cx="2514600" cy="265176"/>
          </a:xfrm>
          <a:prstGeom prst="rect">
            <a:avLst/>
          </a:prstGeom>
          <a:noFill/>
          <a:ln/>
        </p:spPr>
        <p:txBody>
          <a:bodyPr wrap="square" lIns="0" tIns="0" rIns="0" bIns="0" rtlCol="0" anchor="ctr"/>
          <a:lstStyle/>
          <a:p>
            <a:pPr indent="0" marL="0">
              <a:buNone/>
            </a:pPr>
            <a:r>
              <a:rPr lang="en-US" sz="1200" dirty="0">
                <a:solidFill>
                  <a:srgbClr val="16213A"/>
                </a:solidFill>
                <a:latin typeface="Calibri" pitchFamily="34" charset="0"/>
                <a:ea typeface="Calibri" pitchFamily="34" charset="-122"/>
                <a:cs typeface="Calibri" pitchFamily="34" charset="-120"/>
              </a:rPr>
              <a:t>M5 Calibrated base camera</a:t>
            </a:r>
            <a:endParaRPr lang="en-US" sz="1200" dirty="0"/>
          </a:p>
        </p:txBody>
      </p:sp>
      <p:sp>
        <p:nvSpPr>
          <p:cNvPr id="39" name="Shape 37"/>
          <p:cNvSpPr/>
          <p:nvPr/>
        </p:nvSpPr>
        <p:spPr>
          <a:xfrm>
            <a:off x="4797060" y="3575304"/>
            <a:ext cx="3558491" cy="155448"/>
          </a:xfrm>
          <a:prstGeom prst="roundRect">
            <a:avLst>
              <a:gd name="adj" fmla="val 29412"/>
            </a:avLst>
          </a:prstGeom>
          <a:solidFill>
            <a:srgbClr val="93C5FD"/>
          </a:solidFill>
          <a:ln/>
        </p:spPr>
      </p:sp>
      <p:sp>
        <p:nvSpPr>
          <p:cNvPr id="40" name="Shape 38"/>
          <p:cNvSpPr/>
          <p:nvPr/>
        </p:nvSpPr>
        <p:spPr>
          <a:xfrm>
            <a:off x="3154680" y="3575304"/>
            <a:ext cx="1642380" cy="155448"/>
          </a:xfrm>
          <a:prstGeom prst="roundRect">
            <a:avLst>
              <a:gd name="adj" fmla="val 29412"/>
            </a:avLst>
          </a:prstGeom>
          <a:solidFill>
            <a:srgbClr val="16213A"/>
          </a:solidFill>
          <a:ln/>
        </p:spPr>
      </p:sp>
      <p:sp>
        <p:nvSpPr>
          <p:cNvPr id="41" name="Text 39"/>
          <p:cNvSpPr txBox="1"/>
          <p:nvPr/>
        </p:nvSpPr>
        <p:spPr>
          <a:xfrm>
            <a:off x="548640" y="3785616"/>
            <a:ext cx="2514600" cy="265176"/>
          </a:xfrm>
          <a:prstGeom prst="rect">
            <a:avLst/>
          </a:prstGeom>
          <a:noFill/>
          <a:ln/>
        </p:spPr>
        <p:txBody>
          <a:bodyPr wrap="square" lIns="0" tIns="0" rIns="0" bIns="0" rtlCol="0" anchor="ctr"/>
          <a:lstStyle/>
          <a:p>
            <a:pPr indent="0" marL="0">
              <a:buNone/>
            </a:pPr>
            <a:r>
              <a:rPr lang="en-US" sz="1200" dirty="0">
                <a:solidFill>
                  <a:srgbClr val="16213A"/>
                </a:solidFill>
                <a:latin typeface="Calibri" pitchFamily="34" charset="0"/>
                <a:ea typeface="Calibri" pitchFamily="34" charset="-122"/>
                <a:cs typeface="Calibri" pitchFamily="34" charset="-120"/>
              </a:rPr>
              <a:t>M6 Memory graph offline</a:t>
            </a:r>
            <a:endParaRPr lang="en-US" sz="1200" dirty="0"/>
          </a:p>
        </p:txBody>
      </p:sp>
      <p:sp>
        <p:nvSpPr>
          <p:cNvPr id="42" name="Shape 40"/>
          <p:cNvSpPr/>
          <p:nvPr/>
        </p:nvSpPr>
        <p:spPr>
          <a:xfrm>
            <a:off x="4797060" y="3840480"/>
            <a:ext cx="3832221" cy="155448"/>
          </a:xfrm>
          <a:prstGeom prst="roundRect">
            <a:avLst>
              <a:gd name="adj" fmla="val 29412"/>
            </a:avLst>
          </a:prstGeom>
          <a:solidFill>
            <a:srgbClr val="93C5FD"/>
          </a:solidFill>
          <a:ln/>
        </p:spPr>
      </p:sp>
      <p:sp>
        <p:nvSpPr>
          <p:cNvPr id="43" name="Shape 41"/>
          <p:cNvSpPr/>
          <p:nvPr/>
        </p:nvSpPr>
        <p:spPr>
          <a:xfrm>
            <a:off x="3428410" y="3840480"/>
            <a:ext cx="1368650" cy="155448"/>
          </a:xfrm>
          <a:prstGeom prst="roundRect">
            <a:avLst>
              <a:gd name="adj" fmla="val 29412"/>
            </a:avLst>
          </a:prstGeom>
          <a:solidFill>
            <a:srgbClr val="16213A"/>
          </a:solidFill>
          <a:ln/>
        </p:spPr>
      </p:sp>
      <p:sp>
        <p:nvSpPr>
          <p:cNvPr id="44" name="Text 42"/>
          <p:cNvSpPr txBox="1"/>
          <p:nvPr/>
        </p:nvSpPr>
        <p:spPr>
          <a:xfrm>
            <a:off x="548640" y="4050792"/>
            <a:ext cx="2514600" cy="265176"/>
          </a:xfrm>
          <a:prstGeom prst="rect">
            <a:avLst/>
          </a:prstGeom>
          <a:noFill/>
          <a:ln/>
        </p:spPr>
        <p:txBody>
          <a:bodyPr wrap="square" lIns="0" tIns="0" rIns="0" bIns="0" rtlCol="0" anchor="ctr"/>
          <a:lstStyle/>
          <a:p>
            <a:pPr indent="0" marL="0">
              <a:buNone/>
            </a:pPr>
            <a:r>
              <a:rPr lang="en-US" sz="1200" dirty="0">
                <a:solidFill>
                  <a:srgbClr val="16213A"/>
                </a:solidFill>
                <a:latin typeface="Calibri" pitchFamily="34" charset="0"/>
                <a:ea typeface="Calibri" pitchFamily="34" charset="-122"/>
                <a:cs typeface="Calibri" pitchFamily="34" charset="-120"/>
              </a:rPr>
              <a:t>M7 Graph drives the robot</a:t>
            </a:r>
            <a:endParaRPr lang="en-US" sz="1200" dirty="0"/>
          </a:p>
        </p:txBody>
      </p:sp>
      <p:sp>
        <p:nvSpPr>
          <p:cNvPr id="45" name="Shape 43"/>
          <p:cNvSpPr/>
          <p:nvPr/>
        </p:nvSpPr>
        <p:spPr>
          <a:xfrm>
            <a:off x="8081821" y="4105656"/>
            <a:ext cx="1642380" cy="155448"/>
          </a:xfrm>
          <a:prstGeom prst="roundRect">
            <a:avLst>
              <a:gd name="adj" fmla="val 29412"/>
            </a:avLst>
          </a:prstGeom>
          <a:solidFill>
            <a:srgbClr val="93C5FD"/>
          </a:solidFill>
          <a:ln/>
        </p:spPr>
      </p:sp>
      <p:sp>
        <p:nvSpPr>
          <p:cNvPr id="46" name="Text 44"/>
          <p:cNvSpPr txBox="1"/>
          <p:nvPr/>
        </p:nvSpPr>
        <p:spPr>
          <a:xfrm>
            <a:off x="548640" y="4315968"/>
            <a:ext cx="2514600" cy="265176"/>
          </a:xfrm>
          <a:prstGeom prst="rect">
            <a:avLst/>
          </a:prstGeom>
          <a:noFill/>
          <a:ln/>
        </p:spPr>
        <p:txBody>
          <a:bodyPr wrap="square" lIns="0" tIns="0" rIns="0" bIns="0" rtlCol="0" anchor="ctr"/>
          <a:lstStyle/>
          <a:p>
            <a:pPr indent="0" marL="0">
              <a:buNone/>
            </a:pPr>
            <a:r>
              <a:rPr lang="en-US" sz="1200" dirty="0">
                <a:solidFill>
                  <a:srgbClr val="16213A"/>
                </a:solidFill>
                <a:latin typeface="Calibri" pitchFamily="34" charset="0"/>
                <a:ea typeface="Calibri" pitchFamily="34" charset="-122"/>
                <a:cs typeface="Calibri" pitchFamily="34" charset="-120"/>
              </a:rPr>
              <a:t>M8 Gaze picks the instance</a:t>
            </a:r>
            <a:endParaRPr lang="en-US" sz="1200" dirty="0"/>
          </a:p>
        </p:txBody>
      </p:sp>
      <p:sp>
        <p:nvSpPr>
          <p:cNvPr id="47" name="Shape 45"/>
          <p:cNvSpPr/>
          <p:nvPr/>
        </p:nvSpPr>
        <p:spPr>
          <a:xfrm>
            <a:off x="4797060" y="4370832"/>
            <a:ext cx="5474601" cy="155448"/>
          </a:xfrm>
          <a:prstGeom prst="roundRect">
            <a:avLst>
              <a:gd name="adj" fmla="val 29412"/>
            </a:avLst>
          </a:prstGeom>
          <a:solidFill>
            <a:srgbClr val="93C5FD"/>
          </a:solidFill>
          <a:ln/>
        </p:spPr>
      </p:sp>
      <p:sp>
        <p:nvSpPr>
          <p:cNvPr id="48" name="Shape 46"/>
          <p:cNvSpPr/>
          <p:nvPr/>
        </p:nvSpPr>
        <p:spPr>
          <a:xfrm>
            <a:off x="4523330" y="4370832"/>
            <a:ext cx="273730" cy="155448"/>
          </a:xfrm>
          <a:prstGeom prst="roundRect">
            <a:avLst>
              <a:gd name="adj" fmla="val 29412"/>
            </a:avLst>
          </a:prstGeom>
          <a:solidFill>
            <a:srgbClr val="16213A"/>
          </a:solidFill>
          <a:ln/>
        </p:spPr>
      </p:sp>
      <p:sp>
        <p:nvSpPr>
          <p:cNvPr id="49" name="Text 47"/>
          <p:cNvSpPr txBox="1"/>
          <p:nvPr/>
        </p:nvSpPr>
        <p:spPr>
          <a:xfrm>
            <a:off x="548640" y="4581144"/>
            <a:ext cx="2514600" cy="265176"/>
          </a:xfrm>
          <a:prstGeom prst="rect">
            <a:avLst/>
          </a:prstGeom>
          <a:noFill/>
          <a:ln/>
        </p:spPr>
        <p:txBody>
          <a:bodyPr wrap="square" lIns="0" tIns="0" rIns="0" bIns="0" rtlCol="0" anchor="ctr"/>
          <a:lstStyle/>
          <a:p>
            <a:pPr indent="0" marL="0">
              <a:buNone/>
            </a:pPr>
            <a:r>
              <a:rPr lang="en-US" sz="1200" dirty="0">
                <a:solidFill>
                  <a:srgbClr val="16213A"/>
                </a:solidFill>
                <a:latin typeface="Calibri" pitchFamily="34" charset="0"/>
                <a:ea typeface="Calibri" pitchFamily="34" charset="-122"/>
                <a:cs typeface="Calibri" pitchFamily="34" charset="-120"/>
              </a:rPr>
              <a:t>M9 Exploration order (optional)</a:t>
            </a:r>
            <a:endParaRPr lang="en-US" sz="1200" dirty="0"/>
          </a:p>
        </p:txBody>
      </p:sp>
      <p:sp>
        <p:nvSpPr>
          <p:cNvPr id="50" name="Shape 48"/>
          <p:cNvSpPr/>
          <p:nvPr/>
        </p:nvSpPr>
        <p:spPr>
          <a:xfrm>
            <a:off x="8081821" y="4636008"/>
            <a:ext cx="1368650" cy="155448"/>
          </a:xfrm>
          <a:prstGeom prst="roundRect">
            <a:avLst>
              <a:gd name="adj" fmla="val 29412"/>
            </a:avLst>
          </a:prstGeom>
          <a:solidFill>
            <a:srgbClr val="FFFFFF"/>
          </a:solidFill>
          <a:ln w="9525">
            <a:solidFill>
              <a:srgbClr val="6B7280"/>
            </a:solidFill>
            <a:prstDash val="dash"/>
          </a:ln>
        </p:spPr>
      </p:sp>
      <p:sp>
        <p:nvSpPr>
          <p:cNvPr id="51" name="Text 49"/>
          <p:cNvSpPr txBox="1"/>
          <p:nvPr/>
        </p:nvSpPr>
        <p:spPr>
          <a:xfrm>
            <a:off x="548640" y="4846320"/>
            <a:ext cx="2514600" cy="265176"/>
          </a:xfrm>
          <a:prstGeom prst="rect">
            <a:avLst/>
          </a:prstGeom>
          <a:noFill/>
          <a:ln/>
        </p:spPr>
        <p:txBody>
          <a:bodyPr wrap="square" lIns="0" tIns="0" rIns="0" bIns="0" rtlCol="0" anchor="ctr"/>
          <a:lstStyle/>
          <a:p>
            <a:pPr indent="0" marL="0">
              <a:buNone/>
            </a:pPr>
            <a:r>
              <a:rPr lang="en-US" sz="1200" dirty="0">
                <a:solidFill>
                  <a:srgbClr val="16213A"/>
                </a:solidFill>
                <a:latin typeface="Calibri" pitchFamily="34" charset="0"/>
                <a:ea typeface="Calibri" pitchFamily="34" charset="-122"/>
                <a:cs typeface="Calibri" pitchFamily="34" charset="-120"/>
              </a:rPr>
              <a:t>M10 Demo and paper</a:t>
            </a:r>
            <a:endParaRPr lang="en-US" sz="1200" dirty="0"/>
          </a:p>
        </p:txBody>
      </p:sp>
      <p:sp>
        <p:nvSpPr>
          <p:cNvPr id="52" name="Shape 50"/>
          <p:cNvSpPr/>
          <p:nvPr/>
        </p:nvSpPr>
        <p:spPr>
          <a:xfrm>
            <a:off x="9724202" y="4901184"/>
            <a:ext cx="821190" cy="155448"/>
          </a:xfrm>
          <a:prstGeom prst="roundRect">
            <a:avLst>
              <a:gd name="adj" fmla="val 29412"/>
            </a:avLst>
          </a:prstGeom>
          <a:solidFill>
            <a:srgbClr val="93C5FD"/>
          </a:solidFill>
          <a:ln/>
        </p:spPr>
      </p:sp>
      <p:sp>
        <p:nvSpPr>
          <p:cNvPr id="53" name="Shape 51"/>
          <p:cNvSpPr/>
          <p:nvPr/>
        </p:nvSpPr>
        <p:spPr>
          <a:xfrm>
            <a:off x="4718852" y="2103120"/>
            <a:ext cx="914" cy="3054096"/>
          </a:xfrm>
          <a:prstGeom prst="line">
            <a:avLst/>
          </a:prstGeom>
          <a:noFill/>
          <a:ln w="25400">
            <a:solidFill>
              <a:srgbClr val="C2410C"/>
            </a:solidFill>
            <a:prstDash val="solid"/>
          </a:ln>
        </p:spPr>
      </p:sp>
      <p:sp>
        <p:nvSpPr>
          <p:cNvPr id="54" name="Text 52"/>
          <p:cNvSpPr txBox="1"/>
          <p:nvPr/>
        </p:nvSpPr>
        <p:spPr>
          <a:xfrm>
            <a:off x="4261652" y="5157216"/>
            <a:ext cx="914400" cy="201168"/>
          </a:xfrm>
          <a:prstGeom prst="rect">
            <a:avLst/>
          </a:prstGeom>
          <a:noFill/>
          <a:ln/>
        </p:spPr>
        <p:txBody>
          <a:bodyPr wrap="square" lIns="0" tIns="0" rIns="0" bIns="0" rtlCol="0" anchor="ctr"/>
          <a:lstStyle/>
          <a:p>
            <a:pPr algn="ctr" indent="0" marL="0">
              <a:buNone/>
            </a:pPr>
            <a:r>
              <a:rPr lang="en-US" sz="1100" b="1" dirty="0">
                <a:solidFill>
                  <a:srgbClr val="C2410C"/>
                </a:solidFill>
                <a:latin typeface="Calibri" pitchFamily="34" charset="0"/>
                <a:ea typeface="Calibri" pitchFamily="34" charset="-122"/>
                <a:cs typeface="Calibri" pitchFamily="34" charset="-120"/>
              </a:rPr>
              <a:t>today</a:t>
            </a:r>
            <a:endParaRPr lang="en-US" sz="1100" dirty="0"/>
          </a:p>
        </p:txBody>
      </p:sp>
      <p:sp>
        <p:nvSpPr>
          <p:cNvPr id="55" name="Shape 53"/>
          <p:cNvSpPr/>
          <p:nvPr/>
        </p:nvSpPr>
        <p:spPr>
          <a:xfrm>
            <a:off x="10599961" y="5184648"/>
            <a:ext cx="164592" cy="164592"/>
          </a:xfrm>
          <a:prstGeom prst="diamond">
            <a:avLst/>
          </a:prstGeom>
          <a:solidFill>
            <a:srgbClr val="16213A"/>
          </a:solidFill>
          <a:ln/>
        </p:spPr>
      </p:sp>
      <p:sp>
        <p:nvSpPr>
          <p:cNvPr id="56" name="Text 54"/>
          <p:cNvSpPr txBox="1"/>
          <p:nvPr/>
        </p:nvSpPr>
        <p:spPr>
          <a:xfrm>
            <a:off x="10225057" y="5358384"/>
            <a:ext cx="914400" cy="201168"/>
          </a:xfrm>
          <a:prstGeom prst="rect">
            <a:avLst/>
          </a:prstGeom>
          <a:noFill/>
          <a:ln/>
        </p:spPr>
        <p:txBody>
          <a:bodyPr wrap="square" lIns="0" tIns="0" rIns="0" bIns="0" rtlCol="0" anchor="ctr"/>
          <a:lstStyle/>
          <a:p>
            <a:pPr algn="ctr" indent="0" marL="0">
              <a:buNone/>
            </a:pPr>
            <a:r>
              <a:rPr lang="en-US" sz="1100" dirty="0">
                <a:solidFill>
                  <a:srgbClr val="16213A"/>
                </a:solidFill>
                <a:latin typeface="Calibri" pitchFamily="34" charset="0"/>
                <a:ea typeface="Calibri" pitchFamily="34" charset="-122"/>
                <a:cs typeface="Calibri" pitchFamily="34" charset="-120"/>
              </a:rPr>
              <a:t>report</a:t>
            </a:r>
            <a:endParaRPr lang="en-US" sz="1100" dirty="0"/>
          </a:p>
        </p:txBody>
      </p:sp>
      <p:sp>
        <p:nvSpPr>
          <p:cNvPr id="57" name="Shape 55"/>
          <p:cNvSpPr/>
          <p:nvPr/>
        </p:nvSpPr>
        <p:spPr>
          <a:xfrm>
            <a:off x="11284286" y="5184648"/>
            <a:ext cx="164592" cy="164592"/>
          </a:xfrm>
          <a:prstGeom prst="diamond">
            <a:avLst/>
          </a:prstGeom>
          <a:solidFill>
            <a:srgbClr val="16213A"/>
          </a:solidFill>
          <a:ln/>
        </p:spPr>
      </p:sp>
      <p:sp>
        <p:nvSpPr>
          <p:cNvPr id="58" name="Text 56"/>
          <p:cNvSpPr txBox="1"/>
          <p:nvPr/>
        </p:nvSpPr>
        <p:spPr>
          <a:xfrm>
            <a:off x="10909382" y="5358384"/>
            <a:ext cx="914400" cy="201168"/>
          </a:xfrm>
          <a:prstGeom prst="rect">
            <a:avLst/>
          </a:prstGeom>
          <a:noFill/>
          <a:ln/>
        </p:spPr>
        <p:txBody>
          <a:bodyPr wrap="square" lIns="0" tIns="0" rIns="0" bIns="0" rtlCol="0" anchor="ctr"/>
          <a:lstStyle/>
          <a:p>
            <a:pPr algn="ctr" indent="0" marL="0">
              <a:buNone/>
            </a:pPr>
            <a:r>
              <a:rPr lang="en-US" sz="1100" dirty="0">
                <a:solidFill>
                  <a:srgbClr val="16213A"/>
                </a:solidFill>
                <a:latin typeface="Calibri" pitchFamily="34" charset="0"/>
                <a:ea typeface="Calibri" pitchFamily="34" charset="-122"/>
                <a:cs typeface="Calibri" pitchFamily="34" charset="-120"/>
              </a:rPr>
              <a:t>oral</a:t>
            </a:r>
            <a:endParaRPr lang="en-US" sz="1100" dirty="0"/>
          </a:p>
        </p:txBody>
      </p:sp>
      <p:sp>
        <p:nvSpPr>
          <p:cNvPr id="59" name="Shape 57"/>
          <p:cNvSpPr/>
          <p:nvPr/>
        </p:nvSpPr>
        <p:spPr>
          <a:xfrm>
            <a:off x="548640" y="5239512"/>
            <a:ext cx="201168" cy="137160"/>
          </a:xfrm>
          <a:prstGeom prst="rect">
            <a:avLst/>
          </a:prstGeom>
          <a:solidFill>
            <a:srgbClr val="16213A"/>
          </a:solidFill>
          <a:ln/>
        </p:spPr>
      </p:sp>
      <p:sp>
        <p:nvSpPr>
          <p:cNvPr id="60" name="Text 58"/>
          <p:cNvSpPr txBox="1"/>
          <p:nvPr/>
        </p:nvSpPr>
        <p:spPr>
          <a:xfrm>
            <a:off x="795528" y="5202936"/>
            <a:ext cx="640080" cy="201168"/>
          </a:xfrm>
          <a:prstGeom prst="rect">
            <a:avLst/>
          </a:prstGeom>
          <a:noFill/>
          <a:ln/>
        </p:spPr>
        <p:txBody>
          <a:bodyPr wrap="square" lIns="0" tIns="0" rIns="0" bIns="0" rtlCol="0" anchor="ctr"/>
          <a:lstStyle/>
          <a:p>
            <a:pPr indent="0" marL="0">
              <a:buNone/>
            </a:pPr>
            <a:r>
              <a:rPr lang="en-US" sz="1100" dirty="0">
                <a:solidFill>
                  <a:srgbClr val="4B5563"/>
                </a:solidFill>
                <a:latin typeface="Calibri" pitchFamily="34" charset="0"/>
                <a:ea typeface="Calibri" pitchFamily="34" charset="-122"/>
                <a:cs typeface="Calibri" pitchFamily="34" charset="-120"/>
              </a:rPr>
              <a:t>done</a:t>
            </a:r>
            <a:endParaRPr lang="en-US" sz="1100" dirty="0"/>
          </a:p>
        </p:txBody>
      </p:sp>
      <p:sp>
        <p:nvSpPr>
          <p:cNvPr id="61" name="Shape 59"/>
          <p:cNvSpPr/>
          <p:nvPr/>
        </p:nvSpPr>
        <p:spPr>
          <a:xfrm>
            <a:off x="1417320" y="5239512"/>
            <a:ext cx="201168" cy="137160"/>
          </a:xfrm>
          <a:prstGeom prst="rect">
            <a:avLst/>
          </a:prstGeom>
          <a:solidFill>
            <a:srgbClr val="93C5FD"/>
          </a:solidFill>
          <a:ln/>
        </p:spPr>
      </p:sp>
      <p:sp>
        <p:nvSpPr>
          <p:cNvPr id="62" name="Text 60"/>
          <p:cNvSpPr txBox="1"/>
          <p:nvPr/>
        </p:nvSpPr>
        <p:spPr>
          <a:xfrm>
            <a:off x="1664208" y="5202936"/>
            <a:ext cx="640080" cy="201168"/>
          </a:xfrm>
          <a:prstGeom prst="rect">
            <a:avLst/>
          </a:prstGeom>
          <a:noFill/>
          <a:ln/>
        </p:spPr>
        <p:txBody>
          <a:bodyPr wrap="square" lIns="0" tIns="0" rIns="0" bIns="0" rtlCol="0" anchor="ctr"/>
          <a:lstStyle/>
          <a:p>
            <a:pPr indent="0" marL="0">
              <a:buNone/>
            </a:pPr>
            <a:r>
              <a:rPr lang="en-US" sz="1100" dirty="0">
                <a:solidFill>
                  <a:srgbClr val="4B5563"/>
                </a:solidFill>
                <a:latin typeface="Calibri" pitchFamily="34" charset="0"/>
                <a:ea typeface="Calibri" pitchFamily="34" charset="-122"/>
                <a:cs typeface="Calibri" pitchFamily="34" charset="-120"/>
              </a:rPr>
              <a:t>forecast</a:t>
            </a:r>
            <a:endParaRPr lang="en-US" sz="1100" dirty="0"/>
          </a:p>
        </p:txBody>
      </p:sp>
      <p:sp>
        <p:nvSpPr>
          <p:cNvPr id="63" name="Shape 61"/>
          <p:cNvSpPr/>
          <p:nvPr/>
        </p:nvSpPr>
        <p:spPr>
          <a:xfrm>
            <a:off x="2286000" y="5239512"/>
            <a:ext cx="201168" cy="137160"/>
          </a:xfrm>
          <a:prstGeom prst="rect">
            <a:avLst/>
          </a:prstGeom>
          <a:solidFill>
            <a:srgbClr val="FFFFFF"/>
          </a:solidFill>
          <a:ln w="9525">
            <a:solidFill>
              <a:srgbClr val="6B7280"/>
            </a:solidFill>
            <a:prstDash val="dash"/>
          </a:ln>
        </p:spPr>
      </p:sp>
      <p:sp>
        <p:nvSpPr>
          <p:cNvPr id="64" name="Text 62"/>
          <p:cNvSpPr txBox="1"/>
          <p:nvPr/>
        </p:nvSpPr>
        <p:spPr>
          <a:xfrm>
            <a:off x="2532888" y="5202936"/>
            <a:ext cx="640080" cy="201168"/>
          </a:xfrm>
          <a:prstGeom prst="rect">
            <a:avLst/>
          </a:prstGeom>
          <a:noFill/>
          <a:ln/>
        </p:spPr>
        <p:txBody>
          <a:bodyPr wrap="square" lIns="0" tIns="0" rIns="0" bIns="0" rtlCol="0" anchor="ctr"/>
          <a:lstStyle/>
          <a:p>
            <a:pPr indent="0" marL="0">
              <a:buNone/>
            </a:pPr>
            <a:r>
              <a:rPr lang="en-US" sz="1100" dirty="0">
                <a:solidFill>
                  <a:srgbClr val="4B5563"/>
                </a:solidFill>
                <a:latin typeface="Calibri" pitchFamily="34" charset="0"/>
                <a:ea typeface="Calibri" pitchFamily="34" charset="-122"/>
                <a:cs typeface="Calibri" pitchFamily="34" charset="-120"/>
              </a:rPr>
              <a:t>optional</a:t>
            </a:r>
            <a:endParaRPr lang="en-US" sz="1100" dirty="0"/>
          </a:p>
        </p:txBody>
      </p:sp>
      <p:sp>
        <p:nvSpPr>
          <p:cNvPr id="65" name="Shape 63"/>
          <p:cNvSpPr/>
          <p:nvPr/>
        </p:nvSpPr>
        <p:spPr>
          <a:xfrm>
            <a:off x="3154680" y="5239512"/>
            <a:ext cx="201168" cy="137160"/>
          </a:xfrm>
          <a:prstGeom prst="rect">
            <a:avLst/>
          </a:prstGeom>
          <a:solidFill>
            <a:srgbClr val="E5E7EB"/>
          </a:solidFill>
          <a:ln/>
        </p:spPr>
      </p:sp>
      <p:sp>
        <p:nvSpPr>
          <p:cNvPr id="66" name="Text 64"/>
          <p:cNvSpPr txBox="1"/>
          <p:nvPr/>
        </p:nvSpPr>
        <p:spPr>
          <a:xfrm>
            <a:off x="3401568" y="5202936"/>
            <a:ext cx="640080" cy="201168"/>
          </a:xfrm>
          <a:prstGeom prst="rect">
            <a:avLst/>
          </a:prstGeom>
          <a:noFill/>
          <a:ln/>
        </p:spPr>
        <p:txBody>
          <a:bodyPr wrap="square" lIns="0" tIns="0" rIns="0" bIns="0" rtlCol="0" anchor="ctr"/>
          <a:lstStyle/>
          <a:p>
            <a:pPr indent="0" marL="0">
              <a:buNone/>
            </a:pPr>
            <a:r>
              <a:rPr lang="en-US" sz="1100" dirty="0">
                <a:solidFill>
                  <a:srgbClr val="4B5563"/>
                </a:solidFill>
                <a:latin typeface="Calibri" pitchFamily="34" charset="0"/>
                <a:ea typeface="Calibri" pitchFamily="34" charset="-122"/>
                <a:cs typeface="Calibri" pitchFamily="34" charset="-120"/>
              </a:rPr>
              <a:t>no work</a:t>
            </a:r>
            <a:endParaRPr lang="en-US" sz="1100" dirty="0"/>
          </a:p>
        </p:txBody>
      </p:sp>
      <p:sp>
        <p:nvSpPr>
          <p:cNvPr id="67" name="Shape 65"/>
          <p:cNvSpPr/>
          <p:nvPr/>
        </p:nvSpPr>
        <p:spPr>
          <a:xfrm>
            <a:off x="548640" y="5577840"/>
            <a:ext cx="3575304" cy="365760"/>
          </a:xfrm>
          <a:prstGeom prst="roundRect">
            <a:avLst>
              <a:gd name="adj" fmla="val 50000"/>
            </a:avLst>
          </a:prstGeom>
          <a:solidFill>
            <a:srgbClr val="DCFCE7"/>
          </a:solidFill>
          <a:ln/>
        </p:spPr>
      </p:sp>
      <p:sp>
        <p:nvSpPr>
          <p:cNvPr id="68" name="Text 66"/>
          <p:cNvSpPr txBox="1"/>
          <p:nvPr/>
        </p:nvSpPr>
        <p:spPr>
          <a:xfrm>
            <a:off x="713232" y="5577840"/>
            <a:ext cx="3300984" cy="365760"/>
          </a:xfrm>
          <a:prstGeom prst="rect">
            <a:avLst/>
          </a:prstGeom>
          <a:noFill/>
          <a:ln/>
        </p:spPr>
        <p:txBody>
          <a:bodyPr wrap="square" lIns="0" tIns="0" rIns="0" bIns="0" rtlCol="0" anchor="ctr"/>
          <a:lstStyle/>
          <a:p>
            <a:pPr indent="0" marL="0">
              <a:buNone/>
            </a:pPr>
            <a:r>
              <a:rPr lang="en-US" sz="1200" b="1" dirty="0">
                <a:solidFill>
                  <a:srgbClr val="15803D"/>
                </a:solidFill>
                <a:latin typeface="Calibri" pitchFamily="34" charset="0"/>
                <a:ea typeface="Calibri" pitchFamily="34" charset="-122"/>
                <a:cs typeface="Calibri" pitchFamily="34" charset="-120"/>
              </a:rPr>
              <a:t>Started early:  </a:t>
            </a:r>
            <a:pPr indent="0" marL="0">
              <a:buNone/>
            </a:pPr>
            <a:r>
              <a:rPr lang="en-US" sz="1200" dirty="0">
                <a:solidFill>
                  <a:srgbClr val="16213A"/>
                </a:solidFill>
                <a:latin typeface="Calibri" pitchFamily="34" charset="0"/>
                <a:ea typeface="Calibri" pitchFamily="34" charset="-122"/>
                <a:cs typeface="Calibri" pitchFamily="34" charset="-120"/>
              </a:rPr>
              <a:t>M2 voice and gaze, M6 memory graph, M8 gaze instance</a:t>
            </a:r>
            <a:endParaRPr lang="en-US" sz="1200" dirty="0"/>
          </a:p>
        </p:txBody>
      </p:sp>
      <p:sp>
        <p:nvSpPr>
          <p:cNvPr id="69" name="Shape 67"/>
          <p:cNvSpPr/>
          <p:nvPr/>
        </p:nvSpPr>
        <p:spPr>
          <a:xfrm>
            <a:off x="4306824" y="5577840"/>
            <a:ext cx="3575304" cy="365760"/>
          </a:xfrm>
          <a:prstGeom prst="roundRect">
            <a:avLst>
              <a:gd name="adj" fmla="val 50000"/>
            </a:avLst>
          </a:prstGeom>
          <a:solidFill>
            <a:srgbClr val="FEF3C7"/>
          </a:solidFill>
          <a:ln/>
        </p:spPr>
      </p:sp>
      <p:sp>
        <p:nvSpPr>
          <p:cNvPr id="70" name="Text 68"/>
          <p:cNvSpPr txBox="1"/>
          <p:nvPr/>
        </p:nvSpPr>
        <p:spPr>
          <a:xfrm>
            <a:off x="4471416" y="5577840"/>
            <a:ext cx="3300984" cy="365760"/>
          </a:xfrm>
          <a:prstGeom prst="rect">
            <a:avLst/>
          </a:prstGeom>
          <a:noFill/>
          <a:ln/>
        </p:spPr>
        <p:txBody>
          <a:bodyPr wrap="square" lIns="0" tIns="0" rIns="0" bIns="0" rtlCol="0" anchor="ctr"/>
          <a:lstStyle/>
          <a:p>
            <a:pPr indent="0" marL="0">
              <a:buNone/>
            </a:pPr>
            <a:r>
              <a:rPr lang="en-US" sz="1200" b="1" dirty="0">
                <a:solidFill>
                  <a:srgbClr val="B45309"/>
                </a:solidFill>
                <a:latin typeface="Calibri" pitchFamily="34" charset="0"/>
                <a:ea typeface="Calibri" pitchFamily="34" charset="-122"/>
                <a:cs typeface="Calibri" pitchFamily="34" charset="-120"/>
              </a:rPr>
              <a:t>Behind 1 to 2 weeks:  </a:t>
            </a:r>
            <a:pPr indent="0" marL="0">
              <a:buNone/>
            </a:pPr>
            <a:r>
              <a:rPr lang="en-US" sz="1200" dirty="0">
                <a:solidFill>
                  <a:srgbClr val="16213A"/>
                </a:solidFill>
                <a:latin typeface="Calibri" pitchFamily="34" charset="0"/>
                <a:ea typeface="Calibri" pitchFamily="34" charset="-122"/>
                <a:cs typeface="Calibri" pitchFamily="34" charset="-120"/>
              </a:rPr>
              <a:t>M5 camera calibration, M3 drive-to-point</a:t>
            </a:r>
            <a:endParaRPr lang="en-US" sz="1200" dirty="0"/>
          </a:p>
        </p:txBody>
      </p:sp>
      <p:sp>
        <p:nvSpPr>
          <p:cNvPr id="71" name="Shape 69"/>
          <p:cNvSpPr/>
          <p:nvPr/>
        </p:nvSpPr>
        <p:spPr>
          <a:xfrm>
            <a:off x="8065008" y="5577840"/>
            <a:ext cx="3575304" cy="365760"/>
          </a:xfrm>
          <a:prstGeom prst="roundRect">
            <a:avLst>
              <a:gd name="adj" fmla="val 50000"/>
            </a:avLst>
          </a:prstGeom>
          <a:solidFill>
            <a:srgbClr val="DBEAFE"/>
          </a:solidFill>
          <a:ln/>
        </p:spPr>
      </p:sp>
      <p:sp>
        <p:nvSpPr>
          <p:cNvPr id="72" name="Text 70"/>
          <p:cNvSpPr txBox="1"/>
          <p:nvPr/>
        </p:nvSpPr>
        <p:spPr>
          <a:xfrm>
            <a:off x="8229600" y="5577840"/>
            <a:ext cx="3300984" cy="365760"/>
          </a:xfrm>
          <a:prstGeom prst="rect">
            <a:avLst/>
          </a:prstGeom>
          <a:noFill/>
          <a:ln/>
        </p:spPr>
        <p:txBody>
          <a:bodyPr wrap="square" lIns="0" tIns="0" rIns="0" bIns="0" rtlCol="0" anchor="ctr"/>
          <a:lstStyle/>
          <a:p>
            <a:pPr indent="0" marL="0">
              <a:buNone/>
            </a:pPr>
            <a:r>
              <a:rPr lang="en-US" sz="1200" b="1" dirty="0">
                <a:solidFill>
                  <a:srgbClr val="0068B5"/>
                </a:solidFill>
                <a:latin typeface="Calibri" pitchFamily="34" charset="0"/>
                <a:ea typeface="Calibri" pitchFamily="34" charset="-122"/>
                <a:cs typeface="Calibri" pitchFamily="34" charset="-120"/>
              </a:rPr>
              <a:t>Progress:  </a:t>
            </a:r>
            <a:pPr indent="0" marL="0">
              <a:buNone/>
            </a:pPr>
            <a:r>
              <a:rPr lang="en-US" sz="1200" dirty="0">
                <a:solidFill>
                  <a:srgbClr val="16213A"/>
                </a:solidFill>
                <a:latin typeface="Calibri" pitchFamily="34" charset="0"/>
                <a:ea typeface="Calibri" pitchFamily="34" charset="-122"/>
                <a:cs typeface="Calibri" pitchFamily="34" charset="-120"/>
              </a:rPr>
              <a:t>97 of 171 task rows done</a:t>
            </a:r>
            <a:endParaRPr lang="en-US" sz="1200" dirty="0"/>
          </a:p>
        </p:txBody>
      </p:sp>
      <p:sp>
        <p:nvSpPr>
          <p:cNvPr id="73" name="Shape 71"/>
          <p:cNvSpPr/>
          <p:nvPr/>
        </p:nvSpPr>
        <p:spPr>
          <a:xfrm>
            <a:off x="594360" y="6400800"/>
            <a:ext cx="1295019" cy="13716"/>
          </a:xfrm>
          <a:prstGeom prst="rect">
            <a:avLst/>
          </a:prstGeom>
          <a:solidFill>
            <a:srgbClr val="D7DEE8"/>
          </a:solidFill>
          <a:ln/>
        </p:spPr>
      </p:sp>
      <p:sp>
        <p:nvSpPr>
          <p:cNvPr id="74" name="Text 72"/>
          <p:cNvSpPr txBox="1"/>
          <p:nvPr/>
        </p:nvSpPr>
        <p:spPr>
          <a:xfrm>
            <a:off x="548640"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Problem</a:t>
            </a:r>
            <a:endParaRPr lang="en-US" sz="1100" dirty="0"/>
          </a:p>
        </p:txBody>
      </p:sp>
      <p:sp>
        <p:nvSpPr>
          <p:cNvPr id="75" name="Shape 73"/>
          <p:cNvSpPr/>
          <p:nvPr/>
        </p:nvSpPr>
        <p:spPr>
          <a:xfrm>
            <a:off x="1980819" y="6400800"/>
            <a:ext cx="1295019" cy="13716"/>
          </a:xfrm>
          <a:prstGeom prst="rect">
            <a:avLst/>
          </a:prstGeom>
          <a:solidFill>
            <a:srgbClr val="D7DEE8"/>
          </a:solidFill>
          <a:ln/>
        </p:spPr>
      </p:sp>
      <p:sp>
        <p:nvSpPr>
          <p:cNvPr id="76" name="Text 74"/>
          <p:cNvSpPr txBox="1"/>
          <p:nvPr/>
        </p:nvSpPr>
        <p:spPr>
          <a:xfrm>
            <a:off x="1935099"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System</a:t>
            </a:r>
            <a:endParaRPr lang="en-US" sz="1100" dirty="0"/>
          </a:p>
        </p:txBody>
      </p:sp>
      <p:sp>
        <p:nvSpPr>
          <p:cNvPr id="77" name="Shape 75"/>
          <p:cNvSpPr/>
          <p:nvPr/>
        </p:nvSpPr>
        <p:spPr>
          <a:xfrm>
            <a:off x="3367278" y="6400800"/>
            <a:ext cx="1295019" cy="13716"/>
          </a:xfrm>
          <a:prstGeom prst="rect">
            <a:avLst/>
          </a:prstGeom>
          <a:solidFill>
            <a:srgbClr val="D7DEE8"/>
          </a:solidFill>
          <a:ln/>
        </p:spPr>
      </p:sp>
      <p:sp>
        <p:nvSpPr>
          <p:cNvPr id="78" name="Text 76"/>
          <p:cNvSpPr txBox="1"/>
          <p:nvPr/>
        </p:nvSpPr>
        <p:spPr>
          <a:xfrm>
            <a:off x="3321558"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Intent</a:t>
            </a:r>
            <a:endParaRPr lang="en-US" sz="1100" dirty="0"/>
          </a:p>
        </p:txBody>
      </p:sp>
      <p:sp>
        <p:nvSpPr>
          <p:cNvPr id="79" name="Shape 77"/>
          <p:cNvSpPr/>
          <p:nvPr/>
        </p:nvSpPr>
        <p:spPr>
          <a:xfrm>
            <a:off x="4753737" y="6400800"/>
            <a:ext cx="1295019" cy="13716"/>
          </a:xfrm>
          <a:prstGeom prst="rect">
            <a:avLst/>
          </a:prstGeom>
          <a:solidFill>
            <a:srgbClr val="D7DEE8"/>
          </a:solidFill>
          <a:ln/>
        </p:spPr>
      </p:sp>
      <p:sp>
        <p:nvSpPr>
          <p:cNvPr id="80" name="Text 78"/>
          <p:cNvSpPr txBox="1"/>
          <p:nvPr/>
        </p:nvSpPr>
        <p:spPr>
          <a:xfrm>
            <a:off x="4708017"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Explore</a:t>
            </a:r>
            <a:endParaRPr lang="en-US" sz="1100" dirty="0"/>
          </a:p>
        </p:txBody>
      </p:sp>
      <p:sp>
        <p:nvSpPr>
          <p:cNvPr id="81" name="Shape 79"/>
          <p:cNvSpPr/>
          <p:nvPr/>
        </p:nvSpPr>
        <p:spPr>
          <a:xfrm>
            <a:off x="6140196" y="6400800"/>
            <a:ext cx="1295019" cy="13716"/>
          </a:xfrm>
          <a:prstGeom prst="rect">
            <a:avLst/>
          </a:prstGeom>
          <a:solidFill>
            <a:srgbClr val="D7DEE8"/>
          </a:solidFill>
          <a:ln/>
        </p:spPr>
      </p:sp>
      <p:sp>
        <p:nvSpPr>
          <p:cNvPr id="82" name="Text 80"/>
          <p:cNvSpPr txBox="1"/>
          <p:nvPr/>
        </p:nvSpPr>
        <p:spPr>
          <a:xfrm>
            <a:off x="6094476"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Search</a:t>
            </a:r>
            <a:endParaRPr lang="en-US" sz="1100" dirty="0"/>
          </a:p>
        </p:txBody>
      </p:sp>
      <p:sp>
        <p:nvSpPr>
          <p:cNvPr id="83" name="Shape 81"/>
          <p:cNvSpPr/>
          <p:nvPr/>
        </p:nvSpPr>
        <p:spPr>
          <a:xfrm>
            <a:off x="7526655" y="6400800"/>
            <a:ext cx="1295019" cy="13716"/>
          </a:xfrm>
          <a:prstGeom prst="rect">
            <a:avLst/>
          </a:prstGeom>
          <a:solidFill>
            <a:srgbClr val="D7DEE8"/>
          </a:solidFill>
          <a:ln/>
        </p:spPr>
      </p:sp>
      <p:sp>
        <p:nvSpPr>
          <p:cNvPr id="84" name="Text 82"/>
          <p:cNvSpPr txBox="1"/>
          <p:nvPr/>
        </p:nvSpPr>
        <p:spPr>
          <a:xfrm>
            <a:off x="7480935"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Confirm</a:t>
            </a:r>
            <a:endParaRPr lang="en-US" sz="1100" dirty="0"/>
          </a:p>
        </p:txBody>
      </p:sp>
      <p:sp>
        <p:nvSpPr>
          <p:cNvPr id="85" name="Shape 83"/>
          <p:cNvSpPr/>
          <p:nvPr/>
        </p:nvSpPr>
        <p:spPr>
          <a:xfrm>
            <a:off x="8913114" y="6400800"/>
            <a:ext cx="1295019" cy="13716"/>
          </a:xfrm>
          <a:prstGeom prst="rect">
            <a:avLst/>
          </a:prstGeom>
          <a:solidFill>
            <a:srgbClr val="D7DEE8"/>
          </a:solidFill>
          <a:ln/>
        </p:spPr>
      </p:sp>
      <p:sp>
        <p:nvSpPr>
          <p:cNvPr id="86" name="Text 84"/>
          <p:cNvSpPr txBox="1"/>
          <p:nvPr/>
        </p:nvSpPr>
        <p:spPr>
          <a:xfrm>
            <a:off x="8867394"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Grasp</a:t>
            </a:r>
            <a:endParaRPr lang="en-US" sz="1100" dirty="0"/>
          </a:p>
        </p:txBody>
      </p:sp>
      <p:sp>
        <p:nvSpPr>
          <p:cNvPr id="87" name="Shape 85"/>
          <p:cNvSpPr/>
          <p:nvPr/>
        </p:nvSpPr>
        <p:spPr>
          <a:xfrm>
            <a:off x="10299573" y="6400800"/>
            <a:ext cx="1295019" cy="36576"/>
          </a:xfrm>
          <a:prstGeom prst="rect">
            <a:avLst/>
          </a:prstGeom>
          <a:solidFill>
            <a:srgbClr val="0068B5"/>
          </a:solidFill>
          <a:ln/>
        </p:spPr>
      </p:sp>
      <p:sp>
        <p:nvSpPr>
          <p:cNvPr id="88" name="Text 86"/>
          <p:cNvSpPr txBox="1"/>
          <p:nvPr/>
        </p:nvSpPr>
        <p:spPr>
          <a:xfrm>
            <a:off x="10253853" y="6473952"/>
            <a:ext cx="1386459" cy="201168"/>
          </a:xfrm>
          <a:prstGeom prst="rect">
            <a:avLst/>
          </a:prstGeom>
          <a:noFill/>
          <a:ln/>
        </p:spPr>
        <p:txBody>
          <a:bodyPr wrap="square" lIns="0" tIns="0" rIns="0" bIns="0" rtlCol="0" anchor="ctr"/>
          <a:lstStyle/>
          <a:p>
            <a:pPr algn="ctr" indent="0" marL="0">
              <a:buNone/>
            </a:pPr>
            <a:r>
              <a:rPr lang="en-US" sz="1100" b="1" dirty="0">
                <a:solidFill>
                  <a:srgbClr val="16213A"/>
                </a:solidFill>
                <a:latin typeface="Calibri" pitchFamily="34" charset="0"/>
                <a:ea typeface="Calibri" pitchFamily="34" charset="-122"/>
                <a:cs typeface="Calibri" pitchFamily="34" charset="-120"/>
              </a:rPr>
              <a:t>Plan</a:t>
            </a:r>
            <a:endParaRPr lang="en-US" sz="1100" dirty="0"/>
          </a:p>
        </p:txBody>
      </p:sp>
      <p:sp>
        <p:nvSpPr>
          <p:cNvPr id="89" name="Text 87"/>
          <p:cNvSpPr txBox="1"/>
          <p:nvPr/>
        </p:nvSpPr>
        <p:spPr>
          <a:xfrm>
            <a:off x="11091672" y="6035040"/>
            <a:ext cx="548640" cy="22860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28600"/>
          </a:xfrm>
          <a:prstGeom prst="rect">
            <a:avLst/>
          </a:prstGeom>
          <a:noFill/>
          <a:ln/>
        </p:spPr>
        <p:txBody>
          <a:bodyPr wrap="square" lIns="0" tIns="0" rIns="0" bIns="0" rtlCol="0" anchor="ctr"/>
          <a:lstStyle/>
          <a:p>
            <a:pPr indent="0" marL="0">
              <a:buNone/>
            </a:pPr>
            <a:r>
              <a:rPr lang="en-US" sz="1100" b="1" spc="150" kern="0" dirty="0">
                <a:solidFill>
                  <a:srgbClr val="0068B5"/>
                </a:solidFill>
                <a:latin typeface="Calibri" pitchFamily="34" charset="0"/>
                <a:ea typeface="Calibri" pitchFamily="34" charset="-122"/>
                <a:cs typeface="Calibri" pitchFamily="34" charset="-120"/>
              </a:rPr>
              <a:t>GAPPLER  ·  ZONGZHE</a:t>
            </a:r>
            <a:endParaRPr lang="en-US" sz="1100" dirty="0"/>
          </a:p>
        </p:txBody>
      </p:sp>
      <p:sp>
        <p:nvSpPr>
          <p:cNvPr id="3" name="Shape 1"/>
          <p:cNvSpPr/>
          <p:nvPr/>
        </p:nvSpPr>
        <p:spPr>
          <a:xfrm>
            <a:off x="9445752" y="347472"/>
            <a:ext cx="2194560" cy="347472"/>
          </a:xfrm>
          <a:prstGeom prst="roundRect">
            <a:avLst>
              <a:gd name="adj" fmla="val 50000"/>
            </a:avLst>
          </a:prstGeom>
          <a:solidFill>
            <a:srgbClr val="16213A"/>
          </a:solidFill>
          <a:ln/>
        </p:spPr>
      </p:sp>
      <p:sp>
        <p:nvSpPr>
          <p:cNvPr id="4" name="Text 2"/>
          <p:cNvSpPr txBox="1"/>
          <p:nvPr/>
        </p:nvSpPr>
        <p:spPr>
          <a:xfrm>
            <a:off x="9445752" y="347472"/>
            <a:ext cx="2194560" cy="347472"/>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BUDGET AND RISKS</a:t>
            </a:r>
            <a:endParaRPr lang="en-US" sz="1100" dirty="0"/>
          </a:p>
        </p:txBody>
      </p:sp>
      <p:sp>
        <p:nvSpPr>
          <p:cNvPr id="5" name="Text 3"/>
          <p:cNvSpPr txBox="1"/>
          <p:nvPr/>
        </p:nvSpPr>
        <p:spPr>
          <a:xfrm>
            <a:off x="548640" y="777240"/>
            <a:ext cx="11091672" cy="548640"/>
          </a:xfrm>
          <a:prstGeom prst="rect">
            <a:avLst/>
          </a:prstGeom>
          <a:noFill/>
          <a:ln/>
        </p:spPr>
        <p:txBody>
          <a:bodyPr wrap="square" lIns="0" tIns="0" rIns="0" bIns="0" rtlCol="0" anchor="ctr"/>
          <a:lstStyle/>
          <a:p>
            <a:pPr indent="0" marL="0">
              <a:buNone/>
            </a:pPr>
            <a:r>
              <a:rPr lang="en-US" sz="3000" b="1" dirty="0">
                <a:solidFill>
                  <a:srgbClr val="16213A"/>
                </a:solidFill>
                <a:latin typeface="Calibri" pitchFamily="34" charset="0"/>
                <a:ea typeface="Calibri" pitchFamily="34" charset="-122"/>
                <a:cs typeface="Calibri" pitchFamily="34" charset="-120"/>
              </a:rPr>
              <a:t>SGD 1,500 for compute, approved</a:t>
            </a:r>
            <a:endParaRPr lang="en-US" sz="3000" dirty="0"/>
          </a:p>
        </p:txBody>
      </p:sp>
      <p:sp>
        <p:nvSpPr>
          <p:cNvPr id="6" name="Text 4"/>
          <p:cNvSpPr txBox="1"/>
          <p:nvPr/>
        </p:nvSpPr>
        <p:spPr>
          <a:xfrm>
            <a:off x="548640" y="1325880"/>
            <a:ext cx="11091672" cy="320040"/>
          </a:xfrm>
          <a:prstGeom prst="rect">
            <a:avLst/>
          </a:prstGeom>
          <a:noFill/>
          <a:ln/>
        </p:spPr>
        <p:txBody>
          <a:bodyPr wrap="square" lIns="0" tIns="0" rIns="0" bIns="0" rtlCol="0" anchor="ctr"/>
          <a:lstStyle/>
          <a:p>
            <a:pPr indent="0" marL="0">
              <a:buNone/>
            </a:pPr>
            <a:r>
              <a:rPr lang="en-US" sz="1700" dirty="0">
                <a:solidFill>
                  <a:srgbClr val="4B5563"/>
                </a:solidFill>
                <a:latin typeface="Calibri" pitchFamily="34" charset="0"/>
                <a:ea typeface="Calibri" pitchFamily="34" charset="-122"/>
                <a:cs typeface="Calibri" pitchFamily="34" charset="-120"/>
              </a:rPr>
              <a:t>Risks are mostly schedule and shared hardware</a:t>
            </a:r>
            <a:endParaRPr lang="en-US" sz="1700" dirty="0"/>
          </a:p>
        </p:txBody>
      </p:sp>
      <p:sp>
        <p:nvSpPr>
          <p:cNvPr id="7" name="Shape 5"/>
          <p:cNvSpPr/>
          <p:nvPr/>
        </p:nvSpPr>
        <p:spPr>
          <a:xfrm>
            <a:off x="548640" y="1874520"/>
            <a:ext cx="3657600" cy="1554480"/>
          </a:xfrm>
          <a:prstGeom prst="roundRect">
            <a:avLst>
              <a:gd name="adj" fmla="val 5882"/>
            </a:avLst>
          </a:prstGeom>
          <a:solidFill>
            <a:srgbClr val="16213A"/>
          </a:solidFill>
          <a:ln/>
        </p:spPr>
      </p:sp>
      <p:sp>
        <p:nvSpPr>
          <p:cNvPr id="8" name="Text 6"/>
          <p:cNvSpPr txBox="1"/>
          <p:nvPr/>
        </p:nvSpPr>
        <p:spPr>
          <a:xfrm>
            <a:off x="777240" y="2057400"/>
            <a:ext cx="3291840" cy="228600"/>
          </a:xfrm>
          <a:prstGeom prst="rect">
            <a:avLst/>
          </a:prstGeom>
          <a:noFill/>
          <a:ln/>
        </p:spPr>
        <p:txBody>
          <a:bodyPr wrap="square" lIns="0" tIns="0" rIns="0" bIns="0" rtlCol="0" anchor="ctr"/>
          <a:lstStyle/>
          <a:p>
            <a:pPr indent="0" marL="0">
              <a:buNone/>
            </a:pPr>
            <a:r>
              <a:rPr lang="en-US" sz="1100" b="1" spc="150" kern="0" dirty="0">
                <a:solidFill>
                  <a:srgbClr val="7DD3FC"/>
                </a:solidFill>
                <a:latin typeface="Calibri" pitchFamily="34" charset="0"/>
                <a:ea typeface="Calibri" pitchFamily="34" charset="-122"/>
                <a:cs typeface="Calibri" pitchFamily="34" charset="-120"/>
              </a:rPr>
              <a:t>APPROVED  ·  5 OCT 2026</a:t>
            </a:r>
            <a:endParaRPr lang="en-US" sz="1100" dirty="0"/>
          </a:p>
        </p:txBody>
      </p:sp>
      <p:sp>
        <p:nvSpPr>
          <p:cNvPr id="9" name="Text 7"/>
          <p:cNvSpPr txBox="1"/>
          <p:nvPr/>
        </p:nvSpPr>
        <p:spPr>
          <a:xfrm>
            <a:off x="777240" y="2286000"/>
            <a:ext cx="3291840" cy="777240"/>
          </a:xfrm>
          <a:prstGeom prst="rect">
            <a:avLst/>
          </a:prstGeom>
          <a:noFill/>
          <a:ln/>
        </p:spPr>
        <p:txBody>
          <a:bodyPr wrap="square" lIns="0" tIns="0" rIns="0" bIns="0" rtlCol="0" anchor="b"/>
          <a:lstStyle/>
          <a:p>
            <a:pPr indent="0" marL="0">
              <a:buNone/>
            </a:pPr>
            <a:r>
              <a:rPr lang="en-US" sz="5000" b="1" dirty="0">
                <a:solidFill>
                  <a:srgbClr val="FFFFFF"/>
                </a:solidFill>
                <a:latin typeface="Calibri" pitchFamily="34" charset="0"/>
                <a:ea typeface="Calibri" pitchFamily="34" charset="-122"/>
                <a:cs typeface="Calibri" pitchFamily="34" charset="-120"/>
              </a:rPr>
              <a:t>1,500</a:t>
            </a:r>
            <a:pPr indent="0" marL="0">
              <a:buNone/>
            </a:pPr>
            <a:r>
              <a:rPr lang="en-US" sz="2200" b="1" dirty="0">
                <a:solidFill>
                  <a:srgbClr val="FF7A3A"/>
                </a:solidFill>
                <a:latin typeface="Calibri" pitchFamily="34" charset="0"/>
                <a:ea typeface="Calibri" pitchFamily="34" charset="-122"/>
                <a:cs typeface="Calibri" pitchFamily="34" charset="-120"/>
              </a:rPr>
              <a:t> SGD</a:t>
            </a:r>
            <a:endParaRPr lang="en-US" sz="5000" dirty="0"/>
          </a:p>
        </p:txBody>
      </p:sp>
      <p:sp>
        <p:nvSpPr>
          <p:cNvPr id="10" name="Text 8"/>
          <p:cNvSpPr txBox="1"/>
          <p:nvPr/>
        </p:nvSpPr>
        <p:spPr>
          <a:xfrm>
            <a:off x="777240" y="3108960"/>
            <a:ext cx="3291840" cy="228600"/>
          </a:xfrm>
          <a:prstGeom prst="rect">
            <a:avLst/>
          </a:prstGeom>
          <a:noFill/>
          <a:ln/>
        </p:spPr>
        <p:txBody>
          <a:bodyPr wrap="square" lIns="0" tIns="0" rIns="0" bIns="0" rtlCol="0" anchor="t"/>
          <a:lstStyle/>
          <a:p>
            <a:pPr indent="0" marL="0">
              <a:buNone/>
            </a:pPr>
            <a:r>
              <a:rPr lang="en-US" sz="1300" dirty="0">
                <a:solidFill>
                  <a:srgbClr val="CBD5E1"/>
                </a:solidFill>
                <a:latin typeface="Calibri" pitchFamily="34" charset="0"/>
                <a:ea typeface="Calibri" pitchFamily="34" charset="-122"/>
                <a:cs typeface="Calibri" pitchFamily="34" charset="-120"/>
              </a:rPr>
              <a:t>both items for compute</a:t>
            </a:r>
            <a:endParaRPr lang="en-US" sz="1300" dirty="0"/>
          </a:p>
        </p:txBody>
      </p:sp>
      <p:sp>
        <p:nvSpPr>
          <p:cNvPr id="11" name="Shape 9"/>
          <p:cNvSpPr/>
          <p:nvPr/>
        </p:nvSpPr>
        <p:spPr>
          <a:xfrm>
            <a:off x="548640" y="3566160"/>
            <a:ext cx="3657600" cy="868680"/>
          </a:xfrm>
          <a:prstGeom prst="roundRect">
            <a:avLst>
              <a:gd name="adj" fmla="val 10526"/>
            </a:avLst>
          </a:prstGeom>
          <a:solidFill>
            <a:srgbClr val="EEF2F7"/>
          </a:solidFill>
          <a:ln/>
        </p:spPr>
      </p:sp>
      <p:sp>
        <p:nvSpPr>
          <p:cNvPr id="12" name="Shape 10"/>
          <p:cNvSpPr/>
          <p:nvPr/>
        </p:nvSpPr>
        <p:spPr>
          <a:xfrm>
            <a:off x="731520" y="3703320"/>
            <a:ext cx="2194560" cy="274320"/>
          </a:xfrm>
          <a:prstGeom prst="rect">
            <a:avLst/>
          </a:prstGeom>
          <a:solidFill>
            <a:srgbClr val="0068B5"/>
          </a:solidFill>
          <a:ln/>
        </p:spPr>
      </p:sp>
      <p:sp>
        <p:nvSpPr>
          <p:cNvPr id="13" name="Shape 11"/>
          <p:cNvSpPr/>
          <p:nvPr/>
        </p:nvSpPr>
        <p:spPr>
          <a:xfrm>
            <a:off x="2926080" y="3703320"/>
            <a:ext cx="1097280" cy="274320"/>
          </a:xfrm>
          <a:prstGeom prst="rect">
            <a:avLst/>
          </a:prstGeom>
          <a:solidFill>
            <a:srgbClr val="93C5FD"/>
          </a:solidFill>
          <a:ln/>
        </p:spPr>
      </p:sp>
      <p:sp>
        <p:nvSpPr>
          <p:cNvPr id="14" name="Text 12"/>
          <p:cNvSpPr txBox="1"/>
          <p:nvPr/>
        </p:nvSpPr>
        <p:spPr>
          <a:xfrm>
            <a:off x="731520" y="3703320"/>
            <a:ext cx="219456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1,000</a:t>
            </a:r>
            <a:endParaRPr lang="en-US" sz="1200" dirty="0"/>
          </a:p>
        </p:txBody>
      </p:sp>
      <p:sp>
        <p:nvSpPr>
          <p:cNvPr id="15" name="Text 13"/>
          <p:cNvSpPr txBox="1"/>
          <p:nvPr/>
        </p:nvSpPr>
        <p:spPr>
          <a:xfrm>
            <a:off x="2926080" y="3703320"/>
            <a:ext cx="1097280" cy="274320"/>
          </a:xfrm>
          <a:prstGeom prst="rect">
            <a:avLst/>
          </a:prstGeom>
          <a:noFill/>
          <a:ln/>
        </p:spPr>
        <p:txBody>
          <a:bodyPr wrap="square" lIns="0" tIns="0" rIns="0" bIns="0" rtlCol="0" anchor="ctr"/>
          <a:lstStyle/>
          <a:p>
            <a:pPr algn="ctr" indent="0" marL="0">
              <a:buNone/>
            </a:pPr>
            <a:r>
              <a:rPr lang="en-US" sz="1200" b="1" dirty="0">
                <a:solidFill>
                  <a:srgbClr val="16213A"/>
                </a:solidFill>
                <a:latin typeface="Calibri" pitchFamily="34" charset="0"/>
                <a:ea typeface="Calibri" pitchFamily="34" charset="-122"/>
                <a:cs typeface="Calibri" pitchFamily="34" charset="-120"/>
              </a:rPr>
              <a:t>500</a:t>
            </a:r>
            <a:endParaRPr lang="en-US" sz="1200" dirty="0"/>
          </a:p>
        </p:txBody>
      </p:sp>
      <p:sp>
        <p:nvSpPr>
          <p:cNvPr id="16" name="Text 14"/>
          <p:cNvSpPr txBox="1"/>
          <p:nvPr/>
        </p:nvSpPr>
        <p:spPr>
          <a:xfrm>
            <a:off x="731520" y="4023360"/>
            <a:ext cx="2194560" cy="274320"/>
          </a:xfrm>
          <a:prstGeom prst="rect">
            <a:avLst/>
          </a:prstGeom>
          <a:noFill/>
          <a:ln/>
        </p:spPr>
        <p:txBody>
          <a:bodyPr wrap="square" lIns="0" tIns="0" rIns="0" bIns="0" rtlCol="0" anchor="ctr"/>
          <a:lstStyle/>
          <a:p>
            <a:pPr algn="ctr" indent="0" marL="0">
              <a:buNone/>
            </a:pPr>
            <a:r>
              <a:rPr lang="en-US" sz="1200" dirty="0">
                <a:solidFill>
                  <a:srgbClr val="4B5563"/>
                </a:solidFill>
                <a:latin typeface="Calibri" pitchFamily="34" charset="0"/>
                <a:ea typeface="Calibri" pitchFamily="34" charset="-122"/>
                <a:cs typeface="Calibri" pitchFamily="34" charset="-120"/>
              </a:rPr>
              <a:t>Hardware GPU</a:t>
            </a:r>
            <a:endParaRPr lang="en-US" sz="1200" dirty="0"/>
          </a:p>
        </p:txBody>
      </p:sp>
      <p:sp>
        <p:nvSpPr>
          <p:cNvPr id="17" name="Text 15"/>
          <p:cNvSpPr txBox="1"/>
          <p:nvPr/>
        </p:nvSpPr>
        <p:spPr>
          <a:xfrm>
            <a:off x="2926080" y="4023360"/>
            <a:ext cx="1097280" cy="274320"/>
          </a:xfrm>
          <a:prstGeom prst="rect">
            <a:avLst/>
          </a:prstGeom>
          <a:noFill/>
          <a:ln/>
        </p:spPr>
        <p:txBody>
          <a:bodyPr wrap="square" lIns="0" tIns="0" rIns="0" bIns="0" rtlCol="0" anchor="ctr"/>
          <a:lstStyle/>
          <a:p>
            <a:pPr algn="ctr" indent="0" marL="0">
              <a:buNone/>
            </a:pPr>
            <a:r>
              <a:rPr lang="en-US" sz="1200" dirty="0">
                <a:solidFill>
                  <a:srgbClr val="4B5563"/>
                </a:solidFill>
                <a:latin typeface="Calibri" pitchFamily="34" charset="0"/>
                <a:ea typeface="Calibri" pitchFamily="34" charset="-122"/>
                <a:cs typeface="Calibri" pitchFamily="34" charset="-120"/>
              </a:rPr>
              <a:t>API credits</a:t>
            </a:r>
            <a:endParaRPr lang="en-US" sz="1200" dirty="0"/>
          </a:p>
        </p:txBody>
      </p:sp>
      <p:sp>
        <p:nvSpPr>
          <p:cNvPr id="18" name="Shape 16"/>
          <p:cNvSpPr/>
          <p:nvPr/>
        </p:nvSpPr>
        <p:spPr>
          <a:xfrm>
            <a:off x="548640" y="4572000"/>
            <a:ext cx="3657600" cy="1325880"/>
          </a:xfrm>
          <a:prstGeom prst="roundRect">
            <a:avLst>
              <a:gd name="adj" fmla="val 6897"/>
            </a:avLst>
          </a:prstGeom>
          <a:solidFill>
            <a:srgbClr val="EEF2F7"/>
          </a:solidFill>
          <a:ln/>
        </p:spPr>
      </p:sp>
      <p:sp>
        <p:nvSpPr>
          <p:cNvPr id="19" name="Text 17"/>
          <p:cNvSpPr txBox="1"/>
          <p:nvPr/>
        </p:nvSpPr>
        <p:spPr>
          <a:xfrm>
            <a:off x="731520" y="4681728"/>
            <a:ext cx="3383280" cy="228600"/>
          </a:xfrm>
          <a:prstGeom prst="rect">
            <a:avLst/>
          </a:prstGeom>
          <a:noFill/>
          <a:ln/>
        </p:spPr>
        <p:txBody>
          <a:bodyPr wrap="square" lIns="0" tIns="0" rIns="0" bIns="0" rtlCol="0" anchor="ctr"/>
          <a:lstStyle/>
          <a:p>
            <a:pPr indent="0" marL="0">
              <a:buNone/>
            </a:pPr>
            <a:r>
              <a:rPr lang="en-US" sz="1100" b="1" spc="150" kern="0" dirty="0">
                <a:solidFill>
                  <a:srgbClr val="0068B5"/>
                </a:solidFill>
                <a:latin typeface="Calibri" pitchFamily="34" charset="0"/>
                <a:ea typeface="Calibri" pitchFamily="34" charset="-122"/>
                <a:cs typeface="Calibri" pitchFamily="34" charset="-120"/>
              </a:rPr>
              <a:t>WHY: ONE SHARED 16 GB GPU</a:t>
            </a:r>
            <a:endParaRPr lang="en-US" sz="1100" dirty="0"/>
          </a:p>
        </p:txBody>
      </p:sp>
      <p:sp>
        <p:nvSpPr>
          <p:cNvPr id="20" name="Shape 18"/>
          <p:cNvSpPr/>
          <p:nvPr/>
        </p:nvSpPr>
        <p:spPr>
          <a:xfrm>
            <a:off x="731520" y="4983480"/>
            <a:ext cx="3291840" cy="292608"/>
          </a:xfrm>
          <a:prstGeom prst="rect">
            <a:avLst/>
          </a:prstGeom>
          <a:solidFill>
            <a:srgbClr val="FFFFFF"/>
          </a:solidFill>
          <a:ln w="9525">
            <a:solidFill>
              <a:srgbClr val="C5CDD8"/>
            </a:solidFill>
            <a:prstDash val="solid"/>
          </a:ln>
        </p:spPr>
      </p:sp>
      <p:sp>
        <p:nvSpPr>
          <p:cNvPr id="21" name="Shape 19"/>
          <p:cNvSpPr/>
          <p:nvPr/>
        </p:nvSpPr>
        <p:spPr>
          <a:xfrm>
            <a:off x="731520" y="4983480"/>
            <a:ext cx="2119122" cy="292608"/>
          </a:xfrm>
          <a:prstGeom prst="rect">
            <a:avLst/>
          </a:prstGeom>
          <a:solidFill>
            <a:srgbClr val="0068B5"/>
          </a:solidFill>
          <a:ln/>
        </p:spPr>
      </p:sp>
      <p:sp>
        <p:nvSpPr>
          <p:cNvPr id="22" name="Text 20"/>
          <p:cNvSpPr txBox="1"/>
          <p:nvPr/>
        </p:nvSpPr>
        <p:spPr>
          <a:xfrm>
            <a:off x="822960" y="4983480"/>
            <a:ext cx="2119122"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10.3 GiB: batched SAM 3 alone</a:t>
            </a:r>
            <a:endParaRPr lang="en-US" sz="1100" dirty="0"/>
          </a:p>
        </p:txBody>
      </p:sp>
      <p:sp>
        <p:nvSpPr>
          <p:cNvPr id="23" name="Text 21"/>
          <p:cNvSpPr txBox="1"/>
          <p:nvPr/>
        </p:nvSpPr>
        <p:spPr>
          <a:xfrm>
            <a:off x="3383280" y="4983480"/>
            <a:ext cx="566928" cy="292608"/>
          </a:xfrm>
          <a:prstGeom prst="rect">
            <a:avLst/>
          </a:prstGeom>
          <a:noFill/>
          <a:ln/>
        </p:spPr>
        <p:txBody>
          <a:bodyPr wrap="square" lIns="0" tIns="0" rIns="0" bIns="0" rtlCol="0" anchor="ctr"/>
          <a:lstStyle/>
          <a:p>
            <a:pPr algn="r" indent="0" marL="0">
              <a:buNone/>
            </a:pPr>
            <a:r>
              <a:rPr lang="en-US" sz="1100" dirty="0">
                <a:solidFill>
                  <a:srgbClr val="4B5563"/>
                </a:solidFill>
                <a:latin typeface="Calibri" pitchFamily="34" charset="0"/>
                <a:ea typeface="Calibri" pitchFamily="34" charset="-122"/>
                <a:cs typeface="Calibri" pitchFamily="34" charset="-120"/>
              </a:rPr>
              <a:t>16 GB</a:t>
            </a:r>
            <a:endParaRPr lang="en-US" sz="1100" dirty="0"/>
          </a:p>
        </p:txBody>
      </p:sp>
      <p:sp>
        <p:nvSpPr>
          <p:cNvPr id="24" name="Text 22"/>
          <p:cNvSpPr txBox="1"/>
          <p:nvPr/>
        </p:nvSpPr>
        <p:spPr>
          <a:xfrm>
            <a:off x="731520" y="5349240"/>
            <a:ext cx="3291840" cy="457200"/>
          </a:xfrm>
          <a:prstGeom prst="rect">
            <a:avLst/>
          </a:prstGeom>
          <a:noFill/>
          <a:ln/>
        </p:spPr>
        <p:txBody>
          <a:bodyPr wrap="square" lIns="0" tIns="0" rIns="0" bIns="0" rtlCol="0" anchor="t"/>
          <a:lstStyle/>
          <a:p>
            <a:pPr indent="0" marL="0">
              <a:buNone/>
            </a:pPr>
            <a:r>
              <a:rPr lang="en-US" sz="1200" dirty="0">
                <a:solidFill>
                  <a:srgbClr val="16213A"/>
                </a:solidFill>
                <a:latin typeface="Calibri" pitchFamily="34" charset="0"/>
                <a:ea typeface="Calibri" pitchFamily="34" charset="-122"/>
                <a:cs typeface="Calibri" pitchFamily="34" charset="-120"/>
              </a:rPr>
              <a:t>Also AnyGrasp, CLIP, Whisper, 2 language models: 3 people + CI</a:t>
            </a:r>
            <a:endParaRPr lang="en-US" sz="1200" dirty="0"/>
          </a:p>
        </p:txBody>
      </p:sp>
      <p:sp>
        <p:nvSpPr>
          <p:cNvPr id="25" name="Text 23"/>
          <p:cNvSpPr txBox="1"/>
          <p:nvPr/>
        </p:nvSpPr>
        <p:spPr>
          <a:xfrm>
            <a:off x="4480560" y="1874520"/>
            <a:ext cx="2743200" cy="228600"/>
          </a:xfrm>
          <a:prstGeom prst="rect">
            <a:avLst/>
          </a:prstGeom>
          <a:noFill/>
          <a:ln/>
        </p:spPr>
        <p:txBody>
          <a:bodyPr wrap="square" lIns="0" tIns="0" rIns="0" bIns="0" rtlCol="0" anchor="ctr"/>
          <a:lstStyle/>
          <a:p>
            <a:pPr indent="0" marL="0">
              <a:buNone/>
            </a:pPr>
            <a:r>
              <a:rPr lang="en-US" sz="1100" b="1" spc="150" kern="0" dirty="0">
                <a:solidFill>
                  <a:srgbClr val="6B7280"/>
                </a:solidFill>
                <a:latin typeface="Calibri" pitchFamily="34" charset="0"/>
                <a:ea typeface="Calibri" pitchFamily="34" charset="-122"/>
                <a:cs typeface="Calibri" pitchFamily="34" charset="-120"/>
              </a:rPr>
              <a:t>RISKS AND STATUS</a:t>
            </a:r>
            <a:endParaRPr lang="en-US" sz="1100" dirty="0"/>
          </a:p>
        </p:txBody>
      </p:sp>
      <p:sp>
        <p:nvSpPr>
          <p:cNvPr id="26" name="Shape 24"/>
          <p:cNvSpPr/>
          <p:nvPr/>
        </p:nvSpPr>
        <p:spPr>
          <a:xfrm>
            <a:off x="9445752" y="1920240"/>
            <a:ext cx="146304" cy="146304"/>
          </a:xfrm>
          <a:prstGeom prst="ellipse">
            <a:avLst/>
          </a:prstGeom>
          <a:solidFill>
            <a:srgbClr val="16A34A"/>
          </a:solidFill>
          <a:ln/>
        </p:spPr>
      </p:sp>
      <p:sp>
        <p:nvSpPr>
          <p:cNvPr id="27" name="Text 25"/>
          <p:cNvSpPr txBox="1"/>
          <p:nvPr/>
        </p:nvSpPr>
        <p:spPr>
          <a:xfrm>
            <a:off x="9646920" y="1874520"/>
            <a:ext cx="914400" cy="228600"/>
          </a:xfrm>
          <a:prstGeom prst="rect">
            <a:avLst/>
          </a:prstGeom>
          <a:noFill/>
          <a:ln/>
        </p:spPr>
        <p:txBody>
          <a:bodyPr wrap="square" lIns="0" tIns="0" rIns="0" bIns="0" rtlCol="0" anchor="ctr"/>
          <a:lstStyle/>
          <a:p>
            <a:pPr indent="0" marL="0">
              <a:buNone/>
            </a:pPr>
            <a:r>
              <a:rPr lang="en-US" sz="1100" dirty="0">
                <a:solidFill>
                  <a:srgbClr val="4B5563"/>
                </a:solidFill>
                <a:latin typeface="Calibri" pitchFamily="34" charset="0"/>
                <a:ea typeface="Calibri" pitchFamily="34" charset="-122"/>
                <a:cs typeface="Calibri" pitchFamily="34" charset="-120"/>
              </a:rPr>
              <a:t>controlled</a:t>
            </a:r>
            <a:endParaRPr lang="en-US" sz="1100" dirty="0"/>
          </a:p>
        </p:txBody>
      </p:sp>
      <p:sp>
        <p:nvSpPr>
          <p:cNvPr id="28" name="Shape 26"/>
          <p:cNvSpPr/>
          <p:nvPr/>
        </p:nvSpPr>
        <p:spPr>
          <a:xfrm>
            <a:off x="10588752" y="1920240"/>
            <a:ext cx="146304" cy="146304"/>
          </a:xfrm>
          <a:prstGeom prst="ellipse">
            <a:avLst/>
          </a:prstGeom>
          <a:solidFill>
            <a:srgbClr val="D97706"/>
          </a:solidFill>
          <a:ln/>
        </p:spPr>
      </p:sp>
      <p:sp>
        <p:nvSpPr>
          <p:cNvPr id="29" name="Text 27"/>
          <p:cNvSpPr txBox="1"/>
          <p:nvPr/>
        </p:nvSpPr>
        <p:spPr>
          <a:xfrm>
            <a:off x="10789920" y="1874520"/>
            <a:ext cx="914400" cy="228600"/>
          </a:xfrm>
          <a:prstGeom prst="rect">
            <a:avLst/>
          </a:prstGeom>
          <a:noFill/>
          <a:ln/>
        </p:spPr>
        <p:txBody>
          <a:bodyPr wrap="square" lIns="0" tIns="0" rIns="0" bIns="0" rtlCol="0" anchor="ctr"/>
          <a:lstStyle/>
          <a:p>
            <a:pPr indent="0" marL="0">
              <a:buNone/>
            </a:pPr>
            <a:r>
              <a:rPr lang="en-US" sz="1100" dirty="0">
                <a:solidFill>
                  <a:srgbClr val="4B5563"/>
                </a:solidFill>
                <a:latin typeface="Calibri" pitchFamily="34" charset="0"/>
                <a:ea typeface="Calibri" pitchFamily="34" charset="-122"/>
                <a:cs typeface="Calibri" pitchFamily="34" charset="-120"/>
              </a:rPr>
              <a:t>ongoing</a:t>
            </a:r>
            <a:endParaRPr lang="en-US" sz="1100" dirty="0"/>
          </a:p>
        </p:txBody>
      </p:sp>
      <p:sp>
        <p:nvSpPr>
          <p:cNvPr id="30" name="Shape 28"/>
          <p:cNvSpPr/>
          <p:nvPr/>
        </p:nvSpPr>
        <p:spPr>
          <a:xfrm>
            <a:off x="4480560" y="2194560"/>
            <a:ext cx="7159752" cy="576072"/>
          </a:xfrm>
          <a:prstGeom prst="roundRect">
            <a:avLst>
              <a:gd name="adj" fmla="val 15873"/>
            </a:avLst>
          </a:prstGeom>
          <a:solidFill>
            <a:srgbClr val="EEF2F7"/>
          </a:solidFill>
          <a:ln/>
        </p:spPr>
      </p:sp>
      <p:sp>
        <p:nvSpPr>
          <p:cNvPr id="31" name="Shape 29"/>
          <p:cNvSpPr/>
          <p:nvPr/>
        </p:nvSpPr>
        <p:spPr>
          <a:xfrm>
            <a:off x="4663440" y="2395728"/>
            <a:ext cx="164592" cy="164592"/>
          </a:xfrm>
          <a:prstGeom prst="ellipse">
            <a:avLst/>
          </a:prstGeom>
          <a:solidFill>
            <a:srgbClr val="D97706"/>
          </a:solidFill>
          <a:ln/>
        </p:spPr>
      </p:sp>
      <p:sp>
        <p:nvSpPr>
          <p:cNvPr id="32" name="Text 30"/>
          <p:cNvSpPr txBox="1"/>
          <p:nvPr/>
        </p:nvSpPr>
        <p:spPr>
          <a:xfrm>
            <a:off x="4983480" y="2194560"/>
            <a:ext cx="3246120" cy="576072"/>
          </a:xfrm>
          <a:prstGeom prst="rect">
            <a:avLst/>
          </a:prstGeom>
          <a:noFill/>
          <a:ln/>
        </p:spPr>
        <p:txBody>
          <a:bodyPr wrap="square" lIns="0" tIns="0" rIns="0" bIns="0" rtlCol="0" anchor="ctr"/>
          <a:lstStyle/>
          <a:p>
            <a:pPr indent="0" marL="0">
              <a:buNone/>
            </a:pPr>
            <a:r>
              <a:rPr lang="en-US" sz="1300" b="1" dirty="0">
                <a:solidFill>
                  <a:srgbClr val="16213A"/>
                </a:solidFill>
                <a:latin typeface="Calibri" pitchFamily="34" charset="0"/>
                <a:ea typeface="Calibri" pitchFamily="34" charset="-122"/>
                <a:cs typeface="Calibri" pitchFamily="34" charset="-120"/>
              </a:rPr>
              <a:t>Critical path runs through one person</a:t>
            </a:r>
            <a:endParaRPr lang="en-US" sz="1300" dirty="0"/>
          </a:p>
        </p:txBody>
      </p:sp>
      <p:sp>
        <p:nvSpPr>
          <p:cNvPr id="33" name="Text 31"/>
          <p:cNvSpPr txBox="1"/>
          <p:nvPr/>
        </p:nvSpPr>
        <p:spPr>
          <a:xfrm>
            <a:off x="8321040" y="2194560"/>
            <a:ext cx="3182112" cy="576072"/>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Cut list fixed in advance</a:t>
            </a:r>
            <a:endParaRPr lang="en-US" sz="1200" dirty="0"/>
          </a:p>
        </p:txBody>
      </p:sp>
      <p:sp>
        <p:nvSpPr>
          <p:cNvPr id="34" name="Shape 32"/>
          <p:cNvSpPr/>
          <p:nvPr/>
        </p:nvSpPr>
        <p:spPr>
          <a:xfrm>
            <a:off x="4480560" y="2862072"/>
            <a:ext cx="7159752" cy="576072"/>
          </a:xfrm>
          <a:prstGeom prst="roundRect">
            <a:avLst>
              <a:gd name="adj" fmla="val 15873"/>
            </a:avLst>
          </a:prstGeom>
          <a:solidFill>
            <a:srgbClr val="EEF2F7"/>
          </a:solidFill>
          <a:ln/>
        </p:spPr>
      </p:sp>
      <p:sp>
        <p:nvSpPr>
          <p:cNvPr id="35" name="Shape 33"/>
          <p:cNvSpPr/>
          <p:nvPr/>
        </p:nvSpPr>
        <p:spPr>
          <a:xfrm>
            <a:off x="4663440" y="3063240"/>
            <a:ext cx="164592" cy="164592"/>
          </a:xfrm>
          <a:prstGeom prst="ellipse">
            <a:avLst/>
          </a:prstGeom>
          <a:solidFill>
            <a:srgbClr val="D97706"/>
          </a:solidFill>
          <a:ln/>
        </p:spPr>
      </p:sp>
      <p:sp>
        <p:nvSpPr>
          <p:cNvPr id="36" name="Text 34"/>
          <p:cNvSpPr txBox="1"/>
          <p:nvPr/>
        </p:nvSpPr>
        <p:spPr>
          <a:xfrm>
            <a:off x="4983480" y="2862072"/>
            <a:ext cx="3246120" cy="576072"/>
          </a:xfrm>
          <a:prstGeom prst="rect">
            <a:avLst/>
          </a:prstGeom>
          <a:noFill/>
          <a:ln/>
        </p:spPr>
        <p:txBody>
          <a:bodyPr wrap="square" lIns="0" tIns="0" rIns="0" bIns="0" rtlCol="0" anchor="ctr"/>
          <a:lstStyle/>
          <a:p>
            <a:pPr indent="0" marL="0">
              <a:buNone/>
            </a:pPr>
            <a:r>
              <a:rPr lang="en-US" sz="1300" b="1" dirty="0">
                <a:solidFill>
                  <a:srgbClr val="16213A"/>
                </a:solidFill>
                <a:latin typeface="Calibri" pitchFamily="34" charset="0"/>
                <a:ea typeface="Calibri" pitchFamily="34" charset="-122"/>
                <a:cs typeface="Calibri" pitchFamily="34" charset="-120"/>
              </a:rPr>
              <a:t>AnyGrasp licence tied to a hardware ID</a:t>
            </a:r>
            <a:endParaRPr lang="en-US" sz="1300" dirty="0"/>
          </a:p>
        </p:txBody>
      </p:sp>
      <p:sp>
        <p:nvSpPr>
          <p:cNvPr id="37" name="Text 35"/>
          <p:cNvSpPr txBox="1"/>
          <p:nvPr/>
        </p:nvSpPr>
        <p:spPr>
          <a:xfrm>
            <a:off x="8321040" y="2862072"/>
            <a:ext cx="3182112" cy="576072"/>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New licence requested</a:t>
            </a:r>
            <a:endParaRPr lang="en-US" sz="1200" dirty="0"/>
          </a:p>
        </p:txBody>
      </p:sp>
      <p:sp>
        <p:nvSpPr>
          <p:cNvPr id="38" name="Shape 36"/>
          <p:cNvSpPr/>
          <p:nvPr/>
        </p:nvSpPr>
        <p:spPr>
          <a:xfrm>
            <a:off x="4480560" y="3529584"/>
            <a:ext cx="7159752" cy="576072"/>
          </a:xfrm>
          <a:prstGeom prst="roundRect">
            <a:avLst>
              <a:gd name="adj" fmla="val 15873"/>
            </a:avLst>
          </a:prstGeom>
          <a:solidFill>
            <a:srgbClr val="EEF2F7"/>
          </a:solidFill>
          <a:ln/>
        </p:spPr>
      </p:sp>
      <p:sp>
        <p:nvSpPr>
          <p:cNvPr id="39" name="Shape 37"/>
          <p:cNvSpPr/>
          <p:nvPr/>
        </p:nvSpPr>
        <p:spPr>
          <a:xfrm>
            <a:off x="4663440" y="3730752"/>
            <a:ext cx="164592" cy="164592"/>
          </a:xfrm>
          <a:prstGeom prst="ellipse">
            <a:avLst/>
          </a:prstGeom>
          <a:solidFill>
            <a:srgbClr val="D97706"/>
          </a:solidFill>
          <a:ln/>
        </p:spPr>
      </p:sp>
      <p:sp>
        <p:nvSpPr>
          <p:cNvPr id="40" name="Text 38"/>
          <p:cNvSpPr txBox="1"/>
          <p:nvPr/>
        </p:nvSpPr>
        <p:spPr>
          <a:xfrm>
            <a:off x="4983480" y="3529584"/>
            <a:ext cx="3246120" cy="576072"/>
          </a:xfrm>
          <a:prstGeom prst="rect">
            <a:avLst/>
          </a:prstGeom>
          <a:noFill/>
          <a:ln/>
        </p:spPr>
        <p:txBody>
          <a:bodyPr wrap="square" lIns="0" tIns="0" rIns="0" bIns="0" rtlCol="0" anchor="ctr"/>
          <a:lstStyle/>
          <a:p>
            <a:pPr indent="0" marL="0">
              <a:buNone/>
            </a:pPr>
            <a:r>
              <a:rPr lang="en-US" sz="1300" b="1" dirty="0">
                <a:solidFill>
                  <a:srgbClr val="16213A"/>
                </a:solidFill>
                <a:latin typeface="Calibri" pitchFamily="34" charset="0"/>
                <a:ea typeface="Calibri" pitchFamily="34" charset="-122"/>
                <a:cs typeface="Calibri" pitchFamily="34" charset="-120"/>
              </a:rPr>
              <a:t>Shared, throttled lab machine</a:t>
            </a:r>
            <a:endParaRPr lang="en-US" sz="1300" dirty="0"/>
          </a:p>
        </p:txBody>
      </p:sp>
      <p:sp>
        <p:nvSpPr>
          <p:cNvPr id="41" name="Text 39"/>
          <p:cNvSpPr txBox="1"/>
          <p:nvPr/>
        </p:nvSpPr>
        <p:spPr>
          <a:xfrm>
            <a:off x="8321040" y="3529584"/>
            <a:ext cx="3182112" cy="576072"/>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Throttling, 2 hangs, disk 89 % full</a:t>
            </a:r>
            <a:endParaRPr lang="en-US" sz="1200" dirty="0"/>
          </a:p>
        </p:txBody>
      </p:sp>
      <p:sp>
        <p:nvSpPr>
          <p:cNvPr id="42" name="Shape 40"/>
          <p:cNvSpPr/>
          <p:nvPr/>
        </p:nvSpPr>
        <p:spPr>
          <a:xfrm>
            <a:off x="4480560" y="4197096"/>
            <a:ext cx="7159752" cy="576072"/>
          </a:xfrm>
          <a:prstGeom prst="roundRect">
            <a:avLst>
              <a:gd name="adj" fmla="val 15873"/>
            </a:avLst>
          </a:prstGeom>
          <a:solidFill>
            <a:srgbClr val="EEF2F7"/>
          </a:solidFill>
          <a:ln/>
        </p:spPr>
      </p:sp>
      <p:sp>
        <p:nvSpPr>
          <p:cNvPr id="43" name="Shape 41"/>
          <p:cNvSpPr/>
          <p:nvPr/>
        </p:nvSpPr>
        <p:spPr>
          <a:xfrm>
            <a:off x="4663440" y="4398264"/>
            <a:ext cx="164592" cy="164592"/>
          </a:xfrm>
          <a:prstGeom prst="ellipse">
            <a:avLst/>
          </a:prstGeom>
          <a:solidFill>
            <a:srgbClr val="16A34A"/>
          </a:solidFill>
          <a:ln/>
        </p:spPr>
      </p:sp>
      <p:sp>
        <p:nvSpPr>
          <p:cNvPr id="44" name="Text 42"/>
          <p:cNvSpPr txBox="1"/>
          <p:nvPr/>
        </p:nvSpPr>
        <p:spPr>
          <a:xfrm>
            <a:off x="4983480" y="4197096"/>
            <a:ext cx="3246120" cy="576072"/>
          </a:xfrm>
          <a:prstGeom prst="rect">
            <a:avLst/>
          </a:prstGeom>
          <a:noFill/>
          <a:ln/>
        </p:spPr>
        <p:txBody>
          <a:bodyPr wrap="square" lIns="0" tIns="0" rIns="0" bIns="0" rtlCol="0" anchor="ctr"/>
          <a:lstStyle/>
          <a:p>
            <a:pPr indent="0" marL="0">
              <a:buNone/>
            </a:pPr>
            <a:r>
              <a:rPr lang="en-US" sz="1300" b="1" dirty="0">
                <a:solidFill>
                  <a:srgbClr val="16213A"/>
                </a:solidFill>
                <a:latin typeface="Calibri" pitchFamily="34" charset="0"/>
                <a:ea typeface="Calibri" pitchFamily="34" charset="-122"/>
                <a:cs typeface="Calibri" pitchFamily="34" charset="-120"/>
              </a:rPr>
              <a:t>No hardware stop on arm or base</a:t>
            </a:r>
            <a:endParaRPr lang="en-US" sz="1300" dirty="0"/>
          </a:p>
        </p:txBody>
      </p:sp>
      <p:sp>
        <p:nvSpPr>
          <p:cNvPr id="45" name="Text 43"/>
          <p:cNvSpPr txBox="1"/>
          <p:nvPr/>
        </p:nvSpPr>
        <p:spPr>
          <a:xfrm>
            <a:off x="8321040" y="4197096"/>
            <a:ext cx="3182112" cy="576072"/>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Software stop, two people at every test</a:t>
            </a:r>
            <a:endParaRPr lang="en-US" sz="1200" dirty="0"/>
          </a:p>
        </p:txBody>
      </p:sp>
      <p:sp>
        <p:nvSpPr>
          <p:cNvPr id="46" name="Shape 44"/>
          <p:cNvSpPr/>
          <p:nvPr/>
        </p:nvSpPr>
        <p:spPr>
          <a:xfrm>
            <a:off x="4480560" y="4864608"/>
            <a:ext cx="7159752" cy="576072"/>
          </a:xfrm>
          <a:prstGeom prst="roundRect">
            <a:avLst>
              <a:gd name="adj" fmla="val 15873"/>
            </a:avLst>
          </a:prstGeom>
          <a:solidFill>
            <a:srgbClr val="EEF2F7"/>
          </a:solidFill>
          <a:ln/>
        </p:spPr>
      </p:sp>
      <p:sp>
        <p:nvSpPr>
          <p:cNvPr id="47" name="Shape 45"/>
          <p:cNvSpPr/>
          <p:nvPr/>
        </p:nvSpPr>
        <p:spPr>
          <a:xfrm>
            <a:off x="4663440" y="5065776"/>
            <a:ext cx="164592" cy="164592"/>
          </a:xfrm>
          <a:prstGeom prst="ellipse">
            <a:avLst/>
          </a:prstGeom>
          <a:solidFill>
            <a:srgbClr val="16A34A"/>
          </a:solidFill>
          <a:ln/>
        </p:spPr>
      </p:sp>
      <p:sp>
        <p:nvSpPr>
          <p:cNvPr id="48" name="Text 46"/>
          <p:cNvSpPr txBox="1"/>
          <p:nvPr/>
        </p:nvSpPr>
        <p:spPr>
          <a:xfrm>
            <a:off x="4983480" y="4864608"/>
            <a:ext cx="3246120" cy="576072"/>
          </a:xfrm>
          <a:prstGeom prst="rect">
            <a:avLst/>
          </a:prstGeom>
          <a:noFill/>
          <a:ln/>
        </p:spPr>
        <p:txBody>
          <a:bodyPr wrap="square" lIns="0" tIns="0" rIns="0" bIns="0" rtlCol="0" anchor="ctr"/>
          <a:lstStyle/>
          <a:p>
            <a:pPr indent="0" marL="0">
              <a:buNone/>
            </a:pPr>
            <a:r>
              <a:rPr lang="en-US" sz="1300" b="1" dirty="0">
                <a:solidFill>
                  <a:srgbClr val="16213A"/>
                </a:solidFill>
                <a:latin typeface="Calibri" pitchFamily="34" charset="0"/>
                <a:ea typeface="Calibri" pitchFamily="34" charset="-122"/>
                <a:cs typeface="Calibri" pitchFamily="34" charset="-120"/>
              </a:rPr>
              <a:t>Duplicate objects in the graph</a:t>
            </a:r>
            <a:endParaRPr lang="en-US" sz="1300" dirty="0"/>
          </a:p>
        </p:txBody>
      </p:sp>
      <p:sp>
        <p:nvSpPr>
          <p:cNvPr id="49" name="Text 47"/>
          <p:cNvSpPr txBox="1"/>
          <p:nvPr/>
        </p:nvSpPr>
        <p:spPr>
          <a:xfrm>
            <a:off x="8321040" y="4864608"/>
            <a:ext cx="3182112" cy="576072"/>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8 → 3, no false merges</a:t>
            </a:r>
            <a:endParaRPr lang="en-US" sz="1200" dirty="0"/>
          </a:p>
        </p:txBody>
      </p:sp>
      <p:sp>
        <p:nvSpPr>
          <p:cNvPr id="50" name="Text 48"/>
          <p:cNvSpPr txBox="1"/>
          <p:nvPr/>
        </p:nvSpPr>
        <p:spPr>
          <a:xfrm>
            <a:off x="4480560" y="5577840"/>
            <a:ext cx="7159752" cy="22860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Cut order if late: M9 exploration order, without-gaze comparison, reasoning layer, graph pruning, two-stage trigger, fewer trials.</a:t>
            </a:r>
            <a:endParaRPr lang="en-US" sz="1100" dirty="0"/>
          </a:p>
        </p:txBody>
      </p:sp>
      <p:sp>
        <p:nvSpPr>
          <p:cNvPr id="51" name="Shape 49"/>
          <p:cNvSpPr/>
          <p:nvPr/>
        </p:nvSpPr>
        <p:spPr>
          <a:xfrm>
            <a:off x="594360" y="6400800"/>
            <a:ext cx="1295019" cy="13716"/>
          </a:xfrm>
          <a:prstGeom prst="rect">
            <a:avLst/>
          </a:prstGeom>
          <a:solidFill>
            <a:srgbClr val="D7DEE8"/>
          </a:solidFill>
          <a:ln/>
        </p:spPr>
      </p:sp>
      <p:sp>
        <p:nvSpPr>
          <p:cNvPr id="52" name="Text 50"/>
          <p:cNvSpPr txBox="1"/>
          <p:nvPr/>
        </p:nvSpPr>
        <p:spPr>
          <a:xfrm>
            <a:off x="548640"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Problem</a:t>
            </a:r>
            <a:endParaRPr lang="en-US" sz="1100" dirty="0"/>
          </a:p>
        </p:txBody>
      </p:sp>
      <p:sp>
        <p:nvSpPr>
          <p:cNvPr id="53" name="Shape 51"/>
          <p:cNvSpPr/>
          <p:nvPr/>
        </p:nvSpPr>
        <p:spPr>
          <a:xfrm>
            <a:off x="1980819" y="6400800"/>
            <a:ext cx="1295019" cy="13716"/>
          </a:xfrm>
          <a:prstGeom prst="rect">
            <a:avLst/>
          </a:prstGeom>
          <a:solidFill>
            <a:srgbClr val="D7DEE8"/>
          </a:solidFill>
          <a:ln/>
        </p:spPr>
      </p:sp>
      <p:sp>
        <p:nvSpPr>
          <p:cNvPr id="54" name="Text 52"/>
          <p:cNvSpPr txBox="1"/>
          <p:nvPr/>
        </p:nvSpPr>
        <p:spPr>
          <a:xfrm>
            <a:off x="1935099"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System</a:t>
            </a:r>
            <a:endParaRPr lang="en-US" sz="1100" dirty="0"/>
          </a:p>
        </p:txBody>
      </p:sp>
      <p:sp>
        <p:nvSpPr>
          <p:cNvPr id="55" name="Shape 53"/>
          <p:cNvSpPr/>
          <p:nvPr/>
        </p:nvSpPr>
        <p:spPr>
          <a:xfrm>
            <a:off x="3367278" y="6400800"/>
            <a:ext cx="1295019" cy="13716"/>
          </a:xfrm>
          <a:prstGeom prst="rect">
            <a:avLst/>
          </a:prstGeom>
          <a:solidFill>
            <a:srgbClr val="D7DEE8"/>
          </a:solidFill>
          <a:ln/>
        </p:spPr>
      </p:sp>
      <p:sp>
        <p:nvSpPr>
          <p:cNvPr id="56" name="Text 54"/>
          <p:cNvSpPr txBox="1"/>
          <p:nvPr/>
        </p:nvSpPr>
        <p:spPr>
          <a:xfrm>
            <a:off x="3321558"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Intent</a:t>
            </a:r>
            <a:endParaRPr lang="en-US" sz="1100" dirty="0"/>
          </a:p>
        </p:txBody>
      </p:sp>
      <p:sp>
        <p:nvSpPr>
          <p:cNvPr id="57" name="Shape 55"/>
          <p:cNvSpPr/>
          <p:nvPr/>
        </p:nvSpPr>
        <p:spPr>
          <a:xfrm>
            <a:off x="4753737" y="6400800"/>
            <a:ext cx="1295019" cy="13716"/>
          </a:xfrm>
          <a:prstGeom prst="rect">
            <a:avLst/>
          </a:prstGeom>
          <a:solidFill>
            <a:srgbClr val="D7DEE8"/>
          </a:solidFill>
          <a:ln/>
        </p:spPr>
      </p:sp>
      <p:sp>
        <p:nvSpPr>
          <p:cNvPr id="58" name="Text 56"/>
          <p:cNvSpPr txBox="1"/>
          <p:nvPr/>
        </p:nvSpPr>
        <p:spPr>
          <a:xfrm>
            <a:off x="4708017"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Explore</a:t>
            </a:r>
            <a:endParaRPr lang="en-US" sz="1100" dirty="0"/>
          </a:p>
        </p:txBody>
      </p:sp>
      <p:sp>
        <p:nvSpPr>
          <p:cNvPr id="59" name="Shape 57"/>
          <p:cNvSpPr/>
          <p:nvPr/>
        </p:nvSpPr>
        <p:spPr>
          <a:xfrm>
            <a:off x="6140196" y="6400800"/>
            <a:ext cx="1295019" cy="13716"/>
          </a:xfrm>
          <a:prstGeom prst="rect">
            <a:avLst/>
          </a:prstGeom>
          <a:solidFill>
            <a:srgbClr val="D7DEE8"/>
          </a:solidFill>
          <a:ln/>
        </p:spPr>
      </p:sp>
      <p:sp>
        <p:nvSpPr>
          <p:cNvPr id="60" name="Text 58"/>
          <p:cNvSpPr txBox="1"/>
          <p:nvPr/>
        </p:nvSpPr>
        <p:spPr>
          <a:xfrm>
            <a:off x="6094476"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Search</a:t>
            </a:r>
            <a:endParaRPr lang="en-US" sz="1100" dirty="0"/>
          </a:p>
        </p:txBody>
      </p:sp>
      <p:sp>
        <p:nvSpPr>
          <p:cNvPr id="61" name="Shape 59"/>
          <p:cNvSpPr/>
          <p:nvPr/>
        </p:nvSpPr>
        <p:spPr>
          <a:xfrm>
            <a:off x="7526655" y="6400800"/>
            <a:ext cx="1295019" cy="13716"/>
          </a:xfrm>
          <a:prstGeom prst="rect">
            <a:avLst/>
          </a:prstGeom>
          <a:solidFill>
            <a:srgbClr val="D7DEE8"/>
          </a:solidFill>
          <a:ln/>
        </p:spPr>
      </p:sp>
      <p:sp>
        <p:nvSpPr>
          <p:cNvPr id="62" name="Text 60"/>
          <p:cNvSpPr txBox="1"/>
          <p:nvPr/>
        </p:nvSpPr>
        <p:spPr>
          <a:xfrm>
            <a:off x="7480935"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Confirm</a:t>
            </a:r>
            <a:endParaRPr lang="en-US" sz="1100" dirty="0"/>
          </a:p>
        </p:txBody>
      </p:sp>
      <p:sp>
        <p:nvSpPr>
          <p:cNvPr id="63" name="Shape 61"/>
          <p:cNvSpPr/>
          <p:nvPr/>
        </p:nvSpPr>
        <p:spPr>
          <a:xfrm>
            <a:off x="8913114" y="6400800"/>
            <a:ext cx="1295019" cy="13716"/>
          </a:xfrm>
          <a:prstGeom prst="rect">
            <a:avLst/>
          </a:prstGeom>
          <a:solidFill>
            <a:srgbClr val="D7DEE8"/>
          </a:solidFill>
          <a:ln/>
        </p:spPr>
      </p:sp>
      <p:sp>
        <p:nvSpPr>
          <p:cNvPr id="64" name="Text 62"/>
          <p:cNvSpPr txBox="1"/>
          <p:nvPr/>
        </p:nvSpPr>
        <p:spPr>
          <a:xfrm>
            <a:off x="8867394"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Grasp</a:t>
            </a:r>
            <a:endParaRPr lang="en-US" sz="1100" dirty="0"/>
          </a:p>
        </p:txBody>
      </p:sp>
      <p:sp>
        <p:nvSpPr>
          <p:cNvPr id="65" name="Shape 63"/>
          <p:cNvSpPr/>
          <p:nvPr/>
        </p:nvSpPr>
        <p:spPr>
          <a:xfrm>
            <a:off x="10299573" y="6400800"/>
            <a:ext cx="1295019" cy="36576"/>
          </a:xfrm>
          <a:prstGeom prst="rect">
            <a:avLst/>
          </a:prstGeom>
          <a:solidFill>
            <a:srgbClr val="0068B5"/>
          </a:solidFill>
          <a:ln/>
        </p:spPr>
      </p:sp>
      <p:sp>
        <p:nvSpPr>
          <p:cNvPr id="66" name="Text 64"/>
          <p:cNvSpPr txBox="1"/>
          <p:nvPr/>
        </p:nvSpPr>
        <p:spPr>
          <a:xfrm>
            <a:off x="10253853" y="6473952"/>
            <a:ext cx="1386459" cy="201168"/>
          </a:xfrm>
          <a:prstGeom prst="rect">
            <a:avLst/>
          </a:prstGeom>
          <a:noFill/>
          <a:ln/>
        </p:spPr>
        <p:txBody>
          <a:bodyPr wrap="square" lIns="0" tIns="0" rIns="0" bIns="0" rtlCol="0" anchor="ctr"/>
          <a:lstStyle/>
          <a:p>
            <a:pPr algn="ctr" indent="0" marL="0">
              <a:buNone/>
            </a:pPr>
            <a:r>
              <a:rPr lang="en-US" sz="1100" b="1" dirty="0">
                <a:solidFill>
                  <a:srgbClr val="16213A"/>
                </a:solidFill>
                <a:latin typeface="Calibri" pitchFamily="34" charset="0"/>
                <a:ea typeface="Calibri" pitchFamily="34" charset="-122"/>
                <a:cs typeface="Calibri" pitchFamily="34" charset="-120"/>
              </a:rPr>
              <a:t>Plan</a:t>
            </a:r>
            <a:endParaRPr lang="en-US" sz="1100" dirty="0"/>
          </a:p>
        </p:txBody>
      </p:sp>
      <p:sp>
        <p:nvSpPr>
          <p:cNvPr id="67" name="Text 65"/>
          <p:cNvSpPr txBox="1"/>
          <p:nvPr/>
        </p:nvSpPr>
        <p:spPr>
          <a:xfrm>
            <a:off x="11091672" y="6035040"/>
            <a:ext cx="548640" cy="22860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28600"/>
          </a:xfrm>
          <a:prstGeom prst="rect">
            <a:avLst/>
          </a:prstGeom>
          <a:noFill/>
          <a:ln/>
        </p:spPr>
        <p:txBody>
          <a:bodyPr wrap="square" lIns="0" tIns="0" rIns="0" bIns="0" rtlCol="0" anchor="ctr"/>
          <a:lstStyle/>
          <a:p>
            <a:pPr indent="0" marL="0">
              <a:buNone/>
            </a:pPr>
            <a:r>
              <a:rPr lang="en-US" sz="1100" b="1" spc="150" kern="0" dirty="0">
                <a:solidFill>
                  <a:srgbClr val="0068B5"/>
                </a:solidFill>
                <a:latin typeface="Calibri" pitchFamily="34" charset="0"/>
                <a:ea typeface="Calibri" pitchFamily="34" charset="-122"/>
                <a:cs typeface="Calibri" pitchFamily="34" charset="-120"/>
              </a:rPr>
              <a:t>GAPPLER  ·  ZONGZHE</a:t>
            </a:r>
            <a:endParaRPr lang="en-US" sz="1100" dirty="0"/>
          </a:p>
        </p:txBody>
      </p:sp>
      <p:sp>
        <p:nvSpPr>
          <p:cNvPr id="3" name="Shape 1"/>
          <p:cNvSpPr/>
          <p:nvPr/>
        </p:nvSpPr>
        <p:spPr>
          <a:xfrm>
            <a:off x="9445752" y="347472"/>
            <a:ext cx="2194560" cy="347472"/>
          </a:xfrm>
          <a:prstGeom prst="roundRect">
            <a:avLst>
              <a:gd name="adj" fmla="val 50000"/>
            </a:avLst>
          </a:prstGeom>
          <a:solidFill>
            <a:srgbClr val="16213A"/>
          </a:solidFill>
          <a:ln/>
        </p:spPr>
      </p:sp>
      <p:sp>
        <p:nvSpPr>
          <p:cNvPr id="4" name="Text 2"/>
          <p:cNvSpPr txBox="1"/>
          <p:nvPr/>
        </p:nvSpPr>
        <p:spPr>
          <a:xfrm>
            <a:off x="9445752" y="347472"/>
            <a:ext cx="2194560" cy="347472"/>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NEXT STEPS</a:t>
            </a:r>
            <a:endParaRPr lang="en-US" sz="1100" dirty="0"/>
          </a:p>
        </p:txBody>
      </p:sp>
      <p:sp>
        <p:nvSpPr>
          <p:cNvPr id="5" name="Text 3"/>
          <p:cNvSpPr txBox="1"/>
          <p:nvPr/>
        </p:nvSpPr>
        <p:spPr>
          <a:xfrm>
            <a:off x="548640" y="777240"/>
            <a:ext cx="11091672" cy="548640"/>
          </a:xfrm>
          <a:prstGeom prst="rect">
            <a:avLst/>
          </a:prstGeom>
          <a:noFill/>
          <a:ln/>
        </p:spPr>
        <p:txBody>
          <a:bodyPr wrap="square" lIns="0" tIns="0" rIns="0" bIns="0" rtlCol="0" anchor="ctr"/>
          <a:lstStyle/>
          <a:p>
            <a:pPr indent="0" marL="0">
              <a:buNone/>
            </a:pPr>
            <a:r>
              <a:rPr lang="en-US" sz="3000" b="1" dirty="0">
                <a:solidFill>
                  <a:srgbClr val="16213A"/>
                </a:solidFill>
                <a:latin typeface="Calibri" pitchFamily="34" charset="0"/>
                <a:ea typeface="Calibri" pitchFamily="34" charset="-122"/>
                <a:cs typeface="Calibri" pitchFamily="34" charset="-120"/>
              </a:rPr>
              <a:t>Next: close the grasp, drive the base, query the graph</a:t>
            </a:r>
            <a:endParaRPr lang="en-US" sz="3000" dirty="0"/>
          </a:p>
        </p:txBody>
      </p:sp>
      <p:sp>
        <p:nvSpPr>
          <p:cNvPr id="6" name="Text 4"/>
          <p:cNvSpPr txBox="1"/>
          <p:nvPr/>
        </p:nvSpPr>
        <p:spPr>
          <a:xfrm>
            <a:off x="548640" y="1325880"/>
            <a:ext cx="11091672" cy="320040"/>
          </a:xfrm>
          <a:prstGeom prst="rect">
            <a:avLst/>
          </a:prstGeom>
          <a:noFill/>
          <a:ln/>
        </p:spPr>
        <p:txBody>
          <a:bodyPr wrap="square" lIns="0" tIns="0" rIns="0" bIns="0" rtlCol="0" anchor="ctr"/>
          <a:lstStyle/>
          <a:p>
            <a:pPr indent="0" marL="0">
              <a:buNone/>
            </a:pPr>
            <a:r>
              <a:rPr lang="en-US" sz="1700" dirty="0">
                <a:solidFill>
                  <a:srgbClr val="4B5563"/>
                </a:solidFill>
                <a:latin typeface="Calibri" pitchFamily="34" charset="0"/>
                <a:ea typeface="Calibri" pitchFamily="34" charset="-122"/>
                <a:cs typeface="Calibri" pitchFamily="34" charset="-120"/>
              </a:rPr>
              <a:t>Then explore with gaze, to end-to-end trials in March 2027</a:t>
            </a:r>
            <a:endParaRPr lang="en-US" sz="1700" dirty="0"/>
          </a:p>
        </p:txBody>
      </p:sp>
      <p:sp>
        <p:nvSpPr>
          <p:cNvPr id="7" name="Shape 5"/>
          <p:cNvSpPr/>
          <p:nvPr/>
        </p:nvSpPr>
        <p:spPr>
          <a:xfrm>
            <a:off x="548640" y="1874520"/>
            <a:ext cx="7635240" cy="2240280"/>
          </a:xfrm>
          <a:prstGeom prst="roundRect">
            <a:avLst>
              <a:gd name="adj" fmla="val 4082"/>
            </a:avLst>
          </a:prstGeom>
          <a:solidFill>
            <a:srgbClr val="EEF2F7"/>
          </a:solidFill>
          <a:ln/>
        </p:spPr>
      </p:sp>
      <p:sp>
        <p:nvSpPr>
          <p:cNvPr id="8" name="Text 6"/>
          <p:cNvSpPr txBox="1"/>
          <p:nvPr/>
        </p:nvSpPr>
        <p:spPr>
          <a:xfrm>
            <a:off x="731520" y="2011680"/>
            <a:ext cx="7360920" cy="228600"/>
          </a:xfrm>
          <a:prstGeom prst="rect">
            <a:avLst/>
          </a:prstGeom>
          <a:noFill/>
          <a:ln/>
        </p:spPr>
        <p:txBody>
          <a:bodyPr wrap="square" lIns="0" tIns="0" rIns="0" bIns="0" rtlCol="0" anchor="ctr"/>
          <a:lstStyle/>
          <a:p>
            <a:pPr indent="0" marL="0">
              <a:buNone/>
            </a:pPr>
            <a:r>
              <a:rPr lang="en-US" sz="1100" b="1" spc="150" kern="0" dirty="0">
                <a:solidFill>
                  <a:srgbClr val="0068B5"/>
                </a:solidFill>
                <a:latin typeface="Calibri" pitchFamily="34" charset="0"/>
                <a:ea typeface="Calibri" pitchFamily="34" charset="-122"/>
                <a:cs typeface="Calibri" pitchFamily="34" charset="-120"/>
              </a:rPr>
              <a:t>WEEKS 7 TO 8  ·  BEFORE EXAMS</a:t>
            </a:r>
            <a:endParaRPr lang="en-US" sz="1100" dirty="0"/>
          </a:p>
        </p:txBody>
      </p:sp>
      <p:sp>
        <p:nvSpPr>
          <p:cNvPr id="9" name="Shape 7"/>
          <p:cNvSpPr/>
          <p:nvPr/>
        </p:nvSpPr>
        <p:spPr>
          <a:xfrm>
            <a:off x="731520" y="2386584"/>
            <a:ext cx="274320" cy="274320"/>
          </a:xfrm>
          <a:prstGeom prst="ellipse">
            <a:avLst/>
          </a:prstGeom>
          <a:solidFill>
            <a:srgbClr val="0068B5"/>
          </a:solidFill>
          <a:ln/>
        </p:spPr>
      </p:sp>
      <p:sp>
        <p:nvSpPr>
          <p:cNvPr id="10" name="Text 8"/>
          <p:cNvSpPr txBox="1"/>
          <p:nvPr/>
        </p:nvSpPr>
        <p:spPr>
          <a:xfrm>
            <a:off x="731520" y="238658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1" name="Text 9"/>
          <p:cNvSpPr txBox="1"/>
          <p:nvPr/>
        </p:nvSpPr>
        <p:spPr>
          <a:xfrm>
            <a:off x="1115568" y="2331720"/>
            <a:ext cx="6903720" cy="384048"/>
          </a:xfrm>
          <a:prstGeom prst="rect">
            <a:avLst/>
          </a:prstGeom>
          <a:noFill/>
          <a:ln/>
        </p:spPr>
        <p:txBody>
          <a:bodyPr wrap="square" lIns="0" tIns="0" rIns="0" bIns="0" rtlCol="0" anchor="ctr"/>
          <a:lstStyle/>
          <a:p>
            <a:pPr indent="0" marL="0">
              <a:buNone/>
            </a:pPr>
            <a:r>
              <a:rPr lang="en-US" sz="1300" dirty="0">
                <a:solidFill>
                  <a:srgbClr val="16213A"/>
                </a:solidFill>
                <a:latin typeface="Calibri" pitchFamily="34" charset="0"/>
                <a:ea typeface="Calibri" pitchFamily="34" charset="-122"/>
                <a:cs typeface="Calibri" pitchFamily="34" charset="-120"/>
              </a:rPr>
              <a:t>Refuse weak gaze picks, gaze grasp on the real arm  </a:t>
            </a:r>
            <a:pPr indent="0" marL="0">
              <a:buNone/>
            </a:pPr>
            <a:r>
              <a:rPr lang="en-US" sz="1100" dirty="0">
                <a:solidFill>
                  <a:srgbClr val="6B7280"/>
                </a:solidFill>
                <a:latin typeface="Calibri" pitchFamily="34" charset="0"/>
                <a:ea typeface="Calibri" pitchFamily="34" charset="-122"/>
                <a:cs typeface="Calibri" pitchFamily="34" charset="-120"/>
              </a:rPr>
              <a:t>T2.24, T8.9</a:t>
            </a:r>
            <a:endParaRPr lang="en-US" sz="1300" dirty="0"/>
          </a:p>
        </p:txBody>
      </p:sp>
      <p:sp>
        <p:nvSpPr>
          <p:cNvPr id="12" name="Shape 10"/>
          <p:cNvSpPr/>
          <p:nvPr/>
        </p:nvSpPr>
        <p:spPr>
          <a:xfrm>
            <a:off x="731520" y="2798064"/>
            <a:ext cx="274320" cy="274320"/>
          </a:xfrm>
          <a:prstGeom prst="ellipse">
            <a:avLst/>
          </a:prstGeom>
          <a:solidFill>
            <a:srgbClr val="0068B5"/>
          </a:solidFill>
          <a:ln/>
        </p:spPr>
      </p:sp>
      <p:sp>
        <p:nvSpPr>
          <p:cNvPr id="13" name="Text 11"/>
          <p:cNvSpPr txBox="1"/>
          <p:nvPr/>
        </p:nvSpPr>
        <p:spPr>
          <a:xfrm>
            <a:off x="731520" y="279806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2"/>
          <p:cNvSpPr txBox="1"/>
          <p:nvPr/>
        </p:nvSpPr>
        <p:spPr>
          <a:xfrm>
            <a:off x="1115568" y="2743200"/>
            <a:ext cx="6903720" cy="384048"/>
          </a:xfrm>
          <a:prstGeom prst="rect">
            <a:avLst/>
          </a:prstGeom>
          <a:noFill/>
          <a:ln/>
        </p:spPr>
        <p:txBody>
          <a:bodyPr wrap="square" lIns="0" tIns="0" rIns="0" bIns="0" rtlCol="0" anchor="ctr"/>
          <a:lstStyle/>
          <a:p>
            <a:pPr indent="0" marL="0">
              <a:buNone/>
            </a:pPr>
            <a:r>
              <a:rPr lang="en-US" sz="1300" dirty="0">
                <a:solidFill>
                  <a:srgbClr val="16213A"/>
                </a:solidFill>
                <a:latin typeface="Calibri" pitchFamily="34" charset="0"/>
                <a:ea typeface="Calibri" pitchFamily="34" charset="-122"/>
                <a:cs typeface="Calibri" pitchFamily="34" charset="-120"/>
              </a:rPr>
              <a:t>New SDK, 12-trial validation: M1 by 8 Nov  </a:t>
            </a:r>
            <a:pPr indent="0" marL="0">
              <a:buNone/>
            </a:pPr>
            <a:r>
              <a:rPr lang="en-US" sz="1100" dirty="0">
                <a:solidFill>
                  <a:srgbClr val="6B7280"/>
                </a:solidFill>
                <a:latin typeface="Calibri" pitchFamily="34" charset="0"/>
                <a:ea typeface="Calibri" pitchFamily="34" charset="-122"/>
                <a:cs typeface="Calibri" pitchFamily="34" charset="-120"/>
              </a:rPr>
              <a:t>T1.45, T1.35</a:t>
            </a:r>
            <a:endParaRPr lang="en-US" sz="1300" dirty="0"/>
          </a:p>
        </p:txBody>
      </p:sp>
      <p:sp>
        <p:nvSpPr>
          <p:cNvPr id="15" name="Shape 13"/>
          <p:cNvSpPr/>
          <p:nvPr/>
        </p:nvSpPr>
        <p:spPr>
          <a:xfrm>
            <a:off x="731520" y="3209544"/>
            <a:ext cx="274320" cy="274320"/>
          </a:xfrm>
          <a:prstGeom prst="ellipse">
            <a:avLst/>
          </a:prstGeom>
          <a:solidFill>
            <a:srgbClr val="0068B5"/>
          </a:solidFill>
          <a:ln/>
        </p:spPr>
      </p:sp>
      <p:sp>
        <p:nvSpPr>
          <p:cNvPr id="16" name="Text 14"/>
          <p:cNvSpPr txBox="1"/>
          <p:nvPr/>
        </p:nvSpPr>
        <p:spPr>
          <a:xfrm>
            <a:off x="731520" y="320954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5"/>
          <p:cNvSpPr txBox="1"/>
          <p:nvPr/>
        </p:nvSpPr>
        <p:spPr>
          <a:xfrm>
            <a:off x="1115568" y="3154680"/>
            <a:ext cx="6903720" cy="384048"/>
          </a:xfrm>
          <a:prstGeom prst="rect">
            <a:avLst/>
          </a:prstGeom>
          <a:noFill/>
          <a:ln/>
        </p:spPr>
        <p:txBody>
          <a:bodyPr wrap="square" lIns="0" tIns="0" rIns="0" bIns="0" rtlCol="0" anchor="ctr"/>
          <a:lstStyle/>
          <a:p>
            <a:pPr indent="0" marL="0">
              <a:buNone/>
            </a:pPr>
            <a:r>
              <a:rPr lang="en-US" sz="1300" dirty="0">
                <a:solidFill>
                  <a:srgbClr val="16213A"/>
                </a:solidFill>
                <a:latin typeface="Calibri" pitchFamily="34" charset="0"/>
                <a:ea typeface="Calibri" pitchFamily="34" charset="-122"/>
                <a:cs typeface="Calibri" pitchFamily="34" charset="-120"/>
              </a:rPr>
              <a:t>Nav2: first drives to a point  </a:t>
            </a:r>
            <a:pPr indent="0" marL="0">
              <a:buNone/>
            </a:pPr>
            <a:r>
              <a:rPr lang="en-US" sz="1100" dirty="0">
                <a:solidFill>
                  <a:srgbClr val="6B7280"/>
                </a:solidFill>
                <a:latin typeface="Calibri" pitchFamily="34" charset="0"/>
                <a:ea typeface="Calibri" pitchFamily="34" charset="-122"/>
                <a:cs typeface="Calibri" pitchFamily="34" charset="-120"/>
              </a:rPr>
              <a:t>T3.6</a:t>
            </a:r>
            <a:endParaRPr lang="en-US" sz="1300" dirty="0"/>
          </a:p>
        </p:txBody>
      </p:sp>
      <p:sp>
        <p:nvSpPr>
          <p:cNvPr id="18" name="Shape 16"/>
          <p:cNvSpPr/>
          <p:nvPr/>
        </p:nvSpPr>
        <p:spPr>
          <a:xfrm>
            <a:off x="731520" y="3621024"/>
            <a:ext cx="274320" cy="274320"/>
          </a:xfrm>
          <a:prstGeom prst="ellipse">
            <a:avLst/>
          </a:prstGeom>
          <a:solidFill>
            <a:srgbClr val="0068B5"/>
          </a:solidFill>
          <a:ln/>
        </p:spPr>
      </p:sp>
      <p:sp>
        <p:nvSpPr>
          <p:cNvPr id="19" name="Text 17"/>
          <p:cNvSpPr txBox="1"/>
          <p:nvPr/>
        </p:nvSpPr>
        <p:spPr>
          <a:xfrm>
            <a:off x="731520" y="362102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0" name="Text 18"/>
          <p:cNvSpPr txBox="1"/>
          <p:nvPr/>
        </p:nvSpPr>
        <p:spPr>
          <a:xfrm>
            <a:off x="1115568" y="3566160"/>
            <a:ext cx="6903720" cy="384048"/>
          </a:xfrm>
          <a:prstGeom prst="rect">
            <a:avLst/>
          </a:prstGeom>
          <a:noFill/>
          <a:ln/>
        </p:spPr>
        <p:txBody>
          <a:bodyPr wrap="square" lIns="0" tIns="0" rIns="0" bIns="0" rtlCol="0" anchor="ctr"/>
          <a:lstStyle/>
          <a:p>
            <a:pPr indent="0" marL="0">
              <a:buNone/>
            </a:pPr>
            <a:r>
              <a:rPr lang="en-US" sz="1300" dirty="0">
                <a:solidFill>
                  <a:srgbClr val="16213A"/>
                </a:solidFill>
                <a:latin typeface="Calibri" pitchFamily="34" charset="0"/>
                <a:ea typeface="Calibri" pitchFamily="34" charset="-122"/>
                <a:cs typeface="Calibri" pitchFamily="34" charset="-120"/>
              </a:rPr>
              <a:t>Graph query on the recorded drive  </a:t>
            </a:r>
            <a:pPr indent="0" marL="0">
              <a:buNone/>
            </a:pPr>
            <a:r>
              <a:rPr lang="en-US" sz="1100" dirty="0">
                <a:solidFill>
                  <a:srgbClr val="6B7280"/>
                </a:solidFill>
                <a:latin typeface="Calibri" pitchFamily="34" charset="0"/>
                <a:ea typeface="Calibri" pitchFamily="34" charset="-122"/>
                <a:cs typeface="Calibri" pitchFamily="34" charset="-120"/>
              </a:rPr>
              <a:t>T6.8</a:t>
            </a:r>
            <a:endParaRPr lang="en-US" sz="1300" dirty="0"/>
          </a:p>
        </p:txBody>
      </p:sp>
      <p:sp>
        <p:nvSpPr>
          <p:cNvPr id="21" name="Text 19"/>
          <p:cNvSpPr txBox="1"/>
          <p:nvPr/>
        </p:nvSpPr>
        <p:spPr>
          <a:xfrm>
            <a:off x="548640" y="4297680"/>
            <a:ext cx="2743200" cy="228600"/>
          </a:xfrm>
          <a:prstGeom prst="rect">
            <a:avLst/>
          </a:prstGeom>
          <a:noFill/>
          <a:ln/>
        </p:spPr>
        <p:txBody>
          <a:bodyPr wrap="square" lIns="0" tIns="0" rIns="0" bIns="0" rtlCol="0" anchor="ctr"/>
          <a:lstStyle/>
          <a:p>
            <a:pPr indent="0" marL="0">
              <a:buNone/>
            </a:pPr>
            <a:r>
              <a:rPr lang="en-US" sz="1100" b="1" spc="150" kern="0" dirty="0">
                <a:solidFill>
                  <a:srgbClr val="6B7280"/>
                </a:solidFill>
                <a:latin typeface="Calibri" pitchFamily="34" charset="0"/>
                <a:ea typeface="Calibri" pitchFamily="34" charset="-122"/>
                <a:cs typeface="Calibri" pitchFamily="34" charset="-120"/>
              </a:rPr>
              <a:t>AFTER THE BREAK</a:t>
            </a:r>
            <a:endParaRPr lang="en-US" sz="1100" dirty="0"/>
          </a:p>
        </p:txBody>
      </p:sp>
      <p:sp>
        <p:nvSpPr>
          <p:cNvPr id="22" name="Shape 20"/>
          <p:cNvSpPr/>
          <p:nvPr/>
        </p:nvSpPr>
        <p:spPr>
          <a:xfrm>
            <a:off x="731520" y="4956048"/>
            <a:ext cx="7269480" cy="914"/>
          </a:xfrm>
          <a:prstGeom prst="line">
            <a:avLst/>
          </a:prstGeom>
          <a:noFill/>
          <a:ln w="25400">
            <a:solidFill>
              <a:srgbClr val="C5CDD8"/>
            </a:solidFill>
            <a:prstDash val="solid"/>
          </a:ln>
        </p:spPr>
      </p:sp>
      <p:sp>
        <p:nvSpPr>
          <p:cNvPr id="23" name="Shape 21"/>
          <p:cNvSpPr/>
          <p:nvPr/>
        </p:nvSpPr>
        <p:spPr>
          <a:xfrm>
            <a:off x="658368" y="4846320"/>
            <a:ext cx="219456" cy="219456"/>
          </a:xfrm>
          <a:prstGeom prst="ellipse">
            <a:avLst/>
          </a:prstGeom>
          <a:solidFill>
            <a:srgbClr val="16213A"/>
          </a:solidFill>
          <a:ln w="25400">
            <a:solidFill>
              <a:srgbClr val="FFFFFF"/>
            </a:solidFill>
            <a:prstDash val="solid"/>
          </a:ln>
        </p:spPr>
      </p:sp>
      <p:sp>
        <p:nvSpPr>
          <p:cNvPr id="24" name="Text 22"/>
          <p:cNvSpPr txBox="1"/>
          <p:nvPr/>
        </p:nvSpPr>
        <p:spPr>
          <a:xfrm>
            <a:off x="658368" y="4544568"/>
            <a:ext cx="914400" cy="274320"/>
          </a:xfrm>
          <a:prstGeom prst="rect">
            <a:avLst/>
          </a:prstGeom>
          <a:noFill/>
          <a:ln/>
        </p:spPr>
        <p:txBody>
          <a:bodyPr wrap="square" lIns="0" tIns="0" rIns="0" bIns="0" rtlCol="0" anchor="ctr"/>
          <a:lstStyle/>
          <a:p>
            <a:pPr indent="0" marL="0">
              <a:buNone/>
            </a:pPr>
            <a:r>
              <a:rPr lang="en-US" sz="1500" b="1" dirty="0">
                <a:solidFill>
                  <a:srgbClr val="16213A"/>
                </a:solidFill>
                <a:latin typeface="Calibri" pitchFamily="34" charset="0"/>
                <a:ea typeface="Calibri" pitchFamily="34" charset="-122"/>
                <a:cs typeface="Calibri" pitchFamily="34" charset="-120"/>
              </a:rPr>
              <a:t>Jan</a:t>
            </a:r>
            <a:endParaRPr lang="en-US" sz="1500" dirty="0"/>
          </a:p>
        </p:txBody>
      </p:sp>
      <p:sp>
        <p:nvSpPr>
          <p:cNvPr id="25" name="Text 23"/>
          <p:cNvSpPr txBox="1"/>
          <p:nvPr/>
        </p:nvSpPr>
        <p:spPr>
          <a:xfrm>
            <a:off x="658368" y="5166360"/>
            <a:ext cx="2286000" cy="685800"/>
          </a:xfrm>
          <a:prstGeom prst="rect">
            <a:avLst/>
          </a:prstGeom>
          <a:noFill/>
          <a:ln/>
        </p:spPr>
        <p:txBody>
          <a:bodyPr wrap="square" lIns="0" tIns="0" rIns="0" bIns="0" rtlCol="0" anchor="t"/>
          <a:lstStyle/>
          <a:p>
            <a:pPr indent="0" marL="0">
              <a:buNone/>
            </a:pPr>
            <a:r>
              <a:rPr lang="en-US" sz="1200" dirty="0">
                <a:solidFill>
                  <a:srgbClr val="4B5563"/>
                </a:solidFill>
                <a:latin typeface="Calibri" pitchFamily="34" charset="0"/>
                <a:ea typeface="Calibri" pitchFamily="34" charset="-122"/>
                <a:cs typeface="Calibri" pitchFamily="34" charset="-120"/>
              </a:rPr>
              <a:t>M2 two-box gaze grasp, M5 calibration, M4 closed loop</a:t>
            </a:r>
            <a:endParaRPr lang="en-US" sz="1200" dirty="0"/>
          </a:p>
        </p:txBody>
      </p:sp>
      <p:sp>
        <p:nvSpPr>
          <p:cNvPr id="26" name="Shape 24"/>
          <p:cNvSpPr/>
          <p:nvPr/>
        </p:nvSpPr>
        <p:spPr>
          <a:xfrm>
            <a:off x="3264408" y="4846320"/>
            <a:ext cx="219456" cy="219456"/>
          </a:xfrm>
          <a:prstGeom prst="ellipse">
            <a:avLst/>
          </a:prstGeom>
          <a:solidFill>
            <a:srgbClr val="16213A"/>
          </a:solidFill>
          <a:ln w="25400">
            <a:solidFill>
              <a:srgbClr val="FFFFFF"/>
            </a:solidFill>
            <a:prstDash val="solid"/>
          </a:ln>
        </p:spPr>
      </p:sp>
      <p:sp>
        <p:nvSpPr>
          <p:cNvPr id="27" name="Text 25"/>
          <p:cNvSpPr txBox="1"/>
          <p:nvPr/>
        </p:nvSpPr>
        <p:spPr>
          <a:xfrm>
            <a:off x="3264408" y="4544568"/>
            <a:ext cx="914400" cy="274320"/>
          </a:xfrm>
          <a:prstGeom prst="rect">
            <a:avLst/>
          </a:prstGeom>
          <a:noFill/>
          <a:ln/>
        </p:spPr>
        <p:txBody>
          <a:bodyPr wrap="square" lIns="0" tIns="0" rIns="0" bIns="0" rtlCol="0" anchor="ctr"/>
          <a:lstStyle/>
          <a:p>
            <a:pPr indent="0" marL="0">
              <a:buNone/>
            </a:pPr>
            <a:r>
              <a:rPr lang="en-US" sz="1500" b="1" dirty="0">
                <a:solidFill>
                  <a:srgbClr val="16213A"/>
                </a:solidFill>
                <a:latin typeface="Calibri" pitchFamily="34" charset="0"/>
                <a:ea typeface="Calibri" pitchFamily="34" charset="-122"/>
                <a:cs typeface="Calibri" pitchFamily="34" charset="-120"/>
              </a:rPr>
              <a:t>Feb</a:t>
            </a:r>
            <a:endParaRPr lang="en-US" sz="1500" dirty="0"/>
          </a:p>
        </p:txBody>
      </p:sp>
      <p:sp>
        <p:nvSpPr>
          <p:cNvPr id="28" name="Text 26"/>
          <p:cNvSpPr txBox="1"/>
          <p:nvPr/>
        </p:nvSpPr>
        <p:spPr>
          <a:xfrm>
            <a:off x="3264408" y="5166360"/>
            <a:ext cx="2286000" cy="685800"/>
          </a:xfrm>
          <a:prstGeom prst="rect">
            <a:avLst/>
          </a:prstGeom>
          <a:noFill/>
          <a:ln/>
        </p:spPr>
        <p:txBody>
          <a:bodyPr wrap="square" lIns="0" tIns="0" rIns="0" bIns="0" rtlCol="0" anchor="t"/>
          <a:lstStyle/>
          <a:p>
            <a:pPr indent="0" marL="0">
              <a:buNone/>
            </a:pPr>
            <a:r>
              <a:rPr lang="en-US" sz="1200" dirty="0">
                <a:solidFill>
                  <a:srgbClr val="4B5563"/>
                </a:solidFill>
                <a:latin typeface="Calibri" pitchFamily="34" charset="0"/>
                <a:ea typeface="Calibri" pitchFamily="34" charset="-122"/>
                <a:cs typeface="Calibri" pitchFamily="34" charset="-120"/>
              </a:rPr>
              <a:t>M7 the robot explores and finds the user</a:t>
            </a:r>
            <a:endParaRPr lang="en-US" sz="1200" dirty="0"/>
          </a:p>
        </p:txBody>
      </p:sp>
      <p:sp>
        <p:nvSpPr>
          <p:cNvPr id="29" name="Shape 27"/>
          <p:cNvSpPr/>
          <p:nvPr/>
        </p:nvSpPr>
        <p:spPr>
          <a:xfrm>
            <a:off x="5870448" y="4846320"/>
            <a:ext cx="219456" cy="219456"/>
          </a:xfrm>
          <a:prstGeom prst="ellipse">
            <a:avLst/>
          </a:prstGeom>
          <a:solidFill>
            <a:srgbClr val="FF7A3A"/>
          </a:solidFill>
          <a:ln w="25400">
            <a:solidFill>
              <a:srgbClr val="FFFFFF"/>
            </a:solidFill>
            <a:prstDash val="solid"/>
          </a:ln>
        </p:spPr>
      </p:sp>
      <p:sp>
        <p:nvSpPr>
          <p:cNvPr id="30" name="Text 28"/>
          <p:cNvSpPr txBox="1"/>
          <p:nvPr/>
        </p:nvSpPr>
        <p:spPr>
          <a:xfrm>
            <a:off x="5870448" y="4544568"/>
            <a:ext cx="914400" cy="274320"/>
          </a:xfrm>
          <a:prstGeom prst="rect">
            <a:avLst/>
          </a:prstGeom>
          <a:noFill/>
          <a:ln/>
        </p:spPr>
        <p:txBody>
          <a:bodyPr wrap="square" lIns="0" tIns="0" rIns="0" bIns="0" rtlCol="0" anchor="ctr"/>
          <a:lstStyle/>
          <a:p>
            <a:pPr indent="0" marL="0">
              <a:buNone/>
            </a:pPr>
            <a:r>
              <a:rPr lang="en-US" sz="1500" b="1" dirty="0">
                <a:solidFill>
                  <a:srgbClr val="16213A"/>
                </a:solidFill>
                <a:latin typeface="Calibri" pitchFamily="34" charset="0"/>
                <a:ea typeface="Calibri" pitchFamily="34" charset="-122"/>
                <a:cs typeface="Calibri" pitchFamily="34" charset="-120"/>
              </a:rPr>
              <a:t>Mar</a:t>
            </a:r>
            <a:endParaRPr lang="en-US" sz="1500" dirty="0"/>
          </a:p>
        </p:txBody>
      </p:sp>
      <p:sp>
        <p:nvSpPr>
          <p:cNvPr id="31" name="Text 29"/>
          <p:cNvSpPr txBox="1"/>
          <p:nvPr/>
        </p:nvSpPr>
        <p:spPr>
          <a:xfrm>
            <a:off x="5870448" y="5166360"/>
            <a:ext cx="2286000" cy="685800"/>
          </a:xfrm>
          <a:prstGeom prst="rect">
            <a:avLst/>
          </a:prstGeom>
          <a:noFill/>
          <a:ln/>
        </p:spPr>
        <p:txBody>
          <a:bodyPr wrap="square" lIns="0" tIns="0" rIns="0" bIns="0" rtlCol="0" anchor="t"/>
          <a:lstStyle/>
          <a:p>
            <a:pPr indent="0" marL="0">
              <a:buNone/>
            </a:pPr>
            <a:r>
              <a:rPr lang="en-US" sz="1200" b="1" dirty="0">
                <a:solidFill>
                  <a:srgbClr val="16213A"/>
                </a:solidFill>
                <a:latin typeface="Calibri" pitchFamily="34" charset="0"/>
                <a:ea typeface="Calibri" pitchFamily="34" charset="-122"/>
                <a:cs typeface="Calibri" pitchFamily="34" charset="-120"/>
              </a:rPr>
              <a:t>M8 a gaze match ends exploration: end-to-end trials</a:t>
            </a:r>
            <a:endParaRPr lang="en-US" sz="1200" dirty="0"/>
          </a:p>
        </p:txBody>
      </p:sp>
      <p:sp>
        <p:nvSpPr>
          <p:cNvPr id="32" name="Shape 30"/>
          <p:cNvSpPr/>
          <p:nvPr/>
        </p:nvSpPr>
        <p:spPr>
          <a:xfrm>
            <a:off x="8412480" y="1874520"/>
            <a:ext cx="3227832" cy="4023360"/>
          </a:xfrm>
          <a:prstGeom prst="roundRect">
            <a:avLst>
              <a:gd name="adj" fmla="val 2833"/>
            </a:avLst>
          </a:prstGeom>
          <a:solidFill>
            <a:srgbClr val="16213A"/>
          </a:solidFill>
          <a:ln/>
        </p:spPr>
      </p:sp>
      <p:sp>
        <p:nvSpPr>
          <p:cNvPr id="33" name="Text 31"/>
          <p:cNvSpPr txBox="1"/>
          <p:nvPr/>
        </p:nvSpPr>
        <p:spPr>
          <a:xfrm>
            <a:off x="8641080" y="2057400"/>
            <a:ext cx="2862072" cy="228600"/>
          </a:xfrm>
          <a:prstGeom prst="rect">
            <a:avLst/>
          </a:prstGeom>
          <a:noFill/>
          <a:ln/>
        </p:spPr>
        <p:txBody>
          <a:bodyPr wrap="square" lIns="0" tIns="0" rIns="0" bIns="0" rtlCol="0" anchor="ctr"/>
          <a:lstStyle/>
          <a:p>
            <a:pPr indent="0" marL="0">
              <a:buNone/>
            </a:pPr>
            <a:r>
              <a:rPr lang="en-US" sz="1100" b="1" spc="150" kern="0" dirty="0">
                <a:solidFill>
                  <a:srgbClr val="7DD3FC"/>
                </a:solidFill>
                <a:latin typeface="Calibri" pitchFamily="34" charset="0"/>
                <a:ea typeface="Calibri" pitchFamily="34" charset="-122"/>
                <a:cs typeface="Calibri" pitchFamily="34" charset="-120"/>
              </a:rPr>
              <a:t>THREE TAKEAWAYS</a:t>
            </a:r>
            <a:endParaRPr lang="en-US" sz="1100" dirty="0"/>
          </a:p>
        </p:txBody>
      </p:sp>
      <p:sp>
        <p:nvSpPr>
          <p:cNvPr id="34" name="Shape 32"/>
          <p:cNvSpPr/>
          <p:nvPr/>
        </p:nvSpPr>
        <p:spPr>
          <a:xfrm>
            <a:off x="8641080" y="2468880"/>
            <a:ext cx="365760" cy="365760"/>
          </a:xfrm>
          <a:prstGeom prst="ellipse">
            <a:avLst/>
          </a:prstGeom>
          <a:ln w="19050">
            <a:solidFill>
              <a:srgbClr val="7DD3FC"/>
            </a:solidFill>
            <a:prstDash val="solid"/>
          </a:ln>
        </p:spPr>
      </p:sp>
      <p:sp>
        <p:nvSpPr>
          <p:cNvPr id="35" name="Text 33"/>
          <p:cNvSpPr txBox="1"/>
          <p:nvPr/>
        </p:nvSpPr>
        <p:spPr>
          <a:xfrm>
            <a:off x="8641080" y="2468880"/>
            <a:ext cx="365760" cy="365760"/>
          </a:xfrm>
          <a:prstGeom prst="rect">
            <a:avLst/>
          </a:prstGeom>
          <a:noFill/>
          <a:ln/>
        </p:spPr>
        <p:txBody>
          <a:bodyPr wrap="square" lIns="0" tIns="0" rIns="0" bIns="0" rtlCol="0" anchor="ctr"/>
          <a:lstStyle/>
          <a:p>
            <a:pPr algn="ctr" indent="0" marL="0">
              <a:buNone/>
            </a:pPr>
            <a:r>
              <a:rPr lang="en-US" sz="1400" b="1" dirty="0">
                <a:solidFill>
                  <a:srgbClr val="7DD3FC"/>
                </a:solidFill>
                <a:latin typeface="Calibri" pitchFamily="34" charset="0"/>
                <a:ea typeface="Calibri" pitchFamily="34" charset="-122"/>
                <a:cs typeface="Calibri" pitchFamily="34" charset="-120"/>
              </a:rPr>
              <a:t>1</a:t>
            </a:r>
            <a:endParaRPr lang="en-US" sz="1400" dirty="0"/>
          </a:p>
        </p:txBody>
      </p:sp>
      <p:sp>
        <p:nvSpPr>
          <p:cNvPr id="36" name="Text 34"/>
          <p:cNvSpPr txBox="1"/>
          <p:nvPr/>
        </p:nvSpPr>
        <p:spPr>
          <a:xfrm>
            <a:off x="9144000" y="2432304"/>
            <a:ext cx="2313432" cy="96012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Identity across viewpoints is the hard part</a:t>
            </a:r>
            <a:endParaRPr lang="en-US" sz="1600" dirty="0"/>
          </a:p>
        </p:txBody>
      </p:sp>
      <p:sp>
        <p:nvSpPr>
          <p:cNvPr id="37" name="Shape 35"/>
          <p:cNvSpPr/>
          <p:nvPr/>
        </p:nvSpPr>
        <p:spPr>
          <a:xfrm>
            <a:off x="8641080" y="3584448"/>
            <a:ext cx="365760" cy="365760"/>
          </a:xfrm>
          <a:prstGeom prst="ellipse">
            <a:avLst/>
          </a:prstGeom>
          <a:ln w="19050">
            <a:solidFill>
              <a:srgbClr val="7DD3FC"/>
            </a:solidFill>
            <a:prstDash val="solid"/>
          </a:ln>
        </p:spPr>
      </p:sp>
      <p:sp>
        <p:nvSpPr>
          <p:cNvPr id="38" name="Text 36"/>
          <p:cNvSpPr txBox="1"/>
          <p:nvPr/>
        </p:nvSpPr>
        <p:spPr>
          <a:xfrm>
            <a:off x="8641080" y="3584448"/>
            <a:ext cx="365760" cy="365760"/>
          </a:xfrm>
          <a:prstGeom prst="rect">
            <a:avLst/>
          </a:prstGeom>
          <a:noFill/>
          <a:ln/>
        </p:spPr>
        <p:txBody>
          <a:bodyPr wrap="square" lIns="0" tIns="0" rIns="0" bIns="0" rtlCol="0" anchor="ctr"/>
          <a:lstStyle/>
          <a:p>
            <a:pPr algn="ctr" indent="0" marL="0">
              <a:buNone/>
            </a:pPr>
            <a:r>
              <a:rPr lang="en-US" sz="1400" b="1" dirty="0">
                <a:solidFill>
                  <a:srgbClr val="7DD3FC"/>
                </a:solidFill>
                <a:latin typeface="Calibri" pitchFamily="34" charset="0"/>
                <a:ea typeface="Calibri" pitchFamily="34" charset="-122"/>
                <a:cs typeface="Calibri" pitchFamily="34" charset="-120"/>
              </a:rPr>
              <a:t>2</a:t>
            </a:r>
            <a:endParaRPr lang="en-US" sz="1400" dirty="0"/>
          </a:p>
        </p:txBody>
      </p:sp>
      <p:sp>
        <p:nvSpPr>
          <p:cNvPr id="39" name="Text 37"/>
          <p:cNvSpPr txBox="1"/>
          <p:nvPr/>
        </p:nvSpPr>
        <p:spPr>
          <a:xfrm>
            <a:off x="9144000" y="3547872"/>
            <a:ext cx="2313432" cy="96012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Every subsystem is measured on real hardware or data</a:t>
            </a:r>
            <a:endParaRPr lang="en-US" sz="1600" dirty="0"/>
          </a:p>
        </p:txBody>
      </p:sp>
      <p:sp>
        <p:nvSpPr>
          <p:cNvPr id="40" name="Shape 38"/>
          <p:cNvSpPr/>
          <p:nvPr/>
        </p:nvSpPr>
        <p:spPr>
          <a:xfrm>
            <a:off x="8641080" y="4700016"/>
            <a:ext cx="365760" cy="365760"/>
          </a:xfrm>
          <a:prstGeom prst="ellipse">
            <a:avLst/>
          </a:prstGeom>
          <a:ln w="19050">
            <a:solidFill>
              <a:srgbClr val="7DD3FC"/>
            </a:solidFill>
            <a:prstDash val="solid"/>
          </a:ln>
        </p:spPr>
      </p:sp>
      <p:sp>
        <p:nvSpPr>
          <p:cNvPr id="41" name="Text 39"/>
          <p:cNvSpPr txBox="1"/>
          <p:nvPr/>
        </p:nvSpPr>
        <p:spPr>
          <a:xfrm>
            <a:off x="8641080" y="4700016"/>
            <a:ext cx="365760" cy="365760"/>
          </a:xfrm>
          <a:prstGeom prst="rect">
            <a:avLst/>
          </a:prstGeom>
          <a:noFill/>
          <a:ln/>
        </p:spPr>
        <p:txBody>
          <a:bodyPr wrap="square" lIns="0" tIns="0" rIns="0" bIns="0" rtlCol="0" anchor="ctr"/>
          <a:lstStyle/>
          <a:p>
            <a:pPr algn="ctr" indent="0" marL="0">
              <a:buNone/>
            </a:pPr>
            <a:r>
              <a:rPr lang="en-US" sz="1400" b="1" dirty="0">
                <a:solidFill>
                  <a:srgbClr val="7DD3FC"/>
                </a:solidFill>
                <a:latin typeface="Calibri" pitchFamily="34" charset="0"/>
                <a:ea typeface="Calibri" pitchFamily="34" charset="-122"/>
                <a:cs typeface="Calibri" pitchFamily="34" charset="-120"/>
              </a:rPr>
              <a:t>3</a:t>
            </a:r>
            <a:endParaRPr lang="en-US" sz="1400" dirty="0"/>
          </a:p>
        </p:txBody>
      </p:sp>
      <p:sp>
        <p:nvSpPr>
          <p:cNvPr id="42" name="Text 40"/>
          <p:cNvSpPr txBox="1"/>
          <p:nvPr/>
        </p:nvSpPr>
        <p:spPr>
          <a:xfrm>
            <a:off x="9144000" y="4663440"/>
            <a:ext cx="2313432" cy="96012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The links are scheduled, with a cut list ready</a:t>
            </a:r>
            <a:endParaRPr lang="en-US" sz="1600" dirty="0"/>
          </a:p>
        </p:txBody>
      </p:sp>
      <p:sp>
        <p:nvSpPr>
          <p:cNvPr id="43" name="Shape 41"/>
          <p:cNvSpPr/>
          <p:nvPr/>
        </p:nvSpPr>
        <p:spPr>
          <a:xfrm>
            <a:off x="594360" y="6400800"/>
            <a:ext cx="1295019" cy="13716"/>
          </a:xfrm>
          <a:prstGeom prst="rect">
            <a:avLst/>
          </a:prstGeom>
          <a:solidFill>
            <a:srgbClr val="D7DEE8"/>
          </a:solidFill>
          <a:ln/>
        </p:spPr>
      </p:sp>
      <p:sp>
        <p:nvSpPr>
          <p:cNvPr id="44" name="Text 42"/>
          <p:cNvSpPr txBox="1"/>
          <p:nvPr/>
        </p:nvSpPr>
        <p:spPr>
          <a:xfrm>
            <a:off x="548640"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Problem</a:t>
            </a:r>
            <a:endParaRPr lang="en-US" sz="1100" dirty="0"/>
          </a:p>
        </p:txBody>
      </p:sp>
      <p:sp>
        <p:nvSpPr>
          <p:cNvPr id="45" name="Shape 43"/>
          <p:cNvSpPr/>
          <p:nvPr/>
        </p:nvSpPr>
        <p:spPr>
          <a:xfrm>
            <a:off x="1980819" y="6400800"/>
            <a:ext cx="1295019" cy="13716"/>
          </a:xfrm>
          <a:prstGeom prst="rect">
            <a:avLst/>
          </a:prstGeom>
          <a:solidFill>
            <a:srgbClr val="D7DEE8"/>
          </a:solidFill>
          <a:ln/>
        </p:spPr>
      </p:sp>
      <p:sp>
        <p:nvSpPr>
          <p:cNvPr id="46" name="Text 44"/>
          <p:cNvSpPr txBox="1"/>
          <p:nvPr/>
        </p:nvSpPr>
        <p:spPr>
          <a:xfrm>
            <a:off x="1935099"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System</a:t>
            </a:r>
            <a:endParaRPr lang="en-US" sz="1100" dirty="0"/>
          </a:p>
        </p:txBody>
      </p:sp>
      <p:sp>
        <p:nvSpPr>
          <p:cNvPr id="47" name="Shape 45"/>
          <p:cNvSpPr/>
          <p:nvPr/>
        </p:nvSpPr>
        <p:spPr>
          <a:xfrm>
            <a:off x="3367278" y="6400800"/>
            <a:ext cx="1295019" cy="13716"/>
          </a:xfrm>
          <a:prstGeom prst="rect">
            <a:avLst/>
          </a:prstGeom>
          <a:solidFill>
            <a:srgbClr val="D7DEE8"/>
          </a:solidFill>
          <a:ln/>
        </p:spPr>
      </p:sp>
      <p:sp>
        <p:nvSpPr>
          <p:cNvPr id="48" name="Text 46"/>
          <p:cNvSpPr txBox="1"/>
          <p:nvPr/>
        </p:nvSpPr>
        <p:spPr>
          <a:xfrm>
            <a:off x="3321558"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Intent</a:t>
            </a:r>
            <a:endParaRPr lang="en-US" sz="1100" dirty="0"/>
          </a:p>
        </p:txBody>
      </p:sp>
      <p:sp>
        <p:nvSpPr>
          <p:cNvPr id="49" name="Shape 47"/>
          <p:cNvSpPr/>
          <p:nvPr/>
        </p:nvSpPr>
        <p:spPr>
          <a:xfrm>
            <a:off x="4753737" y="6400800"/>
            <a:ext cx="1295019" cy="13716"/>
          </a:xfrm>
          <a:prstGeom prst="rect">
            <a:avLst/>
          </a:prstGeom>
          <a:solidFill>
            <a:srgbClr val="D7DEE8"/>
          </a:solidFill>
          <a:ln/>
        </p:spPr>
      </p:sp>
      <p:sp>
        <p:nvSpPr>
          <p:cNvPr id="50" name="Text 48"/>
          <p:cNvSpPr txBox="1"/>
          <p:nvPr/>
        </p:nvSpPr>
        <p:spPr>
          <a:xfrm>
            <a:off x="4708017"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Explore</a:t>
            </a:r>
            <a:endParaRPr lang="en-US" sz="1100" dirty="0"/>
          </a:p>
        </p:txBody>
      </p:sp>
      <p:sp>
        <p:nvSpPr>
          <p:cNvPr id="51" name="Shape 49"/>
          <p:cNvSpPr/>
          <p:nvPr/>
        </p:nvSpPr>
        <p:spPr>
          <a:xfrm>
            <a:off x="6140196" y="6400800"/>
            <a:ext cx="1295019" cy="13716"/>
          </a:xfrm>
          <a:prstGeom prst="rect">
            <a:avLst/>
          </a:prstGeom>
          <a:solidFill>
            <a:srgbClr val="D7DEE8"/>
          </a:solidFill>
          <a:ln/>
        </p:spPr>
      </p:sp>
      <p:sp>
        <p:nvSpPr>
          <p:cNvPr id="52" name="Text 50"/>
          <p:cNvSpPr txBox="1"/>
          <p:nvPr/>
        </p:nvSpPr>
        <p:spPr>
          <a:xfrm>
            <a:off x="6094476"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Search</a:t>
            </a:r>
            <a:endParaRPr lang="en-US" sz="1100" dirty="0"/>
          </a:p>
        </p:txBody>
      </p:sp>
      <p:sp>
        <p:nvSpPr>
          <p:cNvPr id="53" name="Shape 51"/>
          <p:cNvSpPr/>
          <p:nvPr/>
        </p:nvSpPr>
        <p:spPr>
          <a:xfrm>
            <a:off x="7526655" y="6400800"/>
            <a:ext cx="1295019" cy="13716"/>
          </a:xfrm>
          <a:prstGeom prst="rect">
            <a:avLst/>
          </a:prstGeom>
          <a:solidFill>
            <a:srgbClr val="D7DEE8"/>
          </a:solidFill>
          <a:ln/>
        </p:spPr>
      </p:sp>
      <p:sp>
        <p:nvSpPr>
          <p:cNvPr id="54" name="Text 52"/>
          <p:cNvSpPr txBox="1"/>
          <p:nvPr/>
        </p:nvSpPr>
        <p:spPr>
          <a:xfrm>
            <a:off x="7480935"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Confirm</a:t>
            </a:r>
            <a:endParaRPr lang="en-US" sz="1100" dirty="0"/>
          </a:p>
        </p:txBody>
      </p:sp>
      <p:sp>
        <p:nvSpPr>
          <p:cNvPr id="55" name="Shape 53"/>
          <p:cNvSpPr/>
          <p:nvPr/>
        </p:nvSpPr>
        <p:spPr>
          <a:xfrm>
            <a:off x="8913114" y="6400800"/>
            <a:ext cx="1295019" cy="13716"/>
          </a:xfrm>
          <a:prstGeom prst="rect">
            <a:avLst/>
          </a:prstGeom>
          <a:solidFill>
            <a:srgbClr val="D7DEE8"/>
          </a:solidFill>
          <a:ln/>
        </p:spPr>
      </p:sp>
      <p:sp>
        <p:nvSpPr>
          <p:cNvPr id="56" name="Text 54"/>
          <p:cNvSpPr txBox="1"/>
          <p:nvPr/>
        </p:nvSpPr>
        <p:spPr>
          <a:xfrm>
            <a:off x="8867394" y="6473952"/>
            <a:ext cx="1386459" cy="20116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Grasp</a:t>
            </a:r>
            <a:endParaRPr lang="en-US" sz="1100" dirty="0"/>
          </a:p>
        </p:txBody>
      </p:sp>
      <p:sp>
        <p:nvSpPr>
          <p:cNvPr id="57" name="Shape 55"/>
          <p:cNvSpPr/>
          <p:nvPr/>
        </p:nvSpPr>
        <p:spPr>
          <a:xfrm>
            <a:off x="10299573" y="6400800"/>
            <a:ext cx="1295019" cy="36576"/>
          </a:xfrm>
          <a:prstGeom prst="rect">
            <a:avLst/>
          </a:prstGeom>
          <a:solidFill>
            <a:srgbClr val="0068B5"/>
          </a:solidFill>
          <a:ln/>
        </p:spPr>
      </p:sp>
      <p:sp>
        <p:nvSpPr>
          <p:cNvPr id="58" name="Text 56"/>
          <p:cNvSpPr txBox="1"/>
          <p:nvPr/>
        </p:nvSpPr>
        <p:spPr>
          <a:xfrm>
            <a:off x="10253853" y="6473952"/>
            <a:ext cx="1386459" cy="201168"/>
          </a:xfrm>
          <a:prstGeom prst="rect">
            <a:avLst/>
          </a:prstGeom>
          <a:noFill/>
          <a:ln/>
        </p:spPr>
        <p:txBody>
          <a:bodyPr wrap="square" lIns="0" tIns="0" rIns="0" bIns="0" rtlCol="0" anchor="ctr"/>
          <a:lstStyle/>
          <a:p>
            <a:pPr algn="ctr" indent="0" marL="0">
              <a:buNone/>
            </a:pPr>
            <a:r>
              <a:rPr lang="en-US" sz="1100" b="1" dirty="0">
                <a:solidFill>
                  <a:srgbClr val="16213A"/>
                </a:solidFill>
                <a:latin typeface="Calibri" pitchFamily="34" charset="0"/>
                <a:ea typeface="Calibri" pitchFamily="34" charset="-122"/>
                <a:cs typeface="Calibri" pitchFamily="34" charset="-120"/>
              </a:rPr>
              <a:t>Plan</a:t>
            </a:r>
            <a:endParaRPr lang="en-US" sz="1100" dirty="0"/>
          </a:p>
        </p:txBody>
      </p:sp>
      <p:sp>
        <p:nvSpPr>
          <p:cNvPr id="59" name="Text 57"/>
          <p:cNvSpPr txBox="1"/>
          <p:nvPr/>
        </p:nvSpPr>
        <p:spPr>
          <a:xfrm>
            <a:off x="11091672" y="6035040"/>
            <a:ext cx="548640" cy="22860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6213A"/>
        </a:solidFill>
      </p:bgPr>
    </p:bg>
    <p:spTree>
      <p:nvGrpSpPr>
        <p:cNvPr id="1" name=""/>
        <p:cNvGrpSpPr/>
        <p:nvPr/>
      </p:nvGrpSpPr>
      <p:grpSpPr>
        <a:xfrm>
          <a:off x="0" y="0"/>
          <a:ext cx="0" cy="0"/>
          <a:chOff x="0" y="0"/>
          <a:chExt cx="0" cy="0"/>
        </a:xfrm>
      </p:grpSpPr>
      <p:pic>
        <p:nvPicPr>
          <p:cNvPr id="2" name="Image 0" descr="Backup slides A1 to A10 follow.">    </p:cNvPr>
          <p:cNvPicPr>
            <a:picLocks noChangeAspect="1"/>
          </p:cNvPicPr>
          <p:nvPr/>
        </p:nvPicPr>
        <p:blipFill>
          <a:blip r:embed="rId1"/>
          <a:srcRect l="0" r="0" t="0" b="0"/>
          <a:stretch/>
        </p:blipFill>
        <p:spPr>
          <a:xfrm>
            <a:off x="6355080" y="868680"/>
            <a:ext cx="5285232" cy="4526280"/>
          </a:xfrm>
          <a:prstGeom prst="rect">
            <a:avLst/>
          </a:prstGeom>
        </p:spPr>
      </p:pic>
      <p:sp>
        <p:nvSpPr>
          <p:cNvPr id="3" name="Shape 0"/>
          <p:cNvSpPr/>
          <p:nvPr/>
        </p:nvSpPr>
        <p:spPr>
          <a:xfrm>
            <a:off x="6227064" y="740664"/>
            <a:ext cx="457200" cy="914"/>
          </a:xfrm>
          <a:prstGeom prst="line">
            <a:avLst/>
          </a:prstGeom>
          <a:noFill/>
          <a:ln w="31750">
            <a:solidFill>
              <a:srgbClr val="7DD3FC"/>
            </a:solidFill>
            <a:prstDash val="solid"/>
          </a:ln>
        </p:spPr>
      </p:sp>
      <p:sp>
        <p:nvSpPr>
          <p:cNvPr id="4" name="Shape 1"/>
          <p:cNvSpPr/>
          <p:nvPr/>
        </p:nvSpPr>
        <p:spPr>
          <a:xfrm>
            <a:off x="6227064" y="740664"/>
            <a:ext cx="914" cy="457200"/>
          </a:xfrm>
          <a:prstGeom prst="line">
            <a:avLst/>
          </a:prstGeom>
          <a:noFill/>
          <a:ln w="31750">
            <a:solidFill>
              <a:srgbClr val="7DD3FC"/>
            </a:solidFill>
            <a:prstDash val="solid"/>
          </a:ln>
        </p:spPr>
      </p:sp>
      <p:sp>
        <p:nvSpPr>
          <p:cNvPr id="5" name="Shape 2"/>
          <p:cNvSpPr/>
          <p:nvPr/>
        </p:nvSpPr>
        <p:spPr>
          <a:xfrm flipH="1">
            <a:off x="11311128" y="740664"/>
            <a:ext cx="457200" cy="914"/>
          </a:xfrm>
          <a:prstGeom prst="line">
            <a:avLst/>
          </a:prstGeom>
          <a:noFill/>
          <a:ln w="31750">
            <a:solidFill>
              <a:srgbClr val="7DD3FC"/>
            </a:solidFill>
            <a:prstDash val="solid"/>
          </a:ln>
        </p:spPr>
      </p:sp>
      <p:sp>
        <p:nvSpPr>
          <p:cNvPr id="6" name="Shape 3"/>
          <p:cNvSpPr/>
          <p:nvPr/>
        </p:nvSpPr>
        <p:spPr>
          <a:xfrm>
            <a:off x="11768328" y="740664"/>
            <a:ext cx="914" cy="457200"/>
          </a:xfrm>
          <a:prstGeom prst="line">
            <a:avLst/>
          </a:prstGeom>
          <a:noFill/>
          <a:ln w="31750">
            <a:solidFill>
              <a:srgbClr val="7DD3FC"/>
            </a:solidFill>
            <a:prstDash val="solid"/>
          </a:ln>
        </p:spPr>
      </p:sp>
      <p:sp>
        <p:nvSpPr>
          <p:cNvPr id="7" name="Shape 4"/>
          <p:cNvSpPr/>
          <p:nvPr/>
        </p:nvSpPr>
        <p:spPr>
          <a:xfrm>
            <a:off x="6227064" y="5522976"/>
            <a:ext cx="457200" cy="914"/>
          </a:xfrm>
          <a:prstGeom prst="line">
            <a:avLst/>
          </a:prstGeom>
          <a:noFill/>
          <a:ln w="31750">
            <a:solidFill>
              <a:srgbClr val="7DD3FC"/>
            </a:solidFill>
            <a:prstDash val="solid"/>
          </a:ln>
        </p:spPr>
      </p:sp>
      <p:sp>
        <p:nvSpPr>
          <p:cNvPr id="8" name="Shape 5"/>
          <p:cNvSpPr/>
          <p:nvPr/>
        </p:nvSpPr>
        <p:spPr>
          <a:xfrm flipV="1">
            <a:off x="6227064" y="5065776"/>
            <a:ext cx="914" cy="457200"/>
          </a:xfrm>
          <a:prstGeom prst="line">
            <a:avLst/>
          </a:prstGeom>
          <a:noFill/>
          <a:ln w="31750">
            <a:solidFill>
              <a:srgbClr val="7DD3FC"/>
            </a:solidFill>
            <a:prstDash val="solid"/>
          </a:ln>
        </p:spPr>
      </p:sp>
      <p:sp>
        <p:nvSpPr>
          <p:cNvPr id="9" name="Shape 6"/>
          <p:cNvSpPr/>
          <p:nvPr/>
        </p:nvSpPr>
        <p:spPr>
          <a:xfrm flipH="1">
            <a:off x="11311128" y="5522976"/>
            <a:ext cx="457200" cy="914"/>
          </a:xfrm>
          <a:prstGeom prst="line">
            <a:avLst/>
          </a:prstGeom>
          <a:noFill/>
          <a:ln w="31750">
            <a:solidFill>
              <a:srgbClr val="7DD3FC"/>
            </a:solidFill>
            <a:prstDash val="solid"/>
          </a:ln>
        </p:spPr>
      </p:sp>
      <p:sp>
        <p:nvSpPr>
          <p:cNvPr id="10" name="Shape 7"/>
          <p:cNvSpPr/>
          <p:nvPr/>
        </p:nvSpPr>
        <p:spPr>
          <a:xfrm flipV="1">
            <a:off x="11768328" y="5065776"/>
            <a:ext cx="914" cy="457200"/>
          </a:xfrm>
          <a:prstGeom prst="line">
            <a:avLst/>
          </a:prstGeom>
          <a:noFill/>
          <a:ln w="31750">
            <a:solidFill>
              <a:srgbClr val="7DD3FC"/>
            </a:solidFill>
            <a:prstDash val="solid"/>
          </a:ln>
        </p:spPr>
      </p:sp>
      <p:sp>
        <p:nvSpPr>
          <p:cNvPr id="11" name="Shape 8"/>
          <p:cNvSpPr/>
          <p:nvPr/>
        </p:nvSpPr>
        <p:spPr>
          <a:xfrm>
            <a:off x="8397621" y="2820924"/>
            <a:ext cx="621792" cy="621792"/>
          </a:xfrm>
          <a:prstGeom prst="ellipse">
            <a:avLst/>
          </a:prstGeom>
          <a:ln w="31750">
            <a:solidFill>
              <a:srgbClr val="FF7A3A"/>
            </a:solidFill>
            <a:prstDash val="solid"/>
          </a:ln>
        </p:spPr>
      </p:sp>
      <p:sp>
        <p:nvSpPr>
          <p:cNvPr id="12" name="Shape 9"/>
          <p:cNvSpPr/>
          <p:nvPr/>
        </p:nvSpPr>
        <p:spPr>
          <a:xfrm>
            <a:off x="8662797" y="3086100"/>
            <a:ext cx="91440" cy="91440"/>
          </a:xfrm>
          <a:prstGeom prst="ellipse">
            <a:avLst/>
          </a:prstGeom>
          <a:solidFill>
            <a:srgbClr val="FF7A3A"/>
          </a:solidFill>
          <a:ln/>
        </p:spPr>
      </p:sp>
      <p:sp>
        <p:nvSpPr>
          <p:cNvPr id="13" name="Shape 10"/>
          <p:cNvSpPr/>
          <p:nvPr/>
        </p:nvSpPr>
        <p:spPr>
          <a:xfrm>
            <a:off x="8233029" y="3131820"/>
            <a:ext cx="219456" cy="914"/>
          </a:xfrm>
          <a:prstGeom prst="line">
            <a:avLst/>
          </a:prstGeom>
          <a:noFill/>
          <a:ln w="31750">
            <a:solidFill>
              <a:srgbClr val="FF7A3A"/>
            </a:solidFill>
            <a:prstDash val="solid"/>
          </a:ln>
        </p:spPr>
      </p:sp>
      <p:sp>
        <p:nvSpPr>
          <p:cNvPr id="14" name="Shape 11"/>
          <p:cNvSpPr/>
          <p:nvPr/>
        </p:nvSpPr>
        <p:spPr>
          <a:xfrm>
            <a:off x="8964549" y="3131820"/>
            <a:ext cx="219456" cy="914"/>
          </a:xfrm>
          <a:prstGeom prst="line">
            <a:avLst/>
          </a:prstGeom>
          <a:noFill/>
          <a:ln w="31750">
            <a:solidFill>
              <a:srgbClr val="FF7A3A"/>
            </a:solidFill>
            <a:prstDash val="solid"/>
          </a:ln>
        </p:spPr>
      </p:sp>
      <p:sp>
        <p:nvSpPr>
          <p:cNvPr id="15" name="Shape 12"/>
          <p:cNvSpPr/>
          <p:nvPr/>
        </p:nvSpPr>
        <p:spPr>
          <a:xfrm>
            <a:off x="8708517" y="2656332"/>
            <a:ext cx="914" cy="219456"/>
          </a:xfrm>
          <a:prstGeom prst="line">
            <a:avLst/>
          </a:prstGeom>
          <a:noFill/>
          <a:ln w="31750">
            <a:solidFill>
              <a:srgbClr val="FF7A3A"/>
            </a:solidFill>
            <a:prstDash val="solid"/>
          </a:ln>
        </p:spPr>
      </p:sp>
      <p:sp>
        <p:nvSpPr>
          <p:cNvPr id="16" name="Shape 13"/>
          <p:cNvSpPr/>
          <p:nvPr/>
        </p:nvSpPr>
        <p:spPr>
          <a:xfrm>
            <a:off x="8708517" y="3387852"/>
            <a:ext cx="914" cy="219456"/>
          </a:xfrm>
          <a:prstGeom prst="line">
            <a:avLst/>
          </a:prstGeom>
          <a:noFill/>
          <a:ln w="31750">
            <a:solidFill>
              <a:srgbClr val="FF7A3A"/>
            </a:solidFill>
            <a:prstDash val="solid"/>
          </a:ln>
        </p:spPr>
      </p:sp>
      <p:sp>
        <p:nvSpPr>
          <p:cNvPr id="17" name="Shape 14"/>
          <p:cNvSpPr/>
          <p:nvPr/>
        </p:nvSpPr>
        <p:spPr>
          <a:xfrm>
            <a:off x="6355080" y="411480"/>
            <a:ext cx="3182112" cy="292608"/>
          </a:xfrm>
          <a:prstGeom prst="roundRect">
            <a:avLst>
              <a:gd name="adj" fmla="val 15625"/>
            </a:avLst>
          </a:prstGeom>
          <a:solidFill>
            <a:srgbClr val="FF7A3A"/>
          </a:solidFill>
          <a:ln/>
        </p:spPr>
      </p:sp>
      <p:sp>
        <p:nvSpPr>
          <p:cNvPr id="18" name="Text 15"/>
          <p:cNvSpPr txBox="1"/>
          <p:nvPr/>
        </p:nvSpPr>
        <p:spPr>
          <a:xfrm>
            <a:off x="6355080" y="411480"/>
            <a:ext cx="3182112" cy="292608"/>
          </a:xfrm>
          <a:prstGeom prst="rect">
            <a:avLst/>
          </a:prstGeom>
          <a:noFill/>
          <a:ln/>
        </p:spPr>
        <p:txBody>
          <a:bodyPr wrap="square" lIns="0" tIns="0" rIns="0" bIns="0" rtlCol="0" anchor="ctr"/>
          <a:lstStyle/>
          <a:p>
            <a:pPr algn="ctr" indent="0" marL="0">
              <a:buNone/>
            </a:pPr>
            <a:r>
              <a:rPr lang="en-US" sz="1100" b="1" spc="100" kern="0" dirty="0">
                <a:solidFill>
                  <a:srgbClr val="16213A"/>
                </a:solidFill>
                <a:latin typeface="Calibri" pitchFamily="34" charset="0"/>
                <a:ea typeface="Calibri" pitchFamily="34" charset="-122"/>
                <a:cs typeface="Calibri" pitchFamily="34" charset="-120"/>
              </a:rPr>
              <a:t>MOBILE BASE  ·  TOP VIEW OF THE LAB</a:t>
            </a:r>
            <a:endParaRPr lang="en-US" sz="1100" dirty="0"/>
          </a:p>
        </p:txBody>
      </p:sp>
      <p:sp>
        <p:nvSpPr>
          <p:cNvPr id="19" name="Text 16"/>
          <p:cNvSpPr txBox="1"/>
          <p:nvPr/>
        </p:nvSpPr>
        <p:spPr>
          <a:xfrm>
            <a:off x="6355080" y="5650992"/>
            <a:ext cx="5285232" cy="274320"/>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Backup slides A1 to A10 follow.</a:t>
            </a:r>
            <a:endParaRPr lang="en-US" sz="1200" dirty="0"/>
          </a:p>
        </p:txBody>
      </p:sp>
      <p:sp>
        <p:nvSpPr>
          <p:cNvPr id="20" name="Text 17"/>
          <p:cNvSpPr txBox="1"/>
          <p:nvPr/>
        </p:nvSpPr>
        <p:spPr>
          <a:xfrm>
            <a:off x="548640" y="1051560"/>
            <a:ext cx="4572000" cy="274320"/>
          </a:xfrm>
          <a:prstGeom prst="rect">
            <a:avLst/>
          </a:prstGeom>
          <a:noFill/>
          <a:ln/>
        </p:spPr>
        <p:txBody>
          <a:bodyPr wrap="square" lIns="0" tIns="0" rIns="0" bIns="0" rtlCol="0" anchor="ctr"/>
          <a:lstStyle/>
          <a:p>
            <a:pPr indent="0" marL="0">
              <a:buNone/>
            </a:pPr>
            <a:r>
              <a:rPr lang="en-US" sz="1200" b="1" spc="200" kern="0" dirty="0">
                <a:solidFill>
                  <a:srgbClr val="FF7A3A"/>
                </a:solidFill>
                <a:latin typeface="Calibri" pitchFamily="34" charset="0"/>
                <a:ea typeface="Calibri" pitchFamily="34" charset="-122"/>
                <a:cs typeface="Calibri" pitchFamily="34" charset="-120"/>
              </a:rPr>
              <a:t>THANK YOU</a:t>
            </a:r>
            <a:endParaRPr lang="en-US" sz="1200" dirty="0"/>
          </a:p>
        </p:txBody>
      </p:sp>
      <p:sp>
        <p:nvSpPr>
          <p:cNvPr id="21" name="Text 18"/>
          <p:cNvSpPr txBox="1"/>
          <p:nvPr/>
        </p:nvSpPr>
        <p:spPr>
          <a:xfrm>
            <a:off x="548640" y="1371600"/>
            <a:ext cx="5394960" cy="1005840"/>
          </a:xfrm>
          <a:prstGeom prst="rect">
            <a:avLst/>
          </a:prstGeom>
          <a:noFill/>
          <a:ln/>
        </p:spPr>
        <p:txBody>
          <a:bodyPr wrap="square" lIns="0" tIns="0" rIns="0" bIns="0" rtlCol="0" anchor="ctr"/>
          <a:lstStyle/>
          <a:p>
            <a:pPr indent="0" marL="0">
              <a:buNone/>
            </a:pPr>
            <a:r>
              <a:rPr lang="en-US" sz="6000" b="1" dirty="0">
                <a:solidFill>
                  <a:srgbClr val="FFFFFF"/>
                </a:solidFill>
                <a:latin typeface="Calibri" pitchFamily="34" charset="0"/>
                <a:ea typeface="Calibri" pitchFamily="34" charset="-122"/>
                <a:cs typeface="Calibri" pitchFamily="34" charset="-120"/>
              </a:rPr>
              <a:t>Questions</a:t>
            </a:r>
            <a:endParaRPr lang="en-US" sz="6000" dirty="0"/>
          </a:p>
        </p:txBody>
      </p:sp>
      <p:sp>
        <p:nvSpPr>
          <p:cNvPr id="22" name="Text 19"/>
          <p:cNvSpPr txBox="1"/>
          <p:nvPr/>
        </p:nvSpPr>
        <p:spPr>
          <a:xfrm>
            <a:off x="548640" y="2514600"/>
            <a:ext cx="5394960" cy="365760"/>
          </a:xfrm>
          <a:prstGeom prst="rect">
            <a:avLst/>
          </a:prstGeom>
          <a:noFill/>
          <a:ln/>
        </p:spPr>
        <p:txBody>
          <a:bodyPr wrap="square" lIns="0" tIns="0" rIns="0" bIns="0" rtlCol="0" anchor="ctr"/>
          <a:lstStyle/>
          <a:p>
            <a:pPr indent="0" marL="0">
              <a:buNone/>
            </a:pPr>
            <a:r>
              <a:rPr lang="en-US" sz="1800" i="1" dirty="0">
                <a:solidFill>
                  <a:srgbClr val="FF7A3A"/>
                </a:solidFill>
                <a:latin typeface="Calibri" pitchFamily="34" charset="0"/>
                <a:ea typeface="Calibri" pitchFamily="34" charset="-122"/>
                <a:cs typeface="Calibri" pitchFamily="34" charset="-120"/>
              </a:rPr>
              <a:t>Look at it, name it, and the robot fetches that one.</a:t>
            </a:r>
            <a:endParaRPr lang="en-US" sz="1800" dirty="0"/>
          </a:p>
        </p:txBody>
      </p:sp>
      <p:sp>
        <p:nvSpPr>
          <p:cNvPr id="23" name="Text 20"/>
          <p:cNvSpPr txBox="1"/>
          <p:nvPr/>
        </p:nvSpPr>
        <p:spPr>
          <a:xfrm>
            <a:off x="548640" y="3291840"/>
            <a:ext cx="539496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Dion  ·  Sherman  ·  Zongzhe</a:t>
            </a:r>
            <a:endParaRPr lang="en-US" sz="1800" dirty="0"/>
          </a:p>
        </p:txBody>
      </p:sp>
      <p:sp>
        <p:nvSpPr>
          <p:cNvPr id="24" name="Text 21"/>
          <p:cNvSpPr txBox="1"/>
          <p:nvPr/>
        </p:nvSpPr>
        <p:spPr>
          <a:xfrm>
            <a:off x="548640" y="3749040"/>
            <a:ext cx="5120640" cy="640080"/>
          </a:xfrm>
          <a:prstGeom prst="rect">
            <a:avLst/>
          </a:prstGeom>
          <a:noFill/>
          <a:ln/>
        </p:spPr>
        <p:txBody>
          <a:bodyPr wrap="square" lIns="0" tIns="0" rIns="0" bIns="0" rtlCol="0" anchor="t"/>
          <a:lstStyle/>
          <a:p>
            <a:pPr indent="0" marL="0">
              <a:buNone/>
            </a:pPr>
            <a:r>
              <a:rPr lang="en-US" sz="1300" dirty="0">
                <a:solidFill>
                  <a:srgbClr val="CBD5E1"/>
                </a:solidFill>
                <a:latin typeface="Calibri" pitchFamily="34" charset="0"/>
                <a:ea typeface="Calibri" pitchFamily="34" charset="-122"/>
                <a:cs typeface="Calibri" pitchFamily="34" charset="-120"/>
              </a:rPr>
              <a:t>Backup: wiring, frames, matching, grasp options, map accuracy, limitations, plan, evaluation.</a:t>
            </a:r>
            <a:endParaRPr lang="en-US" sz="1300" dirty="0"/>
          </a:p>
        </p:txBody>
      </p:sp>
      <p:sp>
        <p:nvSpPr>
          <p:cNvPr id="25" name="Shape 22"/>
          <p:cNvSpPr/>
          <p:nvPr/>
        </p:nvSpPr>
        <p:spPr>
          <a:xfrm>
            <a:off x="548640" y="5989320"/>
            <a:ext cx="1600200" cy="64008"/>
          </a:xfrm>
          <a:prstGeom prst="roundRect">
            <a:avLst>
              <a:gd name="adj" fmla="val 42857"/>
            </a:avLst>
          </a:prstGeom>
          <a:solidFill>
            <a:srgbClr val="64748B"/>
          </a:solidFill>
          <a:ln/>
        </p:spPr>
      </p:sp>
      <p:sp>
        <p:nvSpPr>
          <p:cNvPr id="26" name="Text 23"/>
          <p:cNvSpPr txBox="1"/>
          <p:nvPr/>
        </p:nvSpPr>
        <p:spPr>
          <a:xfrm>
            <a:off x="548640" y="6108192"/>
            <a:ext cx="1600200" cy="22860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Problem and plan</a:t>
            </a:r>
            <a:endParaRPr lang="en-US" sz="1100" dirty="0"/>
          </a:p>
        </p:txBody>
      </p:sp>
      <p:sp>
        <p:nvSpPr>
          <p:cNvPr id="27" name="Shape 24"/>
          <p:cNvSpPr/>
          <p:nvPr/>
        </p:nvSpPr>
        <p:spPr>
          <a:xfrm>
            <a:off x="2258568" y="5989320"/>
            <a:ext cx="1600200" cy="64008"/>
          </a:xfrm>
          <a:prstGeom prst="roundRect">
            <a:avLst>
              <a:gd name="adj" fmla="val 42857"/>
            </a:avLst>
          </a:prstGeom>
          <a:solidFill>
            <a:srgbClr val="64748B"/>
          </a:solidFill>
          <a:ln/>
        </p:spPr>
      </p:sp>
      <p:sp>
        <p:nvSpPr>
          <p:cNvPr id="28" name="Text 25"/>
          <p:cNvSpPr txBox="1"/>
          <p:nvPr/>
        </p:nvSpPr>
        <p:spPr>
          <a:xfrm>
            <a:off x="2258568" y="6108192"/>
            <a:ext cx="1600200" cy="22860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Results</a:t>
            </a:r>
            <a:endParaRPr lang="en-US" sz="1100" dirty="0"/>
          </a:p>
        </p:txBody>
      </p:sp>
      <p:sp>
        <p:nvSpPr>
          <p:cNvPr id="29" name="Shape 26"/>
          <p:cNvSpPr/>
          <p:nvPr/>
        </p:nvSpPr>
        <p:spPr>
          <a:xfrm>
            <a:off x="3968496" y="5989320"/>
            <a:ext cx="1600200" cy="64008"/>
          </a:xfrm>
          <a:prstGeom prst="roundRect">
            <a:avLst>
              <a:gd name="adj" fmla="val 42857"/>
            </a:avLst>
          </a:prstGeom>
          <a:solidFill>
            <a:srgbClr val="64748B"/>
          </a:solidFill>
          <a:ln/>
        </p:spPr>
      </p:sp>
      <p:sp>
        <p:nvSpPr>
          <p:cNvPr id="30" name="Text 27"/>
          <p:cNvSpPr txBox="1"/>
          <p:nvPr/>
        </p:nvSpPr>
        <p:spPr>
          <a:xfrm>
            <a:off x="3968496" y="6108192"/>
            <a:ext cx="1600200" cy="22860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Where we stand</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6213A"/>
        </a:solidFill>
      </p:bgPr>
    </p:bg>
    <p:spTree>
      <p:nvGrpSpPr>
        <p:cNvPr id="1" name=""/>
        <p:cNvGrpSpPr/>
        <p:nvPr/>
      </p:nvGrpSpPr>
      <p:grpSpPr>
        <a:xfrm>
          <a:off x="0" y="0"/>
          <a:ext cx="0" cy="0"/>
          <a:chOff x="0" y="0"/>
          <a:chExt cx="0" cy="0"/>
        </a:xfrm>
      </p:grpSpPr>
      <p:sp>
        <p:nvSpPr>
          <p:cNvPr id="2" name="Text 0"/>
          <p:cNvSpPr txBox="1"/>
          <p:nvPr/>
        </p:nvSpPr>
        <p:spPr>
          <a:xfrm>
            <a:off x="548640" y="1097280"/>
            <a:ext cx="7315200" cy="274320"/>
          </a:xfrm>
          <a:prstGeom prst="rect">
            <a:avLst/>
          </a:prstGeom>
          <a:noFill/>
          <a:ln/>
        </p:spPr>
        <p:txBody>
          <a:bodyPr wrap="square" lIns="0" tIns="0" rIns="0" bIns="0" rtlCol="0" anchor="ctr"/>
          <a:lstStyle/>
          <a:p>
            <a:pPr indent="0" marL="0">
              <a:buNone/>
            </a:pPr>
            <a:r>
              <a:rPr lang="en-US" sz="1200" b="1" spc="200" kern="0" dirty="0">
                <a:solidFill>
                  <a:srgbClr val="7DD3FC"/>
                </a:solidFill>
                <a:latin typeface="Calibri" pitchFamily="34" charset="0"/>
                <a:ea typeface="Calibri" pitchFamily="34" charset="-122"/>
                <a:cs typeface="Calibri" pitchFamily="34" charset="-120"/>
              </a:rPr>
              <a:t>BACKUP  ·  NOT IN THE 20 MINUTES</a:t>
            </a:r>
            <a:endParaRPr lang="en-US" sz="1200" dirty="0"/>
          </a:p>
        </p:txBody>
      </p:sp>
      <p:sp>
        <p:nvSpPr>
          <p:cNvPr id="3" name="Text 1"/>
          <p:cNvSpPr txBox="1"/>
          <p:nvPr/>
        </p:nvSpPr>
        <p:spPr>
          <a:xfrm>
            <a:off x="548640" y="1417320"/>
            <a:ext cx="7315200" cy="86868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Appendix</a:t>
            </a:r>
            <a:endParaRPr lang="en-US" sz="4400" dirty="0"/>
          </a:p>
        </p:txBody>
      </p:sp>
      <p:sp>
        <p:nvSpPr>
          <p:cNvPr id="4" name="Text 2"/>
          <p:cNvSpPr txBox="1"/>
          <p:nvPr/>
        </p:nvSpPr>
        <p:spPr>
          <a:xfrm>
            <a:off x="548640" y="2651760"/>
            <a:ext cx="5394960" cy="411480"/>
          </a:xfrm>
          <a:prstGeom prst="rect">
            <a:avLst/>
          </a:prstGeom>
          <a:noFill/>
          <a:ln/>
        </p:spPr>
        <p:txBody>
          <a:bodyPr wrap="square" lIns="0" tIns="0" rIns="0" bIns="0" rtlCol="0" anchor="ctr"/>
          <a:lstStyle/>
          <a:p>
            <a:pPr indent="0" marL="0">
              <a:buNone/>
            </a:pPr>
            <a:r>
              <a:rPr lang="en-US" sz="1600" b="1" dirty="0">
                <a:solidFill>
                  <a:srgbClr val="7DD3FC"/>
                </a:solidFill>
                <a:latin typeface="Calibri" pitchFamily="34" charset="0"/>
                <a:ea typeface="Calibri" pitchFamily="34" charset="-122"/>
                <a:cs typeface="Calibri" pitchFamily="34" charset="-120"/>
              </a:rPr>
              <a:t>A1   </a:t>
            </a:r>
            <a:pPr indent="0" marL="0">
              <a:buNone/>
            </a:pPr>
            <a:r>
              <a:rPr lang="en-US" sz="1600" dirty="0">
                <a:solidFill>
                  <a:srgbClr val="FFFFFF"/>
                </a:solidFill>
                <a:latin typeface="Calibri" pitchFamily="34" charset="0"/>
                <a:ea typeface="Calibri" pitchFamily="34" charset="-122"/>
                <a:cs typeface="Calibri" pitchFamily="34" charset="-120"/>
              </a:rPr>
              <a:t>Topic-level wiring today</a:t>
            </a:r>
            <a:endParaRPr lang="en-US" sz="1600" dirty="0"/>
          </a:p>
        </p:txBody>
      </p:sp>
      <p:sp>
        <p:nvSpPr>
          <p:cNvPr id="5" name="Text 3"/>
          <p:cNvSpPr txBox="1"/>
          <p:nvPr/>
        </p:nvSpPr>
        <p:spPr>
          <a:xfrm>
            <a:off x="548640" y="3218688"/>
            <a:ext cx="5394960" cy="411480"/>
          </a:xfrm>
          <a:prstGeom prst="rect">
            <a:avLst/>
          </a:prstGeom>
          <a:noFill/>
          <a:ln/>
        </p:spPr>
        <p:txBody>
          <a:bodyPr wrap="square" lIns="0" tIns="0" rIns="0" bIns="0" rtlCol="0" anchor="ctr"/>
          <a:lstStyle/>
          <a:p>
            <a:pPr indent="0" marL="0">
              <a:buNone/>
            </a:pPr>
            <a:r>
              <a:rPr lang="en-US" sz="1600" b="1" dirty="0">
                <a:solidFill>
                  <a:srgbClr val="7DD3FC"/>
                </a:solidFill>
                <a:latin typeface="Calibri" pitchFamily="34" charset="0"/>
                <a:ea typeface="Calibri" pitchFamily="34" charset="-122"/>
                <a:cs typeface="Calibri" pitchFamily="34" charset="-120"/>
              </a:rPr>
              <a:t>A2   </a:t>
            </a:r>
            <a:pPr indent="0" marL="0">
              <a:buNone/>
            </a:pPr>
            <a:r>
              <a:rPr lang="en-US" sz="1600" dirty="0">
                <a:solidFill>
                  <a:srgbClr val="FFFFFF"/>
                </a:solidFill>
                <a:latin typeface="Calibri" pitchFamily="34" charset="0"/>
                <a:ea typeface="Calibri" pitchFamily="34" charset="-122"/>
                <a:cs typeface="Calibri" pitchFamily="34" charset="-120"/>
              </a:rPr>
              <a:t>Coordinate frames</a:t>
            </a:r>
            <a:endParaRPr lang="en-US" sz="1600" dirty="0"/>
          </a:p>
        </p:txBody>
      </p:sp>
      <p:sp>
        <p:nvSpPr>
          <p:cNvPr id="6" name="Text 4"/>
          <p:cNvSpPr txBox="1"/>
          <p:nvPr/>
        </p:nvSpPr>
        <p:spPr>
          <a:xfrm>
            <a:off x="548640" y="3785616"/>
            <a:ext cx="5394960" cy="411480"/>
          </a:xfrm>
          <a:prstGeom prst="rect">
            <a:avLst/>
          </a:prstGeom>
          <a:noFill/>
          <a:ln/>
        </p:spPr>
        <p:txBody>
          <a:bodyPr wrap="square" lIns="0" tIns="0" rIns="0" bIns="0" rtlCol="0" anchor="ctr"/>
          <a:lstStyle/>
          <a:p>
            <a:pPr indent="0" marL="0">
              <a:buNone/>
            </a:pPr>
            <a:r>
              <a:rPr lang="en-US" sz="1600" b="1" dirty="0">
                <a:solidFill>
                  <a:srgbClr val="7DD3FC"/>
                </a:solidFill>
                <a:latin typeface="Calibri" pitchFamily="34" charset="0"/>
                <a:ea typeface="Calibri" pitchFamily="34" charset="-122"/>
                <a:cs typeface="Calibri" pitchFamily="34" charset="-120"/>
              </a:rPr>
              <a:t>A3   </a:t>
            </a:r>
            <a:pPr indent="0" marL="0">
              <a:buNone/>
            </a:pPr>
            <a:r>
              <a:rPr lang="en-US" sz="1600" dirty="0">
                <a:solidFill>
                  <a:srgbClr val="FFFFFF"/>
                </a:solidFill>
                <a:latin typeface="Calibri" pitchFamily="34" charset="0"/>
                <a:ea typeface="Calibri" pitchFamily="34" charset="-122"/>
                <a:cs typeface="Calibri" pitchFamily="34" charset="-120"/>
              </a:rPr>
              <a:t>Matching rule and thresholds</a:t>
            </a:r>
            <a:endParaRPr lang="en-US" sz="1600" dirty="0"/>
          </a:p>
        </p:txBody>
      </p:sp>
      <p:sp>
        <p:nvSpPr>
          <p:cNvPr id="7" name="Text 5"/>
          <p:cNvSpPr txBox="1"/>
          <p:nvPr/>
        </p:nvSpPr>
        <p:spPr>
          <a:xfrm>
            <a:off x="548640" y="4352544"/>
            <a:ext cx="5394960" cy="411480"/>
          </a:xfrm>
          <a:prstGeom prst="rect">
            <a:avLst/>
          </a:prstGeom>
          <a:noFill/>
          <a:ln/>
        </p:spPr>
        <p:txBody>
          <a:bodyPr wrap="square" lIns="0" tIns="0" rIns="0" bIns="0" rtlCol="0" anchor="ctr"/>
          <a:lstStyle/>
          <a:p>
            <a:pPr indent="0" marL="0">
              <a:buNone/>
            </a:pPr>
            <a:r>
              <a:rPr lang="en-US" sz="1600" b="1" dirty="0">
                <a:solidFill>
                  <a:srgbClr val="7DD3FC"/>
                </a:solidFill>
                <a:latin typeface="Calibri" pitchFamily="34" charset="0"/>
                <a:ea typeface="Calibri" pitchFamily="34" charset="-122"/>
                <a:cs typeface="Calibri" pitchFamily="34" charset="-120"/>
              </a:rPr>
              <a:t>A4   </a:t>
            </a:r>
            <a:pPr indent="0" marL="0">
              <a:buNone/>
            </a:pPr>
            <a:r>
              <a:rPr lang="en-US" sz="1600" dirty="0">
                <a:solidFill>
                  <a:srgbClr val="FFFFFF"/>
                </a:solidFill>
                <a:latin typeface="Calibri" pitchFamily="34" charset="0"/>
                <a:ea typeface="Calibri" pitchFamily="34" charset="-122"/>
                <a:cs typeface="Calibri" pitchFamily="34" charset="-120"/>
              </a:rPr>
              <a:t>Grasp filters and the five options</a:t>
            </a:r>
            <a:endParaRPr lang="en-US" sz="1600" dirty="0"/>
          </a:p>
        </p:txBody>
      </p:sp>
      <p:sp>
        <p:nvSpPr>
          <p:cNvPr id="8" name="Text 6"/>
          <p:cNvSpPr txBox="1"/>
          <p:nvPr/>
        </p:nvSpPr>
        <p:spPr>
          <a:xfrm>
            <a:off x="548640" y="4919472"/>
            <a:ext cx="5394960" cy="411480"/>
          </a:xfrm>
          <a:prstGeom prst="rect">
            <a:avLst/>
          </a:prstGeom>
          <a:noFill/>
          <a:ln/>
        </p:spPr>
        <p:txBody>
          <a:bodyPr wrap="square" lIns="0" tIns="0" rIns="0" bIns="0" rtlCol="0" anchor="ctr"/>
          <a:lstStyle/>
          <a:p>
            <a:pPr indent="0" marL="0">
              <a:buNone/>
            </a:pPr>
            <a:r>
              <a:rPr lang="en-US" sz="1600" b="1" dirty="0">
                <a:solidFill>
                  <a:srgbClr val="7DD3FC"/>
                </a:solidFill>
                <a:latin typeface="Calibri" pitchFamily="34" charset="0"/>
                <a:ea typeface="Calibri" pitchFamily="34" charset="-122"/>
                <a:cs typeface="Calibri" pitchFamily="34" charset="-120"/>
              </a:rPr>
              <a:t>A5   </a:t>
            </a:r>
            <a:pPr indent="0" marL="0">
              <a:buNone/>
            </a:pPr>
            <a:r>
              <a:rPr lang="en-US" sz="1600" dirty="0">
                <a:solidFill>
                  <a:srgbClr val="FFFFFF"/>
                </a:solidFill>
                <a:latin typeface="Calibri" pitchFamily="34" charset="0"/>
                <a:ea typeface="Calibri" pitchFamily="34" charset="-122"/>
                <a:cs typeface="Calibri" pitchFamily="34" charset="-120"/>
              </a:rPr>
              <a:t>FAST-LIVO2 port defects and mid-route accuracy</a:t>
            </a:r>
            <a:endParaRPr lang="en-US" sz="1600" dirty="0"/>
          </a:p>
        </p:txBody>
      </p:sp>
      <p:sp>
        <p:nvSpPr>
          <p:cNvPr id="9" name="Text 7"/>
          <p:cNvSpPr txBox="1"/>
          <p:nvPr/>
        </p:nvSpPr>
        <p:spPr>
          <a:xfrm>
            <a:off x="6126480" y="2651760"/>
            <a:ext cx="5394960" cy="411480"/>
          </a:xfrm>
          <a:prstGeom prst="rect">
            <a:avLst/>
          </a:prstGeom>
          <a:noFill/>
          <a:ln/>
        </p:spPr>
        <p:txBody>
          <a:bodyPr wrap="square" lIns="0" tIns="0" rIns="0" bIns="0" rtlCol="0" anchor="ctr"/>
          <a:lstStyle/>
          <a:p>
            <a:pPr indent="0" marL="0">
              <a:buNone/>
            </a:pPr>
            <a:r>
              <a:rPr lang="en-US" sz="1600" b="1" dirty="0">
                <a:solidFill>
                  <a:srgbClr val="7DD3FC"/>
                </a:solidFill>
                <a:latin typeface="Calibri" pitchFamily="34" charset="0"/>
                <a:ea typeface="Calibri" pitchFamily="34" charset="-122"/>
                <a:cs typeface="Calibri" pitchFamily="34" charset="-120"/>
              </a:rPr>
              <a:t>A6   </a:t>
            </a:r>
            <a:pPr indent="0" marL="0">
              <a:buNone/>
            </a:pPr>
            <a:r>
              <a:rPr lang="en-US" sz="1600" dirty="0">
                <a:solidFill>
                  <a:srgbClr val="FFFFFF"/>
                </a:solidFill>
                <a:latin typeface="Calibri" pitchFamily="34" charset="0"/>
                <a:ea typeface="Calibri" pitchFamily="34" charset="-122"/>
                <a:cs typeface="Calibri" pitchFamily="34" charset="-120"/>
              </a:rPr>
              <a:t>Limitations, risks and observed failures</a:t>
            </a:r>
            <a:endParaRPr lang="en-US" sz="1600" dirty="0"/>
          </a:p>
        </p:txBody>
      </p:sp>
      <p:sp>
        <p:nvSpPr>
          <p:cNvPr id="10" name="Text 8"/>
          <p:cNvSpPr txBox="1"/>
          <p:nvPr/>
        </p:nvSpPr>
        <p:spPr>
          <a:xfrm>
            <a:off x="6126480" y="3218688"/>
            <a:ext cx="5394960" cy="411480"/>
          </a:xfrm>
          <a:prstGeom prst="rect">
            <a:avLst/>
          </a:prstGeom>
          <a:noFill/>
          <a:ln/>
        </p:spPr>
        <p:txBody>
          <a:bodyPr wrap="square" lIns="0" tIns="0" rIns="0" bIns="0" rtlCol="0" anchor="ctr"/>
          <a:lstStyle/>
          <a:p>
            <a:pPr indent="0" marL="0">
              <a:buNone/>
            </a:pPr>
            <a:r>
              <a:rPr lang="en-US" sz="1600" b="1" dirty="0">
                <a:solidFill>
                  <a:srgbClr val="7DD3FC"/>
                </a:solidFill>
                <a:latin typeface="Calibri" pitchFamily="34" charset="0"/>
                <a:ea typeface="Calibri" pitchFamily="34" charset="-122"/>
                <a:cs typeface="Calibri" pitchFamily="34" charset="-120"/>
              </a:rPr>
              <a:t>A7   </a:t>
            </a:r>
            <a:pPr indent="0" marL="0">
              <a:buNone/>
            </a:pPr>
            <a:r>
              <a:rPr lang="en-US" sz="1600" dirty="0">
                <a:solidFill>
                  <a:srgbClr val="FFFFFF"/>
                </a:solidFill>
                <a:latin typeface="Calibri" pitchFamily="34" charset="0"/>
                <a:ea typeface="Calibri" pitchFamily="34" charset="-122"/>
                <a:cs typeface="Calibri" pitchFamily="34" charset="-120"/>
              </a:rPr>
              <a:t>September plan vs now</a:t>
            </a:r>
            <a:endParaRPr lang="en-US" sz="1600" dirty="0"/>
          </a:p>
        </p:txBody>
      </p:sp>
      <p:sp>
        <p:nvSpPr>
          <p:cNvPr id="11" name="Text 9"/>
          <p:cNvSpPr txBox="1"/>
          <p:nvPr/>
        </p:nvSpPr>
        <p:spPr>
          <a:xfrm>
            <a:off x="6126480" y="3785616"/>
            <a:ext cx="5394960" cy="411480"/>
          </a:xfrm>
          <a:prstGeom prst="rect">
            <a:avLst/>
          </a:prstGeom>
          <a:noFill/>
          <a:ln/>
        </p:spPr>
        <p:txBody>
          <a:bodyPr wrap="square" lIns="0" tIns="0" rIns="0" bIns="0" rtlCol="0" anchor="ctr"/>
          <a:lstStyle/>
          <a:p>
            <a:pPr indent="0" marL="0">
              <a:buNone/>
            </a:pPr>
            <a:r>
              <a:rPr lang="en-US" sz="1600" b="1" dirty="0">
                <a:solidFill>
                  <a:srgbClr val="7DD3FC"/>
                </a:solidFill>
                <a:latin typeface="Calibri" pitchFamily="34" charset="0"/>
                <a:ea typeface="Calibri" pitchFamily="34" charset="-122"/>
                <a:cs typeface="Calibri" pitchFamily="34" charset="-120"/>
              </a:rPr>
              <a:t>A8   </a:t>
            </a:r>
            <a:pPr indent="0" marL="0">
              <a:buNone/>
            </a:pPr>
            <a:r>
              <a:rPr lang="en-US" sz="1600" dirty="0">
                <a:solidFill>
                  <a:srgbClr val="FFFFFF"/>
                </a:solidFill>
                <a:latin typeface="Calibri" pitchFamily="34" charset="0"/>
                <a:ea typeface="Calibri" pitchFamily="34" charset="-122"/>
                <a:cs typeface="Calibri" pitchFamily="34" charset="-120"/>
              </a:rPr>
              <a:t>Why gaze, not just a class name</a:t>
            </a:r>
            <a:endParaRPr lang="en-US" sz="1600" dirty="0"/>
          </a:p>
        </p:txBody>
      </p:sp>
      <p:sp>
        <p:nvSpPr>
          <p:cNvPr id="12" name="Text 10"/>
          <p:cNvSpPr txBox="1"/>
          <p:nvPr/>
        </p:nvSpPr>
        <p:spPr>
          <a:xfrm>
            <a:off x="6126480" y="4352544"/>
            <a:ext cx="5394960" cy="411480"/>
          </a:xfrm>
          <a:prstGeom prst="rect">
            <a:avLst/>
          </a:prstGeom>
          <a:noFill/>
          <a:ln/>
        </p:spPr>
        <p:txBody>
          <a:bodyPr wrap="square" lIns="0" tIns="0" rIns="0" bIns="0" rtlCol="0" anchor="ctr"/>
          <a:lstStyle/>
          <a:p>
            <a:pPr indent="0" marL="0">
              <a:buNone/>
            </a:pPr>
            <a:r>
              <a:rPr lang="en-US" sz="1600" b="1" dirty="0">
                <a:solidFill>
                  <a:srgbClr val="7DD3FC"/>
                </a:solidFill>
                <a:latin typeface="Calibri" pitchFamily="34" charset="0"/>
                <a:ea typeface="Calibri" pitchFamily="34" charset="-122"/>
                <a:cs typeface="Calibri" pitchFamily="34" charset="-120"/>
              </a:rPr>
              <a:t>A9   </a:t>
            </a:r>
            <a:pPr indent="0" marL="0">
              <a:buNone/>
            </a:pPr>
            <a:r>
              <a:rPr lang="en-US" sz="1600" dirty="0">
                <a:solidFill>
                  <a:srgbClr val="FFFFFF"/>
                </a:solidFill>
                <a:latin typeface="Calibri" pitchFamily="34" charset="0"/>
                <a:ea typeface="Calibri" pitchFamily="34" charset="-122"/>
                <a:cs typeface="Calibri" pitchFamily="34" charset="-120"/>
              </a:rPr>
              <a:t>End-to-end evaluation plan</a:t>
            </a:r>
            <a:endParaRPr lang="en-US" sz="1600" dirty="0"/>
          </a:p>
        </p:txBody>
      </p:sp>
      <p:sp>
        <p:nvSpPr>
          <p:cNvPr id="13" name="Text 11"/>
          <p:cNvSpPr txBox="1"/>
          <p:nvPr/>
        </p:nvSpPr>
        <p:spPr>
          <a:xfrm>
            <a:off x="6126480" y="4919472"/>
            <a:ext cx="5394960" cy="411480"/>
          </a:xfrm>
          <a:prstGeom prst="rect">
            <a:avLst/>
          </a:prstGeom>
          <a:noFill/>
          <a:ln/>
        </p:spPr>
        <p:txBody>
          <a:bodyPr wrap="square" lIns="0" tIns="0" rIns="0" bIns="0" rtlCol="0" anchor="ctr"/>
          <a:lstStyle/>
          <a:p>
            <a:pPr indent="0" marL="0">
              <a:buNone/>
            </a:pPr>
            <a:r>
              <a:rPr lang="en-US" sz="1600" b="1" dirty="0">
                <a:solidFill>
                  <a:srgbClr val="7DD3FC"/>
                </a:solidFill>
                <a:latin typeface="Calibri" pitchFamily="34" charset="0"/>
                <a:ea typeface="Calibri" pitchFamily="34" charset="-122"/>
                <a:cs typeface="Calibri" pitchFamily="34" charset="-120"/>
              </a:rPr>
              <a:t>A10   </a:t>
            </a:r>
            <a:pPr indent="0" marL="0">
              <a:buNone/>
            </a:pPr>
            <a:r>
              <a:rPr lang="en-US" sz="1600" dirty="0">
                <a:solidFill>
                  <a:srgbClr val="FFFFFF"/>
                </a:solidFill>
                <a:latin typeface="Calibri" pitchFamily="34" charset="0"/>
                <a:ea typeface="Calibri" pitchFamily="34" charset="-122"/>
                <a:cs typeface="Calibri" pitchFamily="34" charset="-120"/>
              </a:rPr>
              <a:t>Milestone tests</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28600"/>
          </a:xfrm>
          <a:prstGeom prst="rect">
            <a:avLst/>
          </a:prstGeom>
          <a:noFill/>
          <a:ln/>
        </p:spPr>
        <p:txBody>
          <a:bodyPr wrap="square" lIns="0" tIns="0" rIns="0" bIns="0" rtlCol="0" anchor="ctr"/>
          <a:lstStyle/>
          <a:p>
            <a:pPr indent="0" marL="0">
              <a:buNone/>
            </a:pPr>
            <a:r>
              <a:rPr lang="en-US" sz="1100" b="1" spc="150" kern="0" dirty="0">
                <a:solidFill>
                  <a:srgbClr val="0068B5"/>
                </a:solidFill>
                <a:latin typeface="Calibri" pitchFamily="34" charset="0"/>
                <a:ea typeface="Calibri" pitchFamily="34" charset="-122"/>
                <a:cs typeface="Calibri" pitchFamily="34" charset="-120"/>
              </a:rPr>
              <a:t>GAPPLER  ·  APPENDIX</a:t>
            </a:r>
            <a:endParaRPr lang="en-US" sz="1100" dirty="0"/>
          </a:p>
        </p:txBody>
      </p:sp>
      <p:sp>
        <p:nvSpPr>
          <p:cNvPr id="3" name="Shape 1"/>
          <p:cNvSpPr/>
          <p:nvPr/>
        </p:nvSpPr>
        <p:spPr>
          <a:xfrm>
            <a:off x="9445752" y="347472"/>
            <a:ext cx="2194560" cy="347472"/>
          </a:xfrm>
          <a:prstGeom prst="roundRect">
            <a:avLst>
              <a:gd name="adj" fmla="val 50000"/>
            </a:avLst>
          </a:prstGeom>
          <a:solidFill>
            <a:srgbClr val="16213A"/>
          </a:solidFill>
          <a:ln/>
        </p:spPr>
      </p:sp>
      <p:sp>
        <p:nvSpPr>
          <p:cNvPr id="4" name="Text 2"/>
          <p:cNvSpPr txBox="1"/>
          <p:nvPr/>
        </p:nvSpPr>
        <p:spPr>
          <a:xfrm>
            <a:off x="9445752" y="347472"/>
            <a:ext cx="2194560" cy="347472"/>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BACKUP  ·  A1</a:t>
            </a:r>
            <a:endParaRPr lang="en-US" sz="1100" dirty="0"/>
          </a:p>
        </p:txBody>
      </p:sp>
      <p:sp>
        <p:nvSpPr>
          <p:cNvPr id="5" name="Text 3"/>
          <p:cNvSpPr txBox="1"/>
          <p:nvPr/>
        </p:nvSpPr>
        <p:spPr>
          <a:xfrm>
            <a:off x="548640" y="777240"/>
            <a:ext cx="11091672" cy="548640"/>
          </a:xfrm>
          <a:prstGeom prst="rect">
            <a:avLst/>
          </a:prstGeom>
          <a:noFill/>
          <a:ln/>
        </p:spPr>
        <p:txBody>
          <a:bodyPr wrap="square" lIns="0" tIns="0" rIns="0" bIns="0" rtlCol="0" anchor="ctr"/>
          <a:lstStyle/>
          <a:p>
            <a:pPr indent="0" marL="0">
              <a:buNone/>
            </a:pPr>
            <a:r>
              <a:rPr lang="en-US" sz="3000" b="1" dirty="0">
                <a:solidFill>
                  <a:srgbClr val="16213A"/>
                </a:solidFill>
                <a:latin typeface="Calibri" pitchFamily="34" charset="0"/>
                <a:ea typeface="Calibri" pitchFamily="34" charset="-122"/>
                <a:cs typeface="Calibri" pitchFamily="34" charset="-120"/>
              </a:rPr>
              <a:t>A1  Topic-level wiring today</a:t>
            </a:r>
            <a:endParaRPr lang="en-US" sz="3000" dirty="0"/>
          </a:p>
        </p:txBody>
      </p:sp>
      <p:sp>
        <p:nvSpPr>
          <p:cNvPr id="6" name="Text 4"/>
          <p:cNvSpPr txBox="1"/>
          <p:nvPr/>
        </p:nvSpPr>
        <p:spPr>
          <a:xfrm>
            <a:off x="548640" y="1325880"/>
            <a:ext cx="11091672" cy="320040"/>
          </a:xfrm>
          <a:prstGeom prst="rect">
            <a:avLst/>
          </a:prstGeom>
          <a:noFill/>
          <a:ln/>
        </p:spPr>
        <p:txBody>
          <a:bodyPr wrap="square" lIns="0" tIns="0" rIns="0" bIns="0" rtlCol="0" anchor="ctr"/>
          <a:lstStyle/>
          <a:p>
            <a:pPr indent="0" marL="0">
              <a:buNone/>
            </a:pPr>
            <a:r>
              <a:rPr lang="en-US" sz="1700" dirty="0">
                <a:solidFill>
                  <a:srgbClr val="4B5563"/>
                </a:solidFill>
                <a:latin typeface="Calibri" pitchFamily="34" charset="0"/>
                <a:ea typeface="Calibri" pitchFamily="34" charset="-122"/>
                <a:cs typeface="Calibri" pitchFamily="34" charset="-120"/>
              </a:rPr>
              <a:t>Answers: “What exactly is connected?” Only links that exist in code. Grey rows exist but have not run</a:t>
            </a:r>
            <a:endParaRPr lang="en-US" sz="1700" dirty="0"/>
          </a:p>
        </p:txBody>
      </p:sp>
      <p:sp>
        <p:nvSpPr>
          <p:cNvPr id="7" name="Text 5"/>
          <p:cNvSpPr txBox="1"/>
          <p:nvPr/>
        </p:nvSpPr>
        <p:spPr>
          <a:xfrm>
            <a:off x="548640" y="6355080"/>
            <a:ext cx="822960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Source: COMBINED_PROGRESS_REPORT_2026-10.md §3.3</a:t>
            </a:r>
            <a:endParaRPr lang="en-US" sz="1100" dirty="0"/>
          </a:p>
        </p:txBody>
      </p:sp>
      <p:sp>
        <p:nvSpPr>
          <p:cNvPr id="8" name="Text 6"/>
          <p:cNvSpPr txBox="1"/>
          <p:nvPr/>
        </p:nvSpPr>
        <p:spPr>
          <a:xfrm>
            <a:off x="11091672" y="6355080"/>
            <a:ext cx="548640" cy="27432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24</a:t>
            </a:r>
            <a:endParaRPr lang="en-US" sz="11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017520"/>
                <a:gridCol w="2926080"/>
                <a:gridCol w="3429000"/>
                <a:gridCol w="1719072"/>
              </a:tblGrid>
              <a:tr h="27432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From</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6213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To</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6213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Channel</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6213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State</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6213A"/>
                    </a:solidFill>
                  </a:tcPr>
                </a:tc>
              </a:tr>
              <a:tr h="274320">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Voice: Silero VAD, faster-whisper, Qwen2.5-0.5B</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aria_segmentation_client</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/aria/audio/prompt (String)</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Ran (replay)</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274320">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Eye model</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aria_segmentation_client</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/aria/eye_tracking/gaze_estimate</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Ran (recording)</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r>
              <a:tr h="274320">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aria and grasp segmentation clients</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SAM 3 service (one copy on GPU)</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/segmentation/segment</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Ran</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274320">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aria_segmentation_client</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grasp_segmentation_client</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/grasp/target: word, then word plus reference crop</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Ran on replay (T8.9a)</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r>
              <a:tr h="274320">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aria_segmentation_client</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grasp_state_machine</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/manipulator/grasp_request</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Ran</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274320">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grasp_segmentation_client</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grasp_state_machine</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/object_centroid_2d (pixel plus depth)</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Ran</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r>
              <a:tr h="274320">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anygrasp_detection_node</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grasp_state_machine</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/grasp_candidates</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Ran</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274320">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grasp_state_machine</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MoveIt and rm_driver</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real arm</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Ran on the real arm</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r>
              <a:tr h="274320">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Livox MID-360, base D455</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FAST-LIVO2, then fastlivo_odom_bridge</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odom to robot_base_link</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Ran live</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274320">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fastlivo_odom_bridge</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SLAM Toolbox, mapping mode</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map to odom, /map</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Ran live</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r>
              <a:tr h="274320">
                <a:tc>
                  <a:txBody>
                    <a:bodyPr/>
                    <a:lstStyle/>
                    <a:p>
                      <a:pPr indent="0" marL="0">
                        <a:buNone/>
                      </a:pPr>
                      <a:r>
                        <a:rPr lang="en-US" sz="1100" dirty="0">
                          <a:solidFill>
                            <a:srgbClr val="6B7280"/>
                          </a:solidFill>
                          <a:latin typeface="Calibri" pitchFamily="34" charset="0"/>
                          <a:ea typeface="Calibri" pitchFamily="34" charset="-122"/>
                          <a:cs typeface="Calibri" pitchFamily="34" charset="-120"/>
                        </a:rPr>
                        <a:t>SLAM Toolbox</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6B7280"/>
                          </a:solidFill>
                          <a:latin typeface="Calibri" pitchFamily="34" charset="0"/>
                          <a:ea typeface="Calibri" pitchFamily="34" charset="-122"/>
                          <a:cs typeface="Calibri" pitchFamily="34" charset="-120"/>
                        </a:rPr>
                        <a:t>Nav2</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6B7280"/>
                          </a:solidFill>
                          <a:latin typeface="Calibri" pitchFamily="34" charset="0"/>
                          <a:ea typeface="Calibri" pitchFamily="34" charset="-122"/>
                          <a:cs typeface="Calibri" pitchFamily="34" charset="-120"/>
                        </a:rPr>
                        <a:t>frame tree</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6B7280"/>
                          </a:solidFill>
                          <a:latin typeface="Calibri" pitchFamily="34" charset="0"/>
                          <a:ea typeface="Calibri" pitchFamily="34" charset="-122"/>
                          <a:cs typeface="Calibri" pitchFamily="34" charset="-120"/>
                        </a:rPr>
                        <a:t>Never run on this</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274320">
                <a:tc>
                  <a:txBody>
                    <a:bodyPr/>
                    <a:lstStyle/>
                    <a:p>
                      <a:pPr indent="0" marL="0">
                        <a:buNone/>
                      </a:pPr>
                      <a:r>
                        <a:rPr lang="en-US" sz="1100" dirty="0">
                          <a:solidFill>
                            <a:srgbClr val="6B7280"/>
                          </a:solidFill>
                          <a:latin typeface="Calibri" pitchFamily="34" charset="0"/>
                          <a:ea typeface="Calibri" pitchFamily="34" charset="-122"/>
                          <a:cs typeface="Calibri" pitchFamily="34" charset="-120"/>
                        </a:rPr>
                        <a:t>object_recognition_pipeline</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6B7280"/>
                          </a:solidFill>
                          <a:latin typeface="Calibri" pitchFamily="34" charset="0"/>
                          <a:ea typeface="Calibri" pitchFamily="34" charset="-122"/>
                          <a:cs typeface="Calibri" pitchFamily="34" charset="-120"/>
                        </a:rPr>
                        <a:t>object_approach_node</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6B7280"/>
                          </a:solidFill>
                          <a:latin typeface="Calibri" pitchFamily="34" charset="0"/>
                          <a:ea typeface="Calibri" pitchFamily="34" charset="-122"/>
                          <a:cs typeface="Calibri" pitchFamily="34" charset="-120"/>
                        </a:rPr>
                        <a:t>/manipulation/goal_pose (call commented out)</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6B7280"/>
                          </a:solidFill>
                          <a:latin typeface="Calibri" pitchFamily="34" charset="0"/>
                          <a:ea typeface="Calibri" pitchFamily="34" charset="-122"/>
                          <a:cs typeface="Calibri" pitchFamily="34" charset="-120"/>
                        </a:rPr>
                        <a:t>Not run</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r>
              <a:tr h="274320">
                <a:tc>
                  <a:txBody>
                    <a:bodyPr/>
                    <a:lstStyle/>
                    <a:p>
                      <a:pPr indent="0" marL="0">
                        <a:buNone/>
                      </a:pPr>
                      <a:r>
                        <a:rPr lang="en-US" sz="1100" dirty="0">
                          <a:solidFill>
                            <a:srgbClr val="6B7280"/>
                          </a:solidFill>
                          <a:latin typeface="Calibri" pitchFamily="34" charset="0"/>
                          <a:ea typeface="Calibri" pitchFamily="34" charset="-122"/>
                          <a:cs typeface="Calibri" pitchFamily="34" charset="-120"/>
                        </a:rPr>
                        <a:t>object_approach_node</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6B7280"/>
                          </a:solidFill>
                          <a:latin typeface="Calibri" pitchFamily="34" charset="0"/>
                          <a:ea typeface="Calibri" pitchFamily="34" charset="-122"/>
                          <a:cs typeface="Calibri" pitchFamily="34" charset="-120"/>
                        </a:rPr>
                        <a:t>Nav2</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6B7280"/>
                          </a:solidFill>
                          <a:latin typeface="Calibri" pitchFamily="34" charset="0"/>
                          <a:ea typeface="Calibri" pitchFamily="34" charset="-122"/>
                          <a:cs typeface="Calibri" pitchFamily="34" charset="-120"/>
                        </a:rPr>
                        <a:t>/goal_pose</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6B7280"/>
                          </a:solidFill>
                          <a:latin typeface="Calibri" pitchFamily="34" charset="0"/>
                          <a:ea typeface="Calibri" pitchFamily="34" charset="-122"/>
                          <a:cs typeface="Calibri" pitchFamily="34" charset="-120"/>
                        </a:rPr>
                        <a:t>Not run</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274320">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Recorded drive handdriven1</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Memory graph S0 to S13, then TargetFinder</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offline</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Graph built. Query not run</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28600"/>
          </a:xfrm>
          <a:prstGeom prst="rect">
            <a:avLst/>
          </a:prstGeom>
          <a:noFill/>
          <a:ln/>
        </p:spPr>
        <p:txBody>
          <a:bodyPr wrap="square" lIns="0" tIns="0" rIns="0" bIns="0" rtlCol="0" anchor="ctr"/>
          <a:lstStyle/>
          <a:p>
            <a:pPr indent="0" marL="0">
              <a:buNone/>
            </a:pPr>
            <a:r>
              <a:rPr lang="en-US" sz="1100" b="1" spc="150" kern="0" dirty="0">
                <a:solidFill>
                  <a:srgbClr val="0068B5"/>
                </a:solidFill>
                <a:latin typeface="Calibri" pitchFamily="34" charset="0"/>
                <a:ea typeface="Calibri" pitchFamily="34" charset="-122"/>
                <a:cs typeface="Calibri" pitchFamily="34" charset="-120"/>
              </a:rPr>
              <a:t>GAPPLER  ·  APPENDIX</a:t>
            </a:r>
            <a:endParaRPr lang="en-US" sz="1100" dirty="0"/>
          </a:p>
        </p:txBody>
      </p:sp>
      <p:sp>
        <p:nvSpPr>
          <p:cNvPr id="3" name="Shape 1"/>
          <p:cNvSpPr/>
          <p:nvPr/>
        </p:nvSpPr>
        <p:spPr>
          <a:xfrm>
            <a:off x="9445752" y="347472"/>
            <a:ext cx="2194560" cy="347472"/>
          </a:xfrm>
          <a:prstGeom prst="roundRect">
            <a:avLst>
              <a:gd name="adj" fmla="val 50000"/>
            </a:avLst>
          </a:prstGeom>
          <a:solidFill>
            <a:srgbClr val="16213A"/>
          </a:solidFill>
          <a:ln/>
        </p:spPr>
      </p:sp>
      <p:sp>
        <p:nvSpPr>
          <p:cNvPr id="4" name="Text 2"/>
          <p:cNvSpPr txBox="1"/>
          <p:nvPr/>
        </p:nvSpPr>
        <p:spPr>
          <a:xfrm>
            <a:off x="9445752" y="347472"/>
            <a:ext cx="2194560" cy="347472"/>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BACKUP  ·  A2</a:t>
            </a:r>
            <a:endParaRPr lang="en-US" sz="1100" dirty="0"/>
          </a:p>
        </p:txBody>
      </p:sp>
      <p:sp>
        <p:nvSpPr>
          <p:cNvPr id="5" name="Text 3"/>
          <p:cNvSpPr txBox="1"/>
          <p:nvPr/>
        </p:nvSpPr>
        <p:spPr>
          <a:xfrm>
            <a:off x="548640" y="777240"/>
            <a:ext cx="11091672" cy="548640"/>
          </a:xfrm>
          <a:prstGeom prst="rect">
            <a:avLst/>
          </a:prstGeom>
          <a:noFill/>
          <a:ln/>
        </p:spPr>
        <p:txBody>
          <a:bodyPr wrap="square" lIns="0" tIns="0" rIns="0" bIns="0" rtlCol="0" anchor="ctr"/>
          <a:lstStyle/>
          <a:p>
            <a:pPr indent="0" marL="0">
              <a:buNone/>
            </a:pPr>
            <a:r>
              <a:rPr lang="en-US" sz="3000" b="1" dirty="0">
                <a:solidFill>
                  <a:srgbClr val="16213A"/>
                </a:solidFill>
                <a:latin typeface="Calibri" pitchFamily="34" charset="0"/>
                <a:ea typeface="Calibri" pitchFamily="34" charset="-122"/>
                <a:cs typeface="Calibri" pitchFamily="34" charset="-120"/>
              </a:rPr>
              <a:t>A2  Coordinate frames</a:t>
            </a:r>
            <a:endParaRPr lang="en-US" sz="3000" dirty="0"/>
          </a:p>
        </p:txBody>
      </p:sp>
      <p:sp>
        <p:nvSpPr>
          <p:cNvPr id="6" name="Text 4"/>
          <p:cNvSpPr txBox="1"/>
          <p:nvPr/>
        </p:nvSpPr>
        <p:spPr>
          <a:xfrm>
            <a:off x="548640" y="1325880"/>
            <a:ext cx="11091672" cy="320040"/>
          </a:xfrm>
          <a:prstGeom prst="rect">
            <a:avLst/>
          </a:prstGeom>
          <a:noFill/>
          <a:ln/>
        </p:spPr>
        <p:txBody>
          <a:bodyPr wrap="square" lIns="0" tIns="0" rIns="0" bIns="0" rtlCol="0" anchor="ctr"/>
          <a:lstStyle/>
          <a:p>
            <a:pPr indent="0" marL="0">
              <a:buNone/>
            </a:pPr>
            <a:r>
              <a:rPr lang="en-US" sz="1700" dirty="0">
                <a:solidFill>
                  <a:srgbClr val="4B5563"/>
                </a:solidFill>
                <a:latin typeface="Calibri" pitchFamily="34" charset="0"/>
                <a:ea typeface="Calibri" pitchFamily="34" charset="-122"/>
                <a:cs typeface="Calibri" pitchFamily="34" charset="-120"/>
              </a:rPr>
              <a:t>Answers: “How do grasp poses reach the arm?”</a:t>
            </a:r>
            <a:endParaRPr lang="en-US" sz="1700" dirty="0"/>
          </a:p>
        </p:txBody>
      </p:sp>
      <p:sp>
        <p:nvSpPr>
          <p:cNvPr id="7" name="Text 5"/>
          <p:cNvSpPr txBox="1"/>
          <p:nvPr/>
        </p:nvSpPr>
        <p:spPr>
          <a:xfrm>
            <a:off x="548640" y="6355080"/>
            <a:ext cx="822960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Source: COMBINED_PROGRESS_REPORT_2026-10.md §6.7, §5.4</a:t>
            </a:r>
            <a:endParaRPr lang="en-US" sz="1100" dirty="0"/>
          </a:p>
        </p:txBody>
      </p:sp>
      <p:sp>
        <p:nvSpPr>
          <p:cNvPr id="8" name="Text 6"/>
          <p:cNvSpPr txBox="1"/>
          <p:nvPr/>
        </p:nvSpPr>
        <p:spPr>
          <a:xfrm>
            <a:off x="11091672" y="6355080"/>
            <a:ext cx="548640" cy="27432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25</a:t>
            </a:r>
            <a:endParaRPr lang="en-US" sz="1100" dirty="0"/>
          </a:p>
        </p:txBody>
      </p:sp>
      <p:sp>
        <p:nvSpPr>
          <p:cNvPr id="10" name="Shape 7"/>
          <p:cNvSpPr/>
          <p:nvPr/>
        </p:nvSpPr>
        <p:spPr>
          <a:xfrm>
            <a:off x="548640" y="1783080"/>
            <a:ext cx="598932" cy="347472"/>
          </a:xfrm>
          <a:prstGeom prst="roundRect">
            <a:avLst>
              <a:gd name="adj" fmla="val 50000"/>
            </a:avLst>
          </a:prstGeom>
          <a:solidFill>
            <a:srgbClr val="16213A"/>
          </a:solidFill>
          <a:ln/>
        </p:spPr>
      </p:sp>
      <p:sp>
        <p:nvSpPr>
          <p:cNvPr id="11" name="Text 8"/>
          <p:cNvSpPr txBox="1"/>
          <p:nvPr/>
        </p:nvSpPr>
        <p:spPr>
          <a:xfrm>
            <a:off x="548640" y="1783080"/>
            <a:ext cx="59893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map</a:t>
            </a:r>
            <a:endParaRPr lang="en-US" sz="1200" dirty="0"/>
          </a:p>
        </p:txBody>
      </p:sp>
      <p:sp>
        <p:nvSpPr>
          <p:cNvPr id="12" name="Text 9"/>
          <p:cNvSpPr txBox="1"/>
          <p:nvPr/>
        </p:nvSpPr>
        <p:spPr>
          <a:xfrm>
            <a:off x="1147572" y="1755648"/>
            <a:ext cx="274320" cy="384048"/>
          </a:xfrm>
          <a:prstGeom prst="rect">
            <a:avLst/>
          </a:prstGeom>
          <a:noFill/>
          <a:ln/>
        </p:spPr>
        <p:txBody>
          <a:bodyPr wrap="square" lIns="0" tIns="0" rIns="0" bIns="0" rtlCol="0" anchor="ctr"/>
          <a:lstStyle/>
          <a:p>
            <a:pPr algn="ctr" indent="0" marL="0">
              <a:buNone/>
            </a:pPr>
            <a:r>
              <a:rPr lang="en-US" sz="1800" b="1" dirty="0">
                <a:solidFill>
                  <a:srgbClr val="6B7280"/>
                </a:solidFill>
                <a:latin typeface="Calibri" pitchFamily="34" charset="0"/>
                <a:ea typeface="Calibri" pitchFamily="34" charset="-122"/>
                <a:cs typeface="Calibri" pitchFamily="34" charset="-120"/>
              </a:rPr>
              <a:t>›</a:t>
            </a:r>
            <a:endParaRPr lang="en-US" sz="1800" dirty="0"/>
          </a:p>
        </p:txBody>
      </p:sp>
      <p:sp>
        <p:nvSpPr>
          <p:cNvPr id="13" name="Shape 10"/>
          <p:cNvSpPr/>
          <p:nvPr/>
        </p:nvSpPr>
        <p:spPr>
          <a:xfrm>
            <a:off x="1421892" y="1783080"/>
            <a:ext cx="676656" cy="347472"/>
          </a:xfrm>
          <a:prstGeom prst="roundRect">
            <a:avLst>
              <a:gd name="adj" fmla="val 50000"/>
            </a:avLst>
          </a:prstGeom>
          <a:solidFill>
            <a:srgbClr val="16213A"/>
          </a:solidFill>
          <a:ln/>
        </p:spPr>
      </p:sp>
      <p:sp>
        <p:nvSpPr>
          <p:cNvPr id="14" name="Text 11"/>
          <p:cNvSpPr txBox="1"/>
          <p:nvPr/>
        </p:nvSpPr>
        <p:spPr>
          <a:xfrm>
            <a:off x="1421892" y="1783080"/>
            <a:ext cx="676656"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odom</a:t>
            </a:r>
            <a:endParaRPr lang="en-US" sz="1200" dirty="0"/>
          </a:p>
        </p:txBody>
      </p:sp>
      <p:sp>
        <p:nvSpPr>
          <p:cNvPr id="15" name="Text 12"/>
          <p:cNvSpPr txBox="1"/>
          <p:nvPr/>
        </p:nvSpPr>
        <p:spPr>
          <a:xfrm>
            <a:off x="2098548" y="1755648"/>
            <a:ext cx="274320" cy="384048"/>
          </a:xfrm>
          <a:prstGeom prst="rect">
            <a:avLst/>
          </a:prstGeom>
          <a:noFill/>
          <a:ln/>
        </p:spPr>
        <p:txBody>
          <a:bodyPr wrap="square" lIns="0" tIns="0" rIns="0" bIns="0" rtlCol="0" anchor="ctr"/>
          <a:lstStyle/>
          <a:p>
            <a:pPr algn="ctr" indent="0" marL="0">
              <a:buNone/>
            </a:pPr>
            <a:r>
              <a:rPr lang="en-US" sz="1800" b="1" dirty="0">
                <a:solidFill>
                  <a:srgbClr val="6B7280"/>
                </a:solidFill>
                <a:latin typeface="Calibri" pitchFamily="34" charset="0"/>
                <a:ea typeface="Calibri" pitchFamily="34" charset="-122"/>
                <a:cs typeface="Calibri" pitchFamily="34" charset="-120"/>
              </a:rPr>
              <a:t>›</a:t>
            </a:r>
            <a:endParaRPr lang="en-US" sz="1800" dirty="0"/>
          </a:p>
        </p:txBody>
      </p:sp>
      <p:sp>
        <p:nvSpPr>
          <p:cNvPr id="16" name="Shape 13"/>
          <p:cNvSpPr/>
          <p:nvPr/>
        </p:nvSpPr>
        <p:spPr>
          <a:xfrm>
            <a:off x="2372868" y="1783080"/>
            <a:ext cx="1531620" cy="347472"/>
          </a:xfrm>
          <a:prstGeom prst="roundRect">
            <a:avLst>
              <a:gd name="adj" fmla="val 50000"/>
            </a:avLst>
          </a:prstGeom>
          <a:solidFill>
            <a:srgbClr val="16213A"/>
          </a:solidFill>
          <a:ln/>
        </p:spPr>
      </p:sp>
      <p:sp>
        <p:nvSpPr>
          <p:cNvPr id="17" name="Text 14"/>
          <p:cNvSpPr txBox="1"/>
          <p:nvPr/>
        </p:nvSpPr>
        <p:spPr>
          <a:xfrm>
            <a:off x="2372868" y="1783080"/>
            <a:ext cx="153162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robot_base_link</a:t>
            </a:r>
            <a:endParaRPr lang="en-US" sz="1200" dirty="0"/>
          </a:p>
        </p:txBody>
      </p:sp>
      <p:sp>
        <p:nvSpPr>
          <p:cNvPr id="18" name="Text 15"/>
          <p:cNvSpPr txBox="1"/>
          <p:nvPr/>
        </p:nvSpPr>
        <p:spPr>
          <a:xfrm>
            <a:off x="3904488" y="1755648"/>
            <a:ext cx="274320" cy="384048"/>
          </a:xfrm>
          <a:prstGeom prst="rect">
            <a:avLst/>
          </a:prstGeom>
          <a:noFill/>
          <a:ln/>
        </p:spPr>
        <p:txBody>
          <a:bodyPr wrap="square" lIns="0" tIns="0" rIns="0" bIns="0" rtlCol="0" anchor="ctr"/>
          <a:lstStyle/>
          <a:p>
            <a:pPr algn="ctr" indent="0" marL="0">
              <a:buNone/>
            </a:pPr>
            <a:r>
              <a:rPr lang="en-US" sz="1800" b="1" dirty="0">
                <a:solidFill>
                  <a:srgbClr val="6B7280"/>
                </a:solidFill>
                <a:latin typeface="Calibri" pitchFamily="34" charset="0"/>
                <a:ea typeface="Calibri" pitchFamily="34" charset="-122"/>
                <a:cs typeface="Calibri" pitchFamily="34" charset="-120"/>
              </a:rPr>
              <a:t>›</a:t>
            </a:r>
            <a:endParaRPr lang="en-US" sz="1800" dirty="0"/>
          </a:p>
        </p:txBody>
      </p:sp>
      <p:sp>
        <p:nvSpPr>
          <p:cNvPr id="19" name="Shape 16"/>
          <p:cNvSpPr/>
          <p:nvPr/>
        </p:nvSpPr>
        <p:spPr>
          <a:xfrm>
            <a:off x="4178808" y="1783080"/>
            <a:ext cx="1065276" cy="347472"/>
          </a:xfrm>
          <a:prstGeom prst="roundRect">
            <a:avLst>
              <a:gd name="adj" fmla="val 50000"/>
            </a:avLst>
          </a:prstGeom>
          <a:solidFill>
            <a:srgbClr val="0068B5"/>
          </a:solidFill>
          <a:ln/>
        </p:spPr>
      </p:sp>
      <p:sp>
        <p:nvSpPr>
          <p:cNvPr id="20" name="Text 17"/>
          <p:cNvSpPr txBox="1"/>
          <p:nvPr/>
        </p:nvSpPr>
        <p:spPr>
          <a:xfrm>
            <a:off x="4178808" y="1783080"/>
            <a:ext cx="1065276"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base_link</a:t>
            </a:r>
            <a:endParaRPr lang="en-US" sz="1200" dirty="0"/>
          </a:p>
        </p:txBody>
      </p:sp>
      <p:sp>
        <p:nvSpPr>
          <p:cNvPr id="21" name="Text 18"/>
          <p:cNvSpPr txBox="1"/>
          <p:nvPr/>
        </p:nvSpPr>
        <p:spPr>
          <a:xfrm>
            <a:off x="5244084" y="1755648"/>
            <a:ext cx="274320" cy="384048"/>
          </a:xfrm>
          <a:prstGeom prst="rect">
            <a:avLst/>
          </a:prstGeom>
          <a:noFill/>
          <a:ln/>
        </p:spPr>
        <p:txBody>
          <a:bodyPr wrap="square" lIns="0" tIns="0" rIns="0" bIns="0" rtlCol="0" anchor="ctr"/>
          <a:lstStyle/>
          <a:p>
            <a:pPr algn="ctr" indent="0" marL="0">
              <a:buNone/>
            </a:pPr>
            <a:r>
              <a:rPr lang="en-US" sz="1800" b="1" dirty="0">
                <a:solidFill>
                  <a:srgbClr val="6B7280"/>
                </a:solidFill>
                <a:latin typeface="Calibri" pitchFamily="34" charset="0"/>
                <a:ea typeface="Calibri" pitchFamily="34" charset="-122"/>
                <a:cs typeface="Calibri" pitchFamily="34" charset="-120"/>
              </a:rPr>
              <a:t>›</a:t>
            </a:r>
            <a:endParaRPr lang="en-US" sz="1800" dirty="0"/>
          </a:p>
        </p:txBody>
      </p:sp>
      <p:sp>
        <p:nvSpPr>
          <p:cNvPr id="22" name="Shape 19"/>
          <p:cNvSpPr/>
          <p:nvPr/>
        </p:nvSpPr>
        <p:spPr>
          <a:xfrm>
            <a:off x="5518404" y="1783080"/>
            <a:ext cx="1453896" cy="347472"/>
          </a:xfrm>
          <a:prstGeom prst="roundRect">
            <a:avLst>
              <a:gd name="adj" fmla="val 50000"/>
            </a:avLst>
          </a:prstGeom>
          <a:solidFill>
            <a:srgbClr val="16213A"/>
          </a:solidFill>
          <a:ln/>
        </p:spPr>
      </p:sp>
      <p:sp>
        <p:nvSpPr>
          <p:cNvPr id="23" name="Text 20"/>
          <p:cNvSpPr txBox="1"/>
          <p:nvPr/>
        </p:nvSpPr>
        <p:spPr>
          <a:xfrm>
            <a:off x="5518404" y="1783080"/>
            <a:ext cx="1453896"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Link1 to Link6</a:t>
            </a:r>
            <a:endParaRPr lang="en-US" sz="1200" dirty="0"/>
          </a:p>
        </p:txBody>
      </p:sp>
      <p:sp>
        <p:nvSpPr>
          <p:cNvPr id="24" name="Text 21"/>
          <p:cNvSpPr txBox="1"/>
          <p:nvPr/>
        </p:nvSpPr>
        <p:spPr>
          <a:xfrm>
            <a:off x="6972300" y="1755648"/>
            <a:ext cx="274320" cy="384048"/>
          </a:xfrm>
          <a:prstGeom prst="rect">
            <a:avLst/>
          </a:prstGeom>
          <a:noFill/>
          <a:ln/>
        </p:spPr>
        <p:txBody>
          <a:bodyPr wrap="square" lIns="0" tIns="0" rIns="0" bIns="0" rtlCol="0" anchor="ctr"/>
          <a:lstStyle/>
          <a:p>
            <a:pPr algn="ctr" indent="0" marL="0">
              <a:buNone/>
            </a:pPr>
            <a:r>
              <a:rPr lang="en-US" sz="1800" b="1" dirty="0">
                <a:solidFill>
                  <a:srgbClr val="6B7280"/>
                </a:solidFill>
                <a:latin typeface="Calibri" pitchFamily="34" charset="0"/>
                <a:ea typeface="Calibri" pitchFamily="34" charset="-122"/>
                <a:cs typeface="Calibri" pitchFamily="34" charset="-120"/>
              </a:rPr>
              <a:t>›</a:t>
            </a:r>
            <a:endParaRPr lang="en-US" sz="1800" dirty="0"/>
          </a:p>
        </p:txBody>
      </p:sp>
      <p:sp>
        <p:nvSpPr>
          <p:cNvPr id="25" name="Shape 22"/>
          <p:cNvSpPr/>
          <p:nvPr/>
        </p:nvSpPr>
        <p:spPr>
          <a:xfrm>
            <a:off x="7246620" y="1783080"/>
            <a:ext cx="1220724" cy="347472"/>
          </a:xfrm>
          <a:prstGeom prst="roundRect">
            <a:avLst>
              <a:gd name="adj" fmla="val 50000"/>
            </a:avLst>
          </a:prstGeom>
          <a:solidFill>
            <a:srgbClr val="16213A"/>
          </a:solidFill>
          <a:ln/>
        </p:spPr>
      </p:sp>
      <p:sp>
        <p:nvSpPr>
          <p:cNvPr id="26" name="Text 23"/>
          <p:cNvSpPr txBox="1"/>
          <p:nvPr/>
        </p:nvSpPr>
        <p:spPr>
          <a:xfrm>
            <a:off x="7246620" y="1783080"/>
            <a:ext cx="1220724"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camera_link</a:t>
            </a:r>
            <a:endParaRPr lang="en-US" sz="1200" dirty="0"/>
          </a:p>
        </p:txBody>
      </p:sp>
      <p:sp>
        <p:nvSpPr>
          <p:cNvPr id="27" name="Text 24"/>
          <p:cNvSpPr txBox="1"/>
          <p:nvPr/>
        </p:nvSpPr>
        <p:spPr>
          <a:xfrm>
            <a:off x="8467344" y="1755648"/>
            <a:ext cx="274320" cy="384048"/>
          </a:xfrm>
          <a:prstGeom prst="rect">
            <a:avLst/>
          </a:prstGeom>
          <a:noFill/>
          <a:ln/>
        </p:spPr>
        <p:txBody>
          <a:bodyPr wrap="square" lIns="0" tIns="0" rIns="0" bIns="0" rtlCol="0" anchor="ctr"/>
          <a:lstStyle/>
          <a:p>
            <a:pPr algn="ctr" indent="0" marL="0">
              <a:buNone/>
            </a:pPr>
            <a:r>
              <a:rPr lang="en-US" sz="1800" b="1" dirty="0">
                <a:solidFill>
                  <a:srgbClr val="6B7280"/>
                </a:solidFill>
                <a:latin typeface="Calibri" pitchFamily="34" charset="0"/>
                <a:ea typeface="Calibri" pitchFamily="34" charset="-122"/>
                <a:cs typeface="Calibri" pitchFamily="34" charset="-120"/>
              </a:rPr>
              <a:t>›</a:t>
            </a:r>
            <a:endParaRPr lang="en-US" sz="1800" dirty="0"/>
          </a:p>
        </p:txBody>
      </p:sp>
      <p:sp>
        <p:nvSpPr>
          <p:cNvPr id="28" name="Shape 25"/>
          <p:cNvSpPr/>
          <p:nvPr/>
        </p:nvSpPr>
        <p:spPr>
          <a:xfrm>
            <a:off x="8741664" y="1783080"/>
            <a:ext cx="2386584" cy="347472"/>
          </a:xfrm>
          <a:prstGeom prst="roundRect">
            <a:avLst>
              <a:gd name="adj" fmla="val 50000"/>
            </a:avLst>
          </a:prstGeom>
          <a:solidFill>
            <a:srgbClr val="16213A"/>
          </a:solidFill>
          <a:ln/>
        </p:spPr>
      </p:sp>
      <p:sp>
        <p:nvSpPr>
          <p:cNvPr id="29" name="Text 26"/>
          <p:cNvSpPr txBox="1"/>
          <p:nvPr/>
        </p:nvSpPr>
        <p:spPr>
          <a:xfrm>
            <a:off x="8741664" y="1783080"/>
            <a:ext cx="2386584"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camera_color_optical_frame</a:t>
            </a:r>
            <a:endParaRPr lang="en-US" sz="1200" dirty="0"/>
          </a:p>
        </p:txBody>
      </p:sp>
      <p:sp>
        <p:nvSpPr>
          <p:cNvPr id="30" name="Text 27"/>
          <p:cNvSpPr txBox="1"/>
          <p:nvPr/>
        </p:nvSpPr>
        <p:spPr>
          <a:xfrm>
            <a:off x="548640" y="2212848"/>
            <a:ext cx="5486400" cy="22860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plus livox_frame under robot_base_link</a:t>
            </a:r>
            <a:endParaRPr lang="en-US" sz="11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2560320"/>
          <a:ext cx="11091672" cy="914400"/>
        </p:xfrm>
        <a:graphic>
          <a:graphicData uri="http://schemas.openxmlformats.org/drawingml/2006/table">
            <a:tbl>
              <a:tblPr/>
              <a:tblGrid>
                <a:gridCol w="2926080"/>
                <a:gridCol w="3291840"/>
                <a:gridCol w="4873752"/>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Parent to child</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621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Published by</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621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Value or note</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6213A"/>
                    </a:solidFill>
                  </a:tcPr>
                </a:tc>
              </a:tr>
              <a:tr h="384048">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map to odom</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SLAM Toolbox</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Nav2 plans in this map frame</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odom to robot_base_link</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Wheel driver, or the FAST-LIVO2 bridge (odom_source:=fastlivo)</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Bridge: T_odom_base(t) = Tb x P0^-1 x P(t) x Tb^-1, Tb = (0.191, 0.02329, 0.15588) m. Refuses to start above 2° start tilt</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r>
              <a:tr h="384048">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robot_base_link to base_link</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Static (arm mount)</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(0.18, 0, 0.48) m, yaw 180°. Measured, tf2_echo matched</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robot_base_link to livox_frame</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Static</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LiDAR mount</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r>
              <a:tr h="384048">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base_link through Link1 to 6 to camera_link</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URDF</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Wrist camera to arm calibrated (Dion, 24 Oct)</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camera_link to camera_color_optical_frame</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RealSense driver</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AnyGrasp candidates arrive in this frame</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r>
            </a:tbl>
          </a:graphicData>
        </a:graphic>
      </p:graphicFrame>
      <p:sp>
        <p:nvSpPr>
          <p:cNvPr id="32" name="Text 28"/>
          <p:cNvSpPr txBox="1"/>
          <p:nvPr/>
        </p:nvSpPr>
        <p:spPr>
          <a:xfrm>
            <a:off x="548640" y="5532120"/>
            <a:ext cx="11091672" cy="502920"/>
          </a:xfrm>
          <a:prstGeom prst="rect">
            <a:avLst/>
          </a:prstGeom>
          <a:noFill/>
          <a:ln/>
        </p:spPr>
        <p:txBody>
          <a:bodyPr wrap="square" lIns="0" tIns="0" rIns="0" bIns="0" rtlCol="0" anchor="t"/>
          <a:lstStyle/>
          <a:p>
            <a:pPr indent="0" marL="0">
              <a:buNone/>
            </a:pPr>
            <a:r>
              <a:rPr lang="en-US" sz="1200" dirty="0">
                <a:solidFill>
                  <a:srgbClr val="4B5563"/>
                </a:solidFill>
                <a:latin typeface="Calibri" pitchFamily="34" charset="0"/>
                <a:ea typeface="Calibri" pitchFamily="34" charset="-122"/>
                <a:cs typeface="Calibri" pitchFamily="34" charset="-120"/>
              </a:rPr>
              <a:t>Open question for P2 and T7.1: the memory graph stores positions in FAST-LIVO2's camera_init frame, while Nav2 drives in SLAM Toolbox's map frame. How graph positions reach map at run time is a design question, not a defect.</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28600"/>
          </a:xfrm>
          <a:prstGeom prst="rect">
            <a:avLst/>
          </a:prstGeom>
          <a:noFill/>
          <a:ln/>
        </p:spPr>
        <p:txBody>
          <a:bodyPr wrap="square" lIns="0" tIns="0" rIns="0" bIns="0" rtlCol="0" anchor="ctr"/>
          <a:lstStyle/>
          <a:p>
            <a:pPr indent="0" marL="0">
              <a:buNone/>
            </a:pPr>
            <a:r>
              <a:rPr lang="en-US" sz="1100" b="1" spc="150" kern="0" dirty="0">
                <a:solidFill>
                  <a:srgbClr val="0068B5"/>
                </a:solidFill>
                <a:latin typeface="Calibri" pitchFamily="34" charset="0"/>
                <a:ea typeface="Calibri" pitchFamily="34" charset="-122"/>
                <a:cs typeface="Calibri" pitchFamily="34" charset="-120"/>
              </a:rPr>
              <a:t>GAPPLER  ·  APPENDIX</a:t>
            </a:r>
            <a:endParaRPr lang="en-US" sz="1100" dirty="0"/>
          </a:p>
        </p:txBody>
      </p:sp>
      <p:sp>
        <p:nvSpPr>
          <p:cNvPr id="3" name="Shape 1"/>
          <p:cNvSpPr/>
          <p:nvPr/>
        </p:nvSpPr>
        <p:spPr>
          <a:xfrm>
            <a:off x="9445752" y="347472"/>
            <a:ext cx="2194560" cy="347472"/>
          </a:xfrm>
          <a:prstGeom prst="roundRect">
            <a:avLst>
              <a:gd name="adj" fmla="val 50000"/>
            </a:avLst>
          </a:prstGeom>
          <a:solidFill>
            <a:srgbClr val="16213A"/>
          </a:solidFill>
          <a:ln/>
        </p:spPr>
      </p:sp>
      <p:sp>
        <p:nvSpPr>
          <p:cNvPr id="4" name="Text 2"/>
          <p:cNvSpPr txBox="1"/>
          <p:nvPr/>
        </p:nvSpPr>
        <p:spPr>
          <a:xfrm>
            <a:off x="9445752" y="347472"/>
            <a:ext cx="2194560" cy="347472"/>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BACKUP  ·  A3</a:t>
            </a:r>
            <a:endParaRPr lang="en-US" sz="1100" dirty="0"/>
          </a:p>
        </p:txBody>
      </p:sp>
      <p:sp>
        <p:nvSpPr>
          <p:cNvPr id="5" name="Text 3"/>
          <p:cNvSpPr txBox="1"/>
          <p:nvPr/>
        </p:nvSpPr>
        <p:spPr>
          <a:xfrm>
            <a:off x="548640" y="777240"/>
            <a:ext cx="11091672" cy="548640"/>
          </a:xfrm>
          <a:prstGeom prst="rect">
            <a:avLst/>
          </a:prstGeom>
          <a:noFill/>
          <a:ln/>
        </p:spPr>
        <p:txBody>
          <a:bodyPr wrap="square" lIns="0" tIns="0" rIns="0" bIns="0" rtlCol="0" anchor="ctr"/>
          <a:lstStyle/>
          <a:p>
            <a:pPr indent="0" marL="0">
              <a:buNone/>
            </a:pPr>
            <a:r>
              <a:rPr lang="en-US" sz="3000" b="1" dirty="0">
                <a:solidFill>
                  <a:srgbClr val="16213A"/>
                </a:solidFill>
                <a:latin typeface="Calibri" pitchFamily="34" charset="0"/>
                <a:ea typeface="Calibri" pitchFamily="34" charset="-122"/>
                <a:cs typeface="Calibri" pitchFamily="34" charset="-120"/>
              </a:rPr>
              <a:t>A3  Matching rule and thresholds</a:t>
            </a:r>
            <a:endParaRPr lang="en-US" sz="3000" dirty="0"/>
          </a:p>
        </p:txBody>
      </p:sp>
      <p:sp>
        <p:nvSpPr>
          <p:cNvPr id="6" name="Text 4"/>
          <p:cNvSpPr txBox="1"/>
          <p:nvPr/>
        </p:nvSpPr>
        <p:spPr>
          <a:xfrm>
            <a:off x="548640" y="1325880"/>
            <a:ext cx="11091672" cy="320040"/>
          </a:xfrm>
          <a:prstGeom prst="rect">
            <a:avLst/>
          </a:prstGeom>
          <a:noFill/>
          <a:ln/>
        </p:spPr>
        <p:txBody>
          <a:bodyPr wrap="square" lIns="0" tIns="0" rIns="0" bIns="0" rtlCol="0" anchor="ctr"/>
          <a:lstStyle/>
          <a:p>
            <a:pPr indent="0" marL="0">
              <a:buNone/>
            </a:pPr>
            <a:r>
              <a:rPr lang="en-US" sz="1700" dirty="0">
                <a:solidFill>
                  <a:srgbClr val="4B5563"/>
                </a:solidFill>
                <a:latin typeface="Calibri" pitchFamily="34" charset="0"/>
                <a:ea typeface="Calibri" pitchFamily="34" charset="-122"/>
                <a:cs typeface="Calibri" pitchFamily="34" charset="-120"/>
              </a:rPr>
              <a:t>Answers: “Why 0.56? Is CLIP cosine a probability?”</a:t>
            </a:r>
            <a:endParaRPr lang="en-US" sz="1700" dirty="0"/>
          </a:p>
        </p:txBody>
      </p:sp>
      <p:sp>
        <p:nvSpPr>
          <p:cNvPr id="7" name="Text 5"/>
          <p:cNvSpPr txBox="1"/>
          <p:nvPr/>
        </p:nvSpPr>
        <p:spPr>
          <a:xfrm>
            <a:off x="548640" y="6355080"/>
            <a:ext cx="822960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Source: COMBINED_PROGRESS_REPORT_2026-10.md §5.4, §6.4, §6.6</a:t>
            </a:r>
            <a:endParaRPr lang="en-US" sz="1100" dirty="0"/>
          </a:p>
        </p:txBody>
      </p:sp>
      <p:sp>
        <p:nvSpPr>
          <p:cNvPr id="8" name="Text 6"/>
          <p:cNvSpPr txBox="1"/>
          <p:nvPr/>
        </p:nvSpPr>
        <p:spPr>
          <a:xfrm>
            <a:off x="11091672" y="6355080"/>
            <a:ext cx="548640" cy="27432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26</a:t>
            </a:r>
            <a:endParaRPr lang="en-US" sz="1100" dirty="0"/>
          </a:p>
        </p:txBody>
      </p:sp>
      <p:sp>
        <p:nvSpPr>
          <p:cNvPr id="10" name="Shape 7"/>
          <p:cNvSpPr/>
          <p:nvPr/>
        </p:nvSpPr>
        <p:spPr>
          <a:xfrm>
            <a:off x="548640" y="1783080"/>
            <a:ext cx="5454396" cy="1600200"/>
          </a:xfrm>
          <a:prstGeom prst="roundRect">
            <a:avLst>
              <a:gd name="adj" fmla="val 5714"/>
            </a:avLst>
          </a:prstGeom>
          <a:solidFill>
            <a:srgbClr val="EEF2F7"/>
          </a:solidFill>
          <a:ln/>
        </p:spPr>
      </p:sp>
      <p:sp>
        <p:nvSpPr>
          <p:cNvPr id="11" name="Text 8"/>
          <p:cNvSpPr txBox="1"/>
          <p:nvPr/>
        </p:nvSpPr>
        <p:spPr>
          <a:xfrm>
            <a:off x="731520" y="1892808"/>
            <a:ext cx="5180076" cy="228600"/>
          </a:xfrm>
          <a:prstGeom prst="rect">
            <a:avLst/>
          </a:prstGeom>
          <a:noFill/>
          <a:ln/>
        </p:spPr>
        <p:txBody>
          <a:bodyPr wrap="square" lIns="0" tIns="0" rIns="0" bIns="0" rtlCol="0" anchor="ctr"/>
          <a:lstStyle/>
          <a:p>
            <a:pPr indent="0" marL="0">
              <a:buNone/>
            </a:pPr>
            <a:r>
              <a:rPr lang="en-US" sz="1100" b="1" spc="150" kern="0" dirty="0">
                <a:solidFill>
                  <a:srgbClr val="0068B5"/>
                </a:solidFill>
                <a:latin typeface="Calibri" pitchFamily="34" charset="0"/>
                <a:ea typeface="Calibri" pitchFamily="34" charset="-122"/>
                <a:cs typeface="Calibri" pitchFamily="34" charset="-120"/>
              </a:rPr>
              <a:t>THE RULE</a:t>
            </a:r>
            <a:endParaRPr lang="en-US" sz="1100" dirty="0"/>
          </a:p>
        </p:txBody>
      </p:sp>
      <p:sp>
        <p:nvSpPr>
          <p:cNvPr id="12" name="Text 9"/>
          <p:cNvSpPr txBox="1"/>
          <p:nvPr/>
        </p:nvSpPr>
        <p:spPr>
          <a:xfrm>
            <a:off x="731520" y="2148840"/>
            <a:ext cx="5134356" cy="1188720"/>
          </a:xfrm>
          <a:prstGeom prst="rect">
            <a:avLst/>
          </a:prstGeom>
          <a:noFill/>
          <a:ln/>
        </p:spPr>
        <p:txBody>
          <a:bodyPr wrap="square" lIns="0" tIns="0" rIns="0" bIns="0" rtlCol="0" anchor="t"/>
          <a:lstStyle/>
          <a:p>
            <a:pPr indent="0" marL="0">
              <a:buNone/>
            </a:pPr>
            <a:r>
              <a:rPr lang="en-US" sz="1300" dirty="0">
                <a:solidFill>
                  <a:srgbClr val="16213A"/>
                </a:solidFill>
                <a:latin typeface="Calibri" pitchFamily="34" charset="0"/>
                <a:ea typeface="Calibri" pitchFamily="34" charset="-122"/>
                <a:cs typeface="Calibri" pitchFamily="34" charset="-120"/>
              </a:rPr>
              <a:t>Cosine between each wrist mask crop (box plus 20 px) and the reference crop. Cutoff 0.56, tuned on 20 pairs (T8.7). Masks within 0.01 of the best count as a tie, and a tie returns no match. Same model in both places: open_clip ViT-B-32 laion2b_s34b_b79k.</a:t>
            </a:r>
            <a:endParaRPr lang="en-US" sz="1300" dirty="0"/>
          </a:p>
        </p:txBody>
      </p:sp>
      <p:sp>
        <p:nvSpPr>
          <p:cNvPr id="13" name="Shape 10"/>
          <p:cNvSpPr/>
          <p:nvPr/>
        </p:nvSpPr>
        <p:spPr>
          <a:xfrm>
            <a:off x="6185916" y="1783080"/>
            <a:ext cx="5454396" cy="1600200"/>
          </a:xfrm>
          <a:prstGeom prst="roundRect">
            <a:avLst>
              <a:gd name="adj" fmla="val 5714"/>
            </a:avLst>
          </a:prstGeom>
          <a:solidFill>
            <a:srgbClr val="EEF2F7"/>
          </a:solidFill>
          <a:ln/>
        </p:spPr>
      </p:sp>
      <p:sp>
        <p:nvSpPr>
          <p:cNvPr id="14" name="Text 11"/>
          <p:cNvSpPr txBox="1"/>
          <p:nvPr/>
        </p:nvSpPr>
        <p:spPr>
          <a:xfrm>
            <a:off x="6368796" y="1892808"/>
            <a:ext cx="5180076" cy="228600"/>
          </a:xfrm>
          <a:prstGeom prst="rect">
            <a:avLst/>
          </a:prstGeom>
          <a:noFill/>
          <a:ln/>
        </p:spPr>
        <p:txBody>
          <a:bodyPr wrap="square" lIns="0" tIns="0" rIns="0" bIns="0" rtlCol="0" anchor="ctr"/>
          <a:lstStyle/>
          <a:p>
            <a:pPr indent="0" marL="0">
              <a:buNone/>
            </a:pPr>
            <a:r>
              <a:rPr lang="en-US" sz="1100" b="1" spc="150" kern="0" dirty="0">
                <a:solidFill>
                  <a:srgbClr val="0068B5"/>
                </a:solidFill>
                <a:latin typeface="Calibri" pitchFamily="34" charset="0"/>
                <a:ea typeface="Calibri" pitchFamily="34" charset="-122"/>
                <a:cs typeface="Calibri" pitchFamily="34" charset="-120"/>
              </a:rPr>
              <a:t>NOT A PROBABILITY</a:t>
            </a:r>
            <a:endParaRPr lang="en-US" sz="1100" dirty="0"/>
          </a:p>
        </p:txBody>
      </p:sp>
      <p:sp>
        <p:nvSpPr>
          <p:cNvPr id="15" name="Text 12"/>
          <p:cNvSpPr txBox="1"/>
          <p:nvPr/>
        </p:nvSpPr>
        <p:spPr>
          <a:xfrm>
            <a:off x="6368796" y="2148840"/>
            <a:ext cx="5134356" cy="1188720"/>
          </a:xfrm>
          <a:prstGeom prst="rect">
            <a:avLst/>
          </a:prstGeom>
          <a:noFill/>
          <a:ln/>
        </p:spPr>
        <p:txBody>
          <a:bodyPr wrap="square" lIns="0" tIns="0" rIns="0" bIns="0" rtlCol="0" anchor="t"/>
          <a:lstStyle/>
          <a:p>
            <a:pPr indent="0" marL="0">
              <a:buNone/>
            </a:pPr>
            <a:r>
              <a:rPr lang="en-US" sz="1300" dirty="0">
                <a:solidFill>
                  <a:srgbClr val="16213A"/>
                </a:solidFill>
                <a:latin typeface="Calibri" pitchFamily="34" charset="0"/>
                <a:ea typeface="Calibri" pitchFamily="34" charset="-122"/>
                <a:cs typeface="Calibri" pitchFamily="34" charset="-120"/>
              </a:rPr>
              <a:t>CLIP cosine is not calibrated. Thresholds are empirical: 0.56 for the matcher, 0.6 on the graph's 1.5 x overlap + 0.5 x appearance score. float16 shifts a vector by up to 0.0039 across batch sizes. Crop padding differs between glasses, wrist and graph.</a:t>
            </a:r>
            <a:endParaRPr lang="en-US" sz="13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3566160"/>
          <a:ext cx="11091672" cy="914400"/>
        </p:xfrm>
        <a:graphic>
          <a:graphicData uri="http://schemas.openxmlformats.org/drawingml/2006/table">
            <a:tbl>
              <a:tblPr/>
              <a:tblGrid>
                <a:gridCol w="2468880"/>
                <a:gridCol w="4206240"/>
                <a:gridCol w="4416552"/>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Where</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621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Method</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621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Confidence handling</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6213A"/>
                    </a:solidFill>
                  </a:tcPr>
                </a:tc>
              </a:tr>
              <a:tr h="347472">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Glasses mask</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Gaze vote</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Winner needs half the votes, else word only</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Wrist mask (matcher)</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CLIP cosine</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Cutoff 0.56, wrist tie returns no match</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r>
              <a:tr h="347472">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Wrist mask (grasp)</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CLIP cosine when a reference exists (T8.9a), else SAM 3 score</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Cutoff 0.56 and no tie, else nothing published</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Graph association</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3D overlap plus CLIP</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Score over 0.6, greedy</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r>
              <a:tr h="347472">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Graph query</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CLIP text vs image</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Ranking only</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bl>
          </a:graphicData>
        </a:graphic>
      </p:graphicFrame>
      <p:sp>
        <p:nvSpPr>
          <p:cNvPr id="17" name="Text 13"/>
          <p:cNvSpPr txBox="1"/>
          <p:nvPr/>
        </p:nvSpPr>
        <p:spPr>
          <a:xfrm>
            <a:off x="548640" y="5806440"/>
            <a:ext cx="11091672" cy="274320"/>
          </a:xfrm>
          <a:prstGeom prst="rect">
            <a:avLst/>
          </a:prstGeom>
          <a:noFill/>
          <a:ln/>
        </p:spPr>
        <p:txBody>
          <a:bodyPr wrap="square" lIns="0" tIns="0" rIns="0" bIns="0" rtlCol="0" anchor="ctr"/>
          <a:lstStyle/>
          <a:p>
            <a:pPr indent="0" marL="0">
              <a:buNone/>
            </a:pPr>
            <a:r>
              <a:rPr lang="en-US" sz="1200" b="1" dirty="0">
                <a:solidFill>
                  <a:srgbClr val="C2410C"/>
                </a:solidFill>
                <a:latin typeface="Calibri" pitchFamily="34" charset="0"/>
                <a:ea typeface="Calibri" pitchFamily="34" charset="-122"/>
                <a:cs typeface="Calibri" pitchFamily="34" charset="-120"/>
              </a:rPr>
              <a:t>No stage carries a confidence forward to the next (see A6).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28600"/>
          </a:xfrm>
          <a:prstGeom prst="rect">
            <a:avLst/>
          </a:prstGeom>
          <a:noFill/>
          <a:ln/>
        </p:spPr>
        <p:txBody>
          <a:bodyPr wrap="square" lIns="0" tIns="0" rIns="0" bIns="0" rtlCol="0" anchor="ctr"/>
          <a:lstStyle/>
          <a:p>
            <a:pPr indent="0" marL="0">
              <a:buNone/>
            </a:pPr>
            <a:r>
              <a:rPr lang="en-US" sz="1100" b="1" spc="150" kern="0" dirty="0">
                <a:solidFill>
                  <a:srgbClr val="0068B5"/>
                </a:solidFill>
                <a:latin typeface="Calibri" pitchFamily="34" charset="0"/>
                <a:ea typeface="Calibri" pitchFamily="34" charset="-122"/>
                <a:cs typeface="Calibri" pitchFamily="34" charset="-120"/>
              </a:rPr>
              <a:t>GAPPLER  ·  APPENDIX</a:t>
            </a:r>
            <a:endParaRPr lang="en-US" sz="1100" dirty="0"/>
          </a:p>
        </p:txBody>
      </p:sp>
      <p:sp>
        <p:nvSpPr>
          <p:cNvPr id="3" name="Shape 1"/>
          <p:cNvSpPr/>
          <p:nvPr/>
        </p:nvSpPr>
        <p:spPr>
          <a:xfrm>
            <a:off x="9445752" y="347472"/>
            <a:ext cx="2194560" cy="347472"/>
          </a:xfrm>
          <a:prstGeom prst="roundRect">
            <a:avLst>
              <a:gd name="adj" fmla="val 50000"/>
            </a:avLst>
          </a:prstGeom>
          <a:solidFill>
            <a:srgbClr val="16213A"/>
          </a:solidFill>
          <a:ln/>
        </p:spPr>
      </p:sp>
      <p:sp>
        <p:nvSpPr>
          <p:cNvPr id="4" name="Text 2"/>
          <p:cNvSpPr txBox="1"/>
          <p:nvPr/>
        </p:nvSpPr>
        <p:spPr>
          <a:xfrm>
            <a:off x="9445752" y="347472"/>
            <a:ext cx="2194560" cy="347472"/>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BACKUP  ·  A4</a:t>
            </a:r>
            <a:endParaRPr lang="en-US" sz="1100" dirty="0"/>
          </a:p>
        </p:txBody>
      </p:sp>
      <p:sp>
        <p:nvSpPr>
          <p:cNvPr id="5" name="Text 3"/>
          <p:cNvSpPr txBox="1"/>
          <p:nvPr/>
        </p:nvSpPr>
        <p:spPr>
          <a:xfrm>
            <a:off x="548640" y="777240"/>
            <a:ext cx="11091672" cy="548640"/>
          </a:xfrm>
          <a:prstGeom prst="rect">
            <a:avLst/>
          </a:prstGeom>
          <a:noFill/>
          <a:ln/>
        </p:spPr>
        <p:txBody>
          <a:bodyPr wrap="square" lIns="0" tIns="0" rIns="0" bIns="0" rtlCol="0" anchor="ctr"/>
          <a:lstStyle/>
          <a:p>
            <a:pPr indent="0" marL="0">
              <a:buNone/>
            </a:pPr>
            <a:r>
              <a:rPr lang="en-US" sz="3000" b="1" dirty="0">
                <a:solidFill>
                  <a:srgbClr val="16213A"/>
                </a:solidFill>
                <a:latin typeface="Calibri" pitchFamily="34" charset="0"/>
                <a:ea typeface="Calibri" pitchFamily="34" charset="-122"/>
                <a:cs typeface="Calibri" pitchFamily="34" charset="-120"/>
              </a:rPr>
              <a:t>A4  Grasp filters and the five options</a:t>
            </a:r>
            <a:endParaRPr lang="en-US" sz="3000" dirty="0"/>
          </a:p>
        </p:txBody>
      </p:sp>
      <p:sp>
        <p:nvSpPr>
          <p:cNvPr id="6" name="Text 4"/>
          <p:cNvSpPr txBox="1"/>
          <p:nvPr/>
        </p:nvSpPr>
        <p:spPr>
          <a:xfrm>
            <a:off x="548640" y="1325880"/>
            <a:ext cx="11091672" cy="320040"/>
          </a:xfrm>
          <a:prstGeom prst="rect">
            <a:avLst/>
          </a:prstGeom>
          <a:noFill/>
          <a:ln/>
        </p:spPr>
        <p:txBody>
          <a:bodyPr wrap="square" lIns="0" tIns="0" rIns="0" bIns="0" rtlCol="0" anchor="ctr"/>
          <a:lstStyle/>
          <a:p>
            <a:pPr indent="0" marL="0">
              <a:buNone/>
            </a:pPr>
            <a:r>
              <a:rPr lang="en-US" sz="1700" dirty="0">
                <a:solidFill>
                  <a:srgbClr val="4B5563"/>
                </a:solidFill>
                <a:latin typeface="Calibri" pitchFamily="34" charset="0"/>
                <a:ea typeface="Calibri" pitchFamily="34" charset="-122"/>
                <a:cs typeface="Calibri" pitchFamily="34" charset="-120"/>
              </a:rPr>
              <a:t>Answers: “Why not just lower the score floor?”</a:t>
            </a:r>
            <a:endParaRPr lang="en-US" sz="1700" dirty="0"/>
          </a:p>
        </p:txBody>
      </p:sp>
      <p:sp>
        <p:nvSpPr>
          <p:cNvPr id="7" name="Text 5"/>
          <p:cNvSpPr txBox="1"/>
          <p:nvPr/>
        </p:nvSpPr>
        <p:spPr>
          <a:xfrm>
            <a:off x="548640" y="6355080"/>
            <a:ext cx="822960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Source: COMBINED_PROGRESS_REPORT_2026-10.md §5.5. Options: DION_PROGRESS_REPORT_2026-10.md §7</a:t>
            </a:r>
            <a:endParaRPr lang="en-US" sz="1100" dirty="0"/>
          </a:p>
        </p:txBody>
      </p:sp>
      <p:sp>
        <p:nvSpPr>
          <p:cNvPr id="8" name="Text 6"/>
          <p:cNvSpPr txBox="1"/>
          <p:nvPr/>
        </p:nvSpPr>
        <p:spPr>
          <a:xfrm>
            <a:off x="11091672" y="6355080"/>
            <a:ext cx="548640" cy="27432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27</a:t>
            </a:r>
            <a:endParaRPr lang="en-US" sz="1100" dirty="0"/>
          </a:p>
        </p:txBody>
      </p:sp>
      <p:sp>
        <p:nvSpPr>
          <p:cNvPr id="10" name="Shape 7"/>
          <p:cNvSpPr/>
          <p:nvPr/>
        </p:nvSpPr>
        <p:spPr>
          <a:xfrm>
            <a:off x="548640" y="1783080"/>
            <a:ext cx="3291840" cy="4297680"/>
          </a:xfrm>
          <a:prstGeom prst="roundRect">
            <a:avLst>
              <a:gd name="adj" fmla="val 2778"/>
            </a:avLst>
          </a:prstGeom>
          <a:solidFill>
            <a:srgbClr val="EEF2F7"/>
          </a:solidFill>
          <a:ln/>
        </p:spPr>
      </p:sp>
      <p:sp>
        <p:nvSpPr>
          <p:cNvPr id="11" name="Text 8"/>
          <p:cNvSpPr txBox="1"/>
          <p:nvPr/>
        </p:nvSpPr>
        <p:spPr>
          <a:xfrm>
            <a:off x="731520" y="1892808"/>
            <a:ext cx="3017520" cy="228600"/>
          </a:xfrm>
          <a:prstGeom prst="rect">
            <a:avLst/>
          </a:prstGeom>
          <a:noFill/>
          <a:ln/>
        </p:spPr>
        <p:txBody>
          <a:bodyPr wrap="square" lIns="0" tIns="0" rIns="0" bIns="0" rtlCol="0" anchor="ctr"/>
          <a:lstStyle/>
          <a:p>
            <a:pPr indent="0" marL="0">
              <a:buNone/>
            </a:pPr>
            <a:r>
              <a:rPr lang="en-US" sz="1100" b="1" spc="150" kern="0" dirty="0">
                <a:solidFill>
                  <a:srgbClr val="0068B5"/>
                </a:solidFill>
                <a:latin typeface="Calibri" pitchFamily="34" charset="0"/>
                <a:ea typeface="Calibri" pitchFamily="34" charset="-122"/>
                <a:cs typeface="Calibri" pitchFamily="34" charset="-120"/>
              </a:rPr>
              <a:t>FILTERS ON EVERY CANDIDATE</a:t>
            </a:r>
            <a:endParaRPr lang="en-US" sz="1100" dirty="0"/>
          </a:p>
        </p:txBody>
      </p:sp>
      <p:sp>
        <p:nvSpPr>
          <p:cNvPr id="12" name="Text 9"/>
          <p:cNvSpPr txBox="1"/>
          <p:nvPr/>
        </p:nvSpPr>
        <p:spPr>
          <a:xfrm>
            <a:off x="731520" y="2194560"/>
            <a:ext cx="2971800" cy="37490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6213A"/>
                </a:solidFill>
                <a:latin typeface="Calibri" pitchFamily="34" charset="0"/>
                <a:ea typeface="Calibri" pitchFamily="34" charset="-122"/>
                <a:cs typeface="Calibri" pitchFamily="34" charset="-120"/>
              </a:rPr>
              <a:t>On the SAM 3 mask</a:t>
            </a:r>
            <a:endParaRPr lang="en-US" sz="1300" dirty="0"/>
          </a:p>
          <a:p>
            <a:pPr marL="342900" indent="-342900">
              <a:spcAft>
                <a:spcPts val="600"/>
              </a:spcAft>
              <a:buSzPct val="100000"/>
              <a:buChar char="•"/>
            </a:pPr>
            <a:r>
              <a:rPr lang="en-US" sz="1300" dirty="0">
                <a:solidFill>
                  <a:srgbClr val="16213A"/>
                </a:solidFill>
                <a:latin typeface="Calibri" pitchFamily="34" charset="0"/>
                <a:ea typeface="Calibri" pitchFamily="34" charset="-122"/>
                <a:cs typeface="Calibri" pitchFamily="34" charset="-120"/>
              </a:rPr>
              <a:t>Inside the approach cone</a:t>
            </a:r>
            <a:endParaRPr lang="en-US" sz="1300" dirty="0"/>
          </a:p>
          <a:p>
            <a:pPr marL="342900" indent="-342900">
              <a:spcAft>
                <a:spcPts val="600"/>
              </a:spcAft>
              <a:buSzPct val="100000"/>
              <a:buChar char="•"/>
            </a:pPr>
            <a:r>
              <a:rPr lang="en-US" sz="1300" dirty="0">
                <a:solidFill>
                  <a:srgbClr val="16213A"/>
                </a:solidFill>
                <a:latin typeface="Calibri" pitchFamily="34" charset="0"/>
                <a:ea typeface="Calibri" pitchFamily="34" charset="-122"/>
                <a:cs typeface="Calibri" pitchFamily="34" charset="-120"/>
              </a:rPr>
              <a:t>Score at least 0.3</a:t>
            </a:r>
            <a:endParaRPr lang="en-US" sz="1300" dirty="0"/>
          </a:p>
          <a:p>
            <a:pPr marL="342900" indent="-342900">
              <a:spcAft>
                <a:spcPts val="600"/>
              </a:spcAft>
              <a:buSzPct val="100000"/>
              <a:buChar char="•"/>
            </a:pPr>
            <a:r>
              <a:rPr lang="en-US" sz="1300" dirty="0">
                <a:solidFill>
                  <a:srgbClr val="16213A"/>
                </a:solidFill>
                <a:latin typeface="Calibri" pitchFamily="34" charset="0"/>
                <a:ea typeface="Calibri" pitchFamily="34" charset="-122"/>
                <a:cs typeface="Calibri" pitchFamily="34" charset="-120"/>
              </a:rPr>
              <a:t>Width under 68 mm</a:t>
            </a:r>
            <a:endParaRPr lang="en-US" sz="1300" dirty="0"/>
          </a:p>
          <a:p>
            <a:pPr marL="342900" indent="-342900">
              <a:spcAft>
                <a:spcPts val="600"/>
              </a:spcAft>
              <a:buSzPct val="100000"/>
              <a:buChar char="•"/>
            </a:pPr>
            <a:r>
              <a:rPr lang="en-US" sz="1300" dirty="0">
                <a:solidFill>
                  <a:srgbClr val="16213A"/>
                </a:solidFill>
                <a:latin typeface="Calibri" pitchFamily="34" charset="0"/>
                <a:ea typeface="Calibri" pitchFamily="34" charset="-122"/>
                <a:cs typeface="Calibri" pitchFamily="34" charset="-120"/>
              </a:rPr>
              <a:t>Fingertips at most 45 mm past the near face</a:t>
            </a:r>
            <a:endParaRPr lang="en-US" sz="1300" dirty="0"/>
          </a:p>
          <a:p>
            <a:pPr marL="342900" indent="-342900">
              <a:spcAft>
                <a:spcPts val="600"/>
              </a:spcAft>
              <a:buSzPct val="100000"/>
              <a:buChar char="•"/>
            </a:pPr>
            <a:r>
              <a:rPr lang="en-US" sz="1300" dirty="0">
                <a:solidFill>
                  <a:srgbClr val="16213A"/>
                </a:solidFill>
                <a:latin typeface="Calibri" pitchFamily="34" charset="0"/>
                <a:ea typeface="Calibri" pitchFamily="34" charset="-122"/>
                <a:cs typeface="Calibri" pitchFamily="34" charset="-120"/>
              </a:rPr>
              <a:t>Pose stable for 5 frames</a:t>
            </a:r>
            <a:endParaRPr lang="en-US" sz="1300" dirty="0"/>
          </a:p>
          <a:p>
            <a:pPr marL="342900" indent="-342900">
              <a:spcAft>
                <a:spcPts val="600"/>
              </a:spcAft>
              <a:buSzPct val="100000"/>
              <a:buChar char="•"/>
            </a:pPr>
            <a:r>
              <a:rPr lang="en-US" sz="1300" dirty="0">
                <a:solidFill>
                  <a:srgbClr val="16213A"/>
                </a:solidFill>
                <a:latin typeface="Calibri" pitchFamily="34" charset="0"/>
                <a:ea typeface="Calibri" pitchFamily="34" charset="-122"/>
                <a:cs typeface="Calibri" pitchFamily="34" charset="-120"/>
              </a:rPr>
              <a:t>Of the 180° twins, the smaller wrist turn (T1.33)</a:t>
            </a:r>
            <a:endParaRPr lang="en-US" sz="13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069080" y="1783080"/>
          <a:ext cx="7571232" cy="914400"/>
        </p:xfrm>
        <a:graphic>
          <a:graphicData uri="http://schemas.openxmlformats.org/drawingml/2006/table">
            <a:tbl>
              <a:tblPr/>
              <a:tblGrid>
                <a:gridCol w="2331720"/>
                <a:gridCol w="3657600"/>
                <a:gridCol w="1581912"/>
              </a:tblGrid>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Option</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621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Idea</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621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Cost</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6213A"/>
                    </a:solidFill>
                  </a:tcPr>
                </a:tc>
              </a:tr>
              <a:tr h="457200">
                <a:tc>
                  <a:txBody>
                    <a:bodyPr/>
                    <a:lstStyle/>
                    <a:p>
                      <a:pPr indent="0" marL="0">
                        <a:buNone/>
                      </a:pPr>
                      <a:r>
                        <a:rPr lang="en-US" sz="1200" b="1" dirty="0">
                          <a:solidFill>
                            <a:srgbClr val="16213A"/>
                          </a:solidFill>
                          <a:latin typeface="Calibri" pitchFamily="34" charset="0"/>
                          <a:ea typeface="Calibri" pitchFamily="34" charset="-122"/>
                          <a:cs typeface="Calibri" pitchFamily="34" charset="-120"/>
                        </a:rPr>
                        <a:t>A. Grasp from the view pose</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DBEAFE"/>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AnyGrasp once at 0.4 to 0.5 m with the whole box in view, one planned motion</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DBEAFE"/>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Small, the pieces exist</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DBEAFE"/>
                    </a:solidFill>
                  </a:tcPr>
                </a:tc>
              </a:tr>
              <a:tr h="457200">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B. Fused views (T1.47)</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Several views in one cloud, grasp on that</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Built, retest owed</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r>
              <a:tr h="457200">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C. New AnyGrasp SDK (T1.45)</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Native mask and angle steering</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Waiting on licence</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D. Closed-loop tracking</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AnyGrasp's tracking mode updates the grasp while the arm moves</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Medium, old node parked</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r>
              <a:tr h="457200">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E. Two-phase (shelved, T1.33)</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Stop just before the depth blind zone, set the angle, move straight in and close</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Small</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bl>
          </a:graphicData>
        </a:graphic>
      </p:graphicFrame>
      <p:sp>
        <p:nvSpPr>
          <p:cNvPr id="14" name="Shape 10"/>
          <p:cNvSpPr/>
          <p:nvPr/>
        </p:nvSpPr>
        <p:spPr>
          <a:xfrm>
            <a:off x="4069080" y="4800600"/>
            <a:ext cx="7571232" cy="1280160"/>
          </a:xfrm>
          <a:prstGeom prst="roundRect">
            <a:avLst>
              <a:gd name="adj" fmla="val 7143"/>
            </a:avLst>
          </a:prstGeom>
          <a:solidFill>
            <a:srgbClr val="16213A"/>
          </a:solidFill>
          <a:ln/>
        </p:spPr>
      </p:sp>
      <p:sp>
        <p:nvSpPr>
          <p:cNvPr id="15" name="Text 11"/>
          <p:cNvSpPr txBox="1"/>
          <p:nvPr/>
        </p:nvSpPr>
        <p:spPr>
          <a:xfrm>
            <a:off x="4251960" y="4910328"/>
            <a:ext cx="7296912" cy="228600"/>
          </a:xfrm>
          <a:prstGeom prst="rect">
            <a:avLst/>
          </a:prstGeom>
          <a:noFill/>
          <a:ln/>
        </p:spPr>
        <p:txBody>
          <a:bodyPr wrap="square" lIns="0" tIns="0" rIns="0" bIns="0" rtlCol="0" anchor="ctr"/>
          <a:lstStyle/>
          <a:p>
            <a:pPr indent="0" marL="0">
              <a:buNone/>
            </a:pPr>
            <a:r>
              <a:rPr lang="en-US" sz="1100" b="1" spc="150" kern="0" dirty="0">
                <a:solidFill>
                  <a:srgbClr val="7DD3FC"/>
                </a:solidFill>
                <a:latin typeface="Calibri" pitchFamily="34" charset="0"/>
                <a:ea typeface="Calibri" pitchFamily="34" charset="-122"/>
                <a:cs typeface="Calibri" pitchFamily="34" charset="-120"/>
              </a:rPr>
              <a:t>WHY THE FLOOR IS NOT THE FIX</a:t>
            </a:r>
            <a:endParaRPr lang="en-US" sz="1100" dirty="0"/>
          </a:p>
        </p:txBody>
      </p:sp>
      <p:sp>
        <p:nvSpPr>
          <p:cNvPr id="16" name="Text 12"/>
          <p:cNvSpPr txBox="1"/>
          <p:nvPr/>
        </p:nvSpPr>
        <p:spPr>
          <a:xfrm>
            <a:off x="4251960" y="5148072"/>
            <a:ext cx="7251192" cy="8686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The top-down grasp scores at most 0.25, but the problem is the view. The 30° cone around the camera axis dropped every top-down grasp, because the camera axis is 44° from vertical. AnyGrasp was also used against its README: masked points only, 0.10 m width.</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28600"/>
          </a:xfrm>
          <a:prstGeom prst="rect">
            <a:avLst/>
          </a:prstGeom>
          <a:noFill/>
          <a:ln/>
        </p:spPr>
        <p:txBody>
          <a:bodyPr wrap="square" lIns="0" tIns="0" rIns="0" bIns="0" rtlCol="0" anchor="ctr"/>
          <a:lstStyle/>
          <a:p>
            <a:pPr indent="0" marL="0">
              <a:buNone/>
            </a:pPr>
            <a:r>
              <a:rPr lang="en-US" sz="1100" b="1" spc="150" kern="0" dirty="0">
                <a:solidFill>
                  <a:srgbClr val="0068B5"/>
                </a:solidFill>
                <a:latin typeface="Calibri" pitchFamily="34" charset="0"/>
                <a:ea typeface="Calibri" pitchFamily="34" charset="-122"/>
                <a:cs typeface="Calibri" pitchFamily="34" charset="-120"/>
              </a:rPr>
              <a:t>GAPPLER  ·  APPENDIX</a:t>
            </a:r>
            <a:endParaRPr lang="en-US" sz="1100" dirty="0"/>
          </a:p>
        </p:txBody>
      </p:sp>
      <p:sp>
        <p:nvSpPr>
          <p:cNvPr id="3" name="Shape 1"/>
          <p:cNvSpPr/>
          <p:nvPr/>
        </p:nvSpPr>
        <p:spPr>
          <a:xfrm>
            <a:off x="9445752" y="347472"/>
            <a:ext cx="2194560" cy="347472"/>
          </a:xfrm>
          <a:prstGeom prst="roundRect">
            <a:avLst>
              <a:gd name="adj" fmla="val 50000"/>
            </a:avLst>
          </a:prstGeom>
          <a:solidFill>
            <a:srgbClr val="16213A"/>
          </a:solidFill>
          <a:ln/>
        </p:spPr>
      </p:sp>
      <p:sp>
        <p:nvSpPr>
          <p:cNvPr id="4" name="Text 2"/>
          <p:cNvSpPr txBox="1"/>
          <p:nvPr/>
        </p:nvSpPr>
        <p:spPr>
          <a:xfrm>
            <a:off x="9445752" y="347472"/>
            <a:ext cx="2194560" cy="347472"/>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BACKUP  ·  A5</a:t>
            </a:r>
            <a:endParaRPr lang="en-US" sz="1100" dirty="0"/>
          </a:p>
        </p:txBody>
      </p:sp>
      <p:sp>
        <p:nvSpPr>
          <p:cNvPr id="5" name="Text 3"/>
          <p:cNvSpPr txBox="1"/>
          <p:nvPr/>
        </p:nvSpPr>
        <p:spPr>
          <a:xfrm>
            <a:off x="548640" y="777240"/>
            <a:ext cx="11091672" cy="548640"/>
          </a:xfrm>
          <a:prstGeom prst="rect">
            <a:avLst/>
          </a:prstGeom>
          <a:noFill/>
          <a:ln/>
        </p:spPr>
        <p:txBody>
          <a:bodyPr wrap="square" lIns="0" tIns="0" rIns="0" bIns="0" rtlCol="0" anchor="ctr"/>
          <a:lstStyle/>
          <a:p>
            <a:pPr indent="0" marL="0">
              <a:buNone/>
            </a:pPr>
            <a:r>
              <a:rPr lang="en-US" sz="3000" b="1" dirty="0">
                <a:solidFill>
                  <a:srgbClr val="16213A"/>
                </a:solidFill>
                <a:latin typeface="Calibri" pitchFamily="34" charset="0"/>
                <a:ea typeface="Calibri" pitchFamily="34" charset="-122"/>
                <a:cs typeface="Calibri" pitchFamily="34" charset="-120"/>
              </a:rPr>
              <a:t>A5  FAST-LIVO2 port defects and mid-route accuracy</a:t>
            </a:r>
            <a:endParaRPr lang="en-US" sz="3000" dirty="0"/>
          </a:p>
        </p:txBody>
      </p:sp>
      <p:sp>
        <p:nvSpPr>
          <p:cNvPr id="6" name="Text 4"/>
          <p:cNvSpPr txBox="1"/>
          <p:nvPr/>
        </p:nvSpPr>
        <p:spPr>
          <a:xfrm>
            <a:off x="548640" y="1325880"/>
            <a:ext cx="11091672" cy="320040"/>
          </a:xfrm>
          <a:prstGeom prst="rect">
            <a:avLst/>
          </a:prstGeom>
          <a:noFill/>
          <a:ln/>
        </p:spPr>
        <p:txBody>
          <a:bodyPr wrap="square" lIns="0" tIns="0" rIns="0" bIns="0" rtlCol="0" anchor="ctr"/>
          <a:lstStyle/>
          <a:p>
            <a:pPr indent="0" marL="0">
              <a:buNone/>
            </a:pPr>
            <a:r>
              <a:rPr lang="en-US" sz="1700" dirty="0">
                <a:solidFill>
                  <a:srgbClr val="4B5563"/>
                </a:solidFill>
                <a:latin typeface="Calibri" pitchFamily="34" charset="0"/>
                <a:ea typeface="Calibri" pitchFamily="34" charset="-122"/>
                <a:cs typeface="Calibri" pitchFamily="34" charset="-120"/>
              </a:rPr>
              <a:t>Answers: “How do you know the map is right?”</a:t>
            </a:r>
            <a:endParaRPr lang="en-US" sz="1700" dirty="0"/>
          </a:p>
        </p:txBody>
      </p:sp>
      <p:sp>
        <p:nvSpPr>
          <p:cNvPr id="7" name="Text 5"/>
          <p:cNvSpPr txBox="1"/>
          <p:nvPr/>
        </p:nvSpPr>
        <p:spPr>
          <a:xfrm>
            <a:off x="548640" y="6355080"/>
            <a:ext cx="822960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Source: COMBINED_PROGRESS_REPORT_2026-10.md §8.4. SHERMAN_PROGRESS_REPORT_2026-10.md §9.3, §11.4, §11.5</a:t>
            </a:r>
            <a:endParaRPr lang="en-US" sz="1100" dirty="0"/>
          </a:p>
        </p:txBody>
      </p:sp>
      <p:sp>
        <p:nvSpPr>
          <p:cNvPr id="8" name="Text 6"/>
          <p:cNvSpPr txBox="1"/>
          <p:nvPr/>
        </p:nvSpPr>
        <p:spPr>
          <a:xfrm>
            <a:off x="11091672" y="6355080"/>
            <a:ext cx="548640" cy="27432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28</a:t>
            </a:r>
            <a:endParaRPr lang="en-US" sz="11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4206240"/>
                <a:gridCol w="3108960"/>
                <a:gridCol w="3776472"/>
              </a:tblGrid>
              <a:tr h="45720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Defect (found by reading the source, confirmed against a control run)</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6213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Before</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6213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After the fix</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6213A"/>
                    </a:solidFill>
                  </a:tcPr>
                </a:tc>
              </a:tr>
              <a:tr h="457200">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Range gate cannot act (F2): blind_sqr never assigned, the port dropped upstream's line</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Median 19,968 points per scan, the full packet</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Median 9,607. Removed 52.06 % against 51.84 % audited zero-range points</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LiDAR to IMU offset has the wrong sign (F3)</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About 10.2 cm of geometric inconsistency in every replay before 19 Oct</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Configs carry (-0.011, -0.02329, 0.04412) m. handdriven1 recorded after the fix</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r>
              <a:tr h="457200">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Voxel key mismatch: insertion and retrieval round negative coordinates differently</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Key hits 1,392,458 vs 1,878,707 shadow hits</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Hits match, 1,855,269. Retrieval points 112,980 to 128,385</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bl>
          </a:graphicData>
        </a:graphic>
      </p:graphicFrame>
      <p:sp>
        <p:nvSpPr>
          <p:cNvPr id="11" name="Shape 7"/>
          <p:cNvSpPr/>
          <p:nvPr/>
        </p:nvSpPr>
        <p:spPr>
          <a:xfrm>
            <a:off x="548640" y="3886200"/>
            <a:ext cx="5669280" cy="2194560"/>
          </a:xfrm>
          <a:prstGeom prst="roundRect">
            <a:avLst>
              <a:gd name="adj" fmla="val 4167"/>
            </a:avLst>
          </a:prstGeom>
          <a:solidFill>
            <a:srgbClr val="EEF2F7"/>
          </a:solidFill>
          <a:ln/>
        </p:spPr>
      </p:sp>
      <p:sp>
        <p:nvSpPr>
          <p:cNvPr id="12" name="Text 8"/>
          <p:cNvSpPr txBox="1"/>
          <p:nvPr/>
        </p:nvSpPr>
        <p:spPr>
          <a:xfrm>
            <a:off x="731520" y="3995928"/>
            <a:ext cx="5394960" cy="228600"/>
          </a:xfrm>
          <a:prstGeom prst="rect">
            <a:avLst/>
          </a:prstGeom>
          <a:noFill/>
          <a:ln/>
        </p:spPr>
        <p:txBody>
          <a:bodyPr wrap="square" lIns="0" tIns="0" rIns="0" bIns="0" rtlCol="0" anchor="ctr"/>
          <a:lstStyle/>
          <a:p>
            <a:pPr indent="0" marL="0">
              <a:buNone/>
            </a:pPr>
            <a:r>
              <a:rPr lang="en-US" sz="1100" b="1" spc="150" kern="0" dirty="0">
                <a:solidFill>
                  <a:srgbClr val="0068B5"/>
                </a:solidFill>
                <a:latin typeface="Calibri" pitchFamily="34" charset="0"/>
                <a:ea typeface="Calibri" pitchFamily="34" charset="-122"/>
                <a:cs typeface="Calibri" pitchFamily="34" charset="-120"/>
              </a:rPr>
              <a:t>MID-ROUTE ACCURACY (T3.5F)</a:t>
            </a:r>
            <a:endParaRPr lang="en-US" sz="1100" dirty="0"/>
          </a:p>
        </p:txBody>
      </p:sp>
      <p:sp>
        <p:nvSpPr>
          <p:cNvPr id="13" name="Text 9"/>
          <p:cNvSpPr txBox="1"/>
          <p:nvPr/>
        </p:nvSpPr>
        <p:spPr>
          <a:xfrm>
            <a:off x="731520" y="4251960"/>
            <a:ext cx="5349240" cy="17830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6213A"/>
                </a:solidFill>
                <a:latin typeface="Calibri" pitchFamily="34" charset="0"/>
                <a:ea typeface="Calibri" pitchFamily="34" charset="-122"/>
                <a:cs typeface="Calibri" pitchFamily="34" charset="-120"/>
              </a:rPr>
              <a:t>Within 6.7 cm (run 1) and 6.5 cm (run 2) for the whole route, against the handdriven1 map, 0.15 s lag removed. The reference carries about 7 cm of its own error.</a:t>
            </a:r>
            <a:endParaRPr lang="en-US" sz="1200" dirty="0"/>
          </a:p>
          <a:p>
            <a:pPr marL="342900" indent="-342900">
              <a:spcAft>
                <a:spcPts val="400"/>
              </a:spcAft>
              <a:buSzPct val="100000"/>
              <a:buChar char="•"/>
            </a:pPr>
            <a:r>
              <a:rPr lang="en-US" sz="1200" dirty="0">
                <a:solidFill>
                  <a:srgbClr val="16213A"/>
                </a:solidFill>
                <a:latin typeface="Calibri" pitchFamily="34" charset="0"/>
                <a:ea typeface="Calibri" pitchFamily="34" charset="-122"/>
                <a:cs typeface="Calibri" pitchFamily="34" charset="-120"/>
              </a:rPr>
              <a:t>The mapper stamps its pose about 0.15 s late: surfaces smear about 4 cm at 0.28 m/s. Fix prepared, off by default.</a:t>
            </a:r>
            <a:endParaRPr lang="en-US" sz="1200" dirty="0"/>
          </a:p>
          <a:p>
            <a:pPr marL="342900" indent="-342900">
              <a:spcAft>
                <a:spcPts val="400"/>
              </a:spcAft>
              <a:buSzPct val="100000"/>
              <a:buChar char="•"/>
            </a:pPr>
            <a:r>
              <a:rPr lang="en-US" sz="1200" dirty="0">
                <a:solidFill>
                  <a:srgbClr val="16213A"/>
                </a:solidFill>
                <a:latin typeface="Calibri" pitchFamily="34" charset="0"/>
                <a:ea typeface="Calibri" pitchFamily="34" charset="-122"/>
                <a:cs typeface="Calibri" pitchFamily="34" charset="-120"/>
              </a:rPr>
              <a:t>Floor marks did not close as ground truth. A tape-measured check is owed.</a:t>
            </a:r>
            <a:endParaRPr lang="en-US" sz="1200" dirty="0"/>
          </a:p>
        </p:txBody>
      </p:sp>
      <p:pic>
        <p:nvPicPr>
          <p:cNvPr id="14" name="Image 0" descr="Mid-route position error against time for two runs">    </p:cNvPr>
          <p:cNvPicPr>
            <a:picLocks noChangeAspect="1"/>
          </p:cNvPicPr>
          <p:nvPr/>
        </p:nvPicPr>
        <p:blipFill>
          <a:blip r:embed="rId1"/>
          <a:srcRect l="0" r="0" t="0" b="0"/>
          <a:stretch/>
        </p:blipFill>
        <p:spPr>
          <a:xfrm>
            <a:off x="6446520" y="3886200"/>
            <a:ext cx="5193792" cy="219456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28600"/>
          </a:xfrm>
          <a:prstGeom prst="rect">
            <a:avLst/>
          </a:prstGeom>
          <a:noFill/>
          <a:ln/>
        </p:spPr>
        <p:txBody>
          <a:bodyPr wrap="square" lIns="0" tIns="0" rIns="0" bIns="0" rtlCol="0" anchor="ctr"/>
          <a:lstStyle/>
          <a:p>
            <a:pPr indent="0" marL="0">
              <a:buNone/>
            </a:pPr>
            <a:r>
              <a:rPr lang="en-US" sz="1100" b="1" spc="150" kern="0" dirty="0">
                <a:solidFill>
                  <a:srgbClr val="0068B5"/>
                </a:solidFill>
                <a:latin typeface="Calibri" pitchFamily="34" charset="0"/>
                <a:ea typeface="Calibri" pitchFamily="34" charset="-122"/>
                <a:cs typeface="Calibri" pitchFamily="34" charset="-120"/>
              </a:rPr>
              <a:t>GAPPLER  ·  APPENDIX</a:t>
            </a:r>
            <a:endParaRPr lang="en-US" sz="1100" dirty="0"/>
          </a:p>
        </p:txBody>
      </p:sp>
      <p:sp>
        <p:nvSpPr>
          <p:cNvPr id="3" name="Shape 1"/>
          <p:cNvSpPr/>
          <p:nvPr/>
        </p:nvSpPr>
        <p:spPr>
          <a:xfrm>
            <a:off x="9445752" y="347472"/>
            <a:ext cx="2194560" cy="347472"/>
          </a:xfrm>
          <a:prstGeom prst="roundRect">
            <a:avLst>
              <a:gd name="adj" fmla="val 50000"/>
            </a:avLst>
          </a:prstGeom>
          <a:solidFill>
            <a:srgbClr val="16213A"/>
          </a:solidFill>
          <a:ln/>
        </p:spPr>
      </p:sp>
      <p:sp>
        <p:nvSpPr>
          <p:cNvPr id="4" name="Text 2"/>
          <p:cNvSpPr txBox="1"/>
          <p:nvPr/>
        </p:nvSpPr>
        <p:spPr>
          <a:xfrm>
            <a:off x="9445752" y="347472"/>
            <a:ext cx="2194560" cy="347472"/>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BACKUP  ·  A6</a:t>
            </a:r>
            <a:endParaRPr lang="en-US" sz="1100" dirty="0"/>
          </a:p>
        </p:txBody>
      </p:sp>
      <p:sp>
        <p:nvSpPr>
          <p:cNvPr id="5" name="Text 3"/>
          <p:cNvSpPr txBox="1"/>
          <p:nvPr/>
        </p:nvSpPr>
        <p:spPr>
          <a:xfrm>
            <a:off x="548640" y="777240"/>
            <a:ext cx="11091672" cy="548640"/>
          </a:xfrm>
          <a:prstGeom prst="rect">
            <a:avLst/>
          </a:prstGeom>
          <a:noFill/>
          <a:ln/>
        </p:spPr>
        <p:txBody>
          <a:bodyPr wrap="square" lIns="0" tIns="0" rIns="0" bIns="0" rtlCol="0" anchor="ctr"/>
          <a:lstStyle/>
          <a:p>
            <a:pPr indent="0" marL="0">
              <a:buNone/>
            </a:pPr>
            <a:r>
              <a:rPr lang="en-US" sz="3000" b="1" dirty="0">
                <a:solidFill>
                  <a:srgbClr val="16213A"/>
                </a:solidFill>
                <a:latin typeface="Calibri" pitchFamily="34" charset="0"/>
                <a:ea typeface="Calibri" pitchFamily="34" charset="-122"/>
                <a:cs typeface="Calibri" pitchFamily="34" charset="-120"/>
              </a:rPr>
              <a:t>A6  Limitations (1 of 3): confirmed in the code</a:t>
            </a:r>
            <a:endParaRPr lang="en-US" sz="3000" dirty="0"/>
          </a:p>
        </p:txBody>
      </p:sp>
      <p:sp>
        <p:nvSpPr>
          <p:cNvPr id="6" name="Text 4"/>
          <p:cNvSpPr txBox="1"/>
          <p:nvPr/>
        </p:nvSpPr>
        <p:spPr>
          <a:xfrm>
            <a:off x="548640" y="1325880"/>
            <a:ext cx="11091672" cy="320040"/>
          </a:xfrm>
          <a:prstGeom prst="rect">
            <a:avLst/>
          </a:prstGeom>
          <a:noFill/>
          <a:ln/>
        </p:spPr>
        <p:txBody>
          <a:bodyPr wrap="square" lIns="0" tIns="0" rIns="0" bIns="0" rtlCol="0" anchor="ctr"/>
          <a:lstStyle/>
          <a:p>
            <a:pPr indent="0" marL="0">
              <a:buNone/>
            </a:pPr>
            <a:r>
              <a:rPr lang="en-US" sz="1700" dirty="0">
                <a:solidFill>
                  <a:srgbClr val="4B5563"/>
                </a:solidFill>
                <a:latin typeface="Calibri" pitchFamily="34" charset="0"/>
                <a:ea typeface="Calibri" pitchFamily="34" charset="-122"/>
                <a:cs typeface="Calibri" pitchFamily="34" charset="-120"/>
              </a:rPr>
              <a:t>Answers: “What fails today?” Most are links the plan schedules for later milestones</a:t>
            </a:r>
            <a:endParaRPr lang="en-US" sz="1700" dirty="0"/>
          </a:p>
        </p:txBody>
      </p:sp>
      <p:sp>
        <p:nvSpPr>
          <p:cNvPr id="7" name="Text 5"/>
          <p:cNvSpPr txBox="1"/>
          <p:nvPr/>
        </p:nvSpPr>
        <p:spPr>
          <a:xfrm>
            <a:off x="548640" y="6355080"/>
            <a:ext cx="822960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Source: COMBINED_PROGRESS_REPORT_2026-10.md §9.1</a:t>
            </a:r>
            <a:endParaRPr lang="en-US" sz="1100" dirty="0"/>
          </a:p>
        </p:txBody>
      </p:sp>
      <p:sp>
        <p:nvSpPr>
          <p:cNvPr id="8" name="Text 6"/>
          <p:cNvSpPr txBox="1"/>
          <p:nvPr/>
        </p:nvSpPr>
        <p:spPr>
          <a:xfrm>
            <a:off x="11091672" y="6355080"/>
            <a:ext cx="548640" cy="27432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29</a:t>
            </a:r>
            <a:endParaRPr lang="en-US" sz="11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5120640"/>
                <a:gridCol w="5971032"/>
              </a:tblGrid>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Limitation</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621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End-to-end implication</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6213A"/>
                    </a:solidFill>
                  </a:tcPr>
                </a:tc>
              </a:tr>
              <a:tr h="457200">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A wrong gaze pick becomes a confident reference (at 1.5 m the reference was the mat)</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The arm would go for the wrong box. T2.24 refuses weak gaze picks</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/manipulation/goal_pose has no live publisher (inherited)</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Nothing can start navigation to an object yet. T7.1 will publish it</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r>
              <a:tr h="457200">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No graph query service, no T7.1 node</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The graph cannot drive the robot</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No gaze-target trigger on graph objects</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The exploring robot cannot tell it has found the target. Glasses vs base-camera features untested</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r>
              <a:tr h="457200">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Graph built offline from a hand-pushed recording</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No live graph. No depth camera data</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No calibration between any cameras</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Graph positions and the gaze ray carry unknown rotation error, about 6.7 px per degree</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r>
              <a:tr h="457200">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Software-only stops on arm and base</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Every hardware test needs two people and the power button</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No automatic grasp success check</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Outcome judged by people. A retry loop cannot know when to retry</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28600"/>
          </a:xfrm>
          <a:prstGeom prst="rect">
            <a:avLst/>
          </a:prstGeom>
          <a:noFill/>
          <a:ln/>
        </p:spPr>
        <p:txBody>
          <a:bodyPr wrap="square" lIns="0" tIns="0" rIns="0" bIns="0" rtlCol="0" anchor="ctr"/>
          <a:lstStyle/>
          <a:p>
            <a:pPr indent="0" marL="0">
              <a:buNone/>
            </a:pPr>
            <a:r>
              <a:rPr lang="en-US" sz="1100" b="1" spc="150" kern="0" dirty="0">
                <a:solidFill>
                  <a:srgbClr val="0068B5"/>
                </a:solidFill>
                <a:latin typeface="Calibri" pitchFamily="34" charset="0"/>
                <a:ea typeface="Calibri" pitchFamily="34" charset="-122"/>
                <a:cs typeface="Calibri" pitchFamily="34" charset="-120"/>
              </a:rPr>
              <a:t>GAPPLER  ·  APPENDIX</a:t>
            </a:r>
            <a:endParaRPr lang="en-US" sz="1100" dirty="0"/>
          </a:p>
        </p:txBody>
      </p:sp>
      <p:sp>
        <p:nvSpPr>
          <p:cNvPr id="3" name="Shape 1"/>
          <p:cNvSpPr/>
          <p:nvPr/>
        </p:nvSpPr>
        <p:spPr>
          <a:xfrm>
            <a:off x="9445752" y="347472"/>
            <a:ext cx="2194560" cy="347472"/>
          </a:xfrm>
          <a:prstGeom prst="roundRect">
            <a:avLst>
              <a:gd name="adj" fmla="val 50000"/>
            </a:avLst>
          </a:prstGeom>
          <a:solidFill>
            <a:srgbClr val="16213A"/>
          </a:solidFill>
          <a:ln/>
        </p:spPr>
      </p:sp>
      <p:sp>
        <p:nvSpPr>
          <p:cNvPr id="4" name="Text 2"/>
          <p:cNvSpPr txBox="1"/>
          <p:nvPr/>
        </p:nvSpPr>
        <p:spPr>
          <a:xfrm>
            <a:off x="9445752" y="347472"/>
            <a:ext cx="2194560" cy="347472"/>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BACKUP  ·  A6</a:t>
            </a:r>
            <a:endParaRPr lang="en-US" sz="1100" dirty="0"/>
          </a:p>
        </p:txBody>
      </p:sp>
      <p:sp>
        <p:nvSpPr>
          <p:cNvPr id="5" name="Text 3"/>
          <p:cNvSpPr txBox="1"/>
          <p:nvPr/>
        </p:nvSpPr>
        <p:spPr>
          <a:xfrm>
            <a:off x="548640" y="777240"/>
            <a:ext cx="11091672" cy="548640"/>
          </a:xfrm>
          <a:prstGeom prst="rect">
            <a:avLst/>
          </a:prstGeom>
          <a:noFill/>
          <a:ln/>
        </p:spPr>
        <p:txBody>
          <a:bodyPr wrap="square" lIns="0" tIns="0" rIns="0" bIns="0" rtlCol="0" anchor="ctr"/>
          <a:lstStyle/>
          <a:p>
            <a:pPr indent="0" marL="0">
              <a:buNone/>
            </a:pPr>
            <a:r>
              <a:rPr lang="en-US" sz="3000" b="1" dirty="0">
                <a:solidFill>
                  <a:srgbClr val="16213A"/>
                </a:solidFill>
                <a:latin typeface="Calibri" pitchFamily="34" charset="0"/>
                <a:ea typeface="Calibri" pitchFamily="34" charset="-122"/>
                <a:cs typeface="Calibri" pitchFamily="34" charset="-120"/>
              </a:rPr>
              <a:t>A6  Limitations (2 of 3): risks when the parts join</a:t>
            </a:r>
            <a:endParaRPr lang="en-US" sz="3000" dirty="0"/>
          </a:p>
        </p:txBody>
      </p:sp>
      <p:sp>
        <p:nvSpPr>
          <p:cNvPr id="6" name="Text 4"/>
          <p:cNvSpPr txBox="1"/>
          <p:nvPr/>
        </p:nvSpPr>
        <p:spPr>
          <a:xfrm>
            <a:off x="548640" y="1325880"/>
            <a:ext cx="11091672" cy="320040"/>
          </a:xfrm>
          <a:prstGeom prst="rect">
            <a:avLst/>
          </a:prstGeom>
          <a:noFill/>
          <a:ln/>
        </p:spPr>
        <p:txBody>
          <a:bodyPr wrap="square" lIns="0" tIns="0" rIns="0" bIns="0" rtlCol="0" anchor="ctr"/>
          <a:lstStyle/>
          <a:p>
            <a:pPr indent="0" marL="0">
              <a:buNone/>
            </a:pPr>
            <a:r>
              <a:rPr lang="en-US" sz="1700" dirty="0">
                <a:solidFill>
                  <a:srgbClr val="4B5563"/>
                </a:solidFill>
                <a:latin typeface="Calibri" pitchFamily="34" charset="0"/>
                <a:ea typeface="Calibri" pitchFamily="34" charset="-122"/>
                <a:cs typeface="Calibri" pitchFamily="34" charset="-120"/>
              </a:rPr>
              <a:t>Answers: “What could break when the parts join?”</a:t>
            </a:r>
            <a:endParaRPr lang="en-US" sz="1700" dirty="0"/>
          </a:p>
        </p:txBody>
      </p:sp>
      <p:sp>
        <p:nvSpPr>
          <p:cNvPr id="7" name="Text 5"/>
          <p:cNvSpPr txBox="1"/>
          <p:nvPr/>
        </p:nvSpPr>
        <p:spPr>
          <a:xfrm>
            <a:off x="548640" y="6355080"/>
            <a:ext cx="822960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Source: COMBINED_PROGRESS_REPORT_2026-10.md §9.3</a:t>
            </a:r>
            <a:endParaRPr lang="en-US" sz="1100" dirty="0"/>
          </a:p>
        </p:txBody>
      </p:sp>
      <p:sp>
        <p:nvSpPr>
          <p:cNvPr id="8" name="Text 6"/>
          <p:cNvSpPr txBox="1"/>
          <p:nvPr/>
        </p:nvSpPr>
        <p:spPr>
          <a:xfrm>
            <a:off x="11091672" y="6355080"/>
            <a:ext cx="548640" cy="27432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30</a:t>
            </a:r>
            <a:endParaRPr lang="en-US" sz="11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291840"/>
                <a:gridCol w="7799832"/>
              </a:tblGrid>
              <a:tr h="5029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Risk</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621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to watch</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6213A"/>
                    </a:solidFill>
                  </a:tcPr>
                </a:tc>
              </a:tr>
              <a:tr h="502920">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No confidence crosses a stage boundary</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A wrong gaze pick gives a confident reference, a wrong graph hit a goal, a wrong wrist mask a grasp. The matcher caught one by luck of score (0.51 vs 0.56)</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Crop mismatch</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Fixed 20 px glasses crop against the graph's relative padding, when the gaze match (P3) lands</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r>
              <a:tr h="502920">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Frame of graph positions</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camera_init against Nav2's map frame, to settle when P2 and T7.1 are built</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Standoff vs reach</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0.6 m camera standoff against the 35 to 46 cm tested grasp band</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r>
              <a:tr h="502920">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GPU contention</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SAM 3 service, batched graph SAM 3 (up to 10.3 GiB), AnyGrasp, CLIP, Whisper, two Qwen models on one 16 GB card. Never run together</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0.15 s pose lag</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Anything pairing a scan with a pose by stamp, including graph depth</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r>
              <a:tr h="502920">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Viewpoint change between graph and wrist</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Graph features from the base camera, reference from the glasses, confirmation from the wrist. Glasses to base camera untested</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28600"/>
          </a:xfrm>
          <a:prstGeom prst="rect">
            <a:avLst/>
          </a:prstGeom>
          <a:noFill/>
          <a:ln/>
        </p:spPr>
        <p:txBody>
          <a:bodyPr wrap="square" lIns="0" tIns="0" rIns="0" bIns="0" rtlCol="0" anchor="ctr"/>
          <a:lstStyle/>
          <a:p>
            <a:pPr indent="0" marL="0">
              <a:buNone/>
            </a:pPr>
            <a:r>
              <a:rPr lang="en-US" sz="1100" b="1" spc="150" kern="0" dirty="0">
                <a:solidFill>
                  <a:srgbClr val="0068B5"/>
                </a:solidFill>
                <a:latin typeface="Calibri" pitchFamily="34" charset="0"/>
                <a:ea typeface="Calibri" pitchFamily="34" charset="-122"/>
                <a:cs typeface="Calibri" pitchFamily="34" charset="-120"/>
              </a:rPr>
              <a:t>GAPPLER  ·  APPENDIX</a:t>
            </a:r>
            <a:endParaRPr lang="en-US" sz="1100" dirty="0"/>
          </a:p>
        </p:txBody>
      </p:sp>
      <p:sp>
        <p:nvSpPr>
          <p:cNvPr id="3" name="Shape 1"/>
          <p:cNvSpPr/>
          <p:nvPr/>
        </p:nvSpPr>
        <p:spPr>
          <a:xfrm>
            <a:off x="9445752" y="347472"/>
            <a:ext cx="2194560" cy="347472"/>
          </a:xfrm>
          <a:prstGeom prst="roundRect">
            <a:avLst>
              <a:gd name="adj" fmla="val 50000"/>
            </a:avLst>
          </a:prstGeom>
          <a:solidFill>
            <a:srgbClr val="16213A"/>
          </a:solidFill>
          <a:ln/>
        </p:spPr>
      </p:sp>
      <p:sp>
        <p:nvSpPr>
          <p:cNvPr id="4" name="Text 2"/>
          <p:cNvSpPr txBox="1"/>
          <p:nvPr/>
        </p:nvSpPr>
        <p:spPr>
          <a:xfrm>
            <a:off x="9445752" y="347472"/>
            <a:ext cx="2194560" cy="347472"/>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BACKUP  ·  A6</a:t>
            </a:r>
            <a:endParaRPr lang="en-US" sz="1100" dirty="0"/>
          </a:p>
        </p:txBody>
      </p:sp>
      <p:sp>
        <p:nvSpPr>
          <p:cNvPr id="5" name="Text 3"/>
          <p:cNvSpPr txBox="1"/>
          <p:nvPr/>
        </p:nvSpPr>
        <p:spPr>
          <a:xfrm>
            <a:off x="548640" y="777240"/>
            <a:ext cx="11091672" cy="548640"/>
          </a:xfrm>
          <a:prstGeom prst="rect">
            <a:avLst/>
          </a:prstGeom>
          <a:noFill/>
          <a:ln/>
        </p:spPr>
        <p:txBody>
          <a:bodyPr wrap="square" lIns="0" tIns="0" rIns="0" bIns="0" rtlCol="0" anchor="ctr"/>
          <a:lstStyle/>
          <a:p>
            <a:pPr indent="0" marL="0">
              <a:buNone/>
            </a:pPr>
            <a:r>
              <a:rPr lang="en-US" sz="3000" b="1" dirty="0">
                <a:solidFill>
                  <a:srgbClr val="16213A"/>
                </a:solidFill>
                <a:latin typeface="Calibri" pitchFamily="34" charset="0"/>
                <a:ea typeface="Calibri" pitchFamily="34" charset="-122"/>
                <a:cs typeface="Calibri" pitchFamily="34" charset="-120"/>
              </a:rPr>
              <a:t>A6  Limitations (3 of 3): observed failures</a:t>
            </a:r>
            <a:endParaRPr lang="en-US" sz="3000" dirty="0"/>
          </a:p>
        </p:txBody>
      </p:sp>
      <p:sp>
        <p:nvSpPr>
          <p:cNvPr id="6" name="Text 4"/>
          <p:cNvSpPr txBox="1"/>
          <p:nvPr/>
        </p:nvSpPr>
        <p:spPr>
          <a:xfrm>
            <a:off x="548640" y="1325880"/>
            <a:ext cx="11091672" cy="320040"/>
          </a:xfrm>
          <a:prstGeom prst="rect">
            <a:avLst/>
          </a:prstGeom>
          <a:noFill/>
          <a:ln/>
        </p:spPr>
        <p:txBody>
          <a:bodyPr wrap="square" lIns="0" tIns="0" rIns="0" bIns="0" rtlCol="0" anchor="ctr"/>
          <a:lstStyle/>
          <a:p>
            <a:pPr indent="0" marL="0">
              <a:buNone/>
            </a:pPr>
            <a:r>
              <a:rPr lang="en-US" sz="1700" dirty="0">
                <a:solidFill>
                  <a:srgbClr val="4B5563"/>
                </a:solidFill>
                <a:latin typeface="Calibri" pitchFamily="34" charset="0"/>
                <a:ea typeface="Calibri" pitchFamily="34" charset="-122"/>
                <a:cs typeface="Calibri" pitchFamily="34" charset="-120"/>
              </a:rPr>
              <a:t>Answers: “What has gone wrong on hardware or data?”</a:t>
            </a:r>
            <a:endParaRPr lang="en-US" sz="1700" dirty="0"/>
          </a:p>
        </p:txBody>
      </p:sp>
      <p:sp>
        <p:nvSpPr>
          <p:cNvPr id="7" name="Text 5"/>
          <p:cNvSpPr txBox="1"/>
          <p:nvPr/>
        </p:nvSpPr>
        <p:spPr>
          <a:xfrm>
            <a:off x="548640" y="6355080"/>
            <a:ext cx="822960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Source: COMBINED_PROGRESS_REPORT_2026-10.md §9.2. Lab visitors' faces appear in the coloured map: re-render before any external showing</a:t>
            </a:r>
            <a:endParaRPr lang="en-US" sz="1100" dirty="0"/>
          </a:p>
        </p:txBody>
      </p:sp>
      <p:sp>
        <p:nvSpPr>
          <p:cNvPr id="8" name="Text 6"/>
          <p:cNvSpPr txBox="1"/>
          <p:nvPr/>
        </p:nvSpPr>
        <p:spPr>
          <a:xfrm>
            <a:off x="11091672" y="6355080"/>
            <a:ext cx="548640" cy="27432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31</a:t>
            </a:r>
            <a:endParaRPr lang="en-US" sz="11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6949440"/>
                <a:gridCol w="2560320"/>
                <a:gridCol w="1581912"/>
              </a:tblGrid>
              <a:tr h="26517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Failure</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6213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Where</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6213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Source</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6213A"/>
                    </a:solidFill>
                  </a:tcPr>
                </a:tc>
              </a:tr>
              <a:tr h="265176">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AnyGrasp's confident grasps go across the too-wide face. Fit check passes edge slices</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Wrist, 0.21 m</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T1.44</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265176">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Live OK-Robot trials 0 of 4: one pushed the box, two stuck, one found nothing in 3 s</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Real arm</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T1.44</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r>
              <a:tr h="265176">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Wrist spun 180° and knocked the box off (fixed)</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First AnyGrasp grasp</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T1.33</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265176">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Wide wrist twist (j4 146°, j5 29°, j6 274°)</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AnyGrasp grasp B</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T1.40</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r>
              <a:tr h="265176">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Look-alike boxes: 148 of 180, and 6 of 12</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Matcher</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T8.5, T8.8</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265176">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Gaze landed on the mat stack at 1.5 m</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Glasses</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T8.5</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r>
              <a:tr h="265176">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Keypoint matching 0 of 15</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Cross camera</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T8.4</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265176">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Mapper teardown aborts 2 of 4. LiDAR driver SIGBUS</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Base</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S§10.3</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r>
              <a:tr h="265176">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Ethernet flap caused 8.1 s and 15.1 s IMU time jumps</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Base, live</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T3.5d</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265176">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Lab box silent hangs (6 Oct, 20 Oct)</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Shared box</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S§15</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r>
              <a:tr h="265176">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Glass walls: about 42 % of 5 cm map points are ghosts outside the glass box</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Map</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S§15</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265176">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Glass door and both computer towers missed in every graph setting</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Graph</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Z§3.5</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28600"/>
          </a:xfrm>
          <a:prstGeom prst="rect">
            <a:avLst/>
          </a:prstGeom>
          <a:noFill/>
          <a:ln/>
        </p:spPr>
        <p:txBody>
          <a:bodyPr wrap="square" lIns="0" tIns="0" rIns="0" bIns="0" rtlCol="0" anchor="ctr"/>
          <a:lstStyle/>
          <a:p>
            <a:pPr indent="0" marL="0">
              <a:buNone/>
            </a:pPr>
            <a:r>
              <a:rPr lang="en-US" sz="1100" b="1" spc="150" kern="0" dirty="0">
                <a:solidFill>
                  <a:srgbClr val="0068B5"/>
                </a:solidFill>
                <a:latin typeface="Calibri" pitchFamily="34" charset="0"/>
                <a:ea typeface="Calibri" pitchFamily="34" charset="-122"/>
                <a:cs typeface="Calibri" pitchFamily="34" charset="-120"/>
              </a:rPr>
              <a:t>GAPPLER  ·  APPENDIX</a:t>
            </a:r>
            <a:endParaRPr lang="en-US" sz="1100" dirty="0"/>
          </a:p>
        </p:txBody>
      </p:sp>
      <p:sp>
        <p:nvSpPr>
          <p:cNvPr id="3" name="Shape 1"/>
          <p:cNvSpPr/>
          <p:nvPr/>
        </p:nvSpPr>
        <p:spPr>
          <a:xfrm>
            <a:off x="9445752" y="347472"/>
            <a:ext cx="2194560" cy="347472"/>
          </a:xfrm>
          <a:prstGeom prst="roundRect">
            <a:avLst>
              <a:gd name="adj" fmla="val 50000"/>
            </a:avLst>
          </a:prstGeom>
          <a:solidFill>
            <a:srgbClr val="16213A"/>
          </a:solidFill>
          <a:ln/>
        </p:spPr>
      </p:sp>
      <p:sp>
        <p:nvSpPr>
          <p:cNvPr id="4" name="Text 2"/>
          <p:cNvSpPr txBox="1"/>
          <p:nvPr/>
        </p:nvSpPr>
        <p:spPr>
          <a:xfrm>
            <a:off x="9445752" y="347472"/>
            <a:ext cx="2194560" cy="347472"/>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BACKUP  ·  A7</a:t>
            </a:r>
            <a:endParaRPr lang="en-US" sz="1100" dirty="0"/>
          </a:p>
        </p:txBody>
      </p:sp>
      <p:sp>
        <p:nvSpPr>
          <p:cNvPr id="5" name="Text 3"/>
          <p:cNvSpPr txBox="1"/>
          <p:nvPr/>
        </p:nvSpPr>
        <p:spPr>
          <a:xfrm>
            <a:off x="548640" y="777240"/>
            <a:ext cx="11091672" cy="548640"/>
          </a:xfrm>
          <a:prstGeom prst="rect">
            <a:avLst/>
          </a:prstGeom>
          <a:noFill/>
          <a:ln/>
        </p:spPr>
        <p:txBody>
          <a:bodyPr wrap="square" lIns="0" tIns="0" rIns="0" bIns="0" rtlCol="0" anchor="ctr"/>
          <a:lstStyle/>
          <a:p>
            <a:pPr indent="0" marL="0">
              <a:buNone/>
            </a:pPr>
            <a:r>
              <a:rPr lang="en-US" sz="3000" b="1" dirty="0">
                <a:solidFill>
                  <a:srgbClr val="16213A"/>
                </a:solidFill>
                <a:latin typeface="Calibri" pitchFamily="34" charset="0"/>
                <a:ea typeface="Calibri" pitchFamily="34" charset="-122"/>
                <a:cs typeface="Calibri" pitchFamily="34" charset="-120"/>
              </a:rPr>
              <a:t>A7  September plan vs now</a:t>
            </a:r>
            <a:endParaRPr lang="en-US" sz="3000" dirty="0"/>
          </a:p>
        </p:txBody>
      </p:sp>
      <p:sp>
        <p:nvSpPr>
          <p:cNvPr id="6" name="Text 4"/>
          <p:cNvSpPr txBox="1"/>
          <p:nvPr/>
        </p:nvSpPr>
        <p:spPr>
          <a:xfrm>
            <a:off x="548640" y="1325880"/>
            <a:ext cx="11091672" cy="320040"/>
          </a:xfrm>
          <a:prstGeom prst="rect">
            <a:avLst/>
          </a:prstGeom>
          <a:noFill/>
          <a:ln/>
        </p:spPr>
        <p:txBody>
          <a:bodyPr wrap="square" lIns="0" tIns="0" rIns="0" bIns="0" rtlCol="0" anchor="ctr"/>
          <a:lstStyle/>
          <a:p>
            <a:pPr indent="0" marL="0">
              <a:buNone/>
            </a:pPr>
            <a:r>
              <a:rPr lang="en-US" sz="1700" dirty="0">
                <a:solidFill>
                  <a:srgbClr val="4B5563"/>
                </a:solidFill>
                <a:latin typeface="Calibri" pitchFamily="34" charset="0"/>
                <a:ea typeface="Calibri" pitchFamily="34" charset="-122"/>
                <a:cs typeface="Calibri" pitchFamily="34" charset="-120"/>
              </a:rPr>
              <a:t>Answers: “How does this compare with your original plan?”</a:t>
            </a:r>
            <a:endParaRPr lang="en-US" sz="1700" dirty="0"/>
          </a:p>
        </p:txBody>
      </p:sp>
      <p:sp>
        <p:nvSpPr>
          <p:cNvPr id="7" name="Text 5"/>
          <p:cNvSpPr txBox="1"/>
          <p:nvPr/>
        </p:nvSpPr>
        <p:spPr>
          <a:xfrm>
            <a:off x="548640" y="6355080"/>
            <a:ext cx="822960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Source: 1cde0ec:docs/PROJECT_PLAN.md §5 and §6 headings. COMBINED_PROGRESS_REPORT_2026-10.md §0.2, §0.6</a:t>
            </a:r>
            <a:endParaRPr lang="en-US" sz="1100" dirty="0"/>
          </a:p>
        </p:txBody>
      </p:sp>
      <p:sp>
        <p:nvSpPr>
          <p:cNvPr id="8" name="Text 6"/>
          <p:cNvSpPr txBox="1"/>
          <p:nvPr/>
        </p:nvSpPr>
        <p:spPr>
          <a:xfrm>
            <a:off x="11091672" y="6355080"/>
            <a:ext cx="548640" cy="27432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32</a:t>
            </a:r>
            <a:endParaRPr lang="en-US" sz="11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926080"/>
                <a:gridCol w="2606040"/>
                <a:gridCol w="3017520"/>
                <a:gridCol w="2542032"/>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Milestone</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621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September plan window</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621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Now (actual to 24 Oct, forecast end)</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621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Change</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6213A"/>
                    </a:solidFill>
                  </a:tcPr>
                </a:tc>
              </a:tr>
              <a:tr h="347472">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M0 Everyone can build and run</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14 to 27 Sep 2026</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Done 24 Sep</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On time</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M1 The arm picks something up</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5 Oct to 1 Nov 2026</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Started 21 Sep. Forecast 8 Nov</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About one week later (AnyGrasp)</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r>
              <a:tr h="347472">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M2 Voice and gaze reach the arm</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26 Oct 2026 to 3 Jan 2027</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Started 8 Oct. Forecast 10 Jan</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Started early, ends about a week later</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M3 The base navigates</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12 Oct to 27 Dec 2026</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Started 14 Sep. Forecast 10 Jan</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Two weeks later</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r>
              <a:tr h="347472">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M4 Closed loop</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28 Dec 2026 to 17 Jan 2027</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Forecast 11 to 31 Jan</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Two weeks later</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M5 Calibrated base camera</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5 Oct 2026 to 17 Jan 2027</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Started 16 Sep. Forecast 24 Jan</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One week later</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r>
              <a:tr h="347472">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M6 Memory graph offline</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28 Dec 2026 to 7 Feb 2027</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Started 21 Sep. Forecast 31 Jan</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One week earlier</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M7 The graph drives the robot</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1 to 28 Feb 2027</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Forecast 18 Jan to 28 Feb</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Can start earlier, end unchanged</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r>
              <a:tr h="347472">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M8 Gaze picks the instance</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8 Feb to 14 Mar 2027</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Started 19 Oct. Forecast 14 Mar</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Started early, end unchanged</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M9 Frontier scoring (optional)</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2 Nov 2026 to 21 Feb 2027</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Not started. 18 Jan to 21 Feb if kept</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First on the cut list</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r>
              <a:tr h="347472">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M10 Demonstration and paper</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1 to 21 Mar 2027</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Forecast 1 to 21 Mar</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Unchanged</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28600"/>
          </a:xfrm>
          <a:prstGeom prst="rect">
            <a:avLst/>
          </a:prstGeom>
          <a:noFill/>
          <a:ln/>
        </p:spPr>
        <p:txBody>
          <a:bodyPr wrap="square" lIns="0" tIns="0" rIns="0" bIns="0" rtlCol="0" anchor="ctr"/>
          <a:lstStyle/>
          <a:p>
            <a:pPr indent="0" marL="0">
              <a:buNone/>
            </a:pPr>
            <a:r>
              <a:rPr lang="en-US" sz="1100" b="1" spc="150" kern="0" dirty="0">
                <a:solidFill>
                  <a:srgbClr val="0068B5"/>
                </a:solidFill>
                <a:latin typeface="Calibri" pitchFamily="34" charset="0"/>
                <a:ea typeface="Calibri" pitchFamily="34" charset="-122"/>
                <a:cs typeface="Calibri" pitchFamily="34" charset="-120"/>
              </a:rPr>
              <a:t>GAPPLER  ·  APPENDIX</a:t>
            </a:r>
            <a:endParaRPr lang="en-US" sz="1100" dirty="0"/>
          </a:p>
        </p:txBody>
      </p:sp>
      <p:sp>
        <p:nvSpPr>
          <p:cNvPr id="3" name="Shape 1"/>
          <p:cNvSpPr/>
          <p:nvPr/>
        </p:nvSpPr>
        <p:spPr>
          <a:xfrm>
            <a:off x="9445752" y="347472"/>
            <a:ext cx="2194560" cy="347472"/>
          </a:xfrm>
          <a:prstGeom prst="roundRect">
            <a:avLst>
              <a:gd name="adj" fmla="val 50000"/>
            </a:avLst>
          </a:prstGeom>
          <a:solidFill>
            <a:srgbClr val="16213A"/>
          </a:solidFill>
          <a:ln/>
        </p:spPr>
      </p:sp>
      <p:sp>
        <p:nvSpPr>
          <p:cNvPr id="4" name="Text 2"/>
          <p:cNvSpPr txBox="1"/>
          <p:nvPr/>
        </p:nvSpPr>
        <p:spPr>
          <a:xfrm>
            <a:off x="9445752" y="347472"/>
            <a:ext cx="2194560" cy="347472"/>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BACKUP  ·  A8</a:t>
            </a:r>
            <a:endParaRPr lang="en-US" sz="1100" dirty="0"/>
          </a:p>
        </p:txBody>
      </p:sp>
      <p:sp>
        <p:nvSpPr>
          <p:cNvPr id="5" name="Text 3"/>
          <p:cNvSpPr txBox="1"/>
          <p:nvPr/>
        </p:nvSpPr>
        <p:spPr>
          <a:xfrm>
            <a:off x="548640" y="777240"/>
            <a:ext cx="11091672" cy="548640"/>
          </a:xfrm>
          <a:prstGeom prst="rect">
            <a:avLst/>
          </a:prstGeom>
          <a:noFill/>
          <a:ln/>
        </p:spPr>
        <p:txBody>
          <a:bodyPr wrap="square" lIns="0" tIns="0" rIns="0" bIns="0" rtlCol="0" anchor="ctr"/>
          <a:lstStyle/>
          <a:p>
            <a:pPr indent="0" marL="0">
              <a:buNone/>
            </a:pPr>
            <a:r>
              <a:rPr lang="en-US" sz="3000" b="1" dirty="0">
                <a:solidFill>
                  <a:srgbClr val="16213A"/>
                </a:solidFill>
                <a:latin typeface="Calibri" pitchFamily="34" charset="0"/>
                <a:ea typeface="Calibri" pitchFamily="34" charset="-122"/>
                <a:cs typeface="Calibri" pitchFamily="34" charset="-120"/>
              </a:rPr>
              <a:t>A8  Why gaze, not just a class name</a:t>
            </a:r>
            <a:endParaRPr lang="en-US" sz="3000" dirty="0"/>
          </a:p>
        </p:txBody>
      </p:sp>
      <p:sp>
        <p:nvSpPr>
          <p:cNvPr id="6" name="Text 4"/>
          <p:cNvSpPr txBox="1"/>
          <p:nvPr/>
        </p:nvSpPr>
        <p:spPr>
          <a:xfrm>
            <a:off x="548640" y="1325880"/>
            <a:ext cx="11091672" cy="320040"/>
          </a:xfrm>
          <a:prstGeom prst="rect">
            <a:avLst/>
          </a:prstGeom>
          <a:noFill/>
          <a:ln/>
        </p:spPr>
        <p:txBody>
          <a:bodyPr wrap="square" lIns="0" tIns="0" rIns="0" bIns="0" rtlCol="0" anchor="ctr"/>
          <a:lstStyle/>
          <a:p>
            <a:pPr indent="0" marL="0">
              <a:buNone/>
            </a:pPr>
            <a:r>
              <a:rPr lang="en-US" sz="1700" dirty="0">
                <a:solidFill>
                  <a:srgbClr val="4B5563"/>
                </a:solidFill>
                <a:latin typeface="Calibri" pitchFamily="34" charset="0"/>
                <a:ea typeface="Calibri" pitchFamily="34" charset="-122"/>
                <a:cs typeface="Calibri" pitchFamily="34" charset="-120"/>
              </a:rPr>
              <a:t>Answers: “Isn't identical-object picking niche?”</a:t>
            </a:r>
            <a:endParaRPr lang="en-US" sz="1700" dirty="0"/>
          </a:p>
        </p:txBody>
      </p:sp>
      <p:sp>
        <p:nvSpPr>
          <p:cNvPr id="7" name="Text 5"/>
          <p:cNvSpPr txBox="1"/>
          <p:nvPr/>
        </p:nvSpPr>
        <p:spPr>
          <a:xfrm>
            <a:off x="548640" y="6355080"/>
            <a:ext cx="822960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Source: COMBINED_PROGRESS_REPORT_2026-10.md §0.3 (D§5.5). CLIP values: §8.5</a:t>
            </a:r>
            <a:endParaRPr lang="en-US" sz="1100" dirty="0"/>
          </a:p>
        </p:txBody>
      </p:sp>
      <p:sp>
        <p:nvSpPr>
          <p:cNvPr id="8" name="Text 6"/>
          <p:cNvSpPr txBox="1"/>
          <p:nvPr/>
        </p:nvSpPr>
        <p:spPr>
          <a:xfrm>
            <a:off x="11091672" y="6355080"/>
            <a:ext cx="548640" cy="27432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33</a:t>
            </a:r>
            <a:endParaRPr lang="en-US" sz="1100" dirty="0"/>
          </a:p>
        </p:txBody>
      </p:sp>
      <p:sp>
        <p:nvSpPr>
          <p:cNvPr id="10" name="Shape 7"/>
          <p:cNvSpPr/>
          <p:nvPr/>
        </p:nvSpPr>
        <p:spPr>
          <a:xfrm>
            <a:off x="548640" y="1783080"/>
            <a:ext cx="11091672" cy="777240"/>
          </a:xfrm>
          <a:prstGeom prst="roundRect">
            <a:avLst>
              <a:gd name="adj" fmla="val 11765"/>
            </a:avLst>
          </a:prstGeom>
          <a:solidFill>
            <a:srgbClr val="16213A"/>
          </a:solidFill>
          <a:ln/>
        </p:spPr>
      </p:sp>
      <p:sp>
        <p:nvSpPr>
          <p:cNvPr id="11" name="Text 8"/>
          <p:cNvSpPr txBox="1"/>
          <p:nvPr/>
        </p:nvSpPr>
        <p:spPr>
          <a:xfrm>
            <a:off x="777240" y="1783080"/>
            <a:ext cx="10634472" cy="7772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Two identical objects are the hardest test case, not the pitch.  </a:t>
            </a:r>
            <a:pPr indent="0" marL="0">
              <a:buNone/>
            </a:pPr>
            <a:r>
              <a:rPr lang="en-US" sz="1500" dirty="0">
                <a:solidFill>
                  <a:srgbClr val="CBD5E1"/>
                </a:solidFill>
                <a:latin typeface="Calibri" pitchFamily="34" charset="0"/>
                <a:ea typeface="Calibri" pitchFamily="34" charset="-122"/>
                <a:cs typeface="Calibri" pitchFamily="34" charset="-120"/>
              </a:rPr>
              <a:t>The capability is knowing where the user is looking in the robot's own 3D space.</a:t>
            </a:r>
            <a:endParaRPr lang="en-US" sz="1500" dirty="0"/>
          </a:p>
        </p:txBody>
      </p:sp>
      <p:sp>
        <p:nvSpPr>
          <p:cNvPr id="12" name="Shape 9"/>
          <p:cNvSpPr/>
          <p:nvPr/>
        </p:nvSpPr>
        <p:spPr>
          <a:xfrm>
            <a:off x="548640" y="2743200"/>
            <a:ext cx="11091672" cy="576072"/>
          </a:xfrm>
          <a:prstGeom prst="roundRect">
            <a:avLst>
              <a:gd name="adj" fmla="val 15873"/>
            </a:avLst>
          </a:prstGeom>
          <a:solidFill>
            <a:srgbClr val="EEF2F7"/>
          </a:solidFill>
          <a:ln/>
        </p:spPr>
      </p:sp>
      <p:sp>
        <p:nvSpPr>
          <p:cNvPr id="13" name="Shape 10"/>
          <p:cNvSpPr/>
          <p:nvPr/>
        </p:nvSpPr>
        <p:spPr>
          <a:xfrm>
            <a:off x="685800" y="2834640"/>
            <a:ext cx="393192" cy="393192"/>
          </a:xfrm>
          <a:prstGeom prst="ellipse">
            <a:avLst/>
          </a:prstGeom>
          <a:solidFill>
            <a:srgbClr val="0068B5"/>
          </a:solidFill>
          <a:ln/>
        </p:spPr>
      </p:sp>
      <p:pic>
        <p:nvPicPr>
          <p:cNvPr id="14" name="Image 0" descr="preencoded.png">    </p:cNvPr>
          <p:cNvPicPr>
            <a:picLocks noChangeAspect="1"/>
          </p:cNvPicPr>
          <p:nvPr/>
        </p:nvPicPr>
        <p:blipFill>
          <a:blip r:embed="rId1"/>
          <a:stretch>
            <a:fillRect/>
          </a:stretch>
        </p:blipFill>
        <p:spPr>
          <a:xfrm>
            <a:off x="772302" y="2921142"/>
            <a:ext cx="220188" cy="220188"/>
          </a:xfrm>
          <a:prstGeom prst="rect">
            <a:avLst/>
          </a:prstGeom>
        </p:spPr>
      </p:pic>
      <p:sp>
        <p:nvSpPr>
          <p:cNvPr id="15" name="Text 11"/>
          <p:cNvSpPr txBox="1"/>
          <p:nvPr/>
        </p:nvSpPr>
        <p:spPr>
          <a:xfrm>
            <a:off x="1234440" y="2743200"/>
            <a:ext cx="3840480" cy="576072"/>
          </a:xfrm>
          <a:prstGeom prst="rect">
            <a:avLst/>
          </a:prstGeom>
          <a:noFill/>
          <a:ln/>
        </p:spPr>
        <p:txBody>
          <a:bodyPr wrap="square" lIns="0" tIns="0" rIns="0" bIns="0" rtlCol="0" anchor="ctr"/>
          <a:lstStyle/>
          <a:p>
            <a:pPr indent="0" marL="0">
              <a:buNone/>
            </a:pPr>
            <a:r>
              <a:rPr lang="en-US" sz="1400" b="1" dirty="0">
                <a:solidFill>
                  <a:srgbClr val="16213A"/>
                </a:solidFill>
                <a:latin typeface="Calibri" pitchFamily="34" charset="0"/>
                <a:ea typeface="Calibri" pitchFamily="34" charset="-122"/>
                <a:cs typeface="Calibri" pitchFamily="34" charset="-120"/>
              </a:rPr>
              <a:t>Similar objects</a:t>
            </a:r>
            <a:endParaRPr lang="en-US" sz="1400" dirty="0"/>
          </a:p>
        </p:txBody>
      </p:sp>
      <p:sp>
        <p:nvSpPr>
          <p:cNvPr id="16" name="Text 12"/>
          <p:cNvSpPr txBox="1"/>
          <p:nvPr/>
        </p:nvSpPr>
        <p:spPr>
          <a:xfrm>
            <a:off x="5120640" y="2743200"/>
            <a:ext cx="6382512" cy="576072"/>
          </a:xfrm>
          <a:prstGeom prst="rect">
            <a:avLst/>
          </a:prstGeom>
          <a:noFill/>
          <a:ln/>
        </p:spPr>
        <p:txBody>
          <a:bodyPr wrap="square" lIns="0" tIns="0" rIns="0" bIns="0" rtlCol="0" anchor="ctr"/>
          <a:lstStyle/>
          <a:p>
            <a:pPr indent="0" marL="0">
              <a:buNone/>
            </a:pPr>
            <a:r>
              <a:rPr lang="en-US" sz="1300" dirty="0">
                <a:solidFill>
                  <a:srgbClr val="4B5563"/>
                </a:solidFill>
                <a:latin typeface="Calibri" pitchFamily="34" charset="0"/>
                <a:ea typeface="Calibri" pitchFamily="34" charset="-122"/>
                <a:cs typeface="Calibri" pitchFamily="34" charset="-120"/>
              </a:rPr>
              <a:t>Two chairs of the same model score 0.81 to 0.85 in CLIP, close to the same chair at 0.93</a:t>
            </a:r>
            <a:endParaRPr lang="en-US" sz="1300" dirty="0"/>
          </a:p>
        </p:txBody>
      </p:sp>
      <p:sp>
        <p:nvSpPr>
          <p:cNvPr id="17" name="Shape 13"/>
          <p:cNvSpPr/>
          <p:nvPr/>
        </p:nvSpPr>
        <p:spPr>
          <a:xfrm>
            <a:off x="548640" y="3410712"/>
            <a:ext cx="11091672" cy="576072"/>
          </a:xfrm>
          <a:prstGeom prst="roundRect">
            <a:avLst>
              <a:gd name="adj" fmla="val 15873"/>
            </a:avLst>
          </a:prstGeom>
          <a:solidFill>
            <a:srgbClr val="EEF2F7"/>
          </a:solidFill>
          <a:ln/>
        </p:spPr>
      </p:sp>
      <p:sp>
        <p:nvSpPr>
          <p:cNvPr id="18" name="Shape 14"/>
          <p:cNvSpPr/>
          <p:nvPr/>
        </p:nvSpPr>
        <p:spPr>
          <a:xfrm>
            <a:off x="685800" y="3502152"/>
            <a:ext cx="393192" cy="393192"/>
          </a:xfrm>
          <a:prstGeom prst="ellipse">
            <a:avLst/>
          </a:prstGeom>
          <a:solidFill>
            <a:srgbClr val="0068B5"/>
          </a:solidFill>
          <a:ln/>
        </p:spPr>
      </p:sp>
      <p:pic>
        <p:nvPicPr>
          <p:cNvPr id="19" name="Image 1" descr="preencoded.png">    </p:cNvPr>
          <p:cNvPicPr>
            <a:picLocks noChangeAspect="1"/>
          </p:cNvPicPr>
          <p:nvPr/>
        </p:nvPicPr>
        <p:blipFill>
          <a:blip r:embed="rId2"/>
          <a:stretch>
            <a:fillRect/>
          </a:stretch>
        </p:blipFill>
        <p:spPr>
          <a:xfrm>
            <a:off x="772302" y="3588654"/>
            <a:ext cx="220188" cy="220188"/>
          </a:xfrm>
          <a:prstGeom prst="rect">
            <a:avLst/>
          </a:prstGeom>
        </p:spPr>
      </p:pic>
      <p:sp>
        <p:nvSpPr>
          <p:cNvPr id="20" name="Text 15"/>
          <p:cNvSpPr txBox="1"/>
          <p:nvPr/>
        </p:nvSpPr>
        <p:spPr>
          <a:xfrm>
            <a:off x="1234440" y="3410712"/>
            <a:ext cx="3840480" cy="576072"/>
          </a:xfrm>
          <a:prstGeom prst="rect">
            <a:avLst/>
          </a:prstGeom>
          <a:noFill/>
          <a:ln/>
        </p:spPr>
        <p:txBody>
          <a:bodyPr wrap="square" lIns="0" tIns="0" rIns="0" bIns="0" rtlCol="0" anchor="ctr"/>
          <a:lstStyle/>
          <a:p>
            <a:pPr indent="0" marL="0">
              <a:buNone/>
            </a:pPr>
            <a:r>
              <a:rPr lang="en-US" sz="1400" b="1" dirty="0">
                <a:solidFill>
                  <a:srgbClr val="16213A"/>
                </a:solidFill>
                <a:latin typeface="Calibri" pitchFamily="34" charset="0"/>
                <a:ea typeface="Calibri" pitchFamily="34" charset="-122"/>
                <a:cs typeface="Calibri" pitchFamily="34" charset="-120"/>
              </a:rPr>
              <a:t>Partly hidden objects</a:t>
            </a:r>
            <a:endParaRPr lang="en-US" sz="1400" dirty="0"/>
          </a:p>
        </p:txBody>
      </p:sp>
      <p:sp>
        <p:nvSpPr>
          <p:cNvPr id="21" name="Text 16"/>
          <p:cNvSpPr txBox="1"/>
          <p:nvPr/>
        </p:nvSpPr>
        <p:spPr>
          <a:xfrm>
            <a:off x="5120640" y="3410712"/>
            <a:ext cx="6382512" cy="576072"/>
          </a:xfrm>
          <a:prstGeom prst="rect">
            <a:avLst/>
          </a:prstGeom>
          <a:noFill/>
          <a:ln/>
        </p:spPr>
        <p:txBody>
          <a:bodyPr wrap="square" lIns="0" tIns="0" rIns="0" bIns="0" rtlCol="0" anchor="ctr"/>
          <a:lstStyle/>
          <a:p>
            <a:pPr indent="0" marL="0">
              <a:buNone/>
            </a:pPr>
            <a:r>
              <a:rPr lang="en-US" sz="1300" dirty="0">
                <a:solidFill>
                  <a:srgbClr val="4B5563"/>
                </a:solidFill>
                <a:latin typeface="Calibri" pitchFamily="34" charset="0"/>
                <a:ea typeface="Calibri" pitchFamily="34" charset="-122"/>
                <a:cs typeface="Calibri" pitchFamily="34" charset="-120"/>
              </a:rPr>
              <a:t>The robot may see only part of the object the user sees</a:t>
            </a:r>
            <a:endParaRPr lang="en-US" sz="1300" dirty="0"/>
          </a:p>
        </p:txBody>
      </p:sp>
      <p:sp>
        <p:nvSpPr>
          <p:cNvPr id="22" name="Shape 17"/>
          <p:cNvSpPr/>
          <p:nvPr/>
        </p:nvSpPr>
        <p:spPr>
          <a:xfrm>
            <a:off x="548640" y="4078224"/>
            <a:ext cx="11091672" cy="576072"/>
          </a:xfrm>
          <a:prstGeom prst="roundRect">
            <a:avLst>
              <a:gd name="adj" fmla="val 15873"/>
            </a:avLst>
          </a:prstGeom>
          <a:solidFill>
            <a:srgbClr val="EEF2F7"/>
          </a:solidFill>
          <a:ln/>
        </p:spPr>
      </p:sp>
      <p:sp>
        <p:nvSpPr>
          <p:cNvPr id="23" name="Shape 18"/>
          <p:cNvSpPr/>
          <p:nvPr/>
        </p:nvSpPr>
        <p:spPr>
          <a:xfrm>
            <a:off x="685800" y="4169664"/>
            <a:ext cx="393192" cy="393192"/>
          </a:xfrm>
          <a:prstGeom prst="ellipse">
            <a:avLst/>
          </a:prstGeom>
          <a:solidFill>
            <a:srgbClr val="0068B5"/>
          </a:solidFill>
          <a:ln/>
        </p:spPr>
      </p:sp>
      <p:pic>
        <p:nvPicPr>
          <p:cNvPr id="24" name="Image 2" descr="preencoded.png">    </p:cNvPr>
          <p:cNvPicPr>
            <a:picLocks noChangeAspect="1"/>
          </p:cNvPicPr>
          <p:nvPr/>
        </p:nvPicPr>
        <p:blipFill>
          <a:blip r:embed="rId3"/>
          <a:stretch>
            <a:fillRect/>
          </a:stretch>
        </p:blipFill>
        <p:spPr>
          <a:xfrm>
            <a:off x="772302" y="4256166"/>
            <a:ext cx="220188" cy="220188"/>
          </a:xfrm>
          <a:prstGeom prst="rect">
            <a:avLst/>
          </a:prstGeom>
        </p:spPr>
      </p:pic>
      <p:sp>
        <p:nvSpPr>
          <p:cNvPr id="25" name="Text 19"/>
          <p:cNvSpPr txBox="1"/>
          <p:nvPr/>
        </p:nvSpPr>
        <p:spPr>
          <a:xfrm>
            <a:off x="1234440" y="4078224"/>
            <a:ext cx="3840480" cy="576072"/>
          </a:xfrm>
          <a:prstGeom prst="rect">
            <a:avLst/>
          </a:prstGeom>
          <a:noFill/>
          <a:ln/>
        </p:spPr>
        <p:txBody>
          <a:bodyPr wrap="square" lIns="0" tIns="0" rIns="0" bIns="0" rtlCol="0" anchor="ctr"/>
          <a:lstStyle/>
          <a:p>
            <a:pPr indent="0" marL="0">
              <a:buNone/>
            </a:pPr>
            <a:r>
              <a:rPr lang="en-US" sz="1400" b="1" dirty="0">
                <a:solidFill>
                  <a:srgbClr val="16213A"/>
                </a:solidFill>
                <a:latin typeface="Calibri" pitchFamily="34" charset="0"/>
                <a:ea typeface="Calibri" pitchFamily="34" charset="-122"/>
                <a:cs typeface="Calibri" pitchFamily="34" charset="-120"/>
              </a:rPr>
              <a:t>Uncertain image features</a:t>
            </a:r>
            <a:endParaRPr lang="en-US" sz="1400" dirty="0"/>
          </a:p>
        </p:txBody>
      </p:sp>
      <p:sp>
        <p:nvSpPr>
          <p:cNvPr id="26" name="Text 20"/>
          <p:cNvSpPr txBox="1"/>
          <p:nvPr/>
        </p:nvSpPr>
        <p:spPr>
          <a:xfrm>
            <a:off x="5120640" y="4078224"/>
            <a:ext cx="6382512" cy="576072"/>
          </a:xfrm>
          <a:prstGeom prst="rect">
            <a:avLst/>
          </a:prstGeom>
          <a:noFill/>
          <a:ln/>
        </p:spPr>
        <p:txBody>
          <a:bodyPr wrap="square" lIns="0" tIns="0" rIns="0" bIns="0" rtlCol="0" anchor="ctr"/>
          <a:lstStyle/>
          <a:p>
            <a:pPr indent="0" marL="0">
              <a:buNone/>
            </a:pPr>
            <a:r>
              <a:rPr lang="en-US" sz="1300" dirty="0">
                <a:solidFill>
                  <a:srgbClr val="4B5563"/>
                </a:solidFill>
                <a:latin typeface="Calibri" pitchFamily="34" charset="0"/>
                <a:ea typeface="Calibri" pitchFamily="34" charset="-122"/>
                <a:cs typeface="Calibri" pitchFamily="34" charset="-120"/>
              </a:rPr>
              <a:t>Appearance alone is not a reliable identity</a:t>
            </a:r>
            <a:endParaRPr lang="en-US" sz="1300" dirty="0"/>
          </a:p>
        </p:txBody>
      </p:sp>
      <p:sp>
        <p:nvSpPr>
          <p:cNvPr id="27" name="Shape 21"/>
          <p:cNvSpPr/>
          <p:nvPr/>
        </p:nvSpPr>
        <p:spPr>
          <a:xfrm>
            <a:off x="548640" y="4745736"/>
            <a:ext cx="11091672" cy="576072"/>
          </a:xfrm>
          <a:prstGeom prst="roundRect">
            <a:avLst>
              <a:gd name="adj" fmla="val 15873"/>
            </a:avLst>
          </a:prstGeom>
          <a:solidFill>
            <a:srgbClr val="EEF2F7"/>
          </a:solidFill>
          <a:ln/>
        </p:spPr>
      </p:sp>
      <p:sp>
        <p:nvSpPr>
          <p:cNvPr id="28" name="Shape 22"/>
          <p:cNvSpPr/>
          <p:nvPr/>
        </p:nvSpPr>
        <p:spPr>
          <a:xfrm>
            <a:off x="685800" y="4837176"/>
            <a:ext cx="393192" cy="393192"/>
          </a:xfrm>
          <a:prstGeom prst="ellipse">
            <a:avLst/>
          </a:prstGeom>
          <a:solidFill>
            <a:srgbClr val="0068B5"/>
          </a:solidFill>
          <a:ln/>
        </p:spPr>
      </p:sp>
      <p:pic>
        <p:nvPicPr>
          <p:cNvPr id="29" name="Image 3" descr="preencoded.png">    </p:cNvPr>
          <p:cNvPicPr>
            <a:picLocks noChangeAspect="1"/>
          </p:cNvPicPr>
          <p:nvPr/>
        </p:nvPicPr>
        <p:blipFill>
          <a:blip r:embed="rId4"/>
          <a:stretch>
            <a:fillRect/>
          </a:stretch>
        </p:blipFill>
        <p:spPr>
          <a:xfrm>
            <a:off x="772302" y="4923678"/>
            <a:ext cx="220188" cy="220188"/>
          </a:xfrm>
          <a:prstGeom prst="rect">
            <a:avLst/>
          </a:prstGeom>
        </p:spPr>
      </p:pic>
      <p:sp>
        <p:nvSpPr>
          <p:cNvPr id="30" name="Text 23"/>
          <p:cNvSpPr txBox="1"/>
          <p:nvPr/>
        </p:nvSpPr>
        <p:spPr>
          <a:xfrm>
            <a:off x="1234440" y="4745736"/>
            <a:ext cx="3840480" cy="576072"/>
          </a:xfrm>
          <a:prstGeom prst="rect">
            <a:avLst/>
          </a:prstGeom>
          <a:noFill/>
          <a:ln/>
        </p:spPr>
        <p:txBody>
          <a:bodyPr wrap="square" lIns="0" tIns="0" rIns="0" bIns="0" rtlCol="0" anchor="ctr"/>
          <a:lstStyle/>
          <a:p>
            <a:pPr indent="0" marL="0">
              <a:buNone/>
            </a:pPr>
            <a:r>
              <a:rPr lang="en-US" sz="1400" b="1" dirty="0">
                <a:solidFill>
                  <a:srgbClr val="16213A"/>
                </a:solidFill>
                <a:latin typeface="Calibri" pitchFamily="34" charset="0"/>
                <a:ea typeface="Calibri" pitchFamily="34" charset="-122"/>
                <a:cs typeface="Calibri" pitchFamily="34" charset="-120"/>
              </a:rPr>
              <a:t>A robot that does not see what the user sees</a:t>
            </a:r>
            <a:endParaRPr lang="en-US" sz="1400" dirty="0"/>
          </a:p>
        </p:txBody>
      </p:sp>
      <p:sp>
        <p:nvSpPr>
          <p:cNvPr id="31" name="Text 24"/>
          <p:cNvSpPr txBox="1"/>
          <p:nvPr/>
        </p:nvSpPr>
        <p:spPr>
          <a:xfrm>
            <a:off x="5120640" y="4745736"/>
            <a:ext cx="6382512" cy="576072"/>
          </a:xfrm>
          <a:prstGeom prst="rect">
            <a:avLst/>
          </a:prstGeom>
          <a:noFill/>
          <a:ln/>
        </p:spPr>
        <p:txBody>
          <a:bodyPr wrap="square" lIns="0" tIns="0" rIns="0" bIns="0" rtlCol="0" anchor="ctr"/>
          <a:lstStyle/>
          <a:p>
            <a:pPr indent="0" marL="0">
              <a:buNone/>
            </a:pPr>
            <a:r>
              <a:rPr lang="en-US" sz="1300" dirty="0">
                <a:solidFill>
                  <a:srgbClr val="4B5563"/>
                </a:solidFill>
                <a:latin typeface="Calibri" pitchFamily="34" charset="0"/>
                <a:ea typeface="Calibri" pitchFamily="34" charset="-122"/>
                <a:cs typeface="Calibri" pitchFamily="34" charset="-120"/>
              </a:rPr>
              <a:t>The base camera is at knee height, the glasses at eye level</a:t>
            </a:r>
            <a:endParaRPr lang="en-US" sz="1300" dirty="0"/>
          </a:p>
        </p:txBody>
      </p:sp>
      <p:sp>
        <p:nvSpPr>
          <p:cNvPr id="32" name="Shape 25"/>
          <p:cNvSpPr/>
          <p:nvPr/>
        </p:nvSpPr>
        <p:spPr>
          <a:xfrm>
            <a:off x="548640" y="5413248"/>
            <a:ext cx="11091672" cy="576072"/>
          </a:xfrm>
          <a:prstGeom prst="roundRect">
            <a:avLst>
              <a:gd name="adj" fmla="val 15873"/>
            </a:avLst>
          </a:prstGeom>
          <a:solidFill>
            <a:srgbClr val="EEF2F7"/>
          </a:solidFill>
          <a:ln/>
        </p:spPr>
      </p:sp>
      <p:sp>
        <p:nvSpPr>
          <p:cNvPr id="33" name="Shape 26"/>
          <p:cNvSpPr/>
          <p:nvPr/>
        </p:nvSpPr>
        <p:spPr>
          <a:xfrm>
            <a:off x="685800" y="5504688"/>
            <a:ext cx="393192" cy="393192"/>
          </a:xfrm>
          <a:prstGeom prst="ellipse">
            <a:avLst/>
          </a:prstGeom>
          <a:solidFill>
            <a:srgbClr val="0068B5"/>
          </a:solidFill>
          <a:ln/>
        </p:spPr>
      </p:sp>
      <p:pic>
        <p:nvPicPr>
          <p:cNvPr id="34" name="Image 4" descr="preencoded.png">    </p:cNvPr>
          <p:cNvPicPr>
            <a:picLocks noChangeAspect="1"/>
          </p:cNvPicPr>
          <p:nvPr/>
        </p:nvPicPr>
        <p:blipFill>
          <a:blip r:embed="rId5"/>
          <a:stretch>
            <a:fillRect/>
          </a:stretch>
        </p:blipFill>
        <p:spPr>
          <a:xfrm>
            <a:off x="772302" y="5591190"/>
            <a:ext cx="220188" cy="220188"/>
          </a:xfrm>
          <a:prstGeom prst="rect">
            <a:avLst/>
          </a:prstGeom>
        </p:spPr>
      </p:pic>
      <p:sp>
        <p:nvSpPr>
          <p:cNvPr id="35" name="Text 27"/>
          <p:cNvSpPr txBox="1"/>
          <p:nvPr/>
        </p:nvSpPr>
        <p:spPr>
          <a:xfrm>
            <a:off x="1234440" y="5413248"/>
            <a:ext cx="3840480" cy="576072"/>
          </a:xfrm>
          <a:prstGeom prst="rect">
            <a:avLst/>
          </a:prstGeom>
          <a:noFill/>
          <a:ln/>
        </p:spPr>
        <p:txBody>
          <a:bodyPr wrap="square" lIns="0" tIns="0" rIns="0" bIns="0" rtlCol="0" anchor="ctr"/>
          <a:lstStyle/>
          <a:p>
            <a:pPr indent="0" marL="0">
              <a:buNone/>
            </a:pPr>
            <a:r>
              <a:rPr lang="en-US" sz="1400" b="1" dirty="0">
                <a:solidFill>
                  <a:srgbClr val="16213A"/>
                </a:solidFill>
                <a:latin typeface="Calibri" pitchFamily="34" charset="0"/>
                <a:ea typeface="Calibri" pitchFamily="34" charset="-122"/>
                <a:cs typeface="Calibri" pitchFamily="34" charset="-120"/>
              </a:rPr>
              <a:t>Assistive use</a:t>
            </a:r>
            <a:endParaRPr lang="en-US" sz="1400" dirty="0"/>
          </a:p>
        </p:txBody>
      </p:sp>
      <p:sp>
        <p:nvSpPr>
          <p:cNvPr id="36" name="Text 28"/>
          <p:cNvSpPr txBox="1"/>
          <p:nvPr/>
        </p:nvSpPr>
        <p:spPr>
          <a:xfrm>
            <a:off x="5120640" y="5413248"/>
            <a:ext cx="6382512" cy="576072"/>
          </a:xfrm>
          <a:prstGeom prst="rect">
            <a:avLst/>
          </a:prstGeom>
          <a:noFill/>
          <a:ln/>
        </p:spPr>
        <p:txBody>
          <a:bodyPr wrap="square" lIns="0" tIns="0" rIns="0" bIns="0" rtlCol="0" anchor="ctr"/>
          <a:lstStyle/>
          <a:p>
            <a:pPr indent="0" marL="0">
              <a:buNone/>
            </a:pPr>
            <a:r>
              <a:rPr lang="en-US" sz="1300" dirty="0">
                <a:solidFill>
                  <a:srgbClr val="4B5563"/>
                </a:solidFill>
                <a:latin typeface="Calibri" pitchFamily="34" charset="0"/>
                <a:ea typeface="Calibri" pitchFamily="34" charset="-122"/>
                <a:cs typeface="Calibri" pitchFamily="34" charset="-120"/>
              </a:rPr>
              <a:t>A user who can look but cannot easily point or speak, among mugs, pill bottles and cans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28600"/>
          </a:xfrm>
          <a:prstGeom prst="rect">
            <a:avLst/>
          </a:prstGeom>
          <a:noFill/>
          <a:ln/>
        </p:spPr>
        <p:txBody>
          <a:bodyPr wrap="square" lIns="0" tIns="0" rIns="0" bIns="0" rtlCol="0" anchor="ctr"/>
          <a:lstStyle/>
          <a:p>
            <a:pPr indent="0" marL="0">
              <a:buNone/>
            </a:pPr>
            <a:r>
              <a:rPr lang="en-US" sz="1100" b="1" spc="150" kern="0" dirty="0">
                <a:solidFill>
                  <a:srgbClr val="0068B5"/>
                </a:solidFill>
                <a:latin typeface="Calibri" pitchFamily="34" charset="0"/>
                <a:ea typeface="Calibri" pitchFamily="34" charset="-122"/>
                <a:cs typeface="Calibri" pitchFamily="34" charset="-120"/>
              </a:rPr>
              <a:t>GAPPLER  ·  APPENDIX</a:t>
            </a:r>
            <a:endParaRPr lang="en-US" sz="1100" dirty="0"/>
          </a:p>
        </p:txBody>
      </p:sp>
      <p:sp>
        <p:nvSpPr>
          <p:cNvPr id="3" name="Shape 1"/>
          <p:cNvSpPr/>
          <p:nvPr/>
        </p:nvSpPr>
        <p:spPr>
          <a:xfrm>
            <a:off x="9445752" y="347472"/>
            <a:ext cx="2194560" cy="347472"/>
          </a:xfrm>
          <a:prstGeom prst="roundRect">
            <a:avLst>
              <a:gd name="adj" fmla="val 50000"/>
            </a:avLst>
          </a:prstGeom>
          <a:solidFill>
            <a:srgbClr val="16213A"/>
          </a:solidFill>
          <a:ln/>
        </p:spPr>
      </p:sp>
      <p:sp>
        <p:nvSpPr>
          <p:cNvPr id="4" name="Text 2"/>
          <p:cNvSpPr txBox="1"/>
          <p:nvPr/>
        </p:nvSpPr>
        <p:spPr>
          <a:xfrm>
            <a:off x="9445752" y="347472"/>
            <a:ext cx="2194560" cy="347472"/>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BACKUP  ·  A9</a:t>
            </a:r>
            <a:endParaRPr lang="en-US" sz="1100" dirty="0"/>
          </a:p>
        </p:txBody>
      </p:sp>
      <p:sp>
        <p:nvSpPr>
          <p:cNvPr id="5" name="Text 3"/>
          <p:cNvSpPr txBox="1"/>
          <p:nvPr/>
        </p:nvSpPr>
        <p:spPr>
          <a:xfrm>
            <a:off x="548640" y="777240"/>
            <a:ext cx="11091672" cy="548640"/>
          </a:xfrm>
          <a:prstGeom prst="rect">
            <a:avLst/>
          </a:prstGeom>
          <a:noFill/>
          <a:ln/>
        </p:spPr>
        <p:txBody>
          <a:bodyPr wrap="square" lIns="0" tIns="0" rIns="0" bIns="0" rtlCol="0" anchor="ctr"/>
          <a:lstStyle/>
          <a:p>
            <a:pPr indent="0" marL="0">
              <a:buNone/>
            </a:pPr>
            <a:r>
              <a:rPr lang="en-US" sz="3000" b="1" dirty="0">
                <a:solidFill>
                  <a:srgbClr val="16213A"/>
                </a:solidFill>
                <a:latin typeface="Calibri" pitchFamily="34" charset="0"/>
                <a:ea typeface="Calibri" pitchFamily="34" charset="-122"/>
                <a:cs typeface="Calibri" pitchFamily="34" charset="-120"/>
              </a:rPr>
              <a:t>A9  End-to-end evaluation plan</a:t>
            </a:r>
            <a:endParaRPr lang="en-US" sz="3000" dirty="0"/>
          </a:p>
        </p:txBody>
      </p:sp>
      <p:sp>
        <p:nvSpPr>
          <p:cNvPr id="6" name="Text 4"/>
          <p:cNvSpPr txBox="1"/>
          <p:nvPr/>
        </p:nvSpPr>
        <p:spPr>
          <a:xfrm>
            <a:off x="548640" y="1325880"/>
            <a:ext cx="11091672" cy="320040"/>
          </a:xfrm>
          <a:prstGeom prst="rect">
            <a:avLst/>
          </a:prstGeom>
          <a:noFill/>
          <a:ln/>
        </p:spPr>
        <p:txBody>
          <a:bodyPr wrap="square" lIns="0" tIns="0" rIns="0" bIns="0" rtlCol="0" anchor="ctr"/>
          <a:lstStyle/>
          <a:p>
            <a:pPr indent="0" marL="0">
              <a:buNone/>
            </a:pPr>
            <a:r>
              <a:rPr lang="en-US" sz="1700" dirty="0">
                <a:solidFill>
                  <a:srgbClr val="4B5563"/>
                </a:solidFill>
                <a:latin typeface="Calibri" pitchFamily="34" charset="0"/>
                <a:ea typeface="Calibri" pitchFamily="34" charset="-122"/>
                <a:cs typeface="Calibri" pitchFamily="34" charset="-120"/>
              </a:rPr>
              <a:t>Answers: “How will you measure the final system?” Today every measurement is per stage</a:t>
            </a:r>
            <a:endParaRPr lang="en-US" sz="1700" dirty="0"/>
          </a:p>
        </p:txBody>
      </p:sp>
      <p:sp>
        <p:nvSpPr>
          <p:cNvPr id="7" name="Text 5"/>
          <p:cNvSpPr txBox="1"/>
          <p:nvPr/>
        </p:nvSpPr>
        <p:spPr>
          <a:xfrm>
            <a:off x="548640" y="6355080"/>
            <a:ext cx="822960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Source: COMBINED_PROGRESS_REPORT_2026-10.md §11</a:t>
            </a:r>
            <a:endParaRPr lang="en-US" sz="1100" dirty="0"/>
          </a:p>
        </p:txBody>
      </p:sp>
      <p:sp>
        <p:nvSpPr>
          <p:cNvPr id="8" name="Text 6"/>
          <p:cNvSpPr txBox="1"/>
          <p:nvPr/>
        </p:nvSpPr>
        <p:spPr>
          <a:xfrm>
            <a:off x="11091672" y="6355080"/>
            <a:ext cx="548640" cy="27432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34</a:t>
            </a:r>
            <a:endParaRPr lang="en-US" sz="11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834640"/>
                <a:gridCol w="5788152"/>
                <a:gridCol w="1463040"/>
                <a:gridCol w="1005840"/>
              </a:tblGrid>
              <a:tr h="30175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6213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Definition</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6213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Needs</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6213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Milestone</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6213A"/>
                    </a:solidFill>
                  </a:tcPr>
                </a:tc>
              </a:tr>
              <a:tr h="301752">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Glasses target accuracy</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Reference crop is the intended object, scenes with 2 to 4 objects at 1 to 3 m</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Live glasses</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M2</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301752">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Wrist confirmation accuracy</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Matcher picks the intended object, with and without look-alikes. Refusals counted apart</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P0 item 1</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M2</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r>
              <a:tr h="301752">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False acceptance rate</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Wrong object accepted, per stage (glasses, graph, wrist)</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Labelled trials</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M2, M8</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301752">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Graph target retrieval</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First hit lands on the intended marked object, and distance to it</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T6.8</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M6</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r>
              <a:tr h="301752">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Gaze-target trigger accuracy</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The robot stops exploring at the intended object. Wrong stops counted</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T8.2</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M8</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301752">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User discovery and search distance</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User found, and distance driven before the target is matched</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T7.5, T7.6</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M7</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r>
              <a:tr h="301752">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Without gaze (stretch)</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Same trials, voice only</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T8.11</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M8</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301752">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Drive-to-point repeatability</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Ten drives, landing error, 10 cm circle</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T3.6, T5.8</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M3</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r>
              <a:tr h="301752">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Handover success</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Base stops with the object inside the grasp band</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T3.7</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M4</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301752">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Grasp success</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12-trial grid, pass bar 9 of 12</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T1.35</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M1</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r>
              <a:tr h="301752">
                <a:tc>
                  <a:txBody>
                    <a:bodyPr/>
                    <a:lstStyle/>
                    <a:p>
                      <a:pPr indent="0" marL="0">
                        <a:buNone/>
                      </a:pPr>
                      <a:r>
                        <a:rPr lang="en-US" sz="1100" b="1" dirty="0">
                          <a:solidFill>
                            <a:srgbClr val="16213A"/>
                          </a:solidFill>
                          <a:latin typeface="Calibri" pitchFamily="34" charset="0"/>
                          <a:ea typeface="Calibri" pitchFamily="34" charset="-122"/>
                          <a:cs typeface="Calibri" pitchFamily="34" charset="-120"/>
                        </a:rPr>
                        <a:t>End-to-end success</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DBEAFE"/>
                    </a:solidFill>
                  </a:tcPr>
                </a:tc>
                <a:tc>
                  <a:txBody>
                    <a:bodyPr/>
                    <a:lstStyle/>
                    <a:p>
                      <a:pPr indent="0" marL="0">
                        <a:buNone/>
                      </a:pPr>
                      <a:r>
                        <a:rPr lang="en-US" sz="1100" b="1" dirty="0">
                          <a:solidFill>
                            <a:srgbClr val="16213A"/>
                          </a:solidFill>
                          <a:latin typeface="Calibri" pitchFamily="34" charset="0"/>
                          <a:ea typeface="Calibri" pitchFamily="34" charset="-122"/>
                          <a:cs typeface="Calibri" pitchFamily="34" charset="-120"/>
                        </a:rPr>
                        <a:t>Speak, look, drive, grasp. Counted only when the intended object is lifted</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DBEAFE"/>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All above</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DBEAFE"/>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M4, M10</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DBEAFE"/>
                    </a:solidFill>
                  </a:tcPr>
                </a:tc>
              </a:tr>
              <a:tr h="301752">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Per-stage timing</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99th percentile per stage</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T4.2</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M4</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r>
              <a:tr h="301752">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Recovery</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Share of failures that end safely instead of a wrong grasp</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P1 items</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00" dirty="0">
                          <a:solidFill>
                            <a:srgbClr val="16213A"/>
                          </a:solidFill>
                          <a:latin typeface="Calibri" pitchFamily="34" charset="0"/>
                          <a:ea typeface="Calibri" pitchFamily="34" charset="-122"/>
                          <a:cs typeface="Calibri" pitchFamily="34" charset="-120"/>
                        </a:rPr>
                        <a:t>M4</a:t>
                      </a:r>
                      <a:endParaRPr lang="en-US" sz="11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28600"/>
          </a:xfrm>
          <a:prstGeom prst="rect">
            <a:avLst/>
          </a:prstGeom>
          <a:noFill/>
          <a:ln/>
        </p:spPr>
        <p:txBody>
          <a:bodyPr wrap="square" lIns="0" tIns="0" rIns="0" bIns="0" rtlCol="0" anchor="ctr"/>
          <a:lstStyle/>
          <a:p>
            <a:pPr indent="0" marL="0">
              <a:buNone/>
            </a:pPr>
            <a:r>
              <a:rPr lang="en-US" sz="1100" b="1" spc="150" kern="0" dirty="0">
                <a:solidFill>
                  <a:srgbClr val="0068B5"/>
                </a:solidFill>
                <a:latin typeface="Calibri" pitchFamily="34" charset="0"/>
                <a:ea typeface="Calibri" pitchFamily="34" charset="-122"/>
                <a:cs typeface="Calibri" pitchFamily="34" charset="-120"/>
              </a:rPr>
              <a:t>GAPPLER  ·  APPENDIX</a:t>
            </a:r>
            <a:endParaRPr lang="en-US" sz="1100" dirty="0"/>
          </a:p>
        </p:txBody>
      </p:sp>
      <p:sp>
        <p:nvSpPr>
          <p:cNvPr id="3" name="Shape 1"/>
          <p:cNvSpPr/>
          <p:nvPr/>
        </p:nvSpPr>
        <p:spPr>
          <a:xfrm>
            <a:off x="9445752" y="347472"/>
            <a:ext cx="2194560" cy="347472"/>
          </a:xfrm>
          <a:prstGeom prst="roundRect">
            <a:avLst>
              <a:gd name="adj" fmla="val 50000"/>
            </a:avLst>
          </a:prstGeom>
          <a:solidFill>
            <a:srgbClr val="16213A"/>
          </a:solidFill>
          <a:ln/>
        </p:spPr>
      </p:sp>
      <p:sp>
        <p:nvSpPr>
          <p:cNvPr id="4" name="Text 2"/>
          <p:cNvSpPr txBox="1"/>
          <p:nvPr/>
        </p:nvSpPr>
        <p:spPr>
          <a:xfrm>
            <a:off x="9445752" y="347472"/>
            <a:ext cx="2194560" cy="347472"/>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BACKUP  ·  A10</a:t>
            </a:r>
            <a:endParaRPr lang="en-US" sz="1100" dirty="0"/>
          </a:p>
        </p:txBody>
      </p:sp>
      <p:sp>
        <p:nvSpPr>
          <p:cNvPr id="5" name="Text 3"/>
          <p:cNvSpPr txBox="1"/>
          <p:nvPr/>
        </p:nvSpPr>
        <p:spPr>
          <a:xfrm>
            <a:off x="548640" y="777240"/>
            <a:ext cx="11091672" cy="548640"/>
          </a:xfrm>
          <a:prstGeom prst="rect">
            <a:avLst/>
          </a:prstGeom>
          <a:noFill/>
          <a:ln/>
        </p:spPr>
        <p:txBody>
          <a:bodyPr wrap="square" lIns="0" tIns="0" rIns="0" bIns="0" rtlCol="0" anchor="ctr"/>
          <a:lstStyle/>
          <a:p>
            <a:pPr indent="0" marL="0">
              <a:buNone/>
            </a:pPr>
            <a:r>
              <a:rPr lang="en-US" sz="3000" b="1" dirty="0">
                <a:solidFill>
                  <a:srgbClr val="16213A"/>
                </a:solidFill>
                <a:latin typeface="Calibri" pitchFamily="34" charset="0"/>
                <a:ea typeface="Calibri" pitchFamily="34" charset="-122"/>
                <a:cs typeface="Calibri" pitchFamily="34" charset="-120"/>
              </a:rPr>
              <a:t>A10  Milestone tests</a:t>
            </a:r>
            <a:endParaRPr lang="en-US" sz="3000" dirty="0"/>
          </a:p>
        </p:txBody>
      </p:sp>
      <p:sp>
        <p:nvSpPr>
          <p:cNvPr id="6" name="Text 4"/>
          <p:cNvSpPr txBox="1"/>
          <p:nvPr/>
        </p:nvSpPr>
        <p:spPr>
          <a:xfrm>
            <a:off x="548640" y="1325880"/>
            <a:ext cx="11091672" cy="320040"/>
          </a:xfrm>
          <a:prstGeom prst="rect">
            <a:avLst/>
          </a:prstGeom>
          <a:noFill/>
          <a:ln/>
        </p:spPr>
        <p:txBody>
          <a:bodyPr wrap="square" lIns="0" tIns="0" rIns="0" bIns="0" rtlCol="0" anchor="ctr"/>
          <a:lstStyle/>
          <a:p>
            <a:pPr indent="0" marL="0">
              <a:buNone/>
            </a:pPr>
            <a:r>
              <a:rPr lang="en-US" sz="1700" dirty="0">
                <a:solidFill>
                  <a:srgbClr val="4B5563"/>
                </a:solidFill>
                <a:latin typeface="Calibri" pitchFamily="34" charset="0"/>
                <a:ea typeface="Calibri" pitchFamily="34" charset="-122"/>
                <a:cs typeface="Calibri" pitchFamily="34" charset="-120"/>
              </a:rPr>
              <a:t>Answers: “How do you know a milestone is done?”</a:t>
            </a:r>
            <a:endParaRPr lang="en-US" sz="1700" dirty="0"/>
          </a:p>
        </p:txBody>
      </p:sp>
      <p:sp>
        <p:nvSpPr>
          <p:cNvPr id="7" name="Text 5"/>
          <p:cNvSpPr txBox="1"/>
          <p:nvPr/>
        </p:nvSpPr>
        <p:spPr>
          <a:xfrm>
            <a:off x="548640" y="6355080"/>
            <a:ext cx="822960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Source: COMBINED_PROGRESS_REPORT_2026-10.md §0.2</a:t>
            </a:r>
            <a:endParaRPr lang="en-US" sz="1100" dirty="0"/>
          </a:p>
        </p:txBody>
      </p:sp>
      <p:sp>
        <p:nvSpPr>
          <p:cNvPr id="8" name="Text 6"/>
          <p:cNvSpPr txBox="1"/>
          <p:nvPr/>
        </p:nvSpPr>
        <p:spPr>
          <a:xfrm>
            <a:off x="11091672" y="6355080"/>
            <a:ext cx="548640" cy="274320"/>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35</a:t>
            </a:r>
            <a:endParaRPr lang="en-US" sz="11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640080"/>
                <a:gridCol w="2743200"/>
                <a:gridCol w="5605272"/>
                <a:gridCol w="2103120"/>
              </a:tblGrid>
              <a:tr h="338328">
                <a:tc>
                  <a:txBody>
                    <a:bodyPr/>
                    <a:lstStyle/>
                    <a:p>
                      <a:pPr indent="0" marL="0">
                        <a:buNone/>
                      </a:pP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621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Milestone</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621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Done means</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621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Lead</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6213A"/>
                    </a:solidFill>
                  </a:tcPr>
                </a:tc>
              </a:tr>
              <a:tr h="338328">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M0</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Everyone can build and run</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Two people other than Dion clone, build and pass the bench</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Zongzhe</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338328">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M1</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Arm picks something up</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5 grasp attempts on a box, success rate recorded, stop verified first</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Dion</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r>
              <a:tr h="338328">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M2</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Voice and gaze reach the arm</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Two boxes, the arm picks the one you looked at, 3 times in 4</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Dion</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338328">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M3</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Base navigates</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Map, localisation, ten drives to a point with error recorded</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Sherman</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r>
              <a:tr h="338328">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M4</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Closed loop</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One recorded run: speak, look, drive, grasp, per-stage timing</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Dion</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338328">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M5</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Calibrated base camera</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LiDAR points land on the right objects in the camera image, pose error as a number</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Sherman mount, Dion calibration</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r>
              <a:tr h="338328">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M6</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Memory graph offline</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Objects from a recorded drive, no duplicates, a sentence query returns the right one</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Zongzhe</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338328">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M7</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Graph drives the robot</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Object out of view: the robot explores, finds the user, builds the graph live, drives to it</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Dion</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r>
              <a:tr h="338328">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M8</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Gaze picks the instance</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A gaze match ends exploration. N end-to-end trials, success per phase</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Dion</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338328">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M9</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Smarter exploration order (optional)</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The paper's exploration order beats our nearest-first exploration</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Zongzhe</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2F7"/>
                    </a:solidFill>
                  </a:tcPr>
                </a:tc>
              </a:tr>
              <a:tr h="338328">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M10</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Demonstration and paper</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Recorded end-to-end run, paper whose central table is the end-to-end trials</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6213A"/>
                          </a:solidFill>
                          <a:latin typeface="Calibri" pitchFamily="34" charset="0"/>
                          <a:ea typeface="Calibri" pitchFamily="34" charset="-122"/>
                          <a:cs typeface="Calibri" pitchFamily="34" charset="-120"/>
                        </a:rPr>
                        <a:t>All</a:t>
                      </a:r>
                      <a:endParaRPr lang="en-US" sz="1200" dirty="0">
                        <a:latin typeface="Calibri" charset="0"/>
                        <a:ea typeface="Calibri" charset="0"/>
                        <a:cs typeface="Calibri" charset="0"/>
                      </a:endParaRPr>
                    </a:p>
                  </a:txBody>
                  <a:tcPr marL="76200" marR="76200" marT="38100" marB="38100"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Gappler interim presentation</dc:title>
  <dc:subject>PptxGenJS Presentation</dc:subject>
  <dc:creator>PptxGenJS</dc:creator>
  <cp:lastModifiedBy>PptxGenJS</cp:lastModifiedBy>
  <cp:revision>1</cp:revision>
  <dcterms:created xsi:type="dcterms:W3CDTF">2026-10-24T17:26:19Z</dcterms:created>
  <dcterms:modified xsi:type="dcterms:W3CDTF">2026-10-24T17:26:19Z</dcterms:modified>
</cp:coreProperties>
</file>